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21"/>
  </p:handoutMasterIdLst>
  <p:sldIdLst>
    <p:sldId id="256" r:id="rId3"/>
    <p:sldId id="290" r:id="rId5"/>
    <p:sldId id="291" r:id="rId6"/>
    <p:sldId id="292" r:id="rId7"/>
    <p:sldId id="293" r:id="rId8"/>
    <p:sldId id="294" r:id="rId9"/>
    <p:sldId id="295" r:id="rId10"/>
    <p:sldId id="296" r:id="rId11"/>
    <p:sldId id="307" r:id="rId12"/>
    <p:sldId id="297" r:id="rId13"/>
    <p:sldId id="298" r:id="rId14"/>
    <p:sldId id="305" r:id="rId15"/>
    <p:sldId id="308" r:id="rId16"/>
    <p:sldId id="306" r:id="rId17"/>
    <p:sldId id="300" r:id="rId18"/>
    <p:sldId id="302" r:id="rId19"/>
    <p:sldId id="30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1A9B46"/>
    <a:srgbClr val="18AD4A"/>
    <a:srgbClr val="081271"/>
    <a:srgbClr val="FFFB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16" autoAdjust="0"/>
    <p:restoredTop sz="94660"/>
  </p:normalViewPr>
  <p:slideViewPr>
    <p:cSldViewPr snapToGrid="0">
      <p:cViewPr varScale="1">
        <p:scale>
          <a:sx n="82" d="100"/>
          <a:sy n="82" d="100"/>
        </p:scale>
        <p:origin x="4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handoutMaster" Target="handoutMasters/handoutMaster1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33AC-344F-40AF-9E99-79D0BF1BA136}" type="datetimeFigureOut">
              <a:rPr lang="en-IN" smtClean="0"/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IN"/>
              <a:t>Speech Processing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E13A14-01DD-4442-9BD4-9CC7EED32526}" type="slidenum">
              <a:rPr lang="en-IN" smtClean="0"/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92E8E5-BD41-4FE3-96D2-635440A77753}" type="datetimeFigureOut">
              <a:rPr lang="en-IN" smtClean="0"/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IN"/>
              <a:t>Speech Processing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2F458-B665-432D-ACF1-3C56F813001B}" type="datetime1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Speech Processing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C15BD-94E4-4067-8A33-3C6EC4BD0B33}" type="datetime1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34687-F519-4EB7-A5A2-8F32F570280C}" type="datetime1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FD66B-7BF9-457E-8F34-7A62FFE4EC1F}" type="datetime1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AE7592-1B5F-45CD-B707-8D5A5E58EE31}" type="datetime1">
              <a:rPr lang="en-IN" smtClean="0"/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ABBB8-8A7F-45A3-83C4-4C9477351CC6}" type="datetime1">
              <a:rPr lang="en-IN" smtClean="0"/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35D1B-80AA-466C-8316-5AE450E66A39}" type="datetime1">
              <a:rPr lang="en-IN" smtClean="0"/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447488-929A-4615-A557-C0AD33B297D1}" type="datetime1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BDCACE-EBE9-4116-B81B-E040F2D3F20E}" type="datetime1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BF764-0E37-4886-B1E5-DFBF599A6490}" type="datetime1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9FEB4-F282-4F07-B60D-731E94E7D45B}" type="datetime1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24EDEC-E80A-4952-9B8F-BFE95EE7B0BE}" type="datetime1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Speech Processing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216105-7B7A-4C42-B2A1-5E9A2FA4F8FD}" type="slidenum">
              <a:rPr lang="en-IN" smtClean="0"/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1" name="Title 3"/>
          <p:cNvSpPr txBox="1"/>
          <p:nvPr/>
        </p:nvSpPr>
        <p:spPr>
          <a:xfrm>
            <a:off x="609598" y="2872601"/>
            <a:ext cx="10972800" cy="104415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SupplyAI-RL: Explainable Supply Chain Optimization</a:t>
            </a: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935319" y="236845"/>
            <a:ext cx="7999556" cy="8299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 Mid semester project review– </a:t>
            </a:r>
            <a:r>
              <a:rPr lang="en-US" sz="2400" b="1" dirty="0">
                <a:solidFill>
                  <a:srgbClr val="7030A0"/>
                </a:solidFill>
              </a:rPr>
              <a:t>August 2026</a:t>
            </a:r>
            <a:endParaRPr lang="en-US" sz="2400" b="1" dirty="0">
              <a:solidFill>
                <a:srgbClr val="7030A0"/>
              </a:solidFill>
            </a:endParaRPr>
          </a:p>
          <a:p>
            <a:pPr algn="ctr"/>
            <a:r>
              <a:rPr lang="it-IT" sz="2400" b="1" dirty="0"/>
              <a:t>Reinforcement Learning</a:t>
            </a:r>
            <a:endParaRPr lang="en-IN" sz="2400" b="1" dirty="0">
              <a:solidFill>
                <a:srgbClr val="7030A0"/>
              </a:solidFill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9077095" y="5597101"/>
            <a:ext cx="26362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Date of the Presentation: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>
          <a:xfrm>
            <a:off x="10804848" y="6356350"/>
            <a:ext cx="548951" cy="365125"/>
          </a:xfrm>
        </p:spPr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  <p:sp>
        <p:nvSpPr>
          <p:cNvPr id="20" name="Title 3"/>
          <p:cNvSpPr txBox="1"/>
          <p:nvPr/>
        </p:nvSpPr>
        <p:spPr>
          <a:xfrm>
            <a:off x="597918" y="3817890"/>
            <a:ext cx="10972800" cy="65443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[Team Member Names and Roll Numbers]</a:t>
            </a:r>
            <a:endParaRPr lang="en-IN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50810" y="5675807"/>
            <a:ext cx="28543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Batch and Group Number: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Outline</a:t>
            </a:r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4351338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0" dirty="0"/>
              <a:t>Introduction and Motivation</a:t>
            </a:r>
            <a:endParaRPr lang="en-IN" sz="18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0" dirty="0"/>
              <a:t>Problem Definition</a:t>
            </a:r>
            <a:endParaRPr lang="en-IN" sz="18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0" dirty="0"/>
              <a:t>Literature Review and Gaps Identified</a:t>
            </a:r>
            <a:endParaRPr lang="en-IN" sz="18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0" dirty="0"/>
              <a:t>Objectives</a:t>
            </a:r>
            <a:endParaRPr lang="en-IN" sz="18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0" dirty="0"/>
              <a:t>Methodology: simulator, RL formulation, LLM explanation layer</a:t>
            </a:r>
            <a:endParaRPr lang="en-IN" sz="18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0" dirty="0"/>
              <a:t>Dataset Description and Calibration</a:t>
            </a:r>
            <a:endParaRPr lang="en-IN" sz="18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0" dirty="0"/>
              <a:t>Preliminary Results: tuned classical policies vs the RL agent</a:t>
            </a:r>
            <a:endParaRPr lang="en-IN" sz="18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0" dirty="0"/>
              <a:t>Interim Summary and Completion Plan</a:t>
            </a:r>
            <a:endParaRPr lang="en-IN" sz="1800" b="0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Introduction and Motivation</a:t>
            </a:r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4351338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1" dirty="0"/>
              <a:t>Retail inventory is a daily decision under uncertainty, and both errors are expensive.</a:t>
            </a:r>
            <a:endParaRPr lang="en-IN" sz="1800" b="1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IN" sz="1500" b="0" dirty="0"/>
              <a:t>Order too much: capital is tied up, storage is paid for, and unsold stock is marked down or written off.</a:t>
            </a:r>
            <a:endParaRPr lang="en-IN" sz="1500" b="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IN" sz="1500" b="0" dirty="0"/>
              <a:t>Order too little: the sale is lost permanently, because the customer buys elsewhere.</a:t>
            </a:r>
            <a:endParaRPr lang="en-IN" sz="15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1" dirty="0"/>
              <a:t>Classical policies treat each product in isolation and assume demand is well behaved.</a:t>
            </a:r>
            <a:endParaRPr lang="en-IN" sz="1800" b="1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IN" sz="1500" b="0" dirty="0"/>
              <a:t>Real demand is not. In our data the variance of daily demand is roughly 216 times its mean, so the standard Poisson assumption fails badly.</a:t>
            </a:r>
            <a:endParaRPr lang="en-IN" sz="15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1" dirty="0"/>
              <a:t>Reinforcement learning can express what a formula cannot: a joint ordering and sourcing policy that adapts to season, volatility and supplier state.</a:t>
            </a:r>
            <a:endParaRPr lang="en-IN" sz="1800" b="1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1" dirty="0"/>
              <a:t>But a manager will not act on a number they cannot interpret.</a:t>
            </a:r>
            <a:endParaRPr lang="en-IN" sz="1800" b="1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IN" sz="1500" b="0" dirty="0"/>
              <a:t>Hence the motivation: pair an RL decision-maker with an LLM that states the reason for every order in business language.</a:t>
            </a:r>
            <a:endParaRPr lang="en-IN" sz="1500" b="0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Problem Definition</a:t>
            </a:r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4351338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0" dirty="0"/>
              <a:t>Manage 10 products across 3 suppliers over a 180-day horizon, sharing a single 20,000-unit warehouse.</a:t>
            </a:r>
            <a:endParaRPr lang="en-IN" sz="17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0" dirty="0"/>
              <a:t>Each simulated day, for every product, decide two things jointly: how much to order, and from which supplier.</a:t>
            </a:r>
            <a:endParaRPr lang="en-IN" sz="17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0" dirty="0"/>
              <a:t>Suppliers differ in unit cost, lead time (1-8 days), fill reliability (80-98%), minimum order quantity and outage risk.</a:t>
            </a:r>
            <a:endParaRPr lang="en-IN" sz="17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1" dirty="0"/>
              <a:t>Objective: maximise total profit = revenue - purchase - holding - ordering fees - lost-sale penalty.</a:t>
            </a:r>
            <a:endParaRPr lang="en-IN" sz="1700" b="1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0" dirty="0"/>
              <a:t>Scale: 21 choices per product over 10 products is about 1.7 x 10^13 combinations per day, so enumeration is impossible.</a:t>
            </a:r>
            <a:endParaRPr lang="en-IN" sz="17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0" dirty="0"/>
              <a:t>Decisions are coupled in time (today's order becomes next week's stock) and across products (one shared capacity).</a:t>
            </a:r>
            <a:endParaRPr lang="en-IN" sz="17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1" dirty="0"/>
              <a:t>Additional requirement: every decision must come with a business-readable justification.</a:t>
            </a:r>
            <a:endParaRPr lang="en-IN" sz="1700" b="1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335901" y="9714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Literature Review</a:t>
            </a:r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endParaRPr lang="en-IN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  <p:graphicFrame>
        <p:nvGraphicFramePr>
          <p:cNvPr id="40" name="Table 40"/>
          <p:cNvGraphicFramePr>
            <a:graphicFrameLocks noGrp="1"/>
          </p:cNvGraphicFramePr>
          <p:nvPr/>
        </p:nvGraphicFramePr>
        <p:xfrm>
          <a:off x="838198" y="1700000"/>
          <a:ext cx="10670000" cy="3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0000"/>
                <a:gridCol w="2350000"/>
                <a:gridCol w="1500000"/>
                <a:gridCol w="2100000"/>
                <a:gridCol w="2300000"/>
                <a:gridCol w="1900000"/>
              </a:tblGrid>
              <a:tr h="560000">
                <a:tc>
                  <a:txBody>
                    <a:bodyPr/>
                    <a:lstStyle/>
                    <a:p>
                      <a:pPr algn="l"/>
                      <a:r>
                        <a:rPr lang="en-IN" sz="950" b="1" dirty="0">
                          <a:solidFill>
                            <a:srgbClr val="FFFFFF"/>
                          </a:solidFill>
                        </a:rPr>
                        <a:t>Sl No</a:t>
                      </a:r>
                      <a:endParaRPr lang="en-IN" sz="95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1" dirty="0">
                          <a:solidFill>
                            <a:srgbClr val="FFFFFF"/>
                          </a:solidFill>
                        </a:rPr>
                        <a:t>Title and year</a:t>
                      </a:r>
                      <a:endParaRPr lang="en-IN" sz="95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1" dirty="0">
                          <a:solidFill>
                            <a:srgbClr val="FFFFFF"/>
                          </a:solidFill>
                        </a:rPr>
                        <a:t>Journal / Conference</a:t>
                      </a:r>
                      <a:endParaRPr lang="en-IN" sz="95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1" dirty="0">
                          <a:solidFill>
                            <a:srgbClr val="FFFFFF"/>
                          </a:solidFill>
                        </a:rPr>
                        <a:t>Methodology</a:t>
                      </a:r>
                      <a:endParaRPr lang="en-IN" sz="95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1" dirty="0">
                          <a:solidFill>
                            <a:srgbClr val="FFFFFF"/>
                          </a:solidFill>
                        </a:rPr>
                        <a:t>Key findings</a:t>
                      </a:r>
                      <a:endParaRPr lang="en-IN" sz="95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1" dirty="0">
                          <a:solidFill>
                            <a:srgbClr val="FFFFFF"/>
                          </a:solidFill>
                        </a:rPr>
                        <a:t>Limitations</a:t>
                      </a:r>
                      <a:endParaRPr lang="en-IN" sz="95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1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Proximal Policy Optimization Algorithms (2017)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arXiv preprint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Clipped surrogate policy-gradient objective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Stable, sample-efficient on-policy RL; the default modern baseline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General purpose; no supply-chain structure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</a:tr>
              <a:tr h="560000"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2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A Deep Q-Network for the Beer Game (2022)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M&amp;SOM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DQN on a serial beer-game supply chain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DRL matches or beats base-stock policies under cooperation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Single product, serial chain, no sourcing choice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3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Can Deep RL Improve Inventory Management? (2022)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M&amp;SOM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A3C on lost-sales and dual-sourcing problems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Competitive with tuned heuristics but not clearly superior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Heavy tuning cost; no explanation layer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</a:tr>
              <a:tr h="560000"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4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Deep RL for Inventory Control: A Roadmap (2022)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EJOR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Survey and research roadmap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Names fair benchmarking and interpretability as open problems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Conceptual; no implementation or results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5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A Closer Look at Invalid Action Masking in Policy Gradient Algorithms (2022)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FLAIRS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Action masking inside policy-gradient methods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Masking is a valid gradient and scales to large action spaces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Not demonstrated on inventory or sourcing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Gaps Identified</a:t>
            </a:r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4351338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0" dirty="0"/>
              <a:t>Weak benchmarks. Most DRL inventory papers compare against textbook-default heuristics rather than properly tuned ones, which inflates the reported gain.</a:t>
            </a:r>
            <a:endParaRPr lang="en-IN" sz="17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0" dirty="0"/>
              <a:t>Narrow problem settings. Single-product or serial chains dominate; joint quantity and supplier selection under one shared capacity is rarely modelled.</a:t>
            </a:r>
            <a:endParaRPr lang="en-IN" sz="17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0" dirty="0"/>
              <a:t>Explainability is deferred. Learned policies output a number, not a reason, so they stay in simulation and never reach a decision-maker.</a:t>
            </a:r>
            <a:endParaRPr lang="en-IN" sz="17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0" dirty="0"/>
              <a:t>Stress testing is hand-built. Demand spikes and supplier failures are coded case by case, so coverage is narrow and hard to extend.</a:t>
            </a:r>
            <a:endParaRPr lang="en-IN" sz="17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1" dirty="0"/>
              <a:t>No existing work couples an RL inventory agent with an LLM that both explains its decisions and generates the scenarios used to test it.</a:t>
            </a:r>
            <a:endParaRPr lang="en-IN" sz="1700" b="1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Objectives</a:t>
            </a:r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4351338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1" dirty="0"/>
              <a:t>1. Build a supply chain simulator calibrated from real retail transaction data.</a:t>
            </a:r>
            <a:endParaRPr lang="en-IN" sz="1800" b="1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1" dirty="0"/>
              <a:t>2. Train a reinforcement learning agent to choose reorder quantity and supplier jointly.</a:t>
            </a:r>
            <a:endParaRPr lang="en-IN" sz="1800" b="1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1" dirty="0"/>
              <a:t>3. Use an LLM to explain each decision in business language.</a:t>
            </a:r>
            <a:endParaRPr lang="en-IN" sz="1800" b="1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1" dirty="0"/>
              <a:t>4. Use an LLM to generate demand-spike and supplier-delay scenarios for stress testing.</a:t>
            </a:r>
            <a:endParaRPr lang="en-IN" sz="1800" b="1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1" dirty="0"/>
              <a:t>5. Compare the RL agent against properly tuned classical inventory policies.</a:t>
            </a:r>
            <a:endParaRPr lang="en-IN" sz="1800" b="1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500" b="0" dirty="0"/>
              <a:t>Objectives 1, 2 and 5 are complete. Objectives 3 and 4 are the next phase.</a:t>
            </a:r>
            <a:endParaRPr lang="en-IN" sz="1500" b="0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Methodology</a:t>
            </a:r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4500000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600" b="0" dirty="0"/>
              <a:t>Pipeline: real transactions - statistical calibration - simulator - agent and baselines - held-out comparison - LLM explanation layer.</a:t>
            </a:r>
            <a:endParaRPr lang="en-IN" sz="16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1" dirty="0"/>
              <a:t>MDP formulation</a:t>
            </a:r>
            <a:endParaRPr lang="en-IN" sz="1700" b="1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IN" sz="1350" b="0" dirty="0"/>
              <a:t>State (88 values): per product stock, in-transit, days of cover, 7-day mean and volatility, trend, backlog; plus weekday, season, and each supplier's availability, lead time and recent fill rate.</a:t>
            </a:r>
            <a:endParaRPr lang="en-IN" sz="1350" b="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IN" sz="1350" b="0" dirty="0"/>
              <a:t>Action: for each product one joint choice of (quantity bucket, supplier) - 7 x 3 = 21 options, as MultiDiscrete over 10 products.</a:t>
            </a:r>
            <a:endParaRPr lang="en-IN" sz="1350" b="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IN" sz="1350" b="0" dirty="0"/>
              <a:t>Reward: that day's realised profit. Episode: 180 days.</a:t>
            </a:r>
            <a:endParaRPr lang="en-IN" sz="135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1" dirty="0"/>
              <a:t>Algorithm: MaskablePPO (PPO with invalid-action masking), MLP of two 128-unit hidden layers, trained on CPU.</a:t>
            </a:r>
            <a:endParaRPr lang="en-IN" sz="1700" b="1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IN" sz="1350" b="0" dirty="0"/>
              <a:t>Masking blocks suppliers in outage and orders exceeding free capacity. Worth about 3x on its own: best profit rose from 23,717 to 72,740.</a:t>
            </a:r>
            <a:endParaRPr lang="en-IN" sz="135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1" dirty="0"/>
              <a:t>Fair comparison by construction: baselines are grid-search tuned, face the same seeds and the same action granularity, and are scored on 30 held-out seeds disjoint from all tuning and training seeds.</a:t>
            </a:r>
            <a:endParaRPr lang="en-IN" sz="1700" b="1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System Architecture</a:t>
            </a:r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endParaRPr lang="en-IN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  <p:sp>
        <p:nvSpPr>
          <p:cNvPr id="100" name="Box 100"/>
          <p:cNvSpPr/>
          <p:nvPr/>
        </p:nvSpPr>
        <p:spPr>
          <a:xfrm>
            <a:off x="838198" y="1540000"/>
            <a:ext cx="3100000" cy="520000"/>
          </a:xfrm>
          <a:prstGeom prst="roundRect">
            <a:avLst>
              <a:gd name="adj" fmla="val 10000"/>
            </a:avLst>
          </a:prstGeom>
          <a:solidFill>
            <a:srgbClr val="E8F3EC"/>
          </a:solidFill>
          <a:ln w="12700">
            <a:solidFill>
              <a:srgbClr val="9BB7A5"/>
            </a:solidFill>
          </a:ln>
        </p:spPr>
        <p:txBody>
          <a:bodyPr lIns="91440" tIns="45720" rIns="91440" bIns="45720" anchor="ctr">
            <a:normAutofit/>
          </a:bodyPr>
          <a:lstStyle/>
          <a:p>
            <a:pPr algn="ctr">
              <a:lnSpc>
                <a:spcPct val="95000"/>
              </a:lnSpc>
              <a:buNone/>
            </a:pPr>
            <a:r>
              <a:rPr lang="en-IN" sz="1200" b="1" dirty="0">
                <a:solidFill>
                  <a:srgbClr val="0D5A28"/>
                </a:solidFill>
                <a:latin typeface="Calibri" panose="020F0502020204030204"/>
              </a:rPr>
              <a:t>Real transactions</a:t>
            </a:r>
            <a:endParaRPr lang="en-IN" sz="1200" b="1" dirty="0">
              <a:solidFill>
                <a:srgbClr val="0D5A28"/>
              </a:solidFill>
              <a:latin typeface="Calibri" panose="020F0502020204030204"/>
            </a:endParaRPr>
          </a:p>
          <a:p>
            <a:pPr algn="ctr">
              <a:lnSpc>
                <a:spcPct val="95000"/>
              </a:lnSpc>
              <a:buNone/>
            </a:pPr>
            <a:r>
              <a:rPr lang="en-IN" sz="900" b="0" dirty="0">
                <a:solidFill>
                  <a:srgbClr val="44604E"/>
                </a:solidFill>
                <a:latin typeface="Calibri" panose="020F0502020204030204"/>
              </a:rPr>
              <a:t>UCI Online Retail II, ~1M lines</a:t>
            </a:r>
            <a:endParaRPr lang="en-IN" sz="900" b="0" dirty="0">
              <a:solidFill>
                <a:srgbClr val="44604E"/>
              </a:solidFill>
              <a:latin typeface="Calibri" panose="020F0502020204030204"/>
            </a:endParaRPr>
          </a:p>
        </p:txBody>
      </p:sp>
      <p:sp>
        <p:nvSpPr>
          <p:cNvPr id="101" name="Box 101"/>
          <p:cNvSpPr/>
          <p:nvPr/>
        </p:nvSpPr>
        <p:spPr>
          <a:xfrm>
            <a:off x="4545998" y="1540000"/>
            <a:ext cx="3100000" cy="520000"/>
          </a:xfrm>
          <a:prstGeom prst="roundRect">
            <a:avLst>
              <a:gd name="adj" fmla="val 10000"/>
            </a:avLst>
          </a:prstGeom>
          <a:solidFill>
            <a:srgbClr val="E8F3EC"/>
          </a:solidFill>
          <a:ln w="12700">
            <a:solidFill>
              <a:srgbClr val="9BB7A5"/>
            </a:solidFill>
          </a:ln>
        </p:spPr>
        <p:txBody>
          <a:bodyPr lIns="91440" tIns="45720" rIns="91440" bIns="45720" anchor="ctr">
            <a:normAutofit/>
          </a:bodyPr>
          <a:lstStyle/>
          <a:p>
            <a:pPr algn="ctr">
              <a:lnSpc>
                <a:spcPct val="95000"/>
              </a:lnSpc>
              <a:buNone/>
            </a:pPr>
            <a:r>
              <a:rPr lang="en-IN" sz="1200" b="1" dirty="0">
                <a:solidFill>
                  <a:srgbClr val="0D5A28"/>
                </a:solidFill>
                <a:latin typeface="Calibri" panose="020F0502020204030204"/>
              </a:rPr>
              <a:t>Data pipeline</a:t>
            </a:r>
            <a:endParaRPr lang="en-IN" sz="1200" b="1" dirty="0">
              <a:solidFill>
                <a:srgbClr val="0D5A28"/>
              </a:solidFill>
              <a:latin typeface="Calibri" panose="020F0502020204030204"/>
            </a:endParaRPr>
          </a:p>
          <a:p>
            <a:pPr algn="ctr">
              <a:lnSpc>
                <a:spcPct val="95000"/>
              </a:lnSpc>
              <a:buNone/>
            </a:pPr>
            <a:r>
              <a:rPr lang="en-IN" sz="900" b="0" dirty="0">
                <a:solidFill>
                  <a:srgbClr val="44604E"/>
                </a:solidFill>
                <a:latin typeface="Calibri" panose="020F0502020204030204"/>
              </a:rPr>
              <a:t>clean - calibrate - time split</a:t>
            </a:r>
            <a:endParaRPr lang="en-IN" sz="900" b="0" dirty="0">
              <a:solidFill>
                <a:srgbClr val="44604E"/>
              </a:solidFill>
              <a:latin typeface="Calibri" panose="020F0502020204030204"/>
            </a:endParaRPr>
          </a:p>
        </p:txBody>
      </p:sp>
      <p:sp>
        <p:nvSpPr>
          <p:cNvPr id="102" name="Box 102"/>
          <p:cNvSpPr/>
          <p:nvPr/>
        </p:nvSpPr>
        <p:spPr>
          <a:xfrm>
            <a:off x="8253798" y="1540000"/>
            <a:ext cx="3100000" cy="520000"/>
          </a:xfrm>
          <a:prstGeom prst="roundRect">
            <a:avLst>
              <a:gd name="adj" fmla="val 10000"/>
            </a:avLst>
          </a:prstGeom>
          <a:solidFill>
            <a:srgbClr val="E8F3EC"/>
          </a:solidFill>
          <a:ln w="12700">
            <a:solidFill>
              <a:srgbClr val="9BB7A5"/>
            </a:solidFill>
          </a:ln>
        </p:spPr>
        <p:txBody>
          <a:bodyPr lIns="91440" tIns="45720" rIns="91440" bIns="45720" anchor="ctr">
            <a:normAutofit/>
          </a:bodyPr>
          <a:lstStyle/>
          <a:p>
            <a:pPr algn="ctr">
              <a:lnSpc>
                <a:spcPct val="95000"/>
              </a:lnSpc>
              <a:buNone/>
            </a:pPr>
            <a:r>
              <a:rPr lang="en-IN" sz="1200" b="1" dirty="0">
                <a:solidFill>
                  <a:srgbClr val="0D5A28"/>
                </a:solidFill>
                <a:latin typeface="Calibri" panose="020F0502020204030204"/>
              </a:rPr>
              <a:t>demand_stats.json</a:t>
            </a:r>
            <a:endParaRPr lang="en-IN" sz="1200" b="1" dirty="0">
              <a:solidFill>
                <a:srgbClr val="0D5A28"/>
              </a:solidFill>
              <a:latin typeface="Calibri" panose="020F0502020204030204"/>
            </a:endParaRPr>
          </a:p>
          <a:p>
            <a:pPr algn="ctr">
              <a:lnSpc>
                <a:spcPct val="95000"/>
              </a:lnSpc>
              <a:buNone/>
            </a:pPr>
            <a:r>
              <a:rPr lang="en-IN" sz="900" b="0" dirty="0">
                <a:solidFill>
                  <a:srgbClr val="44604E"/>
                </a:solidFill>
                <a:latin typeface="Calibri" panose="020F0502020204030204"/>
              </a:rPr>
              <a:t>statistical fingerprint</a:t>
            </a:r>
            <a:endParaRPr lang="en-IN" sz="900" b="0" dirty="0">
              <a:solidFill>
                <a:srgbClr val="44604E"/>
              </a:solidFill>
              <a:latin typeface="Calibri" panose="020F0502020204030204"/>
            </a:endParaRPr>
          </a:p>
        </p:txBody>
      </p:sp>
      <p:sp>
        <p:nvSpPr>
          <p:cNvPr id="110" name="Arrow 110"/>
          <p:cNvSpPr/>
          <p:nvPr/>
        </p:nvSpPr>
        <p:spPr>
          <a:xfrm>
            <a:off x="4038198" y="1710000"/>
            <a:ext cx="400000" cy="180000"/>
          </a:xfrm>
          <a:prstGeom prst="rightArrow">
            <a:avLst/>
          </a:prstGeom>
          <a:solidFill>
            <a:srgbClr val="9BB7A5"/>
          </a:solidFill>
          <a:ln>
            <a:noFill/>
          </a:ln>
        </p:spPr>
        <p:txBody>
          <a:bodyPr/>
          <a:lstStyle/>
          <a:p/>
        </p:txBody>
      </p:sp>
      <p:sp>
        <p:nvSpPr>
          <p:cNvPr id="111" name="Arrow 111"/>
          <p:cNvSpPr/>
          <p:nvPr/>
        </p:nvSpPr>
        <p:spPr>
          <a:xfrm>
            <a:off x="7745998" y="1710000"/>
            <a:ext cx="400000" cy="180000"/>
          </a:xfrm>
          <a:prstGeom prst="rightArrow">
            <a:avLst/>
          </a:prstGeom>
          <a:solidFill>
            <a:srgbClr val="9BB7A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0" name="Arrow 120"/>
          <p:cNvSpPr/>
          <p:nvPr/>
        </p:nvSpPr>
        <p:spPr>
          <a:xfrm>
            <a:off x="5995998" y="2085000"/>
            <a:ext cx="200000" cy="190000"/>
          </a:xfrm>
          <a:prstGeom prst="downArrow">
            <a:avLst/>
          </a:prstGeom>
          <a:solidFill>
            <a:srgbClr val="9BB7A5"/>
          </a:solidFill>
          <a:ln>
            <a:noFill/>
          </a:ln>
        </p:spPr>
        <p:txBody>
          <a:bodyPr/>
          <a:lstStyle/>
          <a:p/>
        </p:txBody>
      </p:sp>
      <p:sp>
        <p:nvSpPr>
          <p:cNvPr id="130" name="Box 130"/>
          <p:cNvSpPr/>
          <p:nvPr/>
        </p:nvSpPr>
        <p:spPr>
          <a:xfrm>
            <a:off x="838198" y="2300000"/>
            <a:ext cx="10515600" cy="920000"/>
          </a:xfrm>
          <a:prstGeom prst="roundRect">
            <a:avLst>
              <a:gd name="adj" fmla="val 10000"/>
            </a:avLst>
          </a:prstGeom>
          <a:solidFill>
            <a:srgbClr val="1A9B46"/>
          </a:solidFill>
          <a:ln w="12700">
            <a:solidFill>
              <a:srgbClr val="0D5A28"/>
            </a:solidFill>
          </a:ln>
        </p:spPr>
        <p:txBody>
          <a:bodyPr lIns="91440" tIns="45720" rIns="91440" bIns="45720" anchor="ctr">
            <a:normAutofit/>
          </a:bodyPr>
          <a:lstStyle/>
          <a:p>
            <a:pPr algn="ctr">
              <a:lnSpc>
                <a:spcPct val="95000"/>
              </a:lnSpc>
              <a:buNone/>
            </a:pPr>
            <a:r>
              <a:rPr lang="en-IN" sz="1400" b="1" dirty="0">
                <a:solidFill>
                  <a:srgbClr val="FFFFFF"/>
                </a:solidFill>
                <a:latin typeface="Calibri" panose="020F0502020204030204"/>
              </a:rPr>
              <a:t>SUPPLY CHAIN SIMULATOR  (Gymnasium environment)</a:t>
            </a:r>
            <a:endParaRPr lang="en-IN" sz="1400" b="1" dirty="0">
              <a:solidFill>
                <a:srgbClr val="FFFFFF"/>
              </a:solidFill>
              <a:latin typeface="Calibri" panose="020F0502020204030204"/>
            </a:endParaRPr>
          </a:p>
          <a:p>
            <a:pPr algn="ctr">
              <a:lnSpc>
                <a:spcPct val="95000"/>
              </a:lnSpc>
              <a:buNone/>
            </a:pPr>
            <a:r>
              <a:rPr lang="en-IN" sz="1000" b="0" dirty="0">
                <a:solidFill>
                  <a:srgbClr val="EAF6EE"/>
                </a:solidFill>
                <a:latin typeface="Calibri" panose="020F0502020204030204"/>
              </a:rPr>
              <a:t>Gamma-Poisson demand  -  3 suppliers with lead time, fill rate, MOQ and outages</a:t>
            </a:r>
            <a:endParaRPr lang="en-IN" sz="1000" b="0" dirty="0">
              <a:solidFill>
                <a:srgbClr val="EAF6EE"/>
              </a:solidFill>
              <a:latin typeface="Calibri" panose="020F0502020204030204"/>
            </a:endParaRPr>
          </a:p>
          <a:p>
            <a:pPr algn="ctr">
              <a:lnSpc>
                <a:spcPct val="95000"/>
              </a:lnSpc>
              <a:buNone/>
            </a:pPr>
            <a:r>
              <a:rPr lang="en-IN" sz="1000" b="0" dirty="0">
                <a:solidFill>
                  <a:srgbClr val="EAF6EE"/>
                </a:solidFill>
                <a:latin typeface="Calibri" panose="020F0502020204030204"/>
              </a:rPr>
              <a:t>one shared 20,000-unit warehouse  -  daily profit accounting  -  180-day episodes</a:t>
            </a:r>
            <a:endParaRPr lang="en-IN" sz="1000" b="0" dirty="0">
              <a:solidFill>
                <a:srgbClr val="EAF6EE"/>
              </a:solidFill>
              <a:latin typeface="Calibri" panose="020F0502020204030204"/>
            </a:endParaRPr>
          </a:p>
        </p:txBody>
      </p:sp>
      <p:sp>
        <p:nvSpPr>
          <p:cNvPr id="140" name="Arrow 140"/>
          <p:cNvSpPr/>
          <p:nvPr/>
        </p:nvSpPr>
        <p:spPr>
          <a:xfrm>
            <a:off x="5995998" y="3245000"/>
            <a:ext cx="200000" cy="210000"/>
          </a:xfrm>
          <a:prstGeom prst="downArrow">
            <a:avLst/>
          </a:prstGeom>
          <a:solidFill>
            <a:srgbClr val="9BB7A5"/>
          </a:solidFill>
          <a:ln>
            <a:noFill/>
          </a:ln>
        </p:spPr>
        <p:txBody>
          <a:bodyPr/>
          <a:lstStyle/>
          <a:p/>
        </p:txBody>
      </p:sp>
      <p:sp>
        <p:nvSpPr>
          <p:cNvPr id="150" name="Box 150"/>
          <p:cNvSpPr/>
          <p:nvPr/>
        </p:nvSpPr>
        <p:spPr>
          <a:xfrm>
            <a:off x="838198" y="3480000"/>
            <a:ext cx="5000000" cy="680000"/>
          </a:xfrm>
          <a:prstGeom prst="roundRect">
            <a:avLst>
              <a:gd name="adj" fmla="val 10000"/>
            </a:avLst>
          </a:prstGeom>
          <a:solidFill>
            <a:srgbClr val="E8F3EC"/>
          </a:solidFill>
          <a:ln w="12700">
            <a:solidFill>
              <a:srgbClr val="9BB7A5"/>
            </a:solidFill>
          </a:ln>
        </p:spPr>
        <p:txBody>
          <a:bodyPr lIns="91440" tIns="45720" rIns="91440" bIns="45720" anchor="ctr">
            <a:normAutofit/>
          </a:bodyPr>
          <a:lstStyle/>
          <a:p>
            <a:pPr algn="ctr">
              <a:lnSpc>
                <a:spcPct val="95000"/>
              </a:lnSpc>
              <a:buNone/>
            </a:pPr>
            <a:r>
              <a:rPr lang="en-IN" sz="1200" b="1" dirty="0">
                <a:solidFill>
                  <a:srgbClr val="0D5A28"/>
                </a:solidFill>
                <a:latin typeface="Calibri" panose="020F0502020204030204"/>
              </a:rPr>
              <a:t>4 classical policies</a:t>
            </a:r>
            <a:endParaRPr lang="en-IN" sz="1200" b="1" dirty="0">
              <a:solidFill>
                <a:srgbClr val="0D5A28"/>
              </a:solidFill>
              <a:latin typeface="Calibri" panose="020F0502020204030204"/>
            </a:endParaRPr>
          </a:p>
          <a:p>
            <a:pPr algn="ctr">
              <a:lnSpc>
                <a:spcPct val="95000"/>
              </a:lnSpc>
              <a:buNone/>
            </a:pPr>
            <a:r>
              <a:rPr lang="en-IN" sz="900" b="0" dirty="0">
                <a:solidFill>
                  <a:srgbClr val="44604E"/>
                </a:solidFill>
                <a:latin typeface="Calibri" panose="020F0502020204030204"/>
              </a:rPr>
              <a:t>(s,S) - EOQ+ROP - newsvendor - forecast+SS, all grid-search tuned</a:t>
            </a:r>
            <a:endParaRPr lang="en-IN" sz="900" b="0" dirty="0">
              <a:solidFill>
                <a:srgbClr val="44604E"/>
              </a:solidFill>
              <a:latin typeface="Calibri" panose="020F0502020204030204"/>
            </a:endParaRPr>
          </a:p>
        </p:txBody>
      </p:sp>
      <p:sp>
        <p:nvSpPr>
          <p:cNvPr id="151" name="Box 151"/>
          <p:cNvSpPr/>
          <p:nvPr/>
        </p:nvSpPr>
        <p:spPr>
          <a:xfrm>
            <a:off x="6353798" y="3480000"/>
            <a:ext cx="5000000" cy="680000"/>
          </a:xfrm>
          <a:prstGeom prst="roundRect">
            <a:avLst>
              <a:gd name="adj" fmla="val 10000"/>
            </a:avLst>
          </a:prstGeom>
          <a:solidFill>
            <a:srgbClr val="0D5A28"/>
          </a:solidFill>
          <a:ln w="12700">
            <a:solidFill>
              <a:srgbClr val="0D5A28"/>
            </a:solidFill>
          </a:ln>
        </p:spPr>
        <p:txBody>
          <a:bodyPr lIns="91440" tIns="45720" rIns="91440" bIns="45720" anchor="ctr">
            <a:normAutofit/>
          </a:bodyPr>
          <a:lstStyle/>
          <a:p>
            <a:pPr algn="ctr">
              <a:lnSpc>
                <a:spcPct val="95000"/>
              </a:lnSpc>
              <a:buNone/>
            </a:pPr>
            <a:r>
              <a:rPr lang="en-IN" sz="1200" b="1" dirty="0">
                <a:solidFill>
                  <a:srgbClr val="FFFFFF"/>
                </a:solidFill>
                <a:latin typeface="Calibri" panose="020F0502020204030204"/>
              </a:rPr>
              <a:t>PPO agent</a:t>
            </a:r>
            <a:endParaRPr lang="en-IN" sz="1200" b="1" dirty="0">
              <a:solidFill>
                <a:srgbClr val="FFFFFF"/>
              </a:solidFill>
              <a:latin typeface="Calibri" panose="020F0502020204030204"/>
            </a:endParaRPr>
          </a:p>
          <a:p>
            <a:pPr algn="ctr">
              <a:lnSpc>
                <a:spcPct val="95000"/>
              </a:lnSpc>
              <a:buNone/>
            </a:pPr>
            <a:r>
              <a:rPr lang="en-IN" sz="900" b="0" dirty="0">
                <a:solidFill>
                  <a:srgbClr val="D6E8DC"/>
                </a:solidFill>
                <a:latin typeface="Calibri" panose="020F0502020204030204"/>
              </a:rPr>
              <a:t>MaskablePPO - MLP 128x128 - 88-value state - 21 actions per product</a:t>
            </a:r>
            <a:endParaRPr lang="en-IN" sz="900" b="0" dirty="0">
              <a:solidFill>
                <a:srgbClr val="D6E8DC"/>
              </a:solidFill>
              <a:latin typeface="Calibri" panose="020F0502020204030204"/>
            </a:endParaRPr>
          </a:p>
        </p:txBody>
      </p:sp>
      <p:sp>
        <p:nvSpPr>
          <p:cNvPr id="160" name="Arrow 160"/>
          <p:cNvSpPr/>
          <p:nvPr/>
        </p:nvSpPr>
        <p:spPr>
          <a:xfrm>
            <a:off x="5995998" y="4185000"/>
            <a:ext cx="200000" cy="210000"/>
          </a:xfrm>
          <a:prstGeom prst="downArrow">
            <a:avLst/>
          </a:prstGeom>
          <a:solidFill>
            <a:srgbClr val="9BB7A5"/>
          </a:solidFill>
          <a:ln>
            <a:noFill/>
          </a:ln>
        </p:spPr>
        <p:txBody>
          <a:bodyPr/>
          <a:lstStyle/>
          <a:p/>
        </p:txBody>
      </p:sp>
      <p:sp>
        <p:nvSpPr>
          <p:cNvPr id="170" name="Box 170"/>
          <p:cNvSpPr/>
          <p:nvPr/>
        </p:nvSpPr>
        <p:spPr>
          <a:xfrm>
            <a:off x="838198" y="4420000"/>
            <a:ext cx="10515600" cy="520000"/>
          </a:xfrm>
          <a:prstGeom prst="roundRect">
            <a:avLst>
              <a:gd name="adj" fmla="val 10000"/>
            </a:avLst>
          </a:prstGeom>
          <a:solidFill>
            <a:srgbClr val="E8F3EC"/>
          </a:solidFill>
          <a:ln w="12700">
            <a:solidFill>
              <a:srgbClr val="9BB7A5"/>
            </a:solidFill>
          </a:ln>
        </p:spPr>
        <p:txBody>
          <a:bodyPr lIns="91440" tIns="45720" rIns="91440" bIns="45720" anchor="ctr">
            <a:normAutofit/>
          </a:bodyPr>
          <a:lstStyle/>
          <a:p>
            <a:pPr algn="ctr">
              <a:lnSpc>
                <a:spcPct val="95000"/>
              </a:lnSpc>
              <a:buNone/>
            </a:pPr>
            <a:r>
              <a:rPr lang="en-IN" sz="1200" b="1" dirty="0">
                <a:solidFill>
                  <a:srgbClr val="0D5A28"/>
                </a:solidFill>
                <a:latin typeface="Calibri" panose="020F0502020204030204"/>
              </a:rPr>
              <a:t>Held-out evaluation:  30 unseen seeds, identical per policy, paired significance test</a:t>
            </a:r>
            <a:endParaRPr lang="en-IN" sz="1200" b="1" dirty="0">
              <a:solidFill>
                <a:srgbClr val="0D5A28"/>
              </a:solidFill>
              <a:latin typeface="Calibri" panose="020F0502020204030204"/>
            </a:endParaRPr>
          </a:p>
        </p:txBody>
      </p:sp>
      <p:sp>
        <p:nvSpPr>
          <p:cNvPr id="180" name="Arrow 180"/>
          <p:cNvSpPr/>
          <p:nvPr/>
        </p:nvSpPr>
        <p:spPr>
          <a:xfrm>
            <a:off x="5995998" y="4965000"/>
            <a:ext cx="200000" cy="175000"/>
          </a:xfrm>
          <a:prstGeom prst="downArrow">
            <a:avLst/>
          </a:prstGeom>
          <a:solidFill>
            <a:srgbClr val="9BB7A5"/>
          </a:solidFill>
          <a:ln>
            <a:noFill/>
          </a:ln>
        </p:spPr>
        <p:txBody>
          <a:bodyPr/>
          <a:lstStyle/>
          <a:p/>
        </p:txBody>
      </p:sp>
      <p:sp>
        <p:nvSpPr>
          <p:cNvPr id="190" name="Box 190"/>
          <p:cNvSpPr/>
          <p:nvPr/>
        </p:nvSpPr>
        <p:spPr>
          <a:xfrm>
            <a:off x="838198" y="5150000"/>
            <a:ext cx="10515600" cy="760000"/>
          </a:xfrm>
          <a:prstGeom prst="roundRect">
            <a:avLst>
              <a:gd name="adj" fmla="val 10000"/>
            </a:avLst>
          </a:prstGeom>
          <a:solidFill>
            <a:srgbClr val="FDF3E3"/>
          </a:solidFill>
          <a:ln w="12700">
            <a:solidFill>
              <a:srgbClr val="D9B36C"/>
            </a:solidFill>
            <a:prstDash val="dash"/>
          </a:ln>
        </p:spPr>
        <p:txBody>
          <a:bodyPr lIns="91440" tIns="45720" rIns="91440" bIns="45720" anchor="ctr">
            <a:normAutofit/>
          </a:bodyPr>
          <a:lstStyle/>
          <a:p>
            <a:pPr algn="ctr">
              <a:lnSpc>
                <a:spcPct val="95000"/>
              </a:lnSpc>
              <a:buNone/>
            </a:pPr>
            <a:r>
              <a:rPr lang="en-IN" sz="1200" b="1" dirty="0">
                <a:solidFill>
                  <a:srgbClr val="7A5210"/>
                </a:solidFill>
                <a:latin typeface="Calibri" panose="020F0502020204030204"/>
              </a:rPr>
              <a:t>LLM LAYER  (next phase)</a:t>
            </a:r>
            <a:endParaRPr lang="en-IN" sz="1200" b="1" dirty="0">
              <a:solidFill>
                <a:srgbClr val="7A5210"/>
              </a:solidFill>
              <a:latin typeface="Calibri" panose="020F0502020204030204"/>
            </a:endParaRPr>
          </a:p>
          <a:p>
            <a:pPr algn="ctr">
              <a:lnSpc>
                <a:spcPct val="95000"/>
              </a:lnSpc>
              <a:buNone/>
            </a:pPr>
            <a:r>
              <a:rPr lang="en-IN" sz="1000" b="0" dirty="0">
                <a:solidFill>
                  <a:srgbClr val="7A5210"/>
                </a:solidFill>
                <a:latin typeface="Calibri" panose="020F0502020204030204"/>
              </a:rPr>
              <a:t>decision explanations in business language  -  generated demand-spike and supplier-failure scenarios</a:t>
            </a:r>
            <a:endParaRPr lang="en-IN" sz="1000" b="0" dirty="0">
              <a:solidFill>
                <a:srgbClr val="7A5210"/>
              </a:solidFill>
              <a:latin typeface="Calibri" panose="020F0502020204030204"/>
            </a:endParaRPr>
          </a:p>
          <a:p>
            <a:pPr algn="ctr">
              <a:lnSpc>
                <a:spcPct val="95000"/>
              </a:lnSpc>
              <a:buNone/>
            </a:pPr>
            <a:r>
              <a:rPr lang="en-IN" sz="1000" b="0" dirty="0">
                <a:solidFill>
                  <a:srgbClr val="7A5210"/>
                </a:solidFill>
                <a:latin typeface="Calibri" panose="020F0502020204030204"/>
              </a:rPr>
              <a:t>Streamlit dashboard for the decision-maker</a:t>
            </a:r>
            <a:endParaRPr lang="en-IN" sz="1000" b="0" dirty="0">
              <a:solidFill>
                <a:srgbClr val="7A5210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Dataset Description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8" y="1594415"/>
            <a:ext cx="5750000" cy="4351338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450" b="0" dirty="0"/>
              <a:t>UCI Online Retail II: about 1 million transaction lines from a UK gift retailer, Dec 2009 - Dec 2011.</a:t>
            </a:r>
            <a:endParaRPr lang="en-IN" sz="145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450" b="0" dirty="0"/>
              <a:t>Cleaning: cancellations, returns, negative quantities and missing product codes removed. Saturdays dropped entirely, as the retailer never traded then; zero-filling would teach a false weekly collapse.</a:t>
            </a:r>
            <a:endParaRPr lang="en-IN" sz="145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450" b="0" dirty="0"/>
              <a:t>10 SKUs selected to span three demand regimes, so that no single fixed rule can serve them all.</a:t>
            </a:r>
            <a:endParaRPr lang="en-IN" sz="1450" b="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IN" sz="1300" b="0" dirty="0"/>
              <a:t>steady (CV 1.02-1.20), moderate (1.29-1.65), bursty (2.09-2.34)</a:t>
            </a:r>
            <a:endParaRPr lang="en-IN" sz="13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450" b="0" dirty="0"/>
              <a:t>Calibrated only on data before 1 June 2011; later data is held back.</a:t>
            </a:r>
            <a:endParaRPr lang="en-IN" sz="145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450" b="0" dirty="0"/>
              <a:t>Demand model: Gamma-Poisson (negative binomial), because variance is about 216x the mean.</a:t>
            </a:r>
            <a:endParaRPr lang="en-IN" sz="145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450" b="1" dirty="0"/>
              <a:t>A second dataset (Kaggle retail inventory) was screened and rejected: it showed no weekday effect and no seasonality, i.e. synthetic noise.</a:t>
            </a:r>
            <a:endParaRPr lang="en-IN" sz="1450" b="1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  <p:pic>
        <p:nvPicPr>
          <p:cNvPr id="50" name="Picture 5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50000" y="1900000"/>
            <a:ext cx="4600000" cy="3019000"/>
          </a:xfrm>
          <a:prstGeom prst="rect">
            <a:avLst/>
          </a:prstGeom>
          <a:ln w="9525">
            <a:solidFill>
              <a:srgbClr val="C8D8CC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-201435"/>
            <a:ext cx="10515600" cy="1325563"/>
          </a:xfrm>
        </p:spPr>
        <p:txBody>
          <a:bodyPr>
            <a:normAutofit/>
          </a:bodyPr>
          <a:lstStyle/>
          <a:p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Preliminary Results and Discussion</a:t>
            </a:r>
            <a:endParaRPr lang="en-IN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620000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400" b="0" dirty="0"/>
              <a:t>All five classical policies were tuned by grid search on 12 separate seeds, then scored on 30 held-out seeds. Profit is per 180-day episode, in GBP.</a:t>
            </a:r>
            <a:endParaRPr lang="en-IN" sz="1400" b="0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  <p:graphicFrame>
        <p:nvGraphicFramePr>
          <p:cNvPr id="41" name="Table 41"/>
          <p:cNvGraphicFramePr>
            <a:graphicFrameLocks noGrp="1"/>
          </p:cNvGraphicFramePr>
          <p:nvPr/>
        </p:nvGraphicFramePr>
        <p:xfrm>
          <a:off x="838198" y="2300000"/>
          <a:ext cx="10500000" cy="30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0000"/>
                <a:gridCol w="1500000"/>
                <a:gridCol w="1350000"/>
                <a:gridCol w="1400000"/>
                <a:gridCol w="1750000"/>
                <a:gridCol w="1600000"/>
              </a:tblGrid>
              <a:tr h="430000">
                <a:tc>
                  <a:txBody>
                    <a:bodyPr/>
                    <a:lstStyle/>
                    <a:p>
                      <a:pPr algn="l"/>
                      <a:r>
                        <a:rPr lang="en-IN" sz="1200" b="1" dirty="0">
                          <a:solidFill>
                            <a:srgbClr val="FFFFFF"/>
                          </a:solidFill>
                        </a:rPr>
                        <a:t>Policy</a:t>
                      </a:r>
                      <a:endParaRPr lang="en-IN"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1" dirty="0">
                          <a:solidFill>
                            <a:srgbClr val="FFFFFF"/>
                          </a:solidFill>
                        </a:rPr>
                        <a:t>Profit</a:t>
                      </a:r>
                      <a:endParaRPr lang="en-IN"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1" dirty="0">
                          <a:solidFill>
                            <a:srgbClr val="FFFFFF"/>
                          </a:solidFill>
                        </a:rPr>
                        <a:t>Std dev</a:t>
                      </a:r>
                      <a:endParaRPr lang="en-IN"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1" dirty="0">
                          <a:solidFill>
                            <a:srgbClr val="FFFFFF"/>
                          </a:solidFill>
                        </a:rPr>
                        <a:t>Fill rate</a:t>
                      </a:r>
                      <a:endParaRPr lang="en-IN"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1" dirty="0">
                          <a:solidFill>
                            <a:srgbClr val="FFFFFF"/>
                          </a:solidFill>
                        </a:rPr>
                        <a:t>Stockout cost</a:t>
                      </a:r>
                      <a:endParaRPr lang="en-IN"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1" dirty="0">
                          <a:solidFill>
                            <a:srgbClr val="FFFFFF"/>
                          </a:solidFill>
                        </a:rPr>
                        <a:t>Ordering cost</a:t>
                      </a:r>
                      <a:endParaRPr lang="en-IN"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forecast + safety stock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83,624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4,389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97.9%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5,821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2,729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newsvendor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82,049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4,222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98.0%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7,057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3,275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EOQ + reorder point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72,302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7,028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96.8%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9,988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2,626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(s, S) policy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70,365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6,782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94.9%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15,677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2,905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constant order (control)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50,751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12,723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92.3%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27,644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3,334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random (sanity check)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-34,144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12,971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94.2%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19,900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14,869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</a:tr>
            </a:tbl>
          </a:graphicData>
        </a:graphic>
      </p:graphicFrame>
      <p:sp>
        <p:nvSpPr>
          <p:cNvPr id="42" name="Note"/>
          <p:cNvSpPr txBox="1"/>
          <p:nvPr/>
        </p:nvSpPr>
        <p:spPr>
          <a:xfrm>
            <a:off x="838198" y="5450000"/>
            <a:ext cx="10515600" cy="700000"/>
          </a:xfrm>
          <a:prstGeom prst="rect">
            <a:avLst/>
          </a:prstGeom>
        </p:spPr>
        <p:txBody>
          <a:bodyPr wrap="square" lIns="0" rIns="0"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300" b="0" dirty="0">
                <a:solidFill>
                  <a:srgbClr val="0D5A28"/>
                </a:solidFill>
              </a:rPr>
              <a:t>Tuning mattered: widening the search grid lifted the best policy from 66,395 to 84,920 during tuning. Beating an untuned baseline would have proved nothing.</a:t>
            </a:r>
            <a:endParaRPr lang="en-IN" sz="1300" b="0" dirty="0">
              <a:solidFill>
                <a:srgbClr val="0D5A28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-201435"/>
            <a:ext cx="10515600" cy="1325563"/>
          </a:xfrm>
        </p:spPr>
        <p:txBody>
          <a:bodyPr>
            <a:normAutofit/>
          </a:bodyPr>
          <a:lstStyle/>
          <a:p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Preliminary Results and Discussion</a:t>
            </a:r>
            <a:endParaRPr lang="en-IN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620000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400" b="0" dirty="0"/>
              <a:t>Same 30 held-out seeds, same action granularity, identical customers per seed, so the difference is skill and not luck.</a:t>
            </a:r>
            <a:endParaRPr lang="en-IN" sz="1400" b="0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  <p:graphicFrame>
        <p:nvGraphicFramePr>
          <p:cNvPr id="43" name="Table 43"/>
          <p:cNvGraphicFramePr>
            <a:graphicFrameLocks noGrp="1"/>
          </p:cNvGraphicFramePr>
          <p:nvPr/>
        </p:nvGraphicFramePr>
        <p:xfrm>
          <a:off x="838198" y="2250000"/>
          <a:ext cx="105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00000"/>
                <a:gridCol w="1900000"/>
                <a:gridCol w="1900000"/>
                <a:gridCol w="2100000"/>
              </a:tblGrid>
              <a:tr h="450000">
                <a:tc>
                  <a:txBody>
                    <a:bodyPr/>
                    <a:lstStyle/>
                    <a:p>
                      <a:pPr algn="l"/>
                      <a:r>
                        <a:rPr lang="en-IN" sz="1250" b="1" dirty="0">
                          <a:solidFill>
                            <a:srgbClr val="FFFFFF"/>
                          </a:solidFill>
                        </a:rPr>
                        <a:t>Policy</a:t>
                      </a:r>
                      <a:endParaRPr lang="en-IN" sz="125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1" dirty="0">
                          <a:solidFill>
                            <a:srgbClr val="FFFFFF"/>
                          </a:solidFill>
                        </a:rPr>
                        <a:t>Profit</a:t>
                      </a:r>
                      <a:endParaRPr lang="en-IN" sz="125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1" dirty="0">
                          <a:solidFill>
                            <a:srgbClr val="FFFFFF"/>
                          </a:solidFill>
                        </a:rPr>
                        <a:t>Fill rate</a:t>
                      </a:r>
                      <a:endParaRPr lang="en-IN" sz="125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1" dirty="0">
                          <a:solidFill>
                            <a:srgbClr val="FFFFFF"/>
                          </a:solidFill>
                        </a:rPr>
                        <a:t>Ordering cost</a:t>
                      </a:r>
                      <a:endParaRPr lang="en-IN" sz="125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forecast + safety stock (best classical)</a:t>
                      </a:r>
                      <a:endParaRPr lang="en-IN" sz="12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83,624</a:t>
                      </a:r>
                      <a:endParaRPr lang="en-IN" sz="12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97.9%</a:t>
                      </a:r>
                      <a:endParaRPr lang="en-IN" sz="12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2,729</a:t>
                      </a:r>
                      <a:endParaRPr lang="en-IN" sz="12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MaskablePPO agent, 1M steps</a:t>
                      </a:r>
                      <a:endParaRPr lang="en-IN" sz="12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71,227</a:t>
                      </a:r>
                      <a:endParaRPr lang="en-IN" sz="12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94.3%</a:t>
                      </a:r>
                      <a:endParaRPr lang="en-IN" sz="12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7,068</a:t>
                      </a:r>
                      <a:endParaRPr lang="en-IN" sz="12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PPO without action masking, 1M steps</a:t>
                      </a:r>
                      <a:endParaRPr lang="en-IN" sz="12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22,566</a:t>
                      </a:r>
                      <a:endParaRPr lang="en-IN" sz="12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94.8%</a:t>
                      </a:r>
                      <a:endParaRPr lang="en-IN" sz="12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13,988</a:t>
                      </a:r>
                      <a:endParaRPr lang="en-IN" sz="12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</a:tr>
            </a:tbl>
          </a:graphicData>
        </a:graphic>
      </p:graphicFrame>
      <p:sp>
        <p:nvSpPr>
          <p:cNvPr id="44" name="Findings"/>
          <p:cNvSpPr txBox="1"/>
          <p:nvPr/>
        </p:nvSpPr>
        <p:spPr>
          <a:xfrm>
            <a:off x="838198" y="4200000"/>
            <a:ext cx="10515600" cy="1900000"/>
          </a:xfrm>
          <a:prstGeom prst="rect">
            <a:avLst/>
          </a:prstGeom>
        </p:spPr>
        <p:txBody>
          <a:bodyPr wrap="square" lIns="0" rIns="0"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500" b="1" dirty="0">
                <a:solidFill>
                  <a:srgbClr val="0D5A28"/>
                </a:solidFill>
              </a:rPr>
              <a:t>The classical policy still wins by 12,397 per episode (paired t = -9.22, n = 30, significant).</a:t>
            </a:r>
            <a:endParaRPr lang="en-IN" sz="1500" b="1" dirty="0">
              <a:solidFill>
                <a:srgbClr val="0D5A28"/>
              </a:solidFill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350" b="0" dirty="0">
                <a:solidFill>
                  <a:srgbClr val="202020"/>
                </a:solidFill>
              </a:rPr>
              <a:t>Where the gap comes from: stockouts about 4,700; fragmented sourcing about 4,300 (the agent pays 2.6x the baseline's ordering fees); lost revenue about 2,900.</a:t>
            </a:r>
            <a:endParaRPr lang="en-IN" sz="1350" b="0" dirty="0">
              <a:solidFill>
                <a:srgbClr val="202020"/>
              </a:solidFill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350" b="0" dirty="0">
                <a:solidFill>
                  <a:srgbClr val="202020"/>
                </a:solidFill>
              </a:rPr>
              <a:t>Action masking is the single largest lever found so far, tripling agent profit from 23,717 to 72,740.</a:t>
            </a:r>
            <a:endParaRPr lang="en-IN" sz="1350" b="0" dirty="0">
              <a:solidFill>
                <a:srgbClr val="202020"/>
              </a:solidFill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350" b="0" dirty="0">
                <a:solidFill>
                  <a:srgbClr val="202020"/>
                </a:solidFill>
              </a:rPr>
              <a:t>A hyperparameter sweep of 8 configurations over 6 million steps is running to test whether the remaining gap can be closed.</a:t>
            </a:r>
            <a:endParaRPr lang="en-IN" sz="1350" b="0" dirty="0">
              <a:solidFill>
                <a:srgbClr val="202020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-201435"/>
            <a:ext cx="10515600" cy="1325563"/>
          </a:xfrm>
        </p:spPr>
        <p:txBody>
          <a:bodyPr>
            <a:normAutofit/>
          </a:bodyPr>
          <a:lstStyle/>
          <a:p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Preliminary Results and Discussion</a:t>
            </a:r>
            <a:endParaRPr lang="en-IN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  <p:pic>
        <p:nvPicPr>
          <p:cNvPr id="200" name="Picture 20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198" y="2050000"/>
            <a:ext cx="5100000" cy="2586187"/>
          </a:xfrm>
          <a:prstGeom prst="rect">
            <a:avLst/>
          </a:prstGeom>
          <a:ln w="9525">
            <a:solidFill>
              <a:srgbClr val="C8D8CC"/>
            </a:solidFill>
          </a:ln>
        </p:spPr>
      </p:pic>
      <p:pic>
        <p:nvPicPr>
          <p:cNvPr id="201" name="Picture 20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3798" y="2050000"/>
            <a:ext cx="5100000" cy="2463068"/>
          </a:xfrm>
          <a:prstGeom prst="rect">
            <a:avLst/>
          </a:prstGeom>
          <a:ln w="9525">
            <a:solidFill>
              <a:srgbClr val="C8D8CC"/>
            </a:solidFill>
          </a:ln>
        </p:spPr>
      </p:pic>
      <p:sp>
        <p:nvSpPr>
          <p:cNvPr id="210" name="Text 210"/>
          <p:cNvSpPr txBox="1"/>
          <p:nvPr/>
        </p:nvSpPr>
        <p:spPr>
          <a:xfrm>
            <a:off x="838198" y="4950000"/>
            <a:ext cx="10515600" cy="1200000"/>
          </a:xfrm>
          <a:prstGeom prst="rect">
            <a:avLst/>
          </a:prstGeom>
        </p:spPr>
        <p:txBody>
          <a:bodyPr wrap="square" lIns="0" rIns="0"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150" b="0" dirty="0">
                <a:solidFill>
                  <a:srgbClr val="202020"/>
                </a:solidFill>
              </a:rPr>
              <a:t>Left: every policy on the 30 held-out reporting seeds. The best classical policy leads the agent, and the spread across seeds is wide enough that only a paired test can settle the difference.</a:t>
            </a:r>
            <a:endParaRPr lang="en-IN" sz="1150" b="0" dirty="0">
              <a:solidFill>
                <a:srgbClr val="202020"/>
              </a:solidFill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150" b="0" dirty="0">
                <a:solidFill>
                  <a:srgbClr val="202020"/>
                </a:solidFill>
              </a:rPr>
              <a:t>Right: learning progress on the training-eval seeds. Action masking lifts the whole curve; both runs flatten below the classical reference line, and the unmasked run was still improving at 1M steps, which is why the sweep trains to 2M.</a:t>
            </a:r>
            <a:endParaRPr lang="en-IN" sz="1150" b="0" dirty="0">
              <a:solidFill>
                <a:srgbClr val="202020"/>
              </a:solidFill>
            </a:endParaRPr>
          </a:p>
        </p:txBody>
      </p:sp>
      <p:sp>
        <p:nvSpPr>
          <p:cNvPr id="211" name="Text 211"/>
          <p:cNvSpPr txBox="1"/>
          <p:nvPr/>
        </p:nvSpPr>
        <p:spPr>
          <a:xfrm>
            <a:off x="838198" y="1594415"/>
            <a:ext cx="10515600" cy="400000"/>
          </a:xfrm>
          <a:prstGeom prst="rect">
            <a:avLst/>
          </a:prstGeom>
        </p:spPr>
        <p:txBody>
          <a:bodyPr wrap="square" lIns="0" rIns="0"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400" b="0" dirty="0">
                <a:solidFill>
                  <a:srgbClr val="0D5A28"/>
                </a:solidFill>
              </a:rPr>
              <a:t>Visual evidence for the numbers on the previous slide, generated directly from the stored result files.</a:t>
            </a:r>
            <a:endParaRPr lang="en-IN" sz="1400" b="0" dirty="0">
              <a:solidFill>
                <a:srgbClr val="0D5A28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Interim Summary/Conclusion</a:t>
            </a:r>
            <a:endParaRPr lang="en-IN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4500000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600" b="0" dirty="0"/>
              <a:t>Built and verified: the simulator, four tuned classical policies, the RL training pipeline, and a held-out evaluation harness. 92 automated tests pass.</a:t>
            </a:r>
            <a:endParaRPr lang="en-IN" sz="16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600" b="0" dirty="0"/>
              <a:t>The dataset decision is evidence-based: one candidate dataset was screened and rejected for having no weekday or seasonal structure.</a:t>
            </a:r>
            <a:endParaRPr lang="en-IN" sz="16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600" b="0" dirty="0"/>
              <a:t>Action masking is the largest single contributor to agent performance so far (3x improvement).</a:t>
            </a:r>
            <a:endParaRPr lang="en-IN" sz="16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600" b="1" dirty="0"/>
              <a:t>Honest current finding: the tuned classical policy still beats the RL agent by 12,397 per episode, and the difference is statistically significant.</a:t>
            </a:r>
            <a:endParaRPr lang="en-IN" sz="1600" b="1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600" b="0" dirty="0"/>
              <a:t>This is a meaningful result rather than an artefact, because the comparison is fair by construction: same environment, same seeds, same action set.</a:t>
            </a:r>
            <a:endParaRPr lang="en-IN" sz="16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600" b="0" dirty="0"/>
              <a:t>Remaining work is the LLM explanation and scenario layer, which is the novel contribution of the project.</a:t>
            </a:r>
            <a:endParaRPr lang="en-IN" sz="1600" b="0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Completion plan for the next phase</a:t>
            </a:r>
            <a:endParaRPr lang="en-IN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560000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400" b="0" dirty="0"/>
              <a:t>Engineering is complete; the remaining phases deliver the explainability contribution and the report.</a:t>
            </a:r>
            <a:endParaRPr lang="en-IN" sz="1400" b="0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  <p:graphicFrame>
        <p:nvGraphicFramePr>
          <p:cNvPr id="45" name="Table 45"/>
          <p:cNvGraphicFramePr>
            <a:graphicFrameLocks noGrp="1"/>
          </p:cNvGraphicFramePr>
          <p:nvPr/>
        </p:nvGraphicFramePr>
        <p:xfrm>
          <a:off x="838198" y="2200000"/>
          <a:ext cx="10200000" cy="36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/>
                <a:gridCol w="3600000"/>
                <a:gridCol w="3900000"/>
                <a:gridCol w="1800000"/>
              </a:tblGrid>
              <a:tr h="520000">
                <a:tc>
                  <a:txBody>
                    <a:bodyPr/>
                    <a:lstStyle/>
                    <a:p>
                      <a:pPr algn="l"/>
                      <a:r>
                        <a:rPr lang="en-IN" sz="115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IN" sz="115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1" dirty="0">
                          <a:solidFill>
                            <a:srgbClr val="FFFFFF"/>
                          </a:solidFill>
                        </a:rPr>
                        <a:t>Work item</a:t>
                      </a:r>
                      <a:endParaRPr lang="en-IN" sz="115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1" dirty="0">
                          <a:solidFill>
                            <a:srgbClr val="FFFFFF"/>
                          </a:solidFill>
                        </a:rPr>
                        <a:t>Deliverable</a:t>
                      </a:r>
                      <a:endParaRPr lang="en-IN" sz="115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IN" sz="115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5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Finalise held-out evaluation and hyperparameter sweep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Final RL vs classical comparison table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In progress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6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LLM explanation module via OpenRouter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Plain-English reason for every order decision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Next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7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LLM scenario generator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Demand-spike and supplier-failure stress tests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Planned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8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Streamlit decision-support dashboard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Interactive interface for a manager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Planned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9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LLM-guided curriculum training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Agent trained on generated hard scenarios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Planned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10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Final report and documentation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Written report, figures, reproducible code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Planned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References</a:t>
            </a:r>
            <a:endParaRPr lang="en-IN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4600000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250" b="0" dirty="0"/>
              <a:t>Schulman, J., Wolski, F., Dhariwal, P., Radford, A., Klimov, O. (2017). Proximal Policy Optimization Algorithms. arXiv:1707.06347.</a:t>
            </a:r>
            <a:endParaRPr lang="en-IN" sz="125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250" b="0" dirty="0"/>
              <a:t>Oroojlooyjadid, A., Nazari, M., Snyder, L. V., Takac, M. (2022). A Deep Q-Network for the Beer Game. Manufacturing &amp; Service Operations Management.</a:t>
            </a:r>
            <a:endParaRPr lang="en-IN" sz="125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250" b="0" dirty="0"/>
              <a:t>Gijsbrechts, J., Boute, R. N., Van Mieghem, J. A., Zhang, D. (2022). Can Deep Reinforcement Learning Improve Inventory Management? Manufacturing &amp; Service Operations Management.</a:t>
            </a:r>
            <a:endParaRPr lang="en-IN" sz="125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250" b="0" dirty="0"/>
              <a:t>Boute, R. N., Gijsbrechts, J., van Jaarsveld, W., Vanvuchelen, N. (2022). Deep Reinforcement Learning for Inventory Control: A Roadmap. European Journal of Operational Research.</a:t>
            </a:r>
            <a:endParaRPr lang="en-IN" sz="125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250" b="0" dirty="0"/>
              <a:t>Huang, S., Ontanon, S. (2022). A Closer Look at Invalid Action Masking in Policy Gradient Algorithms. FLAIRS-35.</a:t>
            </a:r>
            <a:endParaRPr lang="en-IN" sz="125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250" b="0" dirty="0"/>
              <a:t>Chen, D., Sain, S. L., Guo, K. (2012). Data mining for the online retail industry. Journal of Database Marketing &amp; Customer Strategy Management.</a:t>
            </a:r>
            <a:endParaRPr lang="en-IN" sz="125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250" b="0" dirty="0"/>
              <a:t>Dua, D., Graff, C. Online Retail II Data Set. UCI Machine Learning Repository. https://archive.ics.uci.edu/dataset/502</a:t>
            </a:r>
            <a:endParaRPr lang="en-IN" sz="125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250" b="0" dirty="0"/>
              <a:t>Raffin, A. et al. (2021). Stable-Baselines3: Reliable Reinforcement Learning Implementations. Journal of Machine Learning Research 22(268).</a:t>
            </a:r>
            <a:endParaRPr lang="en-IN" sz="1250" b="0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4351338"/>
          </a:xfrm>
        </p:spPr>
        <p:txBody>
          <a:bodyPr/>
          <a:lstStyle/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pPr marL="3657600" lvl="8" indent="0">
              <a:buNone/>
            </a:pPr>
            <a:r>
              <a:rPr lang="en-IN" sz="5400" dirty="0"/>
              <a:t>Thank you</a:t>
            </a:r>
            <a:endParaRPr lang="en-IN" sz="5400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12061</Words>
  <Application>WPS Presentation</Application>
  <PresentationFormat>Widescreen</PresentationFormat>
  <Paragraphs>472</Paragraphs>
  <Slides>17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30" baseType="lpstr">
      <vt:lpstr>Arial</vt:lpstr>
      <vt:lpstr>SimSun</vt:lpstr>
      <vt:lpstr>Wingdings</vt:lpstr>
      <vt:lpstr>Times New Roman</vt:lpstr>
      <vt:lpstr>Times New Roman</vt:lpstr>
      <vt:lpstr>Calibri</vt:lpstr>
      <vt:lpstr>Microsoft YaHei</vt:lpstr>
      <vt:lpstr>Arial Unicode MS</vt:lpstr>
      <vt:lpstr>Calibri Light</vt:lpstr>
      <vt:lpstr>Aptos</vt:lpstr>
      <vt:lpstr>Segoe UI</vt:lpstr>
      <vt:lpstr>Calibri</vt:lpstr>
      <vt:lpstr>Office Theme</vt:lpstr>
      <vt:lpstr>PowerPoint 演示文稿</vt:lpstr>
      <vt:lpstr>Outline </vt:lpstr>
      <vt:lpstr>Introduction and Motivation </vt:lpstr>
      <vt:lpstr>Problem Definition </vt:lpstr>
      <vt:lpstr>Literature Review </vt:lpstr>
      <vt:lpstr>Gaps Identified </vt:lpstr>
      <vt:lpstr>Objectives </vt:lpstr>
      <vt:lpstr>Methodology </vt:lpstr>
      <vt:lpstr>System Architecture </vt:lpstr>
      <vt:lpstr>Dataset Description</vt:lpstr>
      <vt:lpstr> Preliminary Results and Discussion</vt:lpstr>
      <vt:lpstr> Preliminary Results and Discussion</vt:lpstr>
      <vt:lpstr> Preliminary Results and Discussion</vt:lpstr>
      <vt:lpstr>Interim Summary/Conclusion</vt:lpstr>
      <vt:lpstr>Completion plan for the next phase</vt:lpstr>
      <vt:lpstr>References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WPS_1695456806</cp:lastModifiedBy>
  <cp:revision>46</cp:revision>
  <dcterms:created xsi:type="dcterms:W3CDTF">2023-07-03T07:55:00Z</dcterms:created>
  <dcterms:modified xsi:type="dcterms:W3CDTF">2026-08-15T18:14:42Z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1033-12.1.0.28032</vt:lpwstr>
  </property>
  <property fmtid="{D5CDD505-2E9C-101B-9397-08002B2CF9AE}" pid="3" name="ICV">
    <vt:lpwstr>5366CCF83CE44AD9BFF6EDADA7D1F3DA_12</vt:lpwstr>
  </property>
</Properties>
</file>