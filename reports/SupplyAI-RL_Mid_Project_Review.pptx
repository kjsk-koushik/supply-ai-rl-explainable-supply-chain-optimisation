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90" r:id="rId3"/>
    <p:sldId id="291" r:id="rId4"/>
    <p:sldId id="292" r:id="rId5"/>
    <p:sldId id="293" r:id="rId6"/>
    <p:sldId id="294" r:id="rId7"/>
    <p:sldId id="295" r:id="rId8"/>
    <p:sldId id="296" r:id="rId9"/>
    <p:sldId id="307" r:id="rId23"/>
    <p:sldId id="297" r:id="rId10"/>
    <p:sldId id="298" r:id="rId11"/>
    <p:sldId id="305" r:id="rId12"/>
    <p:sldId id="308" r:id="rId24"/>
    <p:sldId id="306" r:id="rId13"/>
    <p:sldId id="300" r:id="rId14"/>
    <p:sldId id="302" r:id="rId15"/>
    <p:sldId id="3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A9B46"/>
    <a:srgbClr val="18AD4A"/>
    <a:srgbClr val="081271"/>
    <a:srgbClr val="FFFB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 Id="rId23" Type="http://schemas.openxmlformats.org/officeDocument/2006/relationships/slide" Target="slides/slide16.xml"/><Relationship Id="rId24"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007E216-FF70-2B66-D446-8AF6B921A7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2FF8E699-0BFA-7ED0-E036-13061879A3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6333AC-344F-40AF-9E99-79D0BF1BA136}" type="datetimeFigureOut">
              <a:rPr lang="en-IN" smtClean="0"/>
              <a:t>28-07-2026</a:t>
            </a:fld>
            <a:endParaRPr lang="en-IN"/>
          </a:p>
        </p:txBody>
      </p:sp>
      <p:sp>
        <p:nvSpPr>
          <p:cNvPr id="4" name="Footer Placeholder 3">
            <a:extLst>
              <a:ext uri="{FF2B5EF4-FFF2-40B4-BE49-F238E27FC236}">
                <a16:creationId xmlns:a16="http://schemas.microsoft.com/office/drawing/2014/main" id="{18B889DF-AB4B-4A37-9579-FEAE0F1476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Speech Processing</a:t>
            </a:r>
          </a:p>
        </p:txBody>
      </p:sp>
      <p:sp>
        <p:nvSpPr>
          <p:cNvPr id="5" name="Slide Number Placeholder 4">
            <a:extLst>
              <a:ext uri="{FF2B5EF4-FFF2-40B4-BE49-F238E27FC236}">
                <a16:creationId xmlns:a16="http://schemas.microsoft.com/office/drawing/2014/main" id="{ACDAFFD3-30EC-F4A9-0025-921B610F2C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E13A14-01DD-4442-9BD4-9CC7EED32526}" type="slidenum">
              <a:rPr lang="en-IN" smtClean="0"/>
              <a:t>‹#›</a:t>
            </a:fld>
            <a:endParaRPr lang="en-IN"/>
          </a:p>
        </p:txBody>
      </p:sp>
    </p:spTree>
    <p:extLst>
      <p:ext uri="{BB962C8B-B14F-4D97-AF65-F5344CB8AC3E}">
        <p14:creationId xmlns:p14="http://schemas.microsoft.com/office/powerpoint/2010/main" val="35719757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92E8E5-BD41-4FE3-96D2-635440A77753}" type="datetimeFigureOut">
              <a:rPr lang="en-IN" smtClean="0"/>
              <a:t>28-07-2026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Speech Processing</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9347C-ECC5-466E-9761-F92650021703}" type="slidenum">
              <a:rPr lang="en-IN" smtClean="0"/>
              <a:t>‹#›</a:t>
            </a:fld>
            <a:endParaRPr lang="en-IN"/>
          </a:p>
        </p:txBody>
      </p:sp>
    </p:spTree>
    <p:extLst>
      <p:ext uri="{BB962C8B-B14F-4D97-AF65-F5344CB8AC3E}">
        <p14:creationId xmlns:p14="http://schemas.microsoft.com/office/powerpoint/2010/main" val="2115802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669347C-ECC5-466E-9761-F92650021703}" type="slidenum">
              <a:rPr lang="en-IN" smtClean="0"/>
              <a:t>1</a:t>
            </a:fld>
            <a:endParaRPr lang="en-IN"/>
          </a:p>
        </p:txBody>
      </p:sp>
    </p:spTree>
    <p:extLst>
      <p:ext uri="{BB962C8B-B14F-4D97-AF65-F5344CB8AC3E}">
        <p14:creationId xmlns:p14="http://schemas.microsoft.com/office/powerpoint/2010/main" val="326657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6436E-7161-BF7B-5432-3DA31D0D5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4FF637-4BED-E82C-E4B9-38D3C4D636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E9FD0-BD20-4D5B-80EA-257722AE88F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601FB6E-1520-C5E4-5FED-A088E283FA0D}"/>
              </a:ext>
            </a:extLst>
          </p:cNvPr>
          <p:cNvSpPr>
            <a:spLocks noGrp="1"/>
          </p:cNvSpPr>
          <p:nvPr>
            <p:ph type="sldNum" sz="quarter" idx="10"/>
          </p:nvPr>
        </p:nvSpPr>
        <p:spPr/>
        <p:txBody>
          <a:bodyPr/>
          <a:lstStyle/>
          <a:p>
            <a:fld id="{5669347C-ECC5-466E-9761-F92650021703}" type="slidenum">
              <a:rPr lang="en-IN" smtClean="0"/>
              <a:t>2</a:t>
            </a:fld>
            <a:endParaRPr lang="en-IN"/>
          </a:p>
        </p:txBody>
      </p:sp>
    </p:spTree>
    <p:extLst>
      <p:ext uri="{BB962C8B-B14F-4D97-AF65-F5344CB8AC3E}">
        <p14:creationId xmlns:p14="http://schemas.microsoft.com/office/powerpoint/2010/main" val="1771032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936D3-2FD8-3244-24C0-1E6FF1BB9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E3104-3E73-24FC-1070-CEE125B95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EEDE2-4FC9-1B7C-AFC2-7F1215AE2BF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F09B0B1-9606-2596-82B3-9D9E089DB475}"/>
              </a:ext>
            </a:extLst>
          </p:cNvPr>
          <p:cNvSpPr>
            <a:spLocks noGrp="1"/>
          </p:cNvSpPr>
          <p:nvPr>
            <p:ph type="sldNum" sz="quarter" idx="10"/>
          </p:nvPr>
        </p:nvSpPr>
        <p:spPr/>
        <p:txBody>
          <a:bodyPr/>
          <a:lstStyle/>
          <a:p>
            <a:fld id="{5669347C-ECC5-466E-9761-F92650021703}" type="slidenum">
              <a:rPr lang="en-IN" smtClean="0"/>
              <a:t>3</a:t>
            </a:fld>
            <a:endParaRPr lang="en-IN"/>
          </a:p>
        </p:txBody>
      </p:sp>
    </p:spTree>
    <p:extLst>
      <p:ext uri="{BB962C8B-B14F-4D97-AF65-F5344CB8AC3E}">
        <p14:creationId xmlns:p14="http://schemas.microsoft.com/office/powerpoint/2010/main" val="3200320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CD6A0-AD2F-FAC8-D2E7-D6195DEA2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BE069-C7FB-511E-68B5-CCD360B67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199F2-933D-8F7B-93C5-04F73F94F88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7258E05-5B06-5EE2-88D8-FF8B4E4EA292}"/>
              </a:ext>
            </a:extLst>
          </p:cNvPr>
          <p:cNvSpPr>
            <a:spLocks noGrp="1"/>
          </p:cNvSpPr>
          <p:nvPr>
            <p:ph type="sldNum" sz="quarter" idx="10"/>
          </p:nvPr>
        </p:nvSpPr>
        <p:spPr/>
        <p:txBody>
          <a:bodyPr/>
          <a:lstStyle/>
          <a:p>
            <a:fld id="{5669347C-ECC5-466E-9761-F92650021703}" type="slidenum">
              <a:rPr lang="en-IN" smtClean="0"/>
              <a:t>4</a:t>
            </a:fld>
            <a:endParaRPr lang="en-IN"/>
          </a:p>
        </p:txBody>
      </p:sp>
    </p:spTree>
    <p:extLst>
      <p:ext uri="{BB962C8B-B14F-4D97-AF65-F5344CB8AC3E}">
        <p14:creationId xmlns:p14="http://schemas.microsoft.com/office/powerpoint/2010/main" val="4218683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30988-B331-DCF5-D4C6-FACC42657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D228F-15D7-CAC8-EF9E-82A63C14C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B8EE4-EAE1-3B22-0483-4466A6C6D6F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B0E87F5-E567-B116-2483-3B7BD10EFFA0}"/>
              </a:ext>
            </a:extLst>
          </p:cNvPr>
          <p:cNvSpPr>
            <a:spLocks noGrp="1"/>
          </p:cNvSpPr>
          <p:nvPr>
            <p:ph type="sldNum" sz="quarter" idx="10"/>
          </p:nvPr>
        </p:nvSpPr>
        <p:spPr/>
        <p:txBody>
          <a:bodyPr/>
          <a:lstStyle/>
          <a:p>
            <a:fld id="{5669347C-ECC5-466E-9761-F92650021703}" type="slidenum">
              <a:rPr lang="en-IN" smtClean="0"/>
              <a:t>5</a:t>
            </a:fld>
            <a:endParaRPr lang="en-IN"/>
          </a:p>
        </p:txBody>
      </p:sp>
    </p:spTree>
    <p:extLst>
      <p:ext uri="{BB962C8B-B14F-4D97-AF65-F5344CB8AC3E}">
        <p14:creationId xmlns:p14="http://schemas.microsoft.com/office/powerpoint/2010/main" val="3828722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981B0-3C7C-E594-8A9F-1E5DCB2DEE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B180A-42E0-985D-8274-39534FD5D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6E5EF-B972-F162-F033-5B514B69A25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14BC95B-0F17-313B-DD62-E4CD3021767E}"/>
              </a:ext>
            </a:extLst>
          </p:cNvPr>
          <p:cNvSpPr>
            <a:spLocks noGrp="1"/>
          </p:cNvSpPr>
          <p:nvPr>
            <p:ph type="sldNum" sz="quarter" idx="10"/>
          </p:nvPr>
        </p:nvSpPr>
        <p:spPr/>
        <p:txBody>
          <a:bodyPr/>
          <a:lstStyle/>
          <a:p>
            <a:fld id="{5669347C-ECC5-466E-9761-F92650021703}" type="slidenum">
              <a:rPr lang="en-IN" smtClean="0"/>
              <a:t>6</a:t>
            </a:fld>
            <a:endParaRPr lang="en-IN"/>
          </a:p>
        </p:txBody>
      </p:sp>
    </p:spTree>
    <p:extLst>
      <p:ext uri="{BB962C8B-B14F-4D97-AF65-F5344CB8AC3E}">
        <p14:creationId xmlns:p14="http://schemas.microsoft.com/office/powerpoint/2010/main" val="112679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2A405-697C-96BB-D845-46B140D16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F368C-4F7A-B19B-5C1E-6EF638564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1DFF4-DBF5-8DC0-0CD3-7A4F8ACAD91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F87CE2D-F093-562F-1C4F-E91738078786}"/>
              </a:ext>
            </a:extLst>
          </p:cNvPr>
          <p:cNvSpPr>
            <a:spLocks noGrp="1"/>
          </p:cNvSpPr>
          <p:nvPr>
            <p:ph type="sldNum" sz="quarter" idx="10"/>
          </p:nvPr>
        </p:nvSpPr>
        <p:spPr/>
        <p:txBody>
          <a:bodyPr/>
          <a:lstStyle/>
          <a:p>
            <a:fld id="{5669347C-ECC5-466E-9761-F92650021703}" type="slidenum">
              <a:rPr lang="en-IN" smtClean="0"/>
              <a:t>7</a:t>
            </a:fld>
            <a:endParaRPr lang="en-IN"/>
          </a:p>
        </p:txBody>
      </p:sp>
    </p:spTree>
    <p:extLst>
      <p:ext uri="{BB962C8B-B14F-4D97-AF65-F5344CB8AC3E}">
        <p14:creationId xmlns:p14="http://schemas.microsoft.com/office/powerpoint/2010/main" val="3061213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16E95-A2A0-D0F0-177A-6650B8896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D32F4-3A31-37D6-0BA6-03785B7D2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7F1B8-853B-A0EC-F47A-5D403AEC0FE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2BF5D5C-7045-76CD-2907-958A24B84C26}"/>
              </a:ext>
            </a:extLst>
          </p:cNvPr>
          <p:cNvSpPr>
            <a:spLocks noGrp="1"/>
          </p:cNvSpPr>
          <p:nvPr>
            <p:ph type="sldNum" sz="quarter" idx="10"/>
          </p:nvPr>
        </p:nvSpPr>
        <p:spPr/>
        <p:txBody>
          <a:bodyPr/>
          <a:lstStyle/>
          <a:p>
            <a:fld id="{5669347C-ECC5-466E-9761-F92650021703}" type="slidenum">
              <a:rPr lang="en-IN" smtClean="0"/>
              <a:t>8</a:t>
            </a:fld>
            <a:endParaRPr lang="en-IN"/>
          </a:p>
        </p:txBody>
      </p:sp>
    </p:spTree>
    <p:extLst>
      <p:ext uri="{BB962C8B-B14F-4D97-AF65-F5344CB8AC3E}">
        <p14:creationId xmlns:p14="http://schemas.microsoft.com/office/powerpoint/2010/main" val="2816415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2FE74-3F49-99F0-6102-0744B8143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1B62B-F768-76D7-5459-A708C6E901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6D5FB-3495-5ADA-098C-41946CE6F2E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88197AF-3D91-785B-AD2C-FACE6D6685BE}"/>
              </a:ext>
            </a:extLst>
          </p:cNvPr>
          <p:cNvSpPr>
            <a:spLocks noGrp="1"/>
          </p:cNvSpPr>
          <p:nvPr>
            <p:ph type="sldNum" sz="quarter" idx="10"/>
          </p:nvPr>
        </p:nvSpPr>
        <p:spPr/>
        <p:txBody>
          <a:bodyPr/>
          <a:lstStyle/>
          <a:p>
            <a:fld id="{5669347C-ECC5-466E-9761-F92650021703}" type="slidenum">
              <a:rPr lang="en-IN" smtClean="0"/>
              <a:t>9</a:t>
            </a:fld>
            <a:endParaRPr lang="en-IN"/>
          </a:p>
        </p:txBody>
      </p:sp>
    </p:spTree>
    <p:extLst>
      <p:ext uri="{BB962C8B-B14F-4D97-AF65-F5344CB8AC3E}">
        <p14:creationId xmlns:p14="http://schemas.microsoft.com/office/powerpoint/2010/main" val="1902677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90771-FB7B-7980-F441-8ADFD18615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35393-10B1-DF78-115D-171B85B69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83DA9-AA12-E1CD-5C53-192D7F4AF68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3F4A967-6B15-B3B0-3B3D-D70A9DB2779B}"/>
              </a:ext>
            </a:extLst>
          </p:cNvPr>
          <p:cNvSpPr>
            <a:spLocks noGrp="1"/>
          </p:cNvSpPr>
          <p:nvPr>
            <p:ph type="sldNum" sz="quarter" idx="10"/>
          </p:nvPr>
        </p:nvSpPr>
        <p:spPr/>
        <p:txBody>
          <a:bodyPr/>
          <a:lstStyle/>
          <a:p>
            <a:fld id="{5669347C-ECC5-466E-9761-F92650021703}" type="slidenum">
              <a:rPr lang="en-IN" smtClean="0"/>
              <a:t>10</a:t>
            </a:fld>
            <a:endParaRPr lang="en-IN"/>
          </a:p>
        </p:txBody>
      </p:sp>
    </p:spTree>
    <p:extLst>
      <p:ext uri="{BB962C8B-B14F-4D97-AF65-F5344CB8AC3E}">
        <p14:creationId xmlns:p14="http://schemas.microsoft.com/office/powerpoint/2010/main" val="2442426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CCB84-BFD4-25AF-457E-A38ECFBDD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F95D4-B188-CA45-82A4-80125A723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39D4C-7DE4-15F4-A113-F7E2253D0ED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7579DE1-A56B-028A-8ED2-DCCFF58C37A7}"/>
              </a:ext>
            </a:extLst>
          </p:cNvPr>
          <p:cNvSpPr>
            <a:spLocks noGrp="1"/>
          </p:cNvSpPr>
          <p:nvPr>
            <p:ph type="sldNum" sz="quarter" idx="10"/>
          </p:nvPr>
        </p:nvSpPr>
        <p:spPr/>
        <p:txBody>
          <a:bodyPr/>
          <a:lstStyle/>
          <a:p>
            <a:fld id="{5669347C-ECC5-466E-9761-F92650021703}" type="slidenum">
              <a:rPr lang="en-IN" smtClean="0"/>
              <a:t>11</a:t>
            </a:fld>
            <a:endParaRPr lang="en-IN"/>
          </a:p>
        </p:txBody>
      </p:sp>
    </p:spTree>
    <p:extLst>
      <p:ext uri="{BB962C8B-B14F-4D97-AF65-F5344CB8AC3E}">
        <p14:creationId xmlns:p14="http://schemas.microsoft.com/office/powerpoint/2010/main" val="2546486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52E8C-9D33-D3D6-0149-3548C17F2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DD26F-5A3A-1FDE-EB2E-E950A9640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DAF930-D629-6A23-0ABE-C12A66FB240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35940FF-4496-78DF-DCBD-73B32E7C2EAD}"/>
              </a:ext>
            </a:extLst>
          </p:cNvPr>
          <p:cNvSpPr>
            <a:spLocks noGrp="1"/>
          </p:cNvSpPr>
          <p:nvPr>
            <p:ph type="sldNum" sz="quarter" idx="10"/>
          </p:nvPr>
        </p:nvSpPr>
        <p:spPr/>
        <p:txBody>
          <a:bodyPr/>
          <a:lstStyle/>
          <a:p>
            <a:fld id="{5669347C-ECC5-466E-9761-F92650021703}" type="slidenum">
              <a:rPr lang="en-IN" smtClean="0"/>
              <a:t>12</a:t>
            </a:fld>
            <a:endParaRPr lang="en-IN"/>
          </a:p>
        </p:txBody>
      </p:sp>
    </p:spTree>
    <p:extLst>
      <p:ext uri="{BB962C8B-B14F-4D97-AF65-F5344CB8AC3E}">
        <p14:creationId xmlns:p14="http://schemas.microsoft.com/office/powerpoint/2010/main" val="1122904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5CCC0-7556-5CFB-65BD-794FF43B3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C6E04-0233-F0BA-C454-C5C5BB653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12727-CEE8-AE50-32ED-AB401A5F328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051579D-5D4D-0598-8DDA-1B3A14824930}"/>
              </a:ext>
            </a:extLst>
          </p:cNvPr>
          <p:cNvSpPr>
            <a:spLocks noGrp="1"/>
          </p:cNvSpPr>
          <p:nvPr>
            <p:ph type="sldNum" sz="quarter" idx="10"/>
          </p:nvPr>
        </p:nvSpPr>
        <p:spPr/>
        <p:txBody>
          <a:bodyPr/>
          <a:lstStyle/>
          <a:p>
            <a:fld id="{5669347C-ECC5-466E-9761-F92650021703}" type="slidenum">
              <a:rPr lang="en-IN" smtClean="0"/>
              <a:t>13</a:t>
            </a:fld>
            <a:endParaRPr lang="en-IN"/>
          </a:p>
        </p:txBody>
      </p:sp>
    </p:spTree>
    <p:extLst>
      <p:ext uri="{BB962C8B-B14F-4D97-AF65-F5344CB8AC3E}">
        <p14:creationId xmlns:p14="http://schemas.microsoft.com/office/powerpoint/2010/main" val="645445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0CD1-5242-F8A1-DAF1-8B8C64370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798D2-118B-6F3A-A60A-B5C583D43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6D578-2725-19C6-B31D-086587F0753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81E9F94-EB0F-3154-1F9D-994A67F53531}"/>
              </a:ext>
            </a:extLst>
          </p:cNvPr>
          <p:cNvSpPr>
            <a:spLocks noGrp="1"/>
          </p:cNvSpPr>
          <p:nvPr>
            <p:ph type="sldNum" sz="quarter" idx="10"/>
          </p:nvPr>
        </p:nvSpPr>
        <p:spPr/>
        <p:txBody>
          <a:bodyPr/>
          <a:lstStyle/>
          <a:p>
            <a:fld id="{5669347C-ECC5-466E-9761-F92650021703}" type="slidenum">
              <a:rPr lang="en-IN" smtClean="0"/>
              <a:t>14</a:t>
            </a:fld>
            <a:endParaRPr lang="en-IN"/>
          </a:p>
        </p:txBody>
      </p:sp>
    </p:spTree>
    <p:extLst>
      <p:ext uri="{BB962C8B-B14F-4D97-AF65-F5344CB8AC3E}">
        <p14:creationId xmlns:p14="http://schemas.microsoft.com/office/powerpoint/2010/main" val="1441731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00CF5-43D6-73B7-692C-8A9A53943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6AE69-FA85-0A53-CBB3-F66C5E0E1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8D2D4D-D460-2402-A7BA-2420F03A507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1B0F52D-F66E-D591-3251-AA3C50A3EC22}"/>
              </a:ext>
            </a:extLst>
          </p:cNvPr>
          <p:cNvSpPr>
            <a:spLocks noGrp="1"/>
          </p:cNvSpPr>
          <p:nvPr>
            <p:ph type="sldNum" sz="quarter" idx="10"/>
          </p:nvPr>
        </p:nvSpPr>
        <p:spPr/>
        <p:txBody>
          <a:bodyPr/>
          <a:lstStyle/>
          <a:p>
            <a:fld id="{5669347C-ECC5-466E-9761-F92650021703}" type="slidenum">
              <a:rPr lang="en-IN" smtClean="0"/>
              <a:t>15</a:t>
            </a:fld>
            <a:endParaRPr lang="en-IN"/>
          </a:p>
        </p:txBody>
      </p:sp>
    </p:spTree>
    <p:extLst>
      <p:ext uri="{BB962C8B-B14F-4D97-AF65-F5344CB8AC3E}">
        <p14:creationId xmlns:p14="http://schemas.microsoft.com/office/powerpoint/2010/main" val="1678577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7E2F458-B665-432D-ACF1-3C56F813001B}" type="datetime1">
              <a:rPr lang="en-IN" smtClean="0"/>
              <a:t>28-07-2026</a:t>
            </a:fld>
            <a:endParaRPr lang="en-IN"/>
          </a:p>
        </p:txBody>
      </p:sp>
      <p:sp>
        <p:nvSpPr>
          <p:cNvPr id="5" name="Footer Placeholder 4"/>
          <p:cNvSpPr>
            <a:spLocks noGrp="1"/>
          </p:cNvSpPr>
          <p:nvPr>
            <p:ph type="ftr" sz="quarter" idx="11"/>
          </p:nvPr>
        </p:nvSpPr>
        <p:spPr/>
        <p:txBody>
          <a:bodyPr/>
          <a:lstStyle/>
          <a:p>
            <a:r>
              <a:rPr lang="en-IN" dirty="0"/>
              <a:t>Speech Processing</a:t>
            </a:r>
          </a:p>
        </p:txBody>
      </p:sp>
      <p:sp>
        <p:nvSpPr>
          <p:cNvPr id="6" name="Slide Number Placeholder 5"/>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2589733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6C15BD-94E4-4067-8A33-3C6EC4BD0B33}" type="datetime1">
              <a:rPr lang="en-IN" smtClean="0"/>
              <a:t>28-07-2026</a:t>
            </a:fld>
            <a:endParaRPr lang="en-IN"/>
          </a:p>
        </p:txBody>
      </p:sp>
      <p:sp>
        <p:nvSpPr>
          <p:cNvPr id="5" name="Footer Placeholder 4"/>
          <p:cNvSpPr>
            <a:spLocks noGrp="1"/>
          </p:cNvSpPr>
          <p:nvPr>
            <p:ph type="ftr" sz="quarter" idx="11"/>
          </p:nvPr>
        </p:nvSpPr>
        <p:spPr/>
        <p:txBody>
          <a:bodyPr/>
          <a:lstStyle/>
          <a:p>
            <a:r>
              <a:rPr lang="en-IN"/>
              <a:t>Speech Processing</a:t>
            </a:r>
          </a:p>
        </p:txBody>
      </p:sp>
      <p:sp>
        <p:nvSpPr>
          <p:cNvPr id="6" name="Slide Number Placeholder 5"/>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4020509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F634687-F519-4EB7-A5A2-8F32F570280C}" type="datetime1">
              <a:rPr lang="en-IN" smtClean="0"/>
              <a:t>28-07-2026</a:t>
            </a:fld>
            <a:endParaRPr lang="en-IN"/>
          </a:p>
        </p:txBody>
      </p:sp>
      <p:sp>
        <p:nvSpPr>
          <p:cNvPr id="5" name="Footer Placeholder 4"/>
          <p:cNvSpPr>
            <a:spLocks noGrp="1"/>
          </p:cNvSpPr>
          <p:nvPr>
            <p:ph type="ftr" sz="quarter" idx="11"/>
          </p:nvPr>
        </p:nvSpPr>
        <p:spPr/>
        <p:txBody>
          <a:bodyPr/>
          <a:lstStyle/>
          <a:p>
            <a:r>
              <a:rPr lang="en-IN"/>
              <a:t>Speech Processing</a:t>
            </a:r>
          </a:p>
        </p:txBody>
      </p:sp>
      <p:sp>
        <p:nvSpPr>
          <p:cNvPr id="6" name="Slide Number Placeholder 5"/>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1718776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A9FD66B-7BF9-457E-8F34-7A62FFE4EC1F}" type="datetime1">
              <a:rPr lang="en-IN" smtClean="0"/>
              <a:t>28-07-2026</a:t>
            </a:fld>
            <a:endParaRPr lang="en-IN"/>
          </a:p>
        </p:txBody>
      </p:sp>
      <p:sp>
        <p:nvSpPr>
          <p:cNvPr id="6" name="Footer Placeholder 5"/>
          <p:cNvSpPr>
            <a:spLocks noGrp="1"/>
          </p:cNvSpPr>
          <p:nvPr>
            <p:ph type="ftr" sz="quarter" idx="11"/>
          </p:nvPr>
        </p:nvSpPr>
        <p:spPr/>
        <p:txBody>
          <a:bodyPr/>
          <a:lstStyle/>
          <a:p>
            <a:r>
              <a:rPr lang="en-IN"/>
              <a:t>Speech Processing</a:t>
            </a:r>
          </a:p>
        </p:txBody>
      </p:sp>
      <p:sp>
        <p:nvSpPr>
          <p:cNvPr id="7" name="Slide Number Placeholder 6"/>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551612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FAE7592-1B5F-45CD-B707-8D5A5E58EE31}" type="datetime1">
              <a:rPr lang="en-IN" smtClean="0"/>
              <a:t>28-07-2026</a:t>
            </a:fld>
            <a:endParaRPr lang="en-IN"/>
          </a:p>
        </p:txBody>
      </p:sp>
      <p:sp>
        <p:nvSpPr>
          <p:cNvPr id="8" name="Footer Placeholder 7"/>
          <p:cNvSpPr>
            <a:spLocks noGrp="1"/>
          </p:cNvSpPr>
          <p:nvPr>
            <p:ph type="ftr" sz="quarter" idx="11"/>
          </p:nvPr>
        </p:nvSpPr>
        <p:spPr/>
        <p:txBody>
          <a:bodyPr/>
          <a:lstStyle/>
          <a:p>
            <a:r>
              <a:rPr lang="en-IN"/>
              <a:t>Speech Processing</a:t>
            </a:r>
          </a:p>
        </p:txBody>
      </p:sp>
      <p:sp>
        <p:nvSpPr>
          <p:cNvPr id="9" name="Slide Number Placeholder 8"/>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3205863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90ABBB8-8A7F-45A3-83C4-4C9477351CC6}" type="datetime1">
              <a:rPr lang="en-IN" smtClean="0"/>
              <a:t>28-07-2026</a:t>
            </a:fld>
            <a:endParaRPr lang="en-IN"/>
          </a:p>
        </p:txBody>
      </p:sp>
      <p:sp>
        <p:nvSpPr>
          <p:cNvPr id="4" name="Footer Placeholder 3"/>
          <p:cNvSpPr>
            <a:spLocks noGrp="1"/>
          </p:cNvSpPr>
          <p:nvPr>
            <p:ph type="ftr" sz="quarter" idx="11"/>
          </p:nvPr>
        </p:nvSpPr>
        <p:spPr/>
        <p:txBody>
          <a:bodyPr/>
          <a:lstStyle/>
          <a:p>
            <a:r>
              <a:rPr lang="en-IN"/>
              <a:t>Speech Processing</a:t>
            </a:r>
          </a:p>
        </p:txBody>
      </p:sp>
      <p:sp>
        <p:nvSpPr>
          <p:cNvPr id="5" name="Slide Number Placeholder 4"/>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752077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435D1B-80AA-466C-8316-5AE450E66A39}" type="datetime1">
              <a:rPr lang="en-IN" smtClean="0"/>
              <a:t>28-07-2026</a:t>
            </a:fld>
            <a:endParaRPr lang="en-IN"/>
          </a:p>
        </p:txBody>
      </p:sp>
      <p:sp>
        <p:nvSpPr>
          <p:cNvPr id="3" name="Footer Placeholder 2"/>
          <p:cNvSpPr>
            <a:spLocks noGrp="1"/>
          </p:cNvSpPr>
          <p:nvPr>
            <p:ph type="ftr" sz="quarter" idx="11"/>
          </p:nvPr>
        </p:nvSpPr>
        <p:spPr/>
        <p:txBody>
          <a:bodyPr/>
          <a:lstStyle/>
          <a:p>
            <a:r>
              <a:rPr lang="en-IN"/>
              <a:t>Speech Processing</a:t>
            </a:r>
          </a:p>
        </p:txBody>
      </p:sp>
      <p:sp>
        <p:nvSpPr>
          <p:cNvPr id="4" name="Slide Number Placeholder 3"/>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2757563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3447488-929A-4615-A557-C0AD33B297D1}" type="datetime1">
              <a:rPr lang="en-IN" smtClean="0"/>
              <a:t>28-07-2026</a:t>
            </a:fld>
            <a:endParaRPr lang="en-IN"/>
          </a:p>
        </p:txBody>
      </p:sp>
      <p:sp>
        <p:nvSpPr>
          <p:cNvPr id="6" name="Footer Placeholder 5"/>
          <p:cNvSpPr>
            <a:spLocks noGrp="1"/>
          </p:cNvSpPr>
          <p:nvPr>
            <p:ph type="ftr" sz="quarter" idx="11"/>
          </p:nvPr>
        </p:nvSpPr>
        <p:spPr/>
        <p:txBody>
          <a:bodyPr/>
          <a:lstStyle/>
          <a:p>
            <a:r>
              <a:rPr lang="en-IN"/>
              <a:t>Speech Processing</a:t>
            </a:r>
          </a:p>
        </p:txBody>
      </p:sp>
      <p:sp>
        <p:nvSpPr>
          <p:cNvPr id="7" name="Slide Number Placeholder 6"/>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2452524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ABDCACE-EBE9-4116-B81B-E040F2D3F20E}" type="datetime1">
              <a:rPr lang="en-IN" smtClean="0"/>
              <a:t>28-07-2026</a:t>
            </a:fld>
            <a:endParaRPr lang="en-IN"/>
          </a:p>
        </p:txBody>
      </p:sp>
      <p:sp>
        <p:nvSpPr>
          <p:cNvPr id="6" name="Footer Placeholder 5"/>
          <p:cNvSpPr>
            <a:spLocks noGrp="1"/>
          </p:cNvSpPr>
          <p:nvPr>
            <p:ph type="ftr" sz="quarter" idx="11"/>
          </p:nvPr>
        </p:nvSpPr>
        <p:spPr/>
        <p:txBody>
          <a:bodyPr/>
          <a:lstStyle/>
          <a:p>
            <a:r>
              <a:rPr lang="en-IN"/>
              <a:t>Speech Processing</a:t>
            </a:r>
          </a:p>
        </p:txBody>
      </p:sp>
      <p:sp>
        <p:nvSpPr>
          <p:cNvPr id="7" name="Slide Number Placeholder 6"/>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290129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79BF764-0E37-4886-B1E5-DFBF599A6490}" type="datetime1">
              <a:rPr lang="en-IN" smtClean="0"/>
              <a:t>28-07-2026</a:t>
            </a:fld>
            <a:endParaRPr lang="en-IN"/>
          </a:p>
        </p:txBody>
      </p:sp>
      <p:sp>
        <p:nvSpPr>
          <p:cNvPr id="5" name="Footer Placeholder 4"/>
          <p:cNvSpPr>
            <a:spLocks noGrp="1"/>
          </p:cNvSpPr>
          <p:nvPr>
            <p:ph type="ftr" sz="quarter" idx="11"/>
          </p:nvPr>
        </p:nvSpPr>
        <p:spPr/>
        <p:txBody>
          <a:bodyPr/>
          <a:lstStyle/>
          <a:p>
            <a:r>
              <a:rPr lang="en-IN"/>
              <a:t>Speech Processing</a:t>
            </a:r>
          </a:p>
        </p:txBody>
      </p:sp>
      <p:sp>
        <p:nvSpPr>
          <p:cNvPr id="6" name="Slide Number Placeholder 5"/>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2930016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9A9FEB4-F282-4F07-B60D-731E94E7D45B}" type="datetime1">
              <a:rPr lang="en-IN" smtClean="0"/>
              <a:t>28-07-2026</a:t>
            </a:fld>
            <a:endParaRPr lang="en-IN"/>
          </a:p>
        </p:txBody>
      </p:sp>
      <p:sp>
        <p:nvSpPr>
          <p:cNvPr id="5" name="Footer Placeholder 4"/>
          <p:cNvSpPr>
            <a:spLocks noGrp="1"/>
          </p:cNvSpPr>
          <p:nvPr>
            <p:ph type="ftr" sz="quarter" idx="11"/>
          </p:nvPr>
        </p:nvSpPr>
        <p:spPr/>
        <p:txBody>
          <a:bodyPr/>
          <a:lstStyle/>
          <a:p>
            <a:r>
              <a:rPr lang="en-IN"/>
              <a:t>Speech Processing</a:t>
            </a:r>
          </a:p>
        </p:txBody>
      </p:sp>
      <p:sp>
        <p:nvSpPr>
          <p:cNvPr id="6" name="Slide Number Placeholder 5"/>
          <p:cNvSpPr>
            <a:spLocks noGrp="1"/>
          </p:cNvSpPr>
          <p:nvPr>
            <p:ph type="sldNum" sz="quarter" idx="12"/>
          </p:nvPr>
        </p:nvSpPr>
        <p:spPr/>
        <p:txBody>
          <a:bodyPr/>
          <a:lstStyle/>
          <a:p>
            <a:fld id="{C2216105-7B7A-4C42-B2A1-5E9A2FA4F8FD}" type="slidenum">
              <a:rPr lang="en-IN" smtClean="0"/>
              <a:t>‹#›</a:t>
            </a:fld>
            <a:endParaRPr lang="en-IN"/>
          </a:p>
        </p:txBody>
      </p:sp>
    </p:spTree>
    <p:extLst>
      <p:ext uri="{BB962C8B-B14F-4D97-AF65-F5344CB8AC3E}">
        <p14:creationId xmlns:p14="http://schemas.microsoft.com/office/powerpoint/2010/main" val="3557045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24EDEC-E80A-4952-9B8F-BFE95EE7B0BE}" type="datetime1">
              <a:rPr lang="en-IN" smtClean="0"/>
              <a:t>28-07-2026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Speech Processing</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216105-7B7A-4C42-B2A1-5E9A2FA4F8FD}" type="slidenum">
              <a:rPr lang="en-IN" smtClean="0"/>
              <a:t>‹#›</a:t>
            </a:fld>
            <a:endParaRPr lang="en-IN"/>
          </a:p>
        </p:txBody>
      </p:sp>
    </p:spTree>
    <p:extLst>
      <p:ext uri="{BB962C8B-B14F-4D97-AF65-F5344CB8AC3E}">
        <p14:creationId xmlns:p14="http://schemas.microsoft.com/office/powerpoint/2010/main" val="38047643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 Id="rIdFig" Type="http://schemas.openxmlformats.org/officeDocument/2006/relationships/image" Target="../media/figur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FigA" Type="http://schemas.openxmlformats.org/officeDocument/2006/relationships/image" Target="../media/figure2.png"/><Relationship Id="rIdFigB" Type="http://schemas.openxmlformats.org/officeDocument/2006/relationships/image" Target="../media/figur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sp>
        <p:nvSpPr>
          <p:cNvPr id="11" name="Title 3"/>
          <p:cNvSpPr txBox="1">
            <a:spLocks/>
          </p:cNvSpPr>
          <p:nvPr/>
        </p:nvSpPr>
        <p:spPr>
          <a:xfrm>
            <a:off x="609598" y="2872601"/>
            <a:ext cx="10972800" cy="104415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dirty="0">
                <a:latin typeface="Times New Roman" panose="02020603050405020304" pitchFamily="18" charset="0"/>
                <a:cs typeface="Times New Roman" panose="02020603050405020304" pitchFamily="18" charset="0"/>
              </a:rPr>
              <a:t>SupplyAI-RL: Explainable Supply Chain Optimization</a:t>
            </a:r>
          </a:p>
        </p:txBody>
      </p:sp>
      <p:sp>
        <p:nvSpPr>
          <p:cNvPr id="3" name="Rectangle 2"/>
          <p:cNvSpPr/>
          <p:nvPr/>
        </p:nvSpPr>
        <p:spPr>
          <a:xfrm>
            <a:off x="1935319" y="236845"/>
            <a:ext cx="7999556" cy="830997"/>
          </a:xfrm>
          <a:prstGeom prst="rect">
            <a:avLst/>
          </a:prstGeom>
        </p:spPr>
        <p:txBody>
          <a:bodyPr wrap="square">
            <a:spAutoFit/>
          </a:bodyPr>
          <a:lstStyle/>
          <a:p>
            <a:pPr algn="ctr"/>
            <a:r>
              <a:rPr lang="en-US" sz="2400" b="1" dirty="0">
                <a:solidFill>
                  <a:srgbClr val="FF0000"/>
                </a:solidFill>
              </a:rPr>
              <a:t> Mid semester project review– </a:t>
            </a:r>
            <a:r>
              <a:rPr lang="en-US" sz="2400" b="1" dirty="0">
                <a:solidFill>
                  <a:srgbClr val="7030A0"/>
                </a:solidFill>
              </a:rPr>
              <a:t>August 2026</a:t>
            </a:r>
          </a:p>
          <a:p>
            <a:pPr algn="ctr"/>
            <a:r>
              <a:rPr lang="it-IT" sz="2400" b="1" dirty="0"/>
              <a:t>22AIE450 Reinforcement Learning</a:t>
            </a:r>
            <a:endParaRPr lang="en-IN" sz="2400" b="1" dirty="0">
              <a:solidFill>
                <a:srgbClr val="7030A0"/>
              </a:solidFill>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9077095" y="5597101"/>
            <a:ext cx="263629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Date of the Presentation:</a:t>
            </a:r>
            <a:endParaRPr lang="en-IN" dirty="0">
              <a:latin typeface="Times New Roman" panose="02020603050405020304" pitchFamily="18" charset="0"/>
              <a:cs typeface="Times New Roman" panose="02020603050405020304" pitchFamily="18" charset="0"/>
            </a:endParaRPr>
          </a:p>
        </p:txBody>
      </p:sp>
      <p:sp>
        <p:nvSpPr>
          <p:cNvPr id="19" name="Slide Number Placeholder 18"/>
          <p:cNvSpPr>
            <a:spLocks noGrp="1"/>
          </p:cNvSpPr>
          <p:nvPr>
            <p:ph type="sldNum" sz="quarter" idx="12"/>
          </p:nvPr>
        </p:nvSpPr>
        <p:spPr>
          <a:xfrm>
            <a:off x="10804848" y="6356350"/>
            <a:ext cx="548951" cy="365125"/>
          </a:xfrm>
        </p:spPr>
        <p:txBody>
          <a:bodyPr/>
          <a:lstStyle/>
          <a:p>
            <a:fld id="{C2216105-7B7A-4C42-B2A1-5E9A2FA4F8FD}" type="slidenum">
              <a:rPr lang="en-IN" smtClean="0"/>
              <a:t>1</a:t>
            </a:fld>
            <a:endParaRPr lang="en-IN" dirty="0"/>
          </a:p>
        </p:txBody>
      </p:sp>
      <p:sp>
        <p:nvSpPr>
          <p:cNvPr id="20" name="Title 3">
            <a:extLst>
              <a:ext uri="{FF2B5EF4-FFF2-40B4-BE49-F238E27FC236}">
                <a16:creationId xmlns:a16="http://schemas.microsoft.com/office/drawing/2014/main" id="{005F616E-0E20-490C-B7A2-141A2087D28E}"/>
              </a:ext>
            </a:extLst>
          </p:cNvPr>
          <p:cNvSpPr txBox="1">
            <a:spLocks/>
          </p:cNvSpPr>
          <p:nvPr/>
        </p:nvSpPr>
        <p:spPr>
          <a:xfrm>
            <a:off x="597918" y="3817890"/>
            <a:ext cx="10972800" cy="65443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500" dirty="0">
                <a:latin typeface="Times New Roman" panose="02020603050405020304" pitchFamily="18" charset="0"/>
                <a:cs typeface="Times New Roman" panose="02020603050405020304" pitchFamily="18" charset="0"/>
              </a:rPr>
              <a:t>[Team Member Names and Roll Numbers]</a:t>
            </a:r>
          </a:p>
        </p:txBody>
      </p:sp>
      <p:sp>
        <p:nvSpPr>
          <p:cNvPr id="2" name="Rectangle 1">
            <a:extLst>
              <a:ext uri="{FF2B5EF4-FFF2-40B4-BE49-F238E27FC236}">
                <a16:creationId xmlns:a16="http://schemas.microsoft.com/office/drawing/2014/main" id="{2EE0480C-236D-3A2D-ABFD-ACE4E92B6129}"/>
              </a:ext>
            </a:extLst>
          </p:cNvPr>
          <p:cNvSpPr/>
          <p:nvPr/>
        </p:nvSpPr>
        <p:spPr>
          <a:xfrm>
            <a:off x="150810" y="5675807"/>
            <a:ext cx="2854308"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Batch and Group Number: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557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41FE-5F97-2921-25A3-F1A7FE244391}"/>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A0F8A49-71AE-AD86-618C-A0B8D6E12633}"/>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38E0D242-87AF-359E-195E-07517A03FA7D}"/>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213C46BA-E5D7-51E7-8342-F0FCEADDC656}"/>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7E422C5-9112-9219-31BF-AAED5746CC0B}"/>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Outline</a:t>
            </a:r>
            <a:br>
              <a:rPr lang="en-IN" dirty="0">
                <a:solidFill>
                  <a:schemeClr val="accent1">
                    <a:lumMod val="50000"/>
                  </a:schemeClr>
                </a:solidFill>
              </a:rPr>
            </a:br>
            <a:endParaRPr lang="en-IN" dirty="0"/>
          </a:p>
        </p:txBody>
      </p:sp>
      <p:sp>
        <p:nvSpPr>
          <p:cNvPr id="3" name="Content Placeholder 2">
            <a:extLst>
              <a:ext uri="{FF2B5EF4-FFF2-40B4-BE49-F238E27FC236}">
                <a16:creationId xmlns:a16="http://schemas.microsoft.com/office/drawing/2014/main" id="{A3D1216E-5ED7-1FE1-7D7A-199E3471B00D}"/>
              </a:ext>
            </a:extLst>
          </p:cNvPr>
          <p:cNvSpPr>
            <a:spLocks noGrp="1"/>
          </p:cNvSpPr>
          <p:nvPr>
            <p:ph idx="1"/>
          </p:nvPr>
        </p:nvSpPr>
        <p:spPr>
          <a:xfrm>
            <a:off x="838198" y="1594415"/>
            <a:ext cx="10515600" cy="4351338"/>
          </a:xfrm>
        </p:spPr>
        <p:txBody>
          <a:bodyPr>
            <a:normAutofit/>
          </a:bodyPr>
          <a:lstStyle/>
          <a:p>
            <a:pPr lvl="0">
              <a:lnSpc>
                <a:spcPct val="100000"/>
              </a:lnSpc>
              <a:spcBef>
                <a:spcPts val="600"/>
              </a:spcBef>
            </a:pPr>
            <a:r>
              <a:rPr lang="en-IN" sz="1800" b="0" dirty="0"/>
              <a:t>Introduction and Motivation</a:t>
            </a:r>
          </a:p>
          <a:p>
            <a:pPr lvl="0">
              <a:lnSpc>
                <a:spcPct val="100000"/>
              </a:lnSpc>
              <a:spcBef>
                <a:spcPts val="600"/>
              </a:spcBef>
            </a:pPr>
            <a:r>
              <a:rPr lang="en-IN" sz="1800" b="0" dirty="0"/>
              <a:t>Problem Definition</a:t>
            </a:r>
          </a:p>
          <a:p>
            <a:pPr lvl="0">
              <a:lnSpc>
                <a:spcPct val="100000"/>
              </a:lnSpc>
              <a:spcBef>
                <a:spcPts val="600"/>
              </a:spcBef>
            </a:pPr>
            <a:r>
              <a:rPr lang="en-IN" sz="1800" b="0" dirty="0"/>
              <a:t>Literature Review and Gaps Identified</a:t>
            </a:r>
          </a:p>
          <a:p>
            <a:pPr lvl="0">
              <a:lnSpc>
                <a:spcPct val="100000"/>
              </a:lnSpc>
              <a:spcBef>
                <a:spcPts val="600"/>
              </a:spcBef>
            </a:pPr>
            <a:r>
              <a:rPr lang="en-IN" sz="1800" b="0" dirty="0"/>
              <a:t>Objectives</a:t>
            </a:r>
          </a:p>
          <a:p>
            <a:pPr lvl="0">
              <a:lnSpc>
                <a:spcPct val="100000"/>
              </a:lnSpc>
              <a:spcBef>
                <a:spcPts val="600"/>
              </a:spcBef>
            </a:pPr>
            <a:r>
              <a:rPr lang="en-IN" sz="1800" b="0" dirty="0"/>
              <a:t>Methodology: simulator, RL formulation, LLM explanation layer</a:t>
            </a:r>
          </a:p>
          <a:p>
            <a:pPr lvl="0">
              <a:lnSpc>
                <a:spcPct val="100000"/>
              </a:lnSpc>
              <a:spcBef>
                <a:spcPts val="600"/>
              </a:spcBef>
            </a:pPr>
            <a:r>
              <a:rPr lang="en-IN" sz="1800" b="0" dirty="0"/>
              <a:t>Dataset Description and Calibration</a:t>
            </a:r>
          </a:p>
          <a:p>
            <a:pPr lvl="0">
              <a:lnSpc>
                <a:spcPct val="100000"/>
              </a:lnSpc>
              <a:spcBef>
                <a:spcPts val="600"/>
              </a:spcBef>
            </a:pPr>
            <a:r>
              <a:rPr lang="en-IN" sz="1800" b="0" dirty="0"/>
              <a:t>Preliminary Results: tuned classical policies vs the RL agent</a:t>
            </a:r>
          </a:p>
          <a:p>
            <a:pPr lvl="0">
              <a:lnSpc>
                <a:spcPct val="100000"/>
              </a:lnSpc>
              <a:spcBef>
                <a:spcPts val="600"/>
              </a:spcBef>
            </a:pPr>
            <a:r>
              <a:rPr lang="en-IN" sz="1800" b="0" dirty="0"/>
              <a:t>Interim Summary and Completion Plan</a:t>
            </a:r>
          </a:p>
        </p:txBody>
      </p:sp>
      <p:sp>
        <p:nvSpPr>
          <p:cNvPr id="19" name="Slide Number Placeholder 18">
            <a:extLst>
              <a:ext uri="{FF2B5EF4-FFF2-40B4-BE49-F238E27FC236}">
                <a16:creationId xmlns:a16="http://schemas.microsoft.com/office/drawing/2014/main" id="{A6D90011-DA8D-C63E-2B2B-6712A1E56187}"/>
              </a:ext>
            </a:extLst>
          </p:cNvPr>
          <p:cNvSpPr>
            <a:spLocks noGrp="1"/>
          </p:cNvSpPr>
          <p:nvPr>
            <p:ph type="sldNum" sz="quarter" idx="12"/>
          </p:nvPr>
        </p:nvSpPr>
        <p:spPr/>
        <p:txBody>
          <a:bodyPr/>
          <a:lstStyle/>
          <a:p>
            <a:fld id="{C2216105-7B7A-4C42-B2A1-5E9A2FA4F8FD}" type="slidenum">
              <a:rPr lang="en-IN" smtClean="0"/>
              <a:t>2</a:t>
            </a:fld>
            <a:endParaRPr lang="en-IN" dirty="0"/>
          </a:p>
        </p:txBody>
      </p:sp>
    </p:spTree>
    <p:extLst>
      <p:ext uri="{BB962C8B-B14F-4D97-AF65-F5344CB8AC3E}">
        <p14:creationId xmlns:p14="http://schemas.microsoft.com/office/powerpoint/2010/main" val="557036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3D1B-3B02-2762-5BA1-052E755654D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84365C9-E666-36EE-4DB1-04791BFC26FB}"/>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4D89FC00-7640-2DC1-0BAF-6A1DC613CF6B}"/>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170CA935-25F2-6478-C664-35BFDF7E813C}"/>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804C7A-5A65-0B7B-02CE-9C44C0E40DAE}"/>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Introduction and Motivation</a:t>
            </a:r>
            <a:br>
              <a:rPr lang="en-IN" dirty="0">
                <a:solidFill>
                  <a:schemeClr val="accent1">
                    <a:lumMod val="50000"/>
                  </a:schemeClr>
                </a:solidFill>
              </a:rPr>
            </a:br>
            <a:endParaRPr lang="en-IN" dirty="0"/>
          </a:p>
        </p:txBody>
      </p:sp>
      <p:sp>
        <p:nvSpPr>
          <p:cNvPr id="3" name="Content Placeholder 2">
            <a:extLst>
              <a:ext uri="{FF2B5EF4-FFF2-40B4-BE49-F238E27FC236}">
                <a16:creationId xmlns:a16="http://schemas.microsoft.com/office/drawing/2014/main" id="{5E87A161-C87E-7A78-C77B-8E4D712DD081}"/>
              </a:ext>
            </a:extLst>
          </p:cNvPr>
          <p:cNvSpPr>
            <a:spLocks noGrp="1"/>
          </p:cNvSpPr>
          <p:nvPr>
            <p:ph idx="1"/>
          </p:nvPr>
        </p:nvSpPr>
        <p:spPr>
          <a:xfrm>
            <a:off x="838198" y="1594415"/>
            <a:ext cx="10515600" cy="4351338"/>
          </a:xfrm>
        </p:spPr>
        <p:txBody>
          <a:bodyPr>
            <a:normAutofit/>
          </a:bodyPr>
          <a:lstStyle/>
          <a:p>
            <a:pPr lvl="0">
              <a:lnSpc>
                <a:spcPct val="100000"/>
              </a:lnSpc>
              <a:spcBef>
                <a:spcPts val="600"/>
              </a:spcBef>
            </a:pPr>
            <a:r>
              <a:rPr lang="en-IN" sz="1800" b="1" dirty="0"/>
              <a:t>Retail inventory is a daily decision under uncertainty, and both errors are expensive.</a:t>
            </a:r>
          </a:p>
          <a:p>
            <a:pPr lvl="1">
              <a:lnSpc>
                <a:spcPct val="100000"/>
              </a:lnSpc>
              <a:spcBef>
                <a:spcPts val="600"/>
              </a:spcBef>
            </a:pPr>
            <a:r>
              <a:rPr lang="en-IN" sz="1500" b="0" dirty="0"/>
              <a:t>Order too much: capital is tied up, storage is paid for, and unsold stock is marked down or written off.</a:t>
            </a:r>
          </a:p>
          <a:p>
            <a:pPr lvl="1">
              <a:lnSpc>
                <a:spcPct val="100000"/>
              </a:lnSpc>
              <a:spcBef>
                <a:spcPts val="600"/>
              </a:spcBef>
            </a:pPr>
            <a:r>
              <a:rPr lang="en-IN" sz="1500" b="0" dirty="0"/>
              <a:t>Order too little: the sale is lost permanently, because the customer buys elsewhere.</a:t>
            </a:r>
          </a:p>
          <a:p>
            <a:pPr lvl="0">
              <a:lnSpc>
                <a:spcPct val="100000"/>
              </a:lnSpc>
              <a:spcBef>
                <a:spcPts val="600"/>
              </a:spcBef>
            </a:pPr>
            <a:r>
              <a:rPr lang="en-IN" sz="1800" b="1" dirty="0"/>
              <a:t>Classical policies treat each product in isolation and assume demand is well behaved.</a:t>
            </a:r>
          </a:p>
          <a:p>
            <a:pPr lvl="1">
              <a:lnSpc>
                <a:spcPct val="100000"/>
              </a:lnSpc>
              <a:spcBef>
                <a:spcPts val="600"/>
              </a:spcBef>
            </a:pPr>
            <a:r>
              <a:rPr lang="en-IN" sz="1500" b="0" dirty="0"/>
              <a:t>Real demand is not. In our data the variance of daily demand is roughly 216 times its mean, so the standard Poisson assumption fails badly.</a:t>
            </a:r>
          </a:p>
          <a:p>
            <a:pPr lvl="0">
              <a:lnSpc>
                <a:spcPct val="100000"/>
              </a:lnSpc>
              <a:spcBef>
                <a:spcPts val="600"/>
              </a:spcBef>
            </a:pPr>
            <a:r>
              <a:rPr lang="en-IN" sz="1800" b="1" dirty="0"/>
              <a:t>Our hypothesis: RL can learn a joint ordering and sourcing policy that adapts to season, volatility and supplier state, which a formula cannot.</a:t>
            </a:r>
          </a:p>
          <a:p>
            <a:pPr lvl="0">
              <a:lnSpc>
                <a:spcPct val="100000"/>
              </a:lnSpc>
              <a:spcBef>
                <a:spcPts val="600"/>
              </a:spcBef>
            </a:pPr>
            <a:r>
              <a:rPr lang="en-IN" sz="1800" b="1" dirty="0"/>
              <a:t>But a manager will not act on a number they cannot interpret.</a:t>
            </a:r>
          </a:p>
          <a:p>
            <a:pPr lvl="1">
              <a:lnSpc>
                <a:spcPct val="100000"/>
              </a:lnSpc>
              <a:spcBef>
                <a:spcPts val="600"/>
              </a:spcBef>
            </a:pPr>
            <a:r>
              <a:rPr lang="en-IN" sz="1500" b="0" dirty="0"/>
              <a:t>Hence the motivation: pair an RL decision-maker with an LLM that explains the situation behind every order in business language, every number checked.</a:t>
            </a:r>
          </a:p>
        </p:txBody>
      </p:sp>
      <p:sp>
        <p:nvSpPr>
          <p:cNvPr id="19" name="Slide Number Placeholder 18">
            <a:extLst>
              <a:ext uri="{FF2B5EF4-FFF2-40B4-BE49-F238E27FC236}">
                <a16:creationId xmlns:a16="http://schemas.microsoft.com/office/drawing/2014/main" id="{9B6D94B3-8D6F-6862-5C85-C28EA1FEBFFD}"/>
              </a:ext>
            </a:extLst>
          </p:cNvPr>
          <p:cNvSpPr>
            <a:spLocks noGrp="1"/>
          </p:cNvSpPr>
          <p:nvPr>
            <p:ph type="sldNum" sz="quarter" idx="12"/>
          </p:nvPr>
        </p:nvSpPr>
        <p:spPr/>
        <p:txBody>
          <a:bodyPr/>
          <a:lstStyle/>
          <a:p>
            <a:fld id="{C2216105-7B7A-4C42-B2A1-5E9A2FA4F8FD}" type="slidenum">
              <a:rPr lang="en-IN" smtClean="0"/>
              <a:t>3</a:t>
            </a:fld>
            <a:endParaRPr lang="en-IN" dirty="0"/>
          </a:p>
        </p:txBody>
      </p:sp>
    </p:spTree>
    <p:extLst>
      <p:ext uri="{BB962C8B-B14F-4D97-AF65-F5344CB8AC3E}">
        <p14:creationId xmlns:p14="http://schemas.microsoft.com/office/powerpoint/2010/main" val="3949777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05E2F-193E-A33F-3978-CA319240224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D545AD15-92E9-732C-9417-BBAC2D68BE74}"/>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56B45FA5-C0D8-B29D-EFB7-2D75F15CFEFA}"/>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C5FD2757-A6CE-CA75-DF5E-7D2CFCE7BD90}"/>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7E42682-E931-9114-270A-3AFF08BD3699}"/>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Problem Definition</a:t>
            </a:r>
            <a:br>
              <a:rPr lang="en-IN" dirty="0">
                <a:solidFill>
                  <a:schemeClr val="accent1">
                    <a:lumMod val="50000"/>
                  </a:schemeClr>
                </a:solidFill>
              </a:rPr>
            </a:br>
            <a:endParaRPr lang="en-IN" dirty="0"/>
          </a:p>
        </p:txBody>
      </p:sp>
      <p:sp>
        <p:nvSpPr>
          <p:cNvPr id="3" name="Content Placeholder 2">
            <a:extLst>
              <a:ext uri="{FF2B5EF4-FFF2-40B4-BE49-F238E27FC236}">
                <a16:creationId xmlns:a16="http://schemas.microsoft.com/office/drawing/2014/main" id="{F31FE269-B593-74FF-FAD2-DDFE92170EB1}"/>
              </a:ext>
            </a:extLst>
          </p:cNvPr>
          <p:cNvSpPr>
            <a:spLocks noGrp="1"/>
          </p:cNvSpPr>
          <p:nvPr>
            <p:ph idx="1"/>
          </p:nvPr>
        </p:nvSpPr>
        <p:spPr>
          <a:xfrm>
            <a:off x="838198" y="1594415"/>
            <a:ext cx="10515600" cy="560000"/>
          </a:xfrm>
        </p:spPr>
        <p:txBody>
          <a:bodyPr>
            <a:normAutofit/>
          </a:bodyPr>
          <a:lstStyle/>
          <a:p>
            <a:pPr lvl="0">
              <a:lnSpc>
                <a:spcPct val="100000"/>
              </a:lnSpc>
              <a:spcBef>
                <a:spcPts val="600"/>
              </a:spcBef>
            </a:pPr>
            <a:r>
              <a:rPr lang="en-IN" sz="1500" b="1" dirty="0"/>
              <a:t>Each simulated day, for every one of 10 products, decide two things together: how much to order, and from which of three suppliers.</a:t>
            </a:r>
          </a:p>
        </p:txBody>
      </p:sp>
      <p:sp>
        <p:nvSpPr>
          <p:cNvPr id="19" name="Slide Number Placeholder 18">
            <a:extLst>
              <a:ext uri="{FF2B5EF4-FFF2-40B4-BE49-F238E27FC236}">
                <a16:creationId xmlns:a16="http://schemas.microsoft.com/office/drawing/2014/main" id="{54CCA1BA-4669-3A76-135A-A66F2531CD00}"/>
              </a:ext>
            </a:extLst>
          </p:cNvPr>
          <p:cNvSpPr>
            <a:spLocks noGrp="1"/>
          </p:cNvSpPr>
          <p:nvPr>
            <p:ph type="sldNum" sz="quarter" idx="12"/>
          </p:nvPr>
        </p:nvSpPr>
        <p:spPr/>
        <p:txBody>
          <a:bodyPr/>
          <a:lstStyle/>
          <a:p>
            <a:fld id="{C2216105-7B7A-4C42-B2A1-5E9A2FA4F8FD}" type="slidenum">
              <a:rPr lang="en-IN" smtClean="0"/>
              <a:t>4</a:t>
            </a:fld>
            <a:endParaRPr lang="en-IN" dirty="0"/>
          </a:p>
        </p:txBody>
      </p:sp>
      <p:sp>
        <p:nvSpPr>
          <p:cNvPr id="400" name="Box 400"/>
          <p:cNvSpPr/>
          <p:nvPr/>
        </p:nvSpPr>
        <p:spPr>
          <a:xfrm>
            <a:off x="838198" y="2220000"/>
            <a:ext cx="3371866" cy="1980000"/>
          </a:xfrm>
          <a:prstGeom prst="roundRect">
            <a:avLst>
              <a:gd name="adj" fmla="val 10000"/>
            </a:avLst>
          </a:prstGeom>
          <a:solidFill>
            <a:srgbClr val="E8F3EC"/>
          </a:solidFill>
          <a:ln w="12700">
            <a:solidFill>
              <a:srgbClr val="8FBFA3"/>
            </a:solidFill>
          </a:ln>
        </p:spPr>
        <p:txBody>
          <a:bodyPr anchor="t" lIns="91440" rIns="91440" tIns="45720" bIns="45720">
            <a:normAutofit/>
          </a:bodyPr>
          <a:lstStyle/>
          <a:p>
            <a:pPr algn="ctr">
              <a:lnSpc>
                <a:spcPct val="95000"/>
              </a:lnSpc>
              <a:buNone/>
            </a:pPr>
            <a:r>
              <a:rPr lang="en-IN" sz="1300" b="1" dirty="0">
                <a:solidFill>
                  <a:srgbClr val="1A6B3C"/>
                </a:solidFill>
                <a:latin typeface="Calibri"/>
              </a:rPr>
              <a:t>EconoSource</a:t>
            </a:r>
          </a:p>
          <a:p>
            <a:pPr algn="ctr">
              <a:lnSpc>
                <a:spcPct val="95000"/>
              </a:lnSpc>
              <a:buNone/>
            </a:pPr>
            <a:r>
              <a:rPr lang="en-IN" sz="900" b="0" dirty="0">
                <a:solidFill>
                  <a:srgbClr val="3D6B50"/>
                </a:solidFill>
                <a:latin typeface="Calibri"/>
              </a:rPr>
              <a:t>cheap but slow</a:t>
            </a:r>
          </a:p>
        </p:txBody>
      </p:sp>
      <p:sp>
        <p:nvSpPr>
          <p:cNvPr id="401" name="Box 401"/>
          <p:cNvSpPr/>
          <p:nvPr/>
        </p:nvSpPr>
        <p:spPr>
          <a:xfrm>
            <a:off x="958198" y="2940000"/>
            <a:ext cx="3131866" cy="1140000"/>
          </a:xfrm>
          <a:prstGeom prst="roundRect">
            <a:avLst>
              <a:gd name="adj" fmla="val 10000"/>
            </a:avLst>
          </a:prstGeom>
          <a:solidFill>
            <a:srgbClr val="FFFFFF"/>
          </a:solidFill>
          <a:ln w="12700">
            <a:solidFill>
              <a:srgbClr val="8FBFA3"/>
            </a:solidFill>
          </a:ln>
        </p:spPr>
        <p:txBody>
          <a:bodyPr anchor="ctr" lIns="91440" rIns="91440" tIns="45720" bIns="45720">
            <a:normAutofit/>
          </a:bodyPr>
          <a:lstStyle/>
          <a:p>
            <a:pPr algn="l">
              <a:lnSpc>
                <a:spcPct val="95000"/>
              </a:lnSpc>
              <a:buNone/>
            </a:pPr>
            <a:r>
              <a:rPr lang="en-IN" sz="900" b="0" dirty="0">
                <a:solidFill>
                  <a:srgbClr val="3D6B50"/>
                </a:solidFill>
                <a:latin typeface="Calibri"/>
              </a:rPr>
              <a:t>unit cost:  baseline</a:t>
            </a:r>
          </a:p>
          <a:p>
            <a:pPr algn="l">
              <a:lnSpc>
                <a:spcPct val="95000"/>
              </a:lnSpc>
              <a:buNone/>
            </a:pPr>
            <a:r>
              <a:rPr lang="en-IN" sz="900" b="0" dirty="0">
                <a:solidFill>
                  <a:srgbClr val="3D6B50"/>
                </a:solidFill>
                <a:latin typeface="Calibri"/>
              </a:rPr>
              <a:t>lead time:  5-8 days</a:t>
            </a:r>
          </a:p>
          <a:p>
            <a:pPr algn="l">
              <a:lnSpc>
                <a:spcPct val="95000"/>
              </a:lnSpc>
              <a:buNone/>
            </a:pPr>
            <a:r>
              <a:rPr lang="en-IN" sz="900" b="0" dirty="0">
                <a:solidFill>
                  <a:srgbClr val="3D6B50"/>
                </a:solidFill>
                <a:latin typeface="Calibri"/>
              </a:rPr>
              <a:t>fill rate:  90%</a:t>
            </a:r>
          </a:p>
          <a:p>
            <a:pPr algn="l">
              <a:lnSpc>
                <a:spcPct val="95000"/>
              </a:lnSpc>
              <a:buNone/>
            </a:pPr>
            <a:r>
              <a:rPr lang="en-IN" sz="900" b="0" dirty="0">
                <a:solidFill>
                  <a:srgbClr val="3D6B50"/>
                </a:solidFill>
                <a:latin typeface="Calibri"/>
              </a:rPr>
              <a:t>min order:  100 units</a:t>
            </a:r>
          </a:p>
          <a:p>
            <a:pPr algn="l">
              <a:lnSpc>
                <a:spcPct val="95000"/>
              </a:lnSpc>
              <a:buNone/>
            </a:pPr>
            <a:r>
              <a:rPr lang="en-IN" sz="900" b="0" dirty="0">
                <a:solidFill>
                  <a:srgbClr val="3D6B50"/>
                </a:solidFill>
                <a:latin typeface="Calibri"/>
              </a:rPr>
              <a:t>order fee:  ₹2,100</a:t>
            </a:r>
          </a:p>
          <a:p>
            <a:pPr algn="l">
              <a:lnSpc>
                <a:spcPct val="95000"/>
              </a:lnSpc>
              <a:buNone/>
            </a:pPr>
            <a:r>
              <a:rPr lang="en-IN" sz="900" b="0" dirty="0">
                <a:solidFill>
                  <a:srgbClr val="3D6B50"/>
                </a:solidFill>
                <a:latin typeface="Calibri"/>
              </a:rPr>
              <a:t>outage risk:  low</a:t>
            </a:r>
          </a:p>
        </p:txBody>
      </p:sp>
      <p:sp>
        <p:nvSpPr>
          <p:cNvPr id="402" name="Box 402"/>
          <p:cNvSpPr/>
          <p:nvPr/>
        </p:nvSpPr>
        <p:spPr>
          <a:xfrm>
            <a:off x="4410064" y="2220000"/>
            <a:ext cx="3371866" cy="1980000"/>
          </a:xfrm>
          <a:prstGeom prst="roundRect">
            <a:avLst>
              <a:gd name="adj" fmla="val 10000"/>
            </a:avLst>
          </a:prstGeom>
          <a:solidFill>
            <a:srgbClr val="E6EEF8"/>
          </a:solidFill>
          <a:ln w="12700">
            <a:solidFill>
              <a:srgbClr val="9BB4D6"/>
            </a:solidFill>
          </a:ln>
        </p:spPr>
        <p:txBody>
          <a:bodyPr anchor="t" lIns="91440" rIns="91440" tIns="45720" bIns="45720">
            <a:normAutofit/>
          </a:bodyPr>
          <a:lstStyle/>
          <a:p>
            <a:pPr algn="ctr">
              <a:lnSpc>
                <a:spcPct val="95000"/>
              </a:lnSpc>
              <a:buNone/>
            </a:pPr>
            <a:r>
              <a:rPr lang="en-IN" sz="1300" b="1" dirty="0">
                <a:solidFill>
                  <a:srgbClr val="1F4E79"/>
                </a:solidFill>
                <a:latin typeface="Calibri"/>
              </a:rPr>
              <a:t>RapidTrade</a:t>
            </a:r>
          </a:p>
          <a:p>
            <a:pPr algn="ctr">
              <a:lnSpc>
                <a:spcPct val="95000"/>
              </a:lnSpc>
              <a:buNone/>
            </a:pPr>
            <a:r>
              <a:rPr lang="en-IN" sz="900" b="0" dirty="0">
                <a:solidFill>
                  <a:srgbClr val="3C5F80"/>
                </a:solidFill>
                <a:latin typeface="Calibri"/>
              </a:rPr>
              <a:t>fast but expensive</a:t>
            </a:r>
          </a:p>
        </p:txBody>
      </p:sp>
      <p:sp>
        <p:nvSpPr>
          <p:cNvPr id="403" name="Box 403"/>
          <p:cNvSpPr/>
          <p:nvPr/>
        </p:nvSpPr>
        <p:spPr>
          <a:xfrm>
            <a:off x="4530064" y="2940000"/>
            <a:ext cx="3131866" cy="1140000"/>
          </a:xfrm>
          <a:prstGeom prst="roundRect">
            <a:avLst>
              <a:gd name="adj" fmla="val 10000"/>
            </a:avLst>
          </a:prstGeom>
          <a:solidFill>
            <a:srgbClr val="FFFFFF"/>
          </a:solidFill>
          <a:ln w="12700">
            <a:solidFill>
              <a:srgbClr val="9BB4D6"/>
            </a:solidFill>
          </a:ln>
        </p:spPr>
        <p:txBody>
          <a:bodyPr anchor="ctr" lIns="91440" rIns="91440" tIns="45720" bIns="45720">
            <a:normAutofit/>
          </a:bodyPr>
          <a:lstStyle/>
          <a:p>
            <a:pPr algn="l">
              <a:lnSpc>
                <a:spcPct val="95000"/>
              </a:lnSpc>
              <a:buNone/>
            </a:pPr>
            <a:r>
              <a:rPr lang="en-IN" sz="900" b="0" dirty="0">
                <a:solidFill>
                  <a:srgbClr val="3C5F80"/>
                </a:solidFill>
                <a:latin typeface="Calibri"/>
              </a:rPr>
              <a:t>unit cost:  +35%</a:t>
            </a:r>
          </a:p>
          <a:p>
            <a:pPr algn="l">
              <a:lnSpc>
                <a:spcPct val="95000"/>
              </a:lnSpc>
              <a:buNone/>
            </a:pPr>
            <a:r>
              <a:rPr lang="en-IN" sz="900" b="0" dirty="0">
                <a:solidFill>
                  <a:srgbClr val="3C5F80"/>
                </a:solidFill>
                <a:latin typeface="Calibri"/>
              </a:rPr>
              <a:t>lead time:  1-3 days</a:t>
            </a:r>
          </a:p>
          <a:p>
            <a:pPr algn="l">
              <a:lnSpc>
                <a:spcPct val="95000"/>
              </a:lnSpc>
              <a:buNone/>
            </a:pPr>
            <a:r>
              <a:rPr lang="en-IN" sz="900" b="0" dirty="0">
                <a:solidFill>
                  <a:srgbClr val="3C5F80"/>
                </a:solidFill>
                <a:latin typeface="Calibri"/>
              </a:rPr>
              <a:t>fill rate:  98%</a:t>
            </a:r>
          </a:p>
          <a:p>
            <a:pPr algn="l">
              <a:lnSpc>
                <a:spcPct val="95000"/>
              </a:lnSpc>
              <a:buNone/>
            </a:pPr>
            <a:r>
              <a:rPr lang="en-IN" sz="900" b="0" dirty="0">
                <a:solidFill>
                  <a:srgbClr val="3C5F80"/>
                </a:solidFill>
                <a:latin typeface="Calibri"/>
              </a:rPr>
              <a:t>min order:  20 units</a:t>
            </a:r>
          </a:p>
          <a:p>
            <a:pPr algn="l">
              <a:lnSpc>
                <a:spcPct val="95000"/>
              </a:lnSpc>
              <a:buNone/>
            </a:pPr>
            <a:r>
              <a:rPr lang="en-IN" sz="900" b="0" dirty="0">
                <a:solidFill>
                  <a:srgbClr val="3C5F80"/>
                </a:solidFill>
                <a:latin typeface="Calibri"/>
              </a:rPr>
              <a:t>order fee:  ₹4,725</a:t>
            </a:r>
          </a:p>
          <a:p>
            <a:pPr algn="l">
              <a:lnSpc>
                <a:spcPct val="95000"/>
              </a:lnSpc>
              <a:buNone/>
            </a:pPr>
            <a:r>
              <a:rPr lang="en-IN" sz="900" b="0" dirty="0">
                <a:solidFill>
                  <a:srgbClr val="3C5F80"/>
                </a:solidFill>
                <a:latin typeface="Calibri"/>
              </a:rPr>
              <a:t>outage risk:  very low</a:t>
            </a:r>
          </a:p>
        </p:txBody>
      </p:sp>
      <p:sp>
        <p:nvSpPr>
          <p:cNvPr id="404" name="Box 404"/>
          <p:cNvSpPr/>
          <p:nvPr/>
        </p:nvSpPr>
        <p:spPr>
          <a:xfrm>
            <a:off x="7981930" y="2220000"/>
            <a:ext cx="3371866" cy="1980000"/>
          </a:xfrm>
          <a:prstGeom prst="roundRect">
            <a:avLst>
              <a:gd name="adj" fmla="val 10000"/>
            </a:avLst>
          </a:prstGeom>
          <a:solidFill>
            <a:srgbClr val="FDECEA"/>
          </a:solidFill>
          <a:ln w="12700">
            <a:solidFill>
              <a:srgbClr val="E0A29B"/>
            </a:solidFill>
          </a:ln>
        </p:spPr>
        <p:txBody>
          <a:bodyPr anchor="t" lIns="91440" rIns="91440" tIns="45720" bIns="45720">
            <a:normAutofit/>
          </a:bodyPr>
          <a:lstStyle/>
          <a:p>
            <a:pPr algn="ctr">
              <a:lnSpc>
                <a:spcPct val="95000"/>
              </a:lnSpc>
              <a:buNone/>
            </a:pPr>
            <a:r>
              <a:rPr lang="en-IN" sz="1300" b="1" dirty="0">
                <a:solidFill>
                  <a:srgbClr val="9B2C20"/>
                </a:solidFill>
                <a:latin typeface="Calibri"/>
              </a:rPr>
              <a:t>MidWay Supply</a:t>
            </a:r>
          </a:p>
          <a:p>
            <a:pPr algn="ctr">
              <a:lnSpc>
                <a:spcPct val="95000"/>
              </a:lnSpc>
              <a:buNone/>
            </a:pPr>
            <a:r>
              <a:rPr lang="en-IN" sz="900" b="0" dirty="0">
                <a:solidFill>
                  <a:srgbClr val="7A4038"/>
                </a:solidFill>
                <a:latin typeface="Calibri"/>
              </a:rPr>
              <a:t>middling but unreliable</a:t>
            </a:r>
          </a:p>
        </p:txBody>
      </p:sp>
      <p:sp>
        <p:nvSpPr>
          <p:cNvPr id="405" name="Box 405"/>
          <p:cNvSpPr/>
          <p:nvPr/>
        </p:nvSpPr>
        <p:spPr>
          <a:xfrm>
            <a:off x="8101930" y="2940000"/>
            <a:ext cx="3131866" cy="1140000"/>
          </a:xfrm>
          <a:prstGeom prst="roundRect">
            <a:avLst>
              <a:gd name="adj" fmla="val 10000"/>
            </a:avLst>
          </a:prstGeom>
          <a:solidFill>
            <a:srgbClr val="FFFFFF"/>
          </a:solidFill>
          <a:ln w="12700">
            <a:solidFill>
              <a:srgbClr val="E0A29B"/>
            </a:solidFill>
          </a:ln>
        </p:spPr>
        <p:txBody>
          <a:bodyPr anchor="ctr" lIns="91440" rIns="91440" tIns="45720" bIns="45720">
            <a:normAutofit/>
          </a:bodyPr>
          <a:lstStyle/>
          <a:p>
            <a:pPr algn="l">
              <a:lnSpc>
                <a:spcPct val="95000"/>
              </a:lnSpc>
              <a:buNone/>
            </a:pPr>
            <a:r>
              <a:rPr lang="en-IN" sz="900" b="0" dirty="0">
                <a:solidFill>
                  <a:srgbClr val="7A4038"/>
                </a:solidFill>
                <a:latin typeface="Calibri"/>
              </a:rPr>
              <a:t>unit cost:  +15%</a:t>
            </a:r>
          </a:p>
          <a:p>
            <a:pPr algn="l">
              <a:lnSpc>
                <a:spcPct val="95000"/>
              </a:lnSpc>
              <a:buNone/>
            </a:pPr>
            <a:r>
              <a:rPr lang="en-IN" sz="900" b="0" dirty="0">
                <a:solidFill>
                  <a:srgbClr val="7A4038"/>
                </a:solidFill>
                <a:latin typeface="Calibri"/>
              </a:rPr>
              <a:t>lead time:  3-5 days</a:t>
            </a:r>
          </a:p>
          <a:p>
            <a:pPr algn="l">
              <a:lnSpc>
                <a:spcPct val="95000"/>
              </a:lnSpc>
              <a:buNone/>
            </a:pPr>
            <a:r>
              <a:rPr lang="en-IN" sz="900" b="0" dirty="0">
                <a:solidFill>
                  <a:srgbClr val="7A4038"/>
                </a:solidFill>
                <a:latin typeface="Calibri"/>
              </a:rPr>
              <a:t>fill rate:  80%</a:t>
            </a:r>
          </a:p>
          <a:p>
            <a:pPr algn="l">
              <a:lnSpc>
                <a:spcPct val="95000"/>
              </a:lnSpc>
              <a:buNone/>
            </a:pPr>
            <a:r>
              <a:rPr lang="en-IN" sz="900" b="0" dirty="0">
                <a:solidFill>
                  <a:srgbClr val="7A4038"/>
                </a:solidFill>
                <a:latin typeface="Calibri"/>
              </a:rPr>
              <a:t>min order:  50 units</a:t>
            </a:r>
          </a:p>
          <a:p>
            <a:pPr algn="l">
              <a:lnSpc>
                <a:spcPct val="95000"/>
              </a:lnSpc>
              <a:buNone/>
            </a:pPr>
            <a:r>
              <a:rPr lang="en-IN" sz="900" b="0" dirty="0">
                <a:solidFill>
                  <a:srgbClr val="7A4038"/>
                </a:solidFill>
                <a:latin typeface="Calibri"/>
              </a:rPr>
              <a:t>order fee:  ₹3,150</a:t>
            </a:r>
          </a:p>
          <a:p>
            <a:pPr algn="l">
              <a:lnSpc>
                <a:spcPct val="95000"/>
              </a:lnSpc>
              <a:buNone/>
            </a:pPr>
            <a:r>
              <a:rPr lang="en-IN" sz="900" b="0" dirty="0">
                <a:solidFill>
                  <a:srgbClr val="7A4038"/>
                </a:solidFill>
                <a:latin typeface="Calibri"/>
              </a:rPr>
              <a:t>outage risk:  highest</a:t>
            </a:r>
          </a:p>
        </p:txBody>
      </p:sp>
      <p:sp>
        <p:nvSpPr>
          <p:cNvPr id="420" name="Box 420"/>
          <p:cNvSpPr/>
          <p:nvPr/>
        </p:nvSpPr>
        <p:spPr>
          <a:xfrm>
            <a:off x="838198" y="4300000"/>
            <a:ext cx="10515600" cy="1600000"/>
          </a:xfrm>
          <a:prstGeom prst="roundRect">
            <a:avLst>
              <a:gd name="adj" fmla="val 10000"/>
            </a:avLst>
          </a:prstGeom>
          <a:solidFill>
            <a:srgbClr val="FAFAFC"/>
          </a:solidFill>
          <a:ln w="12700">
            <a:solidFill>
              <a:srgbClr val="E0E0E8"/>
            </a:solidFill>
          </a:ln>
        </p:spPr>
        <p:txBody>
          <a:bodyPr anchor="ctr" lIns="91440" rIns="91440" tIns="45720" bIns="45720">
            <a:normAutofit/>
          </a:bodyPr>
          <a:lstStyle/>
          <a:p/>
        </p:txBody>
      </p:sp>
      <p:sp>
        <p:nvSpPr>
          <p:cNvPr id="421" name="Text 421"/>
          <p:cNvSpPr txBox="1"/>
          <p:nvPr/>
        </p:nvSpPr>
        <p:spPr>
          <a:xfrm>
            <a:off x="998198" y="4400000"/>
            <a:ext cx="10195600" cy="1420000"/>
          </a:xfrm>
          <a:prstGeom prst="rect">
            <a:avLst/>
          </a:prstGeom>
        </p:spPr>
        <p:txBody>
          <a:bodyPr wrap="square" lIns="0" rIns="0">
            <a:normAutofit/>
          </a:bodyPr>
          <a:lstStyle/>
          <a:p>
            <a:pPr lvl="0">
              <a:lnSpc>
                <a:spcPct val="100000"/>
              </a:lnSpc>
              <a:spcBef>
                <a:spcPts val="600"/>
              </a:spcBef>
              <a:buNone/>
            </a:pPr>
            <a:r>
              <a:rPr lang="en-IN" sz="1300" b="1" dirty="0">
                <a:solidFill>
                  <a:srgbClr val="0D5A28"/>
                </a:solidFill>
              </a:rPr>
              <a:t>Why this is hard</a:t>
            </a:r>
          </a:p>
          <a:p>
            <a:pPr lvl="0">
              <a:lnSpc>
                <a:spcPct val="100000"/>
              </a:lnSpc>
              <a:spcBef>
                <a:spcPts val="600"/>
              </a:spcBef>
              <a:buNone/>
            </a:pPr>
            <a:r>
              <a:rPr lang="en-IN" sz="1200" b="0" dirty="0">
                <a:solidFill>
                  <a:srgbClr val="202020"/>
                </a:solidFill>
              </a:rPr>
              <a:t>No column dominates. The cheap supplier ties up a week of demand in transit; the fast one erodes margin; the reliable-looking middle option ships only 80% of what is ordered and goes offline most often. The right answer changes with stock cover, season and volatility -- which is exactly what a fixed reorder rule cannot express.</a:t>
            </a:r>
          </a:p>
          <a:p>
            <a:pPr lvl="0">
              <a:lnSpc>
                <a:spcPct val="100000"/>
              </a:lnSpc>
              <a:spcBef>
                <a:spcPts val="600"/>
              </a:spcBef>
              <a:buNone/>
            </a:pPr>
            <a:r>
              <a:rPr lang="en-IN" sz="1200" b="0" dirty="0">
                <a:solidFill>
                  <a:srgbClr val="202020"/>
                </a:solidFill>
              </a:rPr>
              <a:t>Scale: 21 options per product across 10 products is about 1.7 x 10^13 combinations per day, and the choices are coupled -- today's order is next week's stock, and all 10 products share one 20,000-unit warehouse.</a:t>
            </a:r>
          </a:p>
        </p:txBody>
      </p:sp>
    </p:spTree>
    <p:extLst>
      <p:ext uri="{BB962C8B-B14F-4D97-AF65-F5344CB8AC3E}">
        <p14:creationId xmlns:p14="http://schemas.microsoft.com/office/powerpoint/2010/main" val="1731704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123C0-4464-42F8-4503-DBAD8BADDB6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2FE4153C-C4D3-1A1A-C5AD-0EDABAF376BB}"/>
              </a:ext>
            </a:extLst>
          </p:cNvPr>
          <p:cNvSpPr/>
          <p:nvPr/>
        </p:nvSpPr>
        <p:spPr>
          <a:xfrm>
            <a:off x="335901" y="9714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5CFA44B1-8C8E-AC41-316C-676C93A1F38C}"/>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A3A0188E-C3F1-A9BB-3116-3A2D18BFFABF}"/>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B8970FD-F4A1-4859-B09E-FB033B7D673C}"/>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Literature Review</a:t>
            </a:r>
            <a:br>
              <a:rPr lang="en-IN" dirty="0">
                <a:solidFill>
                  <a:schemeClr val="accent1">
                    <a:lumMod val="50000"/>
                  </a:schemeClr>
                </a:solidFill>
              </a:rPr>
            </a:br>
            <a:endParaRPr lang="en-IN" dirty="0"/>
          </a:p>
        </p:txBody>
      </p:sp>
      <p:sp>
        <p:nvSpPr>
          <p:cNvPr id="19" name="Slide Number Placeholder 18">
            <a:extLst>
              <a:ext uri="{FF2B5EF4-FFF2-40B4-BE49-F238E27FC236}">
                <a16:creationId xmlns:a16="http://schemas.microsoft.com/office/drawing/2014/main" id="{1460085C-4735-997A-440D-48D4BF46FC9D}"/>
              </a:ext>
            </a:extLst>
          </p:cNvPr>
          <p:cNvSpPr>
            <a:spLocks noGrp="1"/>
          </p:cNvSpPr>
          <p:nvPr>
            <p:ph type="sldNum" sz="quarter" idx="12"/>
          </p:nvPr>
        </p:nvSpPr>
        <p:spPr/>
        <p:txBody>
          <a:bodyPr/>
          <a:lstStyle/>
          <a:p>
            <a:fld id="{C2216105-7B7A-4C42-B2A1-5E9A2FA4F8FD}" type="slidenum">
              <a:rPr lang="en-IN" smtClean="0"/>
              <a:t>5</a:t>
            </a:fld>
            <a:endParaRPr lang="en-IN" dirty="0"/>
          </a:p>
        </p:txBody>
      </p:sp>
      <p:graphicFrame>
        <p:nvGraphicFramePr>
          <p:cNvPr id="40" name="Table 40"/>
          <p:cNvGraphicFramePr>
            <a:graphicFrameLocks noGrp="1"/>
          </p:cNvGraphicFramePr>
          <p:nvPr/>
        </p:nvGraphicFramePr>
        <p:xfrm>
          <a:off x="838198" y="1700000"/>
          <a:ext cx="10670000" cy="3360000"/>
        </p:xfrm>
        <a:graphic>
          <a:graphicData uri="http://schemas.openxmlformats.org/drawingml/2006/table">
            <a:tbl>
              <a:tblPr firstRow="1" bandRow="1">
                <a:tableStyleId>{5C22544A-7EE6-4342-B048-85BDC9FD1C3A}</a:tableStyleId>
              </a:tblPr>
              <a:tblGrid>
                <a:gridCol w="520000"/>
                <a:gridCol w="2350000"/>
                <a:gridCol w="1500000"/>
                <a:gridCol w="2100000"/>
                <a:gridCol w="2300000"/>
                <a:gridCol w="1900000"/>
              </a:tblGrid>
              <a:tr h="560000">
                <a:tc>
                  <a:txBody>
                    <a:bodyPr/>
                    <a:lstStyle/>
                    <a:p>
                      <a:pPr algn="l"/>
                      <a:r>
                        <a:rPr lang="en-IN" sz="950" b="1" dirty="0">
                          <a:solidFill>
                            <a:srgbClr val="FFFFFF"/>
                          </a:solidFill>
                        </a:rPr>
                        <a:t>Sl No</a:t>
                      </a:r>
                    </a:p>
                  </a:txBody>
                  <a:tcPr marL="68580" marR="68580" marT="34290" marB="34290" anchor="ctr">
                    <a:solidFill>
                      <a:srgbClr val="1A9B46"/>
                    </a:solidFill>
                  </a:tcPr>
                </a:tc>
                <a:tc>
                  <a:txBody>
                    <a:bodyPr/>
                    <a:lstStyle/>
                    <a:p>
                      <a:pPr algn="l"/>
                      <a:r>
                        <a:rPr lang="en-IN" sz="950" b="1" dirty="0">
                          <a:solidFill>
                            <a:srgbClr val="FFFFFF"/>
                          </a:solidFill>
                        </a:rPr>
                        <a:t>Title and year</a:t>
                      </a:r>
                    </a:p>
                  </a:txBody>
                  <a:tcPr marL="68580" marR="68580" marT="34290" marB="34290" anchor="ctr">
                    <a:solidFill>
                      <a:srgbClr val="1A9B46"/>
                    </a:solidFill>
                  </a:tcPr>
                </a:tc>
                <a:tc>
                  <a:txBody>
                    <a:bodyPr/>
                    <a:lstStyle/>
                    <a:p>
                      <a:pPr algn="l"/>
                      <a:r>
                        <a:rPr lang="en-IN" sz="950" b="1" dirty="0">
                          <a:solidFill>
                            <a:srgbClr val="FFFFFF"/>
                          </a:solidFill>
                        </a:rPr>
                        <a:t>Journal / Conference</a:t>
                      </a:r>
                    </a:p>
                  </a:txBody>
                  <a:tcPr marL="68580" marR="68580" marT="34290" marB="34290" anchor="ctr">
                    <a:solidFill>
                      <a:srgbClr val="1A9B46"/>
                    </a:solidFill>
                  </a:tcPr>
                </a:tc>
                <a:tc>
                  <a:txBody>
                    <a:bodyPr/>
                    <a:lstStyle/>
                    <a:p>
                      <a:pPr algn="l"/>
                      <a:r>
                        <a:rPr lang="en-IN" sz="950" b="1" dirty="0">
                          <a:solidFill>
                            <a:srgbClr val="FFFFFF"/>
                          </a:solidFill>
                        </a:rPr>
                        <a:t>Methodology</a:t>
                      </a:r>
                    </a:p>
                  </a:txBody>
                  <a:tcPr marL="68580" marR="68580" marT="34290" marB="34290" anchor="ctr">
                    <a:solidFill>
                      <a:srgbClr val="1A9B46"/>
                    </a:solidFill>
                  </a:tcPr>
                </a:tc>
                <a:tc>
                  <a:txBody>
                    <a:bodyPr/>
                    <a:lstStyle/>
                    <a:p>
                      <a:pPr algn="l"/>
                      <a:r>
                        <a:rPr lang="en-IN" sz="950" b="1" dirty="0">
                          <a:solidFill>
                            <a:srgbClr val="FFFFFF"/>
                          </a:solidFill>
                        </a:rPr>
                        <a:t>Key findings</a:t>
                      </a:r>
                    </a:p>
                  </a:txBody>
                  <a:tcPr marL="68580" marR="68580" marT="34290" marB="34290" anchor="ctr">
                    <a:solidFill>
                      <a:srgbClr val="1A9B46"/>
                    </a:solidFill>
                  </a:tcPr>
                </a:tc>
                <a:tc>
                  <a:txBody>
                    <a:bodyPr/>
                    <a:lstStyle/>
                    <a:p>
                      <a:pPr algn="l"/>
                      <a:r>
                        <a:rPr lang="en-IN" sz="950" b="1" dirty="0">
                          <a:solidFill>
                            <a:srgbClr val="FFFFFF"/>
                          </a:solidFill>
                        </a:rPr>
                        <a:t>Limitations</a:t>
                      </a:r>
                    </a:p>
                  </a:txBody>
                  <a:tcPr marL="68580" marR="68580" marT="34290" marB="34290" anchor="ctr">
                    <a:solidFill>
                      <a:srgbClr val="1A9B46"/>
                    </a:solidFill>
                  </a:tcPr>
                </a:tc>
              </a:tr>
              <a:tr h="560000">
                <a:tc>
                  <a:txBody>
                    <a:bodyPr/>
                    <a:lstStyle/>
                    <a:p>
                      <a:pPr algn="l"/>
                      <a:r>
                        <a:rPr lang="en-IN" sz="950" b="0" dirty="0">
                          <a:solidFill>
                            <a:srgbClr val="202020"/>
                          </a:solidFill>
                        </a:rPr>
                        <a:t>1</a:t>
                      </a:r>
                    </a:p>
                  </a:txBody>
                  <a:tcPr marL="68580" marR="68580" marT="34290" marB="34290" anchor="ctr"/>
                </a:tc>
                <a:tc>
                  <a:txBody>
                    <a:bodyPr/>
                    <a:lstStyle/>
                    <a:p>
                      <a:pPr algn="l"/>
                      <a:r>
                        <a:rPr lang="en-IN" sz="950" b="0" dirty="0">
                          <a:solidFill>
                            <a:srgbClr val="202020"/>
                          </a:solidFill>
                        </a:rPr>
                        <a:t>Proximal Policy Optimization Algorithms (2017)</a:t>
                      </a:r>
                    </a:p>
                  </a:txBody>
                  <a:tcPr marL="68580" marR="68580" marT="34290" marB="34290" anchor="ctr"/>
                </a:tc>
                <a:tc>
                  <a:txBody>
                    <a:bodyPr/>
                    <a:lstStyle/>
                    <a:p>
                      <a:pPr algn="l"/>
                      <a:r>
                        <a:rPr lang="en-IN" sz="950" b="0" dirty="0">
                          <a:solidFill>
                            <a:srgbClr val="202020"/>
                          </a:solidFill>
                        </a:rPr>
                        <a:t>arXiv preprint</a:t>
                      </a:r>
                    </a:p>
                  </a:txBody>
                  <a:tcPr marL="68580" marR="68580" marT="34290" marB="34290" anchor="ctr"/>
                </a:tc>
                <a:tc>
                  <a:txBody>
                    <a:bodyPr/>
                    <a:lstStyle/>
                    <a:p>
                      <a:pPr algn="l"/>
                      <a:r>
                        <a:rPr lang="en-IN" sz="950" b="0" dirty="0">
                          <a:solidFill>
                            <a:srgbClr val="202020"/>
                          </a:solidFill>
                        </a:rPr>
                        <a:t>Clipped surrogate policy-gradient objective</a:t>
                      </a:r>
                    </a:p>
                  </a:txBody>
                  <a:tcPr marL="68580" marR="68580" marT="34290" marB="34290" anchor="ctr"/>
                </a:tc>
                <a:tc>
                  <a:txBody>
                    <a:bodyPr/>
                    <a:lstStyle/>
                    <a:p>
                      <a:pPr algn="l"/>
                      <a:r>
                        <a:rPr lang="en-IN" sz="950" b="0" dirty="0">
                          <a:solidFill>
                            <a:srgbClr val="202020"/>
                          </a:solidFill>
                        </a:rPr>
                        <a:t>Stable, sample-efficient on-policy RL; the default modern baseline</a:t>
                      </a:r>
                    </a:p>
                  </a:txBody>
                  <a:tcPr marL="68580" marR="68580" marT="34290" marB="34290" anchor="ctr"/>
                </a:tc>
                <a:tc>
                  <a:txBody>
                    <a:bodyPr/>
                    <a:lstStyle/>
                    <a:p>
                      <a:pPr algn="l"/>
                      <a:r>
                        <a:rPr lang="en-IN" sz="950" b="0" dirty="0">
                          <a:solidFill>
                            <a:srgbClr val="202020"/>
                          </a:solidFill>
                        </a:rPr>
                        <a:t>General purpose; no supply-chain structure</a:t>
                      </a:r>
                    </a:p>
                  </a:txBody>
                  <a:tcPr marL="68580" marR="68580" marT="34290" marB="34290" anchor="ctr"/>
                </a:tc>
              </a:tr>
              <a:tr h="560000">
                <a:tc>
                  <a:txBody>
                    <a:bodyPr/>
                    <a:lstStyle/>
                    <a:p>
                      <a:pPr algn="l"/>
                      <a:r>
                        <a:rPr lang="en-IN" sz="950" b="0" dirty="0">
                          <a:solidFill>
                            <a:srgbClr val="202020"/>
                          </a:solidFill>
                        </a:rPr>
                        <a:t>2</a:t>
                      </a:r>
                    </a:p>
                  </a:txBody>
                  <a:tcPr marL="68580" marR="68580" marT="34290" marB="34290" anchor="ctr">
                    <a:solidFill>
                      <a:srgbClr val="F2F7F3"/>
                    </a:solidFill>
                  </a:tcPr>
                </a:tc>
                <a:tc>
                  <a:txBody>
                    <a:bodyPr/>
                    <a:lstStyle/>
                    <a:p>
                      <a:pPr algn="l"/>
                      <a:r>
                        <a:rPr lang="en-IN" sz="950" b="0" dirty="0">
                          <a:solidFill>
                            <a:srgbClr val="202020"/>
                          </a:solidFill>
                        </a:rPr>
                        <a:t>A Deep Q-Network for the Beer Game (2022)</a:t>
                      </a:r>
                    </a:p>
                  </a:txBody>
                  <a:tcPr marL="68580" marR="68580" marT="34290" marB="34290" anchor="ctr">
                    <a:solidFill>
                      <a:srgbClr val="F2F7F3"/>
                    </a:solidFill>
                  </a:tcPr>
                </a:tc>
                <a:tc>
                  <a:txBody>
                    <a:bodyPr/>
                    <a:lstStyle/>
                    <a:p>
                      <a:pPr algn="l"/>
                      <a:r>
                        <a:rPr lang="en-IN" sz="950" b="0" dirty="0">
                          <a:solidFill>
                            <a:srgbClr val="202020"/>
                          </a:solidFill>
                        </a:rPr>
                        <a:t>M&amp;SOM</a:t>
                      </a:r>
                    </a:p>
                  </a:txBody>
                  <a:tcPr marL="68580" marR="68580" marT="34290" marB="34290" anchor="ctr">
                    <a:solidFill>
                      <a:srgbClr val="F2F7F3"/>
                    </a:solidFill>
                  </a:tcPr>
                </a:tc>
                <a:tc>
                  <a:txBody>
                    <a:bodyPr/>
                    <a:lstStyle/>
                    <a:p>
                      <a:pPr algn="l"/>
                      <a:r>
                        <a:rPr lang="en-IN" sz="950" b="0" dirty="0">
                          <a:solidFill>
                            <a:srgbClr val="202020"/>
                          </a:solidFill>
                        </a:rPr>
                        <a:t>DQN on a serial beer-game supply chain</a:t>
                      </a:r>
                    </a:p>
                  </a:txBody>
                  <a:tcPr marL="68580" marR="68580" marT="34290" marB="34290" anchor="ctr">
                    <a:solidFill>
                      <a:srgbClr val="F2F7F3"/>
                    </a:solidFill>
                  </a:tcPr>
                </a:tc>
                <a:tc>
                  <a:txBody>
                    <a:bodyPr/>
                    <a:lstStyle/>
                    <a:p>
                      <a:pPr algn="l"/>
                      <a:r>
                        <a:rPr lang="en-IN" sz="950" b="0" dirty="0">
                          <a:solidFill>
                            <a:srgbClr val="202020"/>
                          </a:solidFill>
                        </a:rPr>
                        <a:t>DRL matches or beats base-stock policies under cooperation</a:t>
                      </a:r>
                    </a:p>
                  </a:txBody>
                  <a:tcPr marL="68580" marR="68580" marT="34290" marB="34290" anchor="ctr">
                    <a:solidFill>
                      <a:srgbClr val="F2F7F3"/>
                    </a:solidFill>
                  </a:tcPr>
                </a:tc>
                <a:tc>
                  <a:txBody>
                    <a:bodyPr/>
                    <a:lstStyle/>
                    <a:p>
                      <a:pPr algn="l"/>
                      <a:r>
                        <a:rPr lang="en-IN" sz="950" b="0" dirty="0">
                          <a:solidFill>
                            <a:srgbClr val="202020"/>
                          </a:solidFill>
                        </a:rPr>
                        <a:t>Single product, serial chain, no sourcing choice</a:t>
                      </a:r>
                    </a:p>
                  </a:txBody>
                  <a:tcPr marL="68580" marR="68580" marT="34290" marB="34290" anchor="ctr">
                    <a:solidFill>
                      <a:srgbClr val="F2F7F3"/>
                    </a:solidFill>
                  </a:tcPr>
                </a:tc>
              </a:tr>
              <a:tr h="560000">
                <a:tc>
                  <a:txBody>
                    <a:bodyPr/>
                    <a:lstStyle/>
                    <a:p>
                      <a:pPr algn="l"/>
                      <a:r>
                        <a:rPr lang="en-IN" sz="950" b="0" dirty="0">
                          <a:solidFill>
                            <a:srgbClr val="202020"/>
                          </a:solidFill>
                        </a:rPr>
                        <a:t>3</a:t>
                      </a:r>
                    </a:p>
                  </a:txBody>
                  <a:tcPr marL="68580" marR="68580" marT="34290" marB="34290" anchor="ctr"/>
                </a:tc>
                <a:tc>
                  <a:txBody>
                    <a:bodyPr/>
                    <a:lstStyle/>
                    <a:p>
                      <a:pPr algn="l"/>
                      <a:r>
                        <a:rPr lang="en-IN" sz="950" b="0" dirty="0">
                          <a:solidFill>
                            <a:srgbClr val="202020"/>
                          </a:solidFill>
                        </a:rPr>
                        <a:t>Can Deep RL Improve Inventory Management? (2022)</a:t>
                      </a:r>
                    </a:p>
                  </a:txBody>
                  <a:tcPr marL="68580" marR="68580" marT="34290" marB="34290" anchor="ctr"/>
                </a:tc>
                <a:tc>
                  <a:txBody>
                    <a:bodyPr/>
                    <a:lstStyle/>
                    <a:p>
                      <a:pPr algn="l"/>
                      <a:r>
                        <a:rPr lang="en-IN" sz="950" b="0" dirty="0">
                          <a:solidFill>
                            <a:srgbClr val="202020"/>
                          </a:solidFill>
                        </a:rPr>
                        <a:t>M&amp;SOM</a:t>
                      </a:r>
                    </a:p>
                  </a:txBody>
                  <a:tcPr marL="68580" marR="68580" marT="34290" marB="34290" anchor="ctr"/>
                </a:tc>
                <a:tc>
                  <a:txBody>
                    <a:bodyPr/>
                    <a:lstStyle/>
                    <a:p>
                      <a:pPr algn="l"/>
                      <a:r>
                        <a:rPr lang="en-IN" sz="950" b="0" dirty="0">
                          <a:solidFill>
                            <a:srgbClr val="202020"/>
                          </a:solidFill>
                        </a:rPr>
                        <a:t>A3C on lost-sales and dual-sourcing problems</a:t>
                      </a:r>
                    </a:p>
                  </a:txBody>
                  <a:tcPr marL="68580" marR="68580" marT="34290" marB="34290" anchor="ctr"/>
                </a:tc>
                <a:tc>
                  <a:txBody>
                    <a:bodyPr/>
                    <a:lstStyle/>
                    <a:p>
                      <a:pPr algn="l"/>
                      <a:r>
                        <a:rPr lang="en-IN" sz="950" b="0" dirty="0">
                          <a:solidFill>
                            <a:srgbClr val="202020"/>
                          </a:solidFill>
                        </a:rPr>
                        <a:t>Competitive with tuned heuristics but not clearly superior</a:t>
                      </a:r>
                    </a:p>
                  </a:txBody>
                  <a:tcPr marL="68580" marR="68580" marT="34290" marB="34290" anchor="ctr"/>
                </a:tc>
                <a:tc>
                  <a:txBody>
                    <a:bodyPr/>
                    <a:lstStyle/>
                    <a:p>
                      <a:pPr algn="l"/>
                      <a:r>
                        <a:rPr lang="en-IN" sz="950" b="0" dirty="0">
                          <a:solidFill>
                            <a:srgbClr val="202020"/>
                          </a:solidFill>
                        </a:rPr>
                        <a:t>Heavy tuning cost; no explanation layer</a:t>
                      </a:r>
                    </a:p>
                  </a:txBody>
                  <a:tcPr marL="68580" marR="68580" marT="34290" marB="34290" anchor="ctr"/>
                </a:tc>
              </a:tr>
              <a:tr h="560000">
                <a:tc>
                  <a:txBody>
                    <a:bodyPr/>
                    <a:lstStyle/>
                    <a:p>
                      <a:pPr algn="l"/>
                      <a:r>
                        <a:rPr lang="en-IN" sz="950" b="0" dirty="0">
                          <a:solidFill>
                            <a:srgbClr val="202020"/>
                          </a:solidFill>
                        </a:rPr>
                        <a:t>4</a:t>
                      </a:r>
                    </a:p>
                  </a:txBody>
                  <a:tcPr marL="68580" marR="68580" marT="34290" marB="34290" anchor="ctr">
                    <a:solidFill>
                      <a:srgbClr val="F2F7F3"/>
                    </a:solidFill>
                  </a:tcPr>
                </a:tc>
                <a:tc>
                  <a:txBody>
                    <a:bodyPr/>
                    <a:lstStyle/>
                    <a:p>
                      <a:pPr algn="l"/>
                      <a:r>
                        <a:rPr lang="en-IN" sz="950" b="0" dirty="0">
                          <a:solidFill>
                            <a:srgbClr val="202020"/>
                          </a:solidFill>
                        </a:rPr>
                        <a:t>Deep RL for Inventory Control: A Roadmap (2022)</a:t>
                      </a:r>
                    </a:p>
                  </a:txBody>
                  <a:tcPr marL="68580" marR="68580" marT="34290" marB="34290" anchor="ctr">
                    <a:solidFill>
                      <a:srgbClr val="F2F7F3"/>
                    </a:solidFill>
                  </a:tcPr>
                </a:tc>
                <a:tc>
                  <a:txBody>
                    <a:bodyPr/>
                    <a:lstStyle/>
                    <a:p>
                      <a:pPr algn="l"/>
                      <a:r>
                        <a:rPr lang="en-IN" sz="950" b="0" dirty="0">
                          <a:solidFill>
                            <a:srgbClr val="202020"/>
                          </a:solidFill>
                        </a:rPr>
                        <a:t>EJOR</a:t>
                      </a:r>
                    </a:p>
                  </a:txBody>
                  <a:tcPr marL="68580" marR="68580" marT="34290" marB="34290" anchor="ctr">
                    <a:solidFill>
                      <a:srgbClr val="F2F7F3"/>
                    </a:solidFill>
                  </a:tcPr>
                </a:tc>
                <a:tc>
                  <a:txBody>
                    <a:bodyPr/>
                    <a:lstStyle/>
                    <a:p>
                      <a:pPr algn="l"/>
                      <a:r>
                        <a:rPr lang="en-IN" sz="950" b="0" dirty="0">
                          <a:solidFill>
                            <a:srgbClr val="202020"/>
                          </a:solidFill>
                        </a:rPr>
                        <a:t>Survey and research roadmap</a:t>
                      </a:r>
                    </a:p>
                  </a:txBody>
                  <a:tcPr marL="68580" marR="68580" marT="34290" marB="34290" anchor="ctr">
                    <a:solidFill>
                      <a:srgbClr val="F2F7F3"/>
                    </a:solidFill>
                  </a:tcPr>
                </a:tc>
                <a:tc>
                  <a:txBody>
                    <a:bodyPr/>
                    <a:lstStyle/>
                    <a:p>
                      <a:pPr algn="l"/>
                      <a:r>
                        <a:rPr lang="en-IN" sz="950" b="0" dirty="0">
                          <a:solidFill>
                            <a:srgbClr val="202020"/>
                          </a:solidFill>
                        </a:rPr>
                        <a:t>Names fair benchmarking and interpretability as open problems</a:t>
                      </a:r>
                    </a:p>
                  </a:txBody>
                  <a:tcPr marL="68580" marR="68580" marT="34290" marB="34290" anchor="ctr">
                    <a:solidFill>
                      <a:srgbClr val="F2F7F3"/>
                    </a:solidFill>
                  </a:tcPr>
                </a:tc>
                <a:tc>
                  <a:txBody>
                    <a:bodyPr/>
                    <a:lstStyle/>
                    <a:p>
                      <a:pPr algn="l"/>
                      <a:r>
                        <a:rPr lang="en-IN" sz="950" b="0" dirty="0">
                          <a:solidFill>
                            <a:srgbClr val="202020"/>
                          </a:solidFill>
                        </a:rPr>
                        <a:t>Conceptual; no implementation or results</a:t>
                      </a:r>
                    </a:p>
                  </a:txBody>
                  <a:tcPr marL="68580" marR="68580" marT="34290" marB="34290" anchor="ctr">
                    <a:solidFill>
                      <a:srgbClr val="F2F7F3"/>
                    </a:solidFill>
                  </a:tcPr>
                </a:tc>
              </a:tr>
              <a:tr h="560000">
                <a:tc>
                  <a:txBody>
                    <a:bodyPr/>
                    <a:lstStyle/>
                    <a:p>
                      <a:pPr algn="l"/>
                      <a:r>
                        <a:rPr lang="en-IN" sz="950" b="0" dirty="0">
                          <a:solidFill>
                            <a:srgbClr val="202020"/>
                          </a:solidFill>
                        </a:rPr>
                        <a:t>5</a:t>
                      </a:r>
                    </a:p>
                  </a:txBody>
                  <a:tcPr marL="68580" marR="68580" marT="34290" marB="34290" anchor="ctr"/>
                </a:tc>
                <a:tc>
                  <a:txBody>
                    <a:bodyPr/>
                    <a:lstStyle/>
                    <a:p>
                      <a:pPr algn="l"/>
                      <a:r>
                        <a:rPr lang="en-IN" sz="950" b="0" dirty="0">
                          <a:solidFill>
                            <a:srgbClr val="202020"/>
                          </a:solidFill>
                        </a:rPr>
                        <a:t>A Closer Look at Invalid Action Masking in Policy Gradient Algorithms (2022)</a:t>
                      </a:r>
                    </a:p>
                  </a:txBody>
                  <a:tcPr marL="68580" marR="68580" marT="34290" marB="34290" anchor="ctr"/>
                </a:tc>
                <a:tc>
                  <a:txBody>
                    <a:bodyPr/>
                    <a:lstStyle/>
                    <a:p>
                      <a:pPr algn="l"/>
                      <a:r>
                        <a:rPr lang="en-IN" sz="950" b="0" dirty="0">
                          <a:solidFill>
                            <a:srgbClr val="202020"/>
                          </a:solidFill>
                        </a:rPr>
                        <a:t>FLAIRS</a:t>
                      </a:r>
                    </a:p>
                  </a:txBody>
                  <a:tcPr marL="68580" marR="68580" marT="34290" marB="34290" anchor="ctr"/>
                </a:tc>
                <a:tc>
                  <a:txBody>
                    <a:bodyPr/>
                    <a:lstStyle/>
                    <a:p>
                      <a:pPr algn="l"/>
                      <a:r>
                        <a:rPr lang="en-IN" sz="950" b="0" dirty="0">
                          <a:solidFill>
                            <a:srgbClr val="202020"/>
                          </a:solidFill>
                        </a:rPr>
                        <a:t>Action masking inside policy-gradient methods</a:t>
                      </a:r>
                    </a:p>
                  </a:txBody>
                  <a:tcPr marL="68580" marR="68580" marT="34290" marB="34290" anchor="ctr"/>
                </a:tc>
                <a:tc>
                  <a:txBody>
                    <a:bodyPr/>
                    <a:lstStyle/>
                    <a:p>
                      <a:pPr algn="l"/>
                      <a:r>
                        <a:rPr lang="en-IN" sz="950" b="0" dirty="0">
                          <a:solidFill>
                            <a:srgbClr val="202020"/>
                          </a:solidFill>
                        </a:rPr>
                        <a:t>Masking is a valid gradient and scales to large action spaces</a:t>
                      </a:r>
                    </a:p>
                  </a:txBody>
                  <a:tcPr marL="68580" marR="68580" marT="34290" marB="34290" anchor="ctr"/>
                </a:tc>
                <a:tc>
                  <a:txBody>
                    <a:bodyPr/>
                    <a:lstStyle/>
                    <a:p>
                      <a:pPr algn="l"/>
                      <a:r>
                        <a:rPr lang="en-IN" sz="950" b="0" dirty="0">
                          <a:solidFill>
                            <a:srgbClr val="202020"/>
                          </a:solidFill>
                        </a:rPr>
                        <a:t>Not demonstrated on inventory or sourcing</a:t>
                      </a:r>
                    </a:p>
                  </a:txBody>
                  <a:tcPr marL="68580" marR="68580" marT="34290" marB="34290" anchor="ctr"/>
                </a:tc>
              </a:tr>
            </a:tbl>
          </a:graphicData>
        </a:graphic>
      </p:graphicFrame>
    </p:spTree>
    <p:extLst>
      <p:ext uri="{BB962C8B-B14F-4D97-AF65-F5344CB8AC3E}">
        <p14:creationId xmlns:p14="http://schemas.microsoft.com/office/powerpoint/2010/main" val="647497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CA949-825D-63D7-CE6F-2C0C2BE2614C}"/>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79D361BF-60CB-A29B-BC0E-C180A96D459C}"/>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21145337-310C-B3D7-16AF-7230B4FFAAFE}"/>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9AB1533E-5A65-3CD8-558D-FCBFFB25997D}"/>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798CBB9-B283-492D-9948-605C8D31C306}"/>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Gaps Identified</a:t>
            </a:r>
            <a:br>
              <a:rPr lang="en-IN" dirty="0">
                <a:solidFill>
                  <a:schemeClr val="accent1">
                    <a:lumMod val="50000"/>
                  </a:schemeClr>
                </a:solidFill>
              </a:rPr>
            </a:br>
            <a:endParaRPr lang="en-IN" dirty="0"/>
          </a:p>
        </p:txBody>
      </p:sp>
      <p:sp>
        <p:nvSpPr>
          <p:cNvPr id="3" name="Content Placeholder 2">
            <a:extLst>
              <a:ext uri="{FF2B5EF4-FFF2-40B4-BE49-F238E27FC236}">
                <a16:creationId xmlns:a16="http://schemas.microsoft.com/office/drawing/2014/main" id="{4365D657-CE4C-8DEC-6D94-9F0BC6D8FE95}"/>
              </a:ext>
            </a:extLst>
          </p:cNvPr>
          <p:cNvSpPr>
            <a:spLocks noGrp="1"/>
          </p:cNvSpPr>
          <p:nvPr>
            <p:ph idx="1"/>
          </p:nvPr>
        </p:nvSpPr>
        <p:spPr>
          <a:xfrm>
            <a:off x="838198" y="1594415"/>
            <a:ext cx="10515600" cy="4351338"/>
          </a:xfrm>
        </p:spPr>
        <p:txBody>
          <a:bodyPr>
            <a:normAutofit/>
          </a:bodyPr>
          <a:lstStyle/>
          <a:p>
            <a:pPr lvl="0">
              <a:lnSpc>
                <a:spcPct val="100000"/>
              </a:lnSpc>
              <a:spcBef>
                <a:spcPts val="600"/>
              </a:spcBef>
            </a:pPr>
            <a:r>
              <a:rPr lang="en-IN" sz="1700" b="0" dirty="0"/>
              <a:t>Weak benchmarks. Most DRL inventory papers compare against textbook-default heuristics rather than properly tuned ones, which inflates the reported gain.</a:t>
            </a:r>
          </a:p>
          <a:p>
            <a:pPr lvl="0">
              <a:lnSpc>
                <a:spcPct val="100000"/>
              </a:lnSpc>
              <a:spcBef>
                <a:spcPts val="600"/>
              </a:spcBef>
            </a:pPr>
            <a:r>
              <a:rPr lang="en-IN" sz="1700" b="0" dirty="0"/>
              <a:t>Narrow problem settings. Single-product or serial chains dominate; joint quantity and supplier selection under one shared capacity is rarely modelled.</a:t>
            </a:r>
          </a:p>
          <a:p>
            <a:pPr lvl="0">
              <a:lnSpc>
                <a:spcPct val="100000"/>
              </a:lnSpc>
              <a:spcBef>
                <a:spcPts val="600"/>
              </a:spcBef>
            </a:pPr>
            <a:r>
              <a:rPr lang="en-IN" sz="1700" b="0" dirty="0"/>
              <a:t>Explainability is deferred. Learned policies output a number, not a reason, so they stay in simulation and never reach a decision-maker.</a:t>
            </a:r>
          </a:p>
          <a:p>
            <a:pPr lvl="0">
              <a:lnSpc>
                <a:spcPct val="100000"/>
              </a:lnSpc>
              <a:spcBef>
                <a:spcPts val="600"/>
              </a:spcBef>
            </a:pPr>
            <a:r>
              <a:rPr lang="en-IN" sz="1700" b="0" dirty="0"/>
              <a:t>Stress testing is hand-built. Demand spikes and supplier failures are coded case by case, so coverage is narrow and hard to extend.</a:t>
            </a:r>
          </a:p>
          <a:p>
            <a:pPr lvl="0">
              <a:lnSpc>
                <a:spcPct val="100000"/>
              </a:lnSpc>
              <a:spcBef>
                <a:spcPts val="600"/>
              </a:spcBef>
            </a:pPr>
            <a:r>
              <a:rPr lang="en-IN" sz="1700" b="1" dirty="0"/>
              <a:t>No existing work couples an RL inventory agent with an LLM that both explains its decisions and generates the scenarios used to test it.</a:t>
            </a:r>
          </a:p>
        </p:txBody>
      </p:sp>
      <p:sp>
        <p:nvSpPr>
          <p:cNvPr id="19" name="Slide Number Placeholder 18">
            <a:extLst>
              <a:ext uri="{FF2B5EF4-FFF2-40B4-BE49-F238E27FC236}">
                <a16:creationId xmlns:a16="http://schemas.microsoft.com/office/drawing/2014/main" id="{4EB3C4DF-2454-49D2-6F52-CCEC8DF9C698}"/>
              </a:ext>
            </a:extLst>
          </p:cNvPr>
          <p:cNvSpPr>
            <a:spLocks noGrp="1"/>
          </p:cNvSpPr>
          <p:nvPr>
            <p:ph type="sldNum" sz="quarter" idx="12"/>
          </p:nvPr>
        </p:nvSpPr>
        <p:spPr/>
        <p:txBody>
          <a:bodyPr/>
          <a:lstStyle/>
          <a:p>
            <a:fld id="{C2216105-7B7A-4C42-B2A1-5E9A2FA4F8FD}" type="slidenum">
              <a:rPr lang="en-IN" smtClean="0"/>
              <a:t>6</a:t>
            </a:fld>
            <a:endParaRPr lang="en-IN" dirty="0"/>
          </a:p>
        </p:txBody>
      </p:sp>
    </p:spTree>
    <p:extLst>
      <p:ext uri="{BB962C8B-B14F-4D97-AF65-F5344CB8AC3E}">
        <p14:creationId xmlns:p14="http://schemas.microsoft.com/office/powerpoint/2010/main" val="682616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FDF4E-C8C2-CD64-4FA4-F79AF859F974}"/>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C04039C4-713E-5507-F8E3-5B60ED3B2EA7}"/>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A749B603-B658-813C-5757-7CF34A95EDD1}"/>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CBEE7B70-FD0B-520D-5B79-69C9FDB23110}"/>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3F146E9-85F8-DDB8-6C1A-9FFA40E833D8}"/>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Objectives</a:t>
            </a:r>
            <a:br>
              <a:rPr lang="en-IN" dirty="0">
                <a:solidFill>
                  <a:schemeClr val="accent1">
                    <a:lumMod val="50000"/>
                  </a:schemeClr>
                </a:solidFill>
              </a:rPr>
            </a:br>
            <a:endParaRPr lang="en-IN" dirty="0"/>
          </a:p>
        </p:txBody>
      </p:sp>
      <p:sp>
        <p:nvSpPr>
          <p:cNvPr id="3" name="Content Placeholder 2">
            <a:extLst>
              <a:ext uri="{FF2B5EF4-FFF2-40B4-BE49-F238E27FC236}">
                <a16:creationId xmlns:a16="http://schemas.microsoft.com/office/drawing/2014/main" id="{EB18402D-8798-A75B-EA2B-3C2952FD80CE}"/>
              </a:ext>
            </a:extLst>
          </p:cNvPr>
          <p:cNvSpPr>
            <a:spLocks noGrp="1"/>
          </p:cNvSpPr>
          <p:nvPr>
            <p:ph idx="1"/>
          </p:nvPr>
        </p:nvSpPr>
        <p:spPr>
          <a:xfrm>
            <a:off x="838198" y="1594415"/>
            <a:ext cx="10515600" cy="4351338"/>
          </a:xfrm>
        </p:spPr>
        <p:txBody>
          <a:bodyPr>
            <a:normAutofit/>
          </a:bodyPr>
          <a:lstStyle/>
          <a:p>
            <a:pPr lvl="0">
              <a:lnSpc>
                <a:spcPct val="100000"/>
              </a:lnSpc>
              <a:spcBef>
                <a:spcPts val="600"/>
              </a:spcBef>
            </a:pPr>
            <a:r>
              <a:rPr lang="en-IN" sz="1800" b="1" dirty="0"/>
              <a:t>1. Build a supply chain simulator calibrated from real retail transaction data.</a:t>
            </a:r>
          </a:p>
          <a:p>
            <a:pPr lvl="0">
              <a:lnSpc>
                <a:spcPct val="100000"/>
              </a:lnSpc>
              <a:spcBef>
                <a:spcPts val="600"/>
              </a:spcBef>
            </a:pPr>
            <a:r>
              <a:rPr lang="en-IN" sz="1800" b="1" dirty="0"/>
              <a:t>2. Train a reinforcement learning agent to choose reorder quantity and supplier jointly.</a:t>
            </a:r>
          </a:p>
          <a:p>
            <a:pPr lvl="0">
              <a:lnSpc>
                <a:spcPct val="100000"/>
              </a:lnSpc>
              <a:spcBef>
                <a:spcPts val="600"/>
              </a:spcBef>
            </a:pPr>
            <a:r>
              <a:rPr lang="en-IN" sz="1800" b="1" dirty="0"/>
              <a:t>3. Use an LLM to explain each decision in business language.</a:t>
            </a:r>
          </a:p>
          <a:p>
            <a:pPr lvl="0">
              <a:lnSpc>
                <a:spcPct val="100000"/>
              </a:lnSpc>
              <a:spcBef>
                <a:spcPts val="600"/>
              </a:spcBef>
            </a:pPr>
            <a:r>
              <a:rPr lang="en-IN" sz="1800" b="1" dirty="0"/>
              <a:t>4. Use an LLM to generate demand-spike and supplier-delay scenarios for stress testing.</a:t>
            </a:r>
          </a:p>
          <a:p>
            <a:pPr lvl="0">
              <a:lnSpc>
                <a:spcPct val="100000"/>
              </a:lnSpc>
              <a:spcBef>
                <a:spcPts val="600"/>
              </a:spcBef>
            </a:pPr>
            <a:r>
              <a:rPr lang="en-IN" sz="1800" b="1" dirty="0"/>
              <a:t>5. Compare the RL agent against properly tuned classical inventory policies.</a:t>
            </a:r>
          </a:p>
          <a:p>
            <a:pPr lvl="0">
              <a:lnSpc>
                <a:spcPct val="100000"/>
              </a:lnSpc>
              <a:spcBef>
                <a:spcPts val="600"/>
              </a:spcBef>
            </a:pPr>
            <a:r>
              <a:rPr lang="en-IN" sz="1500" b="0" dirty="0"/>
              <a:t>Objectives 1, 2 and 5 are complete. Objectives 3 and 4 are the next phase.</a:t>
            </a:r>
          </a:p>
        </p:txBody>
      </p:sp>
      <p:sp>
        <p:nvSpPr>
          <p:cNvPr id="19" name="Slide Number Placeholder 18">
            <a:extLst>
              <a:ext uri="{FF2B5EF4-FFF2-40B4-BE49-F238E27FC236}">
                <a16:creationId xmlns:a16="http://schemas.microsoft.com/office/drawing/2014/main" id="{01FACB82-F53B-1D1D-2F0F-EE312F9F1F91}"/>
              </a:ext>
            </a:extLst>
          </p:cNvPr>
          <p:cNvSpPr>
            <a:spLocks noGrp="1"/>
          </p:cNvSpPr>
          <p:nvPr>
            <p:ph type="sldNum" sz="quarter" idx="12"/>
          </p:nvPr>
        </p:nvSpPr>
        <p:spPr/>
        <p:txBody>
          <a:bodyPr/>
          <a:lstStyle/>
          <a:p>
            <a:fld id="{C2216105-7B7A-4C42-B2A1-5E9A2FA4F8FD}" type="slidenum">
              <a:rPr lang="en-IN" smtClean="0"/>
              <a:t>7</a:t>
            </a:fld>
            <a:endParaRPr lang="en-IN" dirty="0"/>
          </a:p>
        </p:txBody>
      </p:sp>
    </p:spTree>
    <p:extLst>
      <p:ext uri="{BB962C8B-B14F-4D97-AF65-F5344CB8AC3E}">
        <p14:creationId xmlns:p14="http://schemas.microsoft.com/office/powerpoint/2010/main" val="2855837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58644-8868-F5B7-976D-4FD467F57A1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37E3B46-FCBC-F2DE-B6C9-729A018DF372}"/>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9549DA16-3E7D-718D-4503-D7B1FE3C93C8}"/>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9BEFEA5E-792F-C5D7-A1FC-1478B8FBC8BD}"/>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637594-A5F4-04BB-A078-B632BE6F492D}"/>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Methodology</a:t>
            </a:r>
            <a:br>
              <a:rPr lang="en-IN" dirty="0">
                <a:solidFill>
                  <a:schemeClr val="accent1">
                    <a:lumMod val="50000"/>
                  </a:schemeClr>
                </a:solidFill>
              </a:rPr>
            </a:br>
            <a:endParaRPr lang="en-IN" dirty="0"/>
          </a:p>
        </p:txBody>
      </p:sp>
      <p:sp>
        <p:nvSpPr>
          <p:cNvPr id="3" name="Content Placeholder 2">
            <a:extLst>
              <a:ext uri="{FF2B5EF4-FFF2-40B4-BE49-F238E27FC236}">
                <a16:creationId xmlns:a16="http://schemas.microsoft.com/office/drawing/2014/main" id="{8CE38800-24D9-4F05-EA04-5C875AFD0DDE}"/>
              </a:ext>
            </a:extLst>
          </p:cNvPr>
          <p:cNvSpPr>
            <a:spLocks noGrp="1"/>
          </p:cNvSpPr>
          <p:nvPr>
            <p:ph idx="1"/>
          </p:nvPr>
        </p:nvSpPr>
        <p:spPr>
          <a:xfrm>
            <a:off x="838198" y="1594415"/>
            <a:ext cx="10515600" cy="420000"/>
          </a:xfrm>
        </p:spPr>
        <p:txBody>
          <a:bodyPr>
            <a:normAutofit/>
          </a:bodyPr>
          <a:lstStyle/>
          <a:p>
            <a:pPr lvl="0">
              <a:lnSpc>
                <a:spcPct val="100000"/>
              </a:lnSpc>
              <a:spcBef>
                <a:spcPts val="600"/>
              </a:spcBef>
            </a:pPr>
            <a:r>
              <a:rPr lang="en-IN" sz="1400" b="0" dirty="0"/>
              <a:t>The problem is posed as a Markov decision process and solved with PPO. Concretely, that means:</a:t>
            </a:r>
          </a:p>
        </p:txBody>
      </p:sp>
      <p:sp>
        <p:nvSpPr>
          <p:cNvPr id="19" name="Slide Number Placeholder 18">
            <a:extLst>
              <a:ext uri="{FF2B5EF4-FFF2-40B4-BE49-F238E27FC236}">
                <a16:creationId xmlns:a16="http://schemas.microsoft.com/office/drawing/2014/main" id="{7E646F32-071B-DCD0-8A7F-A1EAB4A29045}"/>
              </a:ext>
            </a:extLst>
          </p:cNvPr>
          <p:cNvSpPr>
            <a:spLocks noGrp="1"/>
          </p:cNvSpPr>
          <p:nvPr>
            <p:ph type="sldNum" sz="quarter" idx="12"/>
          </p:nvPr>
        </p:nvSpPr>
        <p:spPr/>
        <p:txBody>
          <a:bodyPr/>
          <a:lstStyle/>
          <a:p>
            <a:fld id="{C2216105-7B7A-4C42-B2A1-5E9A2FA4F8FD}" type="slidenum">
              <a:rPr lang="en-IN" smtClean="0"/>
              <a:t>8</a:t>
            </a:fld>
            <a:endParaRPr lang="en-IN" dirty="0"/>
          </a:p>
        </p:txBody>
      </p:sp>
      <p:sp>
        <p:nvSpPr>
          <p:cNvPr id="500" name="Box 500"/>
          <p:cNvSpPr/>
          <p:nvPr/>
        </p:nvSpPr>
        <p:spPr>
          <a:xfrm>
            <a:off x="838198" y="2060000"/>
            <a:ext cx="5100000" cy="2440000"/>
          </a:xfrm>
          <a:prstGeom prst="roundRect">
            <a:avLst>
              <a:gd name="adj" fmla="val 10000"/>
            </a:avLst>
          </a:prstGeom>
          <a:solidFill>
            <a:srgbClr val="FBFCFB"/>
          </a:solidFill>
          <a:ln w="12700">
            <a:solidFill>
              <a:srgbClr val="E0E0E8"/>
            </a:solidFill>
          </a:ln>
        </p:spPr>
        <p:txBody>
          <a:bodyPr anchor="ctr" lIns="91440" rIns="91440" tIns="45720" bIns="45720">
            <a:normAutofit/>
          </a:bodyPr>
          <a:lstStyle/>
          <a:p/>
        </p:txBody>
      </p:sp>
      <p:sp>
        <p:nvSpPr>
          <p:cNvPr id="501" name="Text 501"/>
          <p:cNvSpPr txBox="1"/>
          <p:nvPr/>
        </p:nvSpPr>
        <p:spPr>
          <a:xfrm>
            <a:off x="998198" y="2150000"/>
            <a:ext cx="4780000" cy="300000"/>
          </a:xfrm>
          <a:prstGeom prst="rect">
            <a:avLst/>
          </a:prstGeom>
        </p:spPr>
        <p:txBody>
          <a:bodyPr wrap="square" lIns="0" rIns="0">
            <a:normAutofit/>
          </a:bodyPr>
          <a:lstStyle/>
          <a:p>
            <a:pPr lvl="0">
              <a:lnSpc>
                <a:spcPct val="100000"/>
              </a:lnSpc>
              <a:spcBef>
                <a:spcPts val="600"/>
              </a:spcBef>
              <a:buNone/>
            </a:pPr>
            <a:r>
              <a:rPr lang="en-IN" sz="1100" b="1" dirty="0">
                <a:solidFill>
                  <a:srgbClr val="0D5A28"/>
                </a:solidFill>
              </a:rPr>
              <a:t>The decision loop, repeated for 180 days</a:t>
            </a:r>
          </a:p>
        </p:txBody>
      </p:sp>
      <p:sp>
        <p:nvSpPr>
          <p:cNvPr id="510" name="Box 510"/>
          <p:cNvSpPr/>
          <p:nvPr/>
        </p:nvSpPr>
        <p:spPr>
          <a:xfrm>
            <a:off x="1598198" y="2500000"/>
            <a:ext cx="2700000" cy="680000"/>
          </a:xfrm>
          <a:prstGeom prst="roundRect">
            <a:avLst>
              <a:gd name="adj" fmla="val 10000"/>
            </a:avLst>
          </a:prstGeom>
          <a:solidFill>
            <a:srgbClr val="F0E9F7"/>
          </a:solidFill>
          <a:ln w="12700">
            <a:solidFill>
              <a:srgbClr val="B9A2D4"/>
            </a:solidFill>
          </a:ln>
        </p:spPr>
        <p:txBody>
          <a:bodyPr anchor="ctr" lIns="91440" rIns="91440" tIns="45720" bIns="45720">
            <a:normAutofit/>
          </a:bodyPr>
          <a:lstStyle/>
          <a:p>
            <a:pPr algn="ctr">
              <a:lnSpc>
                <a:spcPct val="95000"/>
              </a:lnSpc>
              <a:buNone/>
            </a:pPr>
            <a:r>
              <a:rPr lang="en-IN" sz="1200" b="1" dirty="0">
                <a:solidFill>
                  <a:srgbClr val="5B3E8E"/>
                </a:solidFill>
                <a:latin typeface="Calibri"/>
              </a:rPr>
              <a:t>PPO AGENT</a:t>
            </a:r>
          </a:p>
          <a:p>
            <a:pPr algn="ctr">
              <a:lnSpc>
                <a:spcPct val="95000"/>
              </a:lnSpc>
              <a:buNone/>
            </a:pPr>
            <a:r>
              <a:rPr lang="en-IN" sz="800" b="0" dirty="0">
                <a:solidFill>
                  <a:srgbClr val="5A4A70"/>
                </a:solidFill>
                <a:latin typeface="Calibri"/>
              </a:rPr>
              <a:t>MaskablePPO, MLP 256x256</a:t>
            </a:r>
          </a:p>
        </p:txBody>
      </p:sp>
      <p:sp>
        <p:nvSpPr>
          <p:cNvPr id="511" name="Box 511"/>
          <p:cNvSpPr/>
          <p:nvPr/>
        </p:nvSpPr>
        <p:spPr>
          <a:xfrm>
            <a:off x="1598198" y="3730000"/>
            <a:ext cx="2700000" cy="680000"/>
          </a:xfrm>
          <a:prstGeom prst="roundRect">
            <a:avLst>
              <a:gd name="adj" fmla="val 10000"/>
            </a:avLst>
          </a:prstGeom>
          <a:solidFill>
            <a:srgbClr val="E6EEF8"/>
          </a:solidFill>
          <a:ln w="12700">
            <a:solidFill>
              <a:srgbClr val="9BB4D6"/>
            </a:solidFill>
          </a:ln>
        </p:spPr>
        <p:txBody>
          <a:bodyPr anchor="ctr" lIns="91440" rIns="91440" tIns="45720" bIns="45720">
            <a:normAutofit/>
          </a:bodyPr>
          <a:lstStyle/>
          <a:p>
            <a:pPr algn="ctr">
              <a:lnSpc>
                <a:spcPct val="95000"/>
              </a:lnSpc>
              <a:buNone/>
            </a:pPr>
            <a:r>
              <a:rPr lang="en-IN" sz="1200" b="1" dirty="0">
                <a:solidFill>
                  <a:srgbClr val="1F4E79"/>
                </a:solidFill>
                <a:latin typeface="Calibri"/>
              </a:rPr>
              <a:t>SIMULATOR</a:t>
            </a:r>
          </a:p>
          <a:p>
            <a:pPr algn="ctr">
              <a:lnSpc>
                <a:spcPct val="95000"/>
              </a:lnSpc>
              <a:buNone/>
            </a:pPr>
            <a:r>
              <a:rPr lang="en-IN" sz="800" b="0" dirty="0">
                <a:solidFill>
                  <a:srgbClr val="3C5F80"/>
                </a:solidFill>
                <a:latin typeface="Calibri"/>
              </a:rPr>
              <a:t>demand, suppliers, warehouse, costs</a:t>
            </a:r>
          </a:p>
        </p:txBody>
      </p:sp>
      <p:sp>
        <p:nvSpPr>
          <p:cNvPr id="520" name="Arrow 520"/>
          <p:cNvSpPr/>
          <p:nvPr/>
        </p:nvSpPr>
        <p:spPr>
          <a:xfrm>
            <a:off x="1898198" y="3230000"/>
            <a:ext cx="170000" cy="480000"/>
          </a:xfrm>
          <a:prstGeom prst="downArrow">
            <a:avLst/>
          </a:prstGeom>
          <a:solidFill>
            <a:srgbClr val="9BB7A5"/>
          </a:solidFill>
          <a:ln>
            <a:noFill/>
          </a:ln>
        </p:spPr>
        <p:txBody>
          <a:bodyPr/>
          <a:lstStyle/>
          <a:p/>
        </p:txBody>
      </p:sp>
      <p:sp>
        <p:nvSpPr>
          <p:cNvPr id="521" name="Arrow 521"/>
          <p:cNvSpPr/>
          <p:nvPr/>
        </p:nvSpPr>
        <p:spPr>
          <a:xfrm>
            <a:off x="3828198" y="3230000"/>
            <a:ext cx="170000" cy="480000"/>
          </a:xfrm>
          <a:prstGeom prst="upArrow">
            <a:avLst/>
          </a:prstGeom>
          <a:solidFill>
            <a:srgbClr val="9BB7A5"/>
          </a:solidFill>
          <a:ln>
            <a:noFill/>
          </a:ln>
        </p:spPr>
        <p:txBody>
          <a:bodyPr/>
          <a:lstStyle/>
          <a:p/>
        </p:txBody>
      </p:sp>
      <p:sp>
        <p:nvSpPr>
          <p:cNvPr id="530" name="Text 530"/>
          <p:cNvSpPr txBox="1"/>
          <p:nvPr/>
        </p:nvSpPr>
        <p:spPr>
          <a:xfrm>
            <a:off x="2118198" y="3300000"/>
            <a:ext cx="800000" cy="380000"/>
          </a:xfrm>
          <a:prstGeom prst="rect">
            <a:avLst/>
          </a:prstGeom>
        </p:spPr>
        <p:txBody>
          <a:bodyPr wrap="square" lIns="0" rIns="0">
            <a:normAutofit/>
          </a:bodyPr>
          <a:lstStyle/>
          <a:p>
            <a:pPr lvl="0">
              <a:lnSpc>
                <a:spcPct val="100000"/>
              </a:lnSpc>
              <a:spcBef>
                <a:spcPts val="600"/>
              </a:spcBef>
              <a:buNone/>
            </a:pPr>
            <a:r>
              <a:rPr lang="en-IN" sz="950" b="1" dirty="0">
                <a:solidFill>
                  <a:srgbClr val="5B3E8E"/>
                </a:solidFill>
              </a:rPr>
              <a:t>action</a:t>
            </a:r>
          </a:p>
        </p:txBody>
      </p:sp>
      <p:sp>
        <p:nvSpPr>
          <p:cNvPr id="531" name="Text 531"/>
          <p:cNvSpPr txBox="1"/>
          <p:nvPr/>
        </p:nvSpPr>
        <p:spPr>
          <a:xfrm>
            <a:off x="2998198" y="3300000"/>
            <a:ext cx="780000" cy="380000"/>
          </a:xfrm>
          <a:prstGeom prst="rect">
            <a:avLst/>
          </a:prstGeom>
        </p:spPr>
        <p:txBody>
          <a:bodyPr wrap="square" lIns="0" rIns="0">
            <a:normAutofit/>
          </a:bodyPr>
          <a:lstStyle/>
          <a:p>
            <a:pPr lvl="0">
              <a:lnSpc>
                <a:spcPct val="100000"/>
              </a:lnSpc>
              <a:spcBef>
                <a:spcPts val="600"/>
              </a:spcBef>
              <a:buNone/>
            </a:pPr>
            <a:r>
              <a:rPr lang="en-IN" sz="950" b="1" dirty="0">
                <a:solidFill>
                  <a:srgbClr val="1F4E79"/>
                </a:solidFill>
              </a:rPr>
              <a:t>state + reward</a:t>
            </a:r>
          </a:p>
        </p:txBody>
      </p:sp>
      <p:sp>
        <p:nvSpPr>
          <p:cNvPr id="540" name="Box 540"/>
          <p:cNvSpPr/>
          <p:nvPr/>
        </p:nvSpPr>
        <p:spPr>
          <a:xfrm>
            <a:off x="6253798" y="2060000"/>
            <a:ext cx="5100000" cy="2440000"/>
          </a:xfrm>
          <a:prstGeom prst="roundRect">
            <a:avLst>
              <a:gd name="adj" fmla="val 10000"/>
            </a:avLst>
          </a:prstGeom>
          <a:solidFill>
            <a:srgbClr val="FBFCFB"/>
          </a:solidFill>
          <a:ln w="12700">
            <a:solidFill>
              <a:srgbClr val="E0E0E8"/>
            </a:solidFill>
          </a:ln>
        </p:spPr>
        <p:txBody>
          <a:bodyPr anchor="ctr" lIns="91440" rIns="91440" tIns="45720" bIns="45720">
            <a:normAutofit/>
          </a:bodyPr>
          <a:lstStyle/>
          <a:p/>
        </p:txBody>
      </p:sp>
      <p:sp>
        <p:nvSpPr>
          <p:cNvPr id="541" name="Text 541"/>
          <p:cNvSpPr txBox="1"/>
          <p:nvPr/>
        </p:nvSpPr>
        <p:spPr>
          <a:xfrm>
            <a:off x="6413798" y="2150000"/>
            <a:ext cx="4780000" cy="2260000"/>
          </a:xfrm>
          <a:prstGeom prst="rect">
            <a:avLst/>
          </a:prstGeom>
        </p:spPr>
        <p:txBody>
          <a:bodyPr wrap="square" lIns="0" rIns="0">
            <a:normAutofit/>
          </a:bodyPr>
          <a:lstStyle/>
          <a:p>
            <a:pPr lvl="0">
              <a:lnSpc>
                <a:spcPct val="100000"/>
              </a:lnSpc>
              <a:spcBef>
                <a:spcPts val="600"/>
              </a:spcBef>
              <a:buNone/>
            </a:pPr>
            <a:r>
              <a:rPr lang="en-IN" sz="1100" b="1" dirty="0">
                <a:solidFill>
                  <a:srgbClr val="0D5A28"/>
                </a:solidFill>
              </a:rPr>
              <a:t>Formal specification</a:t>
            </a:r>
          </a:p>
          <a:p>
            <a:pPr lvl="0">
              <a:lnSpc>
                <a:spcPct val="100000"/>
              </a:lnSpc>
              <a:spcBef>
                <a:spcPts val="600"/>
              </a:spcBef>
              <a:buNone/>
            </a:pPr>
            <a:r>
              <a:rPr lang="en-IN" sz="1000" b="0" dirty="0">
                <a:solidFill>
                  <a:srgbClr val="202020"/>
                </a:solidFill>
              </a:rPr>
              <a:t>State  -  88 values. Per product: stock, in transit, days of cover, 7-day mean, volatility, trend, backlog. Plus weekday, season, and each supplier's availability and recent fill rate.</a:t>
            </a:r>
          </a:p>
          <a:p>
            <a:pPr lvl="0">
              <a:lnSpc>
                <a:spcPct val="100000"/>
              </a:lnSpc>
              <a:spcBef>
                <a:spcPts val="600"/>
              </a:spcBef>
              <a:buNone/>
            </a:pPr>
            <a:r>
              <a:rPr lang="en-IN" sz="1000" b="0" dirty="0">
                <a:solidFill>
                  <a:srgbClr val="202020"/>
                </a:solidFill>
              </a:rPr>
              <a:t>Action  -  per product, one joint choice from 7 quantity buckets x 3 suppliers = 21 options. Joint rather than separate: how much to order and who to order it from are not independent.</a:t>
            </a:r>
          </a:p>
          <a:p>
            <a:pPr lvl="0">
              <a:lnSpc>
                <a:spcPct val="100000"/>
              </a:lnSpc>
              <a:spcBef>
                <a:spcPts val="600"/>
              </a:spcBef>
              <a:buNone/>
            </a:pPr>
            <a:r>
              <a:rPr lang="en-IN" sz="1000" b="0" dirty="0">
                <a:solidFill>
                  <a:srgbClr val="202020"/>
                </a:solidFill>
              </a:rPr>
              <a:t>Reward  -  that day's profit: revenue less purchase, holding, ordering, lost-sale and overflow costs. Episode: 180 days.</a:t>
            </a:r>
          </a:p>
          <a:p>
            <a:pPr lvl="0">
              <a:lnSpc>
                <a:spcPct val="100000"/>
              </a:lnSpc>
              <a:spcBef>
                <a:spcPts val="600"/>
              </a:spcBef>
              <a:buNone/>
            </a:pPr>
            <a:r>
              <a:rPr lang="en-IN" sz="1000" b="1" dirty="0">
                <a:solidFill>
                  <a:srgbClr val="5B3E8E"/>
                </a:solidFill>
              </a:rPr>
              <a:t>Action masking  -  suppliers in outage and orders exceeding free capacity are blocked before the agent chooses. Worth about 3x on its own.</a:t>
            </a:r>
          </a:p>
        </p:txBody>
      </p:sp>
      <p:sp>
        <p:nvSpPr>
          <p:cNvPr id="550" name="Box 550"/>
          <p:cNvSpPr/>
          <p:nvPr/>
        </p:nvSpPr>
        <p:spPr>
          <a:xfrm>
            <a:off x="838198" y="4560000"/>
            <a:ext cx="10515600" cy="1150000"/>
          </a:xfrm>
          <a:prstGeom prst="roundRect">
            <a:avLst>
              <a:gd name="adj" fmla="val 10000"/>
            </a:avLst>
          </a:prstGeom>
          <a:solidFill>
            <a:srgbClr val="F2F7F3"/>
          </a:solidFill>
          <a:ln w="12700">
            <a:solidFill>
              <a:srgbClr val="C8D8CC"/>
            </a:solidFill>
          </a:ln>
        </p:spPr>
        <p:txBody>
          <a:bodyPr anchor="ctr" lIns="91440" rIns="91440" tIns="45720" bIns="45720">
            <a:normAutofit/>
          </a:bodyPr>
          <a:lstStyle/>
          <a:p/>
        </p:txBody>
      </p:sp>
      <p:sp>
        <p:nvSpPr>
          <p:cNvPr id="551" name="Text 551"/>
          <p:cNvSpPr txBox="1"/>
          <p:nvPr/>
        </p:nvSpPr>
        <p:spPr>
          <a:xfrm>
            <a:off x="998198" y="4650000"/>
            <a:ext cx="10195600" cy="970000"/>
          </a:xfrm>
          <a:prstGeom prst="rect">
            <a:avLst/>
          </a:prstGeom>
        </p:spPr>
        <p:txBody>
          <a:bodyPr wrap="square" lIns="0" rIns="0">
            <a:normAutofit/>
          </a:bodyPr>
          <a:lstStyle/>
          <a:p>
            <a:pPr lvl="0">
              <a:lnSpc>
                <a:spcPct val="100000"/>
              </a:lnSpc>
              <a:spcBef>
                <a:spcPts val="600"/>
              </a:spcBef>
              <a:buNone/>
            </a:pPr>
            <a:r>
              <a:rPr lang="en-IN" sz="1200" b="1" dirty="0">
                <a:solidFill>
                  <a:srgbClr val="0D5A28"/>
                </a:solidFill>
              </a:rPr>
              <a:t>Why the comparison is fair</a:t>
            </a:r>
          </a:p>
          <a:p>
            <a:pPr lvl="0">
              <a:lnSpc>
                <a:spcPct val="100000"/>
              </a:lnSpc>
              <a:spcBef>
                <a:spcPts val="600"/>
              </a:spcBef>
              <a:buNone/>
            </a:pPr>
            <a:r>
              <a:rPr lang="en-IN" sz="1150" b="0" dirty="0">
                <a:solidFill>
                  <a:srgbClr val="202020"/>
                </a:solidFill>
              </a:rPr>
              <a:t>The four classical policies are grid-search tuned rather than left at textbook defaults, plug into the same environment, face the same customers on the same seeds, and choose from the same 21 options. All policies are then scored on 30 held-out seeds, disjoint from every seed used for tuning or checkpoint selection, and compared with a paired test.</a:t>
            </a:r>
          </a:p>
        </p:txBody>
      </p:sp>
    </p:spTree>
    <p:extLst>
      <p:ext uri="{BB962C8B-B14F-4D97-AF65-F5344CB8AC3E}">
        <p14:creationId xmlns:p14="http://schemas.microsoft.com/office/powerpoint/2010/main" val="3419591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A7BA1-2D3F-CBF5-3283-B58419CEEF59}"/>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DB118F1-5011-A297-C107-1DE5F9D6A1F4}"/>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F458056F-7DE4-805F-9FB6-69C95AE90453}"/>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5FCE07F8-E24C-FA5A-7EE6-59693EC4FE00}"/>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24B9AC-70A1-80E0-22B8-64D37BC7013B}"/>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Dataset Description</a:t>
            </a:r>
            <a:endParaRPr lang="en-IN" dirty="0"/>
          </a:p>
        </p:txBody>
      </p:sp>
      <p:sp>
        <p:nvSpPr>
          <p:cNvPr id="3" name="Content Placeholder 2">
            <a:extLst>
              <a:ext uri="{FF2B5EF4-FFF2-40B4-BE49-F238E27FC236}">
                <a16:creationId xmlns:a16="http://schemas.microsoft.com/office/drawing/2014/main" id="{ABD676D6-3EAC-F431-960A-F84B4D496E1F}"/>
              </a:ext>
            </a:extLst>
          </p:cNvPr>
          <p:cNvSpPr>
            <a:spLocks noGrp="1"/>
          </p:cNvSpPr>
          <p:nvPr>
            <p:ph idx="1"/>
          </p:nvPr>
        </p:nvSpPr>
        <p:spPr>
          <a:xfrm>
            <a:off x="838198" y="1594415"/>
            <a:ext cx="5750000" cy="4351338"/>
          </a:xfrm>
        </p:spPr>
        <p:txBody>
          <a:bodyPr>
            <a:normAutofit/>
          </a:bodyPr>
          <a:lstStyle/>
          <a:p>
            <a:pPr lvl="0">
              <a:lnSpc>
                <a:spcPct val="100000"/>
              </a:lnSpc>
              <a:spcBef>
                <a:spcPts val="600"/>
              </a:spcBef>
            </a:pPr>
            <a:r>
              <a:rPr lang="en-IN" sz="1450" b="0" dirty="0"/>
              <a:t>UCI Online Retail II: about 1 million transaction lines from a UK gift retailer, Dec 2009 - Dec 2011.</a:t>
            </a:r>
          </a:p>
          <a:p>
            <a:pPr lvl="0">
              <a:lnSpc>
                <a:spcPct val="100000"/>
              </a:lnSpc>
              <a:spcBef>
                <a:spcPts val="600"/>
              </a:spcBef>
            </a:pPr>
            <a:r>
              <a:rPr lang="en-IN" sz="1450" b="0" dirty="0"/>
              <a:t>Cleaning: cancellations, returns, negative quantities and missing product codes removed. Saturdays dropped entirely, as the retailer never traded then; zero-filling would teach a false weekly collapse.</a:t>
            </a:r>
          </a:p>
          <a:p>
            <a:pPr lvl="0">
              <a:lnSpc>
                <a:spcPct val="100000"/>
              </a:lnSpc>
              <a:spcBef>
                <a:spcPts val="600"/>
              </a:spcBef>
            </a:pPr>
            <a:r>
              <a:rPr lang="en-IN" sz="1450" b="0" dirty="0"/>
              <a:t>10 SKUs selected to span three demand regimes, so that no single fixed rule can serve them all.</a:t>
            </a:r>
          </a:p>
          <a:p>
            <a:pPr lvl="1">
              <a:lnSpc>
                <a:spcPct val="100000"/>
              </a:lnSpc>
              <a:spcBef>
                <a:spcPts val="600"/>
              </a:spcBef>
            </a:pPr>
            <a:r>
              <a:rPr lang="en-IN" sz="1300" b="0" dirty="0"/>
              <a:t>steady (CV 1.02-1.20), moderate (1.29-1.65), bursty (2.09-2.34)</a:t>
            </a:r>
          </a:p>
          <a:p>
            <a:pPr lvl="0">
              <a:lnSpc>
                <a:spcPct val="100000"/>
              </a:lnSpc>
              <a:spcBef>
                <a:spcPts val="600"/>
              </a:spcBef>
            </a:pPr>
            <a:r>
              <a:rPr lang="en-IN" sz="1450" b="0" dirty="0"/>
              <a:t>Calibrated only on data before 1 June 2011; later data is held back.</a:t>
            </a:r>
          </a:p>
          <a:p>
            <a:pPr lvl="0">
              <a:lnSpc>
                <a:spcPct val="100000"/>
              </a:lnSpc>
              <a:spcBef>
                <a:spcPts val="600"/>
              </a:spcBef>
            </a:pPr>
            <a:r>
              <a:rPr lang="en-IN" sz="1450" b="0" dirty="0"/>
              <a:t>Demand model: Gamma-Poisson (negative binomial), because variance is about 216x the mean.</a:t>
            </a:r>
          </a:p>
          <a:p>
            <a:pPr lvl="0">
              <a:lnSpc>
                <a:spcPct val="100000"/>
              </a:lnSpc>
              <a:spcBef>
                <a:spcPts val="600"/>
              </a:spcBef>
            </a:pPr>
            <a:r>
              <a:rPr lang="en-IN" sz="1450" b="1" dirty="0"/>
              <a:t>A second dataset (Kaggle retail inventory) was screened and rejected: it showed no weekday effect and no seasonality, i.e. synthetic noise.</a:t>
            </a:r>
          </a:p>
        </p:txBody>
      </p:sp>
      <p:sp>
        <p:nvSpPr>
          <p:cNvPr id="19" name="Slide Number Placeholder 18">
            <a:extLst>
              <a:ext uri="{FF2B5EF4-FFF2-40B4-BE49-F238E27FC236}">
                <a16:creationId xmlns:a16="http://schemas.microsoft.com/office/drawing/2014/main" id="{2AB7C2FA-097C-CF4B-B19E-0C400E88D01C}"/>
              </a:ext>
            </a:extLst>
          </p:cNvPr>
          <p:cNvSpPr>
            <a:spLocks noGrp="1"/>
          </p:cNvSpPr>
          <p:nvPr>
            <p:ph type="sldNum" sz="quarter" idx="12"/>
          </p:nvPr>
        </p:nvSpPr>
        <p:spPr/>
        <p:txBody>
          <a:bodyPr/>
          <a:lstStyle/>
          <a:p>
            <a:fld id="{C2216105-7B7A-4C42-B2A1-5E9A2FA4F8FD}" type="slidenum">
              <a:rPr lang="en-IN" smtClean="0"/>
              <a:t>9</a:t>
            </a:fld>
            <a:endParaRPr lang="en-IN" dirty="0"/>
          </a:p>
        </p:txBody>
      </p:sp>
      <p:pic>
        <p:nvPicPr>
          <p:cNvPr id="50" name="Picture 50"/>
          <p:cNvPicPr>
            <a:picLocks noChangeAspect="1"/>
          </p:cNvPicPr>
          <p:nvPr/>
        </p:nvPicPr>
        <p:blipFill>
          <a:blip r:embed="rIdFig"/>
          <a:stretch>
            <a:fillRect/>
          </a:stretch>
        </p:blipFill>
        <p:spPr>
          <a:xfrm>
            <a:off x="6750000" y="1900000"/>
            <a:ext cx="4600000" cy="3019000"/>
          </a:xfrm>
          <a:prstGeom prst="rect">
            <a:avLst/>
          </a:prstGeom>
          <a:ln w="9525">
            <a:solidFill>
              <a:srgbClr val="C8D8CC"/>
            </a:solidFill>
          </a:ln>
        </p:spPr>
      </p:pic>
    </p:spTree>
    <p:extLst>
      <p:ext uri="{BB962C8B-B14F-4D97-AF65-F5344CB8AC3E}">
        <p14:creationId xmlns:p14="http://schemas.microsoft.com/office/powerpoint/2010/main" val="3382749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DB5D5-E538-6EAD-DBBF-7D6AB339437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CACC2E4E-BF37-B94F-1EE1-DE028BA56A77}"/>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0D3E989A-D8A7-8B9E-77DB-1DEA27415E70}"/>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3B327B57-619E-223C-0549-247D163FC982}"/>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6FFE79A-59E9-BF22-968D-B970BA5831C7}"/>
              </a:ext>
            </a:extLst>
          </p:cNvPr>
          <p:cNvSpPr>
            <a:spLocks noGrp="1"/>
          </p:cNvSpPr>
          <p:nvPr>
            <p:ph type="title"/>
          </p:nvPr>
        </p:nvSpPr>
        <p:spPr>
          <a:xfrm>
            <a:off x="838198" y="-201435"/>
            <a:ext cx="10515600" cy="1325563"/>
          </a:xfrm>
        </p:spPr>
        <p:txBody>
          <a:bodyPr>
            <a:normAutofit/>
          </a:bodyPr>
          <a:lstStyle/>
          <a:p>
            <a:br>
              <a:rPr lang="en-IN" dirty="0">
                <a:solidFill>
                  <a:schemeClr val="accent1">
                    <a:lumMod val="50000"/>
                  </a:schemeClr>
                </a:solidFill>
              </a:rPr>
            </a:br>
            <a:r>
              <a:rPr lang="en-IN" dirty="0">
                <a:solidFill>
                  <a:schemeClr val="accent1">
                    <a:lumMod val="50000"/>
                  </a:schemeClr>
                </a:solidFill>
              </a:rPr>
              <a:t>Preliminary Results and Discussion</a:t>
            </a:r>
          </a:p>
        </p:txBody>
      </p:sp>
      <p:sp>
        <p:nvSpPr>
          <p:cNvPr id="3" name="Content Placeholder 2">
            <a:extLst>
              <a:ext uri="{FF2B5EF4-FFF2-40B4-BE49-F238E27FC236}">
                <a16:creationId xmlns:a16="http://schemas.microsoft.com/office/drawing/2014/main" id="{D7D38E73-C293-323C-82A1-410D592623AF}"/>
              </a:ext>
            </a:extLst>
          </p:cNvPr>
          <p:cNvSpPr>
            <a:spLocks noGrp="1"/>
          </p:cNvSpPr>
          <p:nvPr>
            <p:ph idx="1"/>
          </p:nvPr>
        </p:nvSpPr>
        <p:spPr>
          <a:xfrm>
            <a:off x="838198" y="1594415"/>
            <a:ext cx="10515600" cy="620000"/>
          </a:xfrm>
        </p:spPr>
        <p:txBody>
          <a:bodyPr>
            <a:normAutofit/>
          </a:bodyPr>
          <a:lstStyle/>
          <a:p>
            <a:pPr lvl="0">
              <a:lnSpc>
                <a:spcPct val="100000"/>
              </a:lnSpc>
              <a:spcBef>
                <a:spcPts val="600"/>
              </a:spcBef>
              <a:buNone/>
            </a:pPr>
            <a:r>
              <a:rPr lang="en-IN" sz="1400" b="0" dirty="0"/>
              <a:t>All five classical policies were tuned by grid search on 12 separate seeds, then scored on 30 held-out seeds. Profit is per 180-day run, in rupees (1 GBP = ₹105; the data is from a UK shop).</a:t>
            </a:r>
          </a:p>
        </p:txBody>
      </p:sp>
      <p:sp>
        <p:nvSpPr>
          <p:cNvPr id="19" name="Slide Number Placeholder 18">
            <a:extLst>
              <a:ext uri="{FF2B5EF4-FFF2-40B4-BE49-F238E27FC236}">
                <a16:creationId xmlns:a16="http://schemas.microsoft.com/office/drawing/2014/main" id="{F3ECEB24-037D-480E-BEF3-B3BC14649385}"/>
              </a:ext>
            </a:extLst>
          </p:cNvPr>
          <p:cNvSpPr>
            <a:spLocks noGrp="1"/>
          </p:cNvSpPr>
          <p:nvPr>
            <p:ph type="sldNum" sz="quarter" idx="12"/>
          </p:nvPr>
        </p:nvSpPr>
        <p:spPr/>
        <p:txBody>
          <a:bodyPr/>
          <a:lstStyle/>
          <a:p>
            <a:fld id="{C2216105-7B7A-4C42-B2A1-5E9A2FA4F8FD}" type="slidenum">
              <a:rPr lang="en-IN" smtClean="0"/>
              <a:t>10</a:t>
            </a:fld>
            <a:endParaRPr lang="en-IN" dirty="0"/>
          </a:p>
        </p:txBody>
      </p:sp>
      <p:graphicFrame>
        <p:nvGraphicFramePr>
          <p:cNvPr id="41" name="Table 41"/>
          <p:cNvGraphicFramePr>
            <a:graphicFrameLocks noGrp="1"/>
          </p:cNvGraphicFramePr>
          <p:nvPr/>
        </p:nvGraphicFramePr>
        <p:xfrm>
          <a:off x="838198" y="2300000"/>
          <a:ext cx="10500000" cy="3010000"/>
        </p:xfrm>
        <a:graphic>
          <a:graphicData uri="http://schemas.openxmlformats.org/drawingml/2006/table">
            <a:tbl>
              <a:tblPr firstRow="1" bandRow="1">
                <a:tableStyleId>{5C22544A-7EE6-4342-B048-85BDC9FD1C3A}</a:tableStyleId>
              </a:tblPr>
              <a:tblGrid>
                <a:gridCol w="2900000"/>
                <a:gridCol w="1500000"/>
                <a:gridCol w="1350000"/>
                <a:gridCol w="1400000"/>
                <a:gridCol w="1750000"/>
                <a:gridCol w="1600000"/>
              </a:tblGrid>
              <a:tr h="430000">
                <a:tc>
                  <a:txBody>
                    <a:bodyPr/>
                    <a:lstStyle/>
                    <a:p>
                      <a:pPr algn="l"/>
                      <a:r>
                        <a:rPr lang="en-IN" sz="1200" b="1" dirty="0">
                          <a:solidFill>
                            <a:srgbClr val="FFFFFF"/>
                          </a:solidFill>
                        </a:rPr>
                        <a:t>Method</a:t>
                      </a:r>
                    </a:p>
                  </a:txBody>
                  <a:tcPr marL="68580" marR="68580" marT="34290" marB="34290" anchor="ctr">
                    <a:solidFill>
                      <a:srgbClr val="1A9B46"/>
                    </a:solidFill>
                  </a:tcPr>
                </a:tc>
                <a:tc>
                  <a:txBody>
                    <a:bodyPr/>
                    <a:lstStyle/>
                    <a:p>
                      <a:pPr algn="l"/>
                      <a:r>
                        <a:rPr lang="en-IN" sz="1200" b="1" dirty="0">
                          <a:solidFill>
                            <a:srgbClr val="FFFFFF"/>
                          </a:solidFill>
                        </a:rPr>
                        <a:t>Profit</a:t>
                      </a:r>
                    </a:p>
                  </a:txBody>
                  <a:tcPr marL="68580" marR="68580" marT="34290" marB="34290" anchor="ctr">
                    <a:solidFill>
                      <a:srgbClr val="1A9B46"/>
                    </a:solidFill>
                  </a:tcPr>
                </a:tc>
                <a:tc>
                  <a:txBody>
                    <a:bodyPr/>
                    <a:lstStyle/>
                    <a:p>
                      <a:pPr algn="l"/>
                      <a:r>
                        <a:rPr lang="en-IN" sz="1200" b="1" dirty="0">
                          <a:solidFill>
                            <a:srgbClr val="FFFFFF"/>
                          </a:solidFill>
                        </a:rPr>
                        <a:t>Spread</a:t>
                      </a:r>
                    </a:p>
                  </a:txBody>
                  <a:tcPr marL="68580" marR="68580" marT="34290" marB="34290" anchor="ctr">
                    <a:solidFill>
                      <a:srgbClr val="1A9B46"/>
                    </a:solidFill>
                  </a:tcPr>
                </a:tc>
                <a:tc>
                  <a:txBody>
                    <a:bodyPr/>
                    <a:lstStyle/>
                    <a:p>
                      <a:pPr algn="l"/>
                      <a:r>
                        <a:rPr lang="en-IN" sz="1200" b="1" dirty="0">
                          <a:solidFill>
                            <a:srgbClr val="FFFFFF"/>
                          </a:solidFill>
                        </a:rPr>
                        <a:t>Fill rate</a:t>
                      </a:r>
                    </a:p>
                  </a:txBody>
                  <a:tcPr marL="68580" marR="68580" marT="34290" marB="34290" anchor="ctr">
                    <a:solidFill>
                      <a:srgbClr val="1A9B46"/>
                    </a:solidFill>
                  </a:tcPr>
                </a:tc>
                <a:tc>
                  <a:txBody>
                    <a:bodyPr/>
                    <a:lstStyle/>
                    <a:p>
                      <a:pPr algn="l"/>
                      <a:r>
                        <a:rPr lang="en-IN" sz="1200" b="1" dirty="0">
                          <a:solidFill>
                            <a:srgbClr val="FFFFFF"/>
                          </a:solidFill>
                        </a:rPr>
                        <a:t>Stockout cost</a:t>
                      </a:r>
                    </a:p>
                  </a:txBody>
                  <a:tcPr marL="68580" marR="68580" marT="34290" marB="34290" anchor="ctr">
                    <a:solidFill>
                      <a:srgbClr val="1A9B46"/>
                    </a:solidFill>
                  </a:tcPr>
                </a:tc>
                <a:tc>
                  <a:txBody>
                    <a:bodyPr/>
                    <a:lstStyle/>
                    <a:p>
                      <a:pPr algn="l"/>
                      <a:r>
                        <a:rPr lang="en-IN" sz="1200" b="1" dirty="0">
                          <a:solidFill>
                            <a:srgbClr val="FFFFFF"/>
                          </a:solidFill>
                        </a:rPr>
                        <a:t>Ordering fees</a:t>
                      </a:r>
                    </a:p>
                  </a:txBody>
                  <a:tcPr marL="68580" marR="68580" marT="34290" marB="34290" anchor="ctr">
                    <a:solidFill>
                      <a:srgbClr val="1A9B46"/>
                    </a:solidFill>
                  </a:tcPr>
                </a:tc>
              </a:tr>
              <a:tr h="430000">
                <a:tc>
                  <a:txBody>
                    <a:bodyPr/>
                    <a:lstStyle/>
                    <a:p>
                      <a:pPr algn="l"/>
                      <a:r>
                        <a:rPr lang="en-IN" sz="1200" b="0" dirty="0">
                          <a:solidFill>
                            <a:srgbClr val="202020"/>
                          </a:solidFill>
                        </a:rPr>
                        <a:t>forecast + safety stock</a:t>
                      </a:r>
                    </a:p>
                  </a:txBody>
                  <a:tcPr marL="68580" marR="68580" marT="34290" marB="34290" anchor="ctr"/>
                </a:tc>
                <a:tc>
                  <a:txBody>
                    <a:bodyPr/>
                    <a:lstStyle/>
                    <a:p>
                      <a:pPr algn="l"/>
                      <a:r>
                        <a:rPr lang="en-IN" sz="1200" b="0" dirty="0">
                          <a:solidFill>
                            <a:srgbClr val="202020"/>
                          </a:solidFill>
                        </a:rPr>
                        <a:t>₹87.8 lakh</a:t>
                      </a:r>
                    </a:p>
                  </a:txBody>
                  <a:tcPr marL="68580" marR="68580" marT="34290" marB="34290" anchor="ctr"/>
                </a:tc>
                <a:tc>
                  <a:txBody>
                    <a:bodyPr/>
                    <a:lstStyle/>
                    <a:p>
                      <a:pPr algn="l"/>
                      <a:r>
                        <a:rPr lang="en-IN" sz="1200" b="0" dirty="0">
                          <a:solidFill>
                            <a:srgbClr val="202020"/>
                          </a:solidFill>
                        </a:rPr>
                        <a:t>₹4.6 lakh</a:t>
                      </a:r>
                    </a:p>
                  </a:txBody>
                  <a:tcPr marL="68580" marR="68580" marT="34290" marB="34290" anchor="ctr"/>
                </a:tc>
                <a:tc>
                  <a:txBody>
                    <a:bodyPr/>
                    <a:lstStyle/>
                    <a:p>
                      <a:pPr algn="l"/>
                      <a:r>
                        <a:rPr lang="en-IN" sz="1200" b="0" dirty="0">
                          <a:solidFill>
                            <a:srgbClr val="202020"/>
                          </a:solidFill>
                        </a:rPr>
                        <a:t>97.9%</a:t>
                      </a:r>
                    </a:p>
                  </a:txBody>
                  <a:tcPr marL="68580" marR="68580" marT="34290" marB="34290" anchor="ctr"/>
                </a:tc>
                <a:tc>
                  <a:txBody>
                    <a:bodyPr/>
                    <a:lstStyle/>
                    <a:p>
                      <a:pPr algn="l"/>
                      <a:r>
                        <a:rPr lang="en-IN" sz="1200" b="0" dirty="0">
                          <a:solidFill>
                            <a:srgbClr val="202020"/>
                          </a:solidFill>
                        </a:rPr>
                        <a:t>₹6.1 lakh</a:t>
                      </a:r>
                    </a:p>
                  </a:txBody>
                  <a:tcPr marL="68580" marR="68580" marT="34290" marB="34290" anchor="ctr"/>
                </a:tc>
                <a:tc>
                  <a:txBody>
                    <a:bodyPr/>
                    <a:lstStyle/>
                    <a:p>
                      <a:pPr algn="l"/>
                      <a:r>
                        <a:rPr lang="en-IN" sz="1200" b="0" dirty="0">
                          <a:solidFill>
                            <a:srgbClr val="202020"/>
                          </a:solidFill>
                        </a:rPr>
                        <a:t>₹2.9 lakh</a:t>
                      </a:r>
                    </a:p>
                  </a:txBody>
                  <a:tcPr marL="68580" marR="68580" marT="34290" marB="34290" anchor="ctr"/>
                </a:tc>
              </a:tr>
              <a:tr h="430000">
                <a:tc>
                  <a:txBody>
                    <a:bodyPr/>
                    <a:lstStyle/>
                    <a:p>
                      <a:pPr algn="l"/>
                      <a:r>
                        <a:rPr lang="en-IN" sz="1200" b="0" dirty="0">
                          <a:solidFill>
                            <a:srgbClr val="202020"/>
                          </a:solidFill>
                        </a:rPr>
                        <a:t>newsvendor</a:t>
                      </a:r>
                    </a:p>
                  </a:txBody>
                  <a:tcPr marL="68580" marR="68580" marT="34290" marB="34290" anchor="ctr">
                    <a:solidFill>
                      <a:srgbClr val="F2F7F3"/>
                    </a:solidFill>
                  </a:tcPr>
                </a:tc>
                <a:tc>
                  <a:txBody>
                    <a:bodyPr/>
                    <a:lstStyle/>
                    <a:p>
                      <a:pPr algn="l"/>
                      <a:r>
                        <a:rPr lang="en-IN" sz="1200" b="0" dirty="0">
                          <a:solidFill>
                            <a:srgbClr val="202020"/>
                          </a:solidFill>
                        </a:rPr>
                        <a:t>₹86.2 lakh</a:t>
                      </a:r>
                    </a:p>
                  </a:txBody>
                  <a:tcPr marL="68580" marR="68580" marT="34290" marB="34290" anchor="ctr">
                    <a:solidFill>
                      <a:srgbClr val="F2F7F3"/>
                    </a:solidFill>
                  </a:tcPr>
                </a:tc>
                <a:tc>
                  <a:txBody>
                    <a:bodyPr/>
                    <a:lstStyle/>
                    <a:p>
                      <a:pPr algn="l"/>
                      <a:r>
                        <a:rPr lang="en-IN" sz="1200" b="0" dirty="0">
                          <a:solidFill>
                            <a:srgbClr val="202020"/>
                          </a:solidFill>
                        </a:rPr>
                        <a:t>₹4.4 lakh</a:t>
                      </a:r>
                    </a:p>
                  </a:txBody>
                  <a:tcPr marL="68580" marR="68580" marT="34290" marB="34290" anchor="ctr">
                    <a:solidFill>
                      <a:srgbClr val="F2F7F3"/>
                    </a:solidFill>
                  </a:tcPr>
                </a:tc>
                <a:tc>
                  <a:txBody>
                    <a:bodyPr/>
                    <a:lstStyle/>
                    <a:p>
                      <a:pPr algn="l"/>
                      <a:r>
                        <a:rPr lang="en-IN" sz="1200" b="0" dirty="0">
                          <a:solidFill>
                            <a:srgbClr val="202020"/>
                          </a:solidFill>
                        </a:rPr>
                        <a:t>98.0%</a:t>
                      </a:r>
                    </a:p>
                  </a:txBody>
                  <a:tcPr marL="68580" marR="68580" marT="34290" marB="34290" anchor="ctr">
                    <a:solidFill>
                      <a:srgbClr val="F2F7F3"/>
                    </a:solidFill>
                  </a:tcPr>
                </a:tc>
                <a:tc>
                  <a:txBody>
                    <a:bodyPr/>
                    <a:lstStyle/>
                    <a:p>
                      <a:pPr algn="l"/>
                      <a:r>
                        <a:rPr lang="en-IN" sz="1200" b="0" dirty="0">
                          <a:solidFill>
                            <a:srgbClr val="202020"/>
                          </a:solidFill>
                        </a:rPr>
                        <a:t>₹7.4 lakh</a:t>
                      </a:r>
                    </a:p>
                  </a:txBody>
                  <a:tcPr marL="68580" marR="68580" marT="34290" marB="34290" anchor="ctr">
                    <a:solidFill>
                      <a:srgbClr val="F2F7F3"/>
                    </a:solidFill>
                  </a:tcPr>
                </a:tc>
                <a:tc>
                  <a:txBody>
                    <a:bodyPr/>
                    <a:lstStyle/>
                    <a:p>
                      <a:pPr algn="l"/>
                      <a:r>
                        <a:rPr lang="en-IN" sz="1200" b="0" dirty="0">
                          <a:solidFill>
                            <a:srgbClr val="202020"/>
                          </a:solidFill>
                        </a:rPr>
                        <a:t>₹3.4 lakh</a:t>
                      </a:r>
                    </a:p>
                  </a:txBody>
                  <a:tcPr marL="68580" marR="68580" marT="34290" marB="34290" anchor="ctr">
                    <a:solidFill>
                      <a:srgbClr val="F2F7F3"/>
                    </a:solidFill>
                  </a:tcPr>
                </a:tc>
              </a:tr>
              <a:tr h="430000">
                <a:tc>
                  <a:txBody>
                    <a:bodyPr/>
                    <a:lstStyle/>
                    <a:p>
                      <a:pPr algn="l"/>
                      <a:r>
                        <a:rPr lang="en-IN" sz="1200" b="0" dirty="0">
                          <a:solidFill>
                            <a:srgbClr val="202020"/>
                          </a:solidFill>
                        </a:rPr>
                        <a:t>EOQ + reorder point</a:t>
                      </a:r>
                    </a:p>
                  </a:txBody>
                  <a:tcPr marL="68580" marR="68580" marT="34290" marB="34290" anchor="ctr"/>
                </a:tc>
                <a:tc>
                  <a:txBody>
                    <a:bodyPr/>
                    <a:lstStyle/>
                    <a:p>
                      <a:pPr algn="l"/>
                      <a:r>
                        <a:rPr lang="en-IN" sz="1200" b="0" dirty="0">
                          <a:solidFill>
                            <a:srgbClr val="202020"/>
                          </a:solidFill>
                        </a:rPr>
                        <a:t>₹75.9 lakh</a:t>
                      </a:r>
                    </a:p>
                  </a:txBody>
                  <a:tcPr marL="68580" marR="68580" marT="34290" marB="34290" anchor="ctr"/>
                </a:tc>
                <a:tc>
                  <a:txBody>
                    <a:bodyPr/>
                    <a:lstStyle/>
                    <a:p>
                      <a:pPr algn="l"/>
                      <a:r>
                        <a:rPr lang="en-IN" sz="1200" b="0" dirty="0">
                          <a:solidFill>
                            <a:srgbClr val="202020"/>
                          </a:solidFill>
                        </a:rPr>
                        <a:t>₹7.4 lakh</a:t>
                      </a:r>
                    </a:p>
                  </a:txBody>
                  <a:tcPr marL="68580" marR="68580" marT="34290" marB="34290" anchor="ctr"/>
                </a:tc>
                <a:tc>
                  <a:txBody>
                    <a:bodyPr/>
                    <a:lstStyle/>
                    <a:p>
                      <a:pPr algn="l"/>
                      <a:r>
                        <a:rPr lang="en-IN" sz="1200" b="0" dirty="0">
                          <a:solidFill>
                            <a:srgbClr val="202020"/>
                          </a:solidFill>
                        </a:rPr>
                        <a:t>96.8%</a:t>
                      </a:r>
                    </a:p>
                  </a:txBody>
                  <a:tcPr marL="68580" marR="68580" marT="34290" marB="34290" anchor="ctr"/>
                </a:tc>
                <a:tc>
                  <a:txBody>
                    <a:bodyPr/>
                    <a:lstStyle/>
                    <a:p>
                      <a:pPr algn="l"/>
                      <a:r>
                        <a:rPr lang="en-IN" sz="1200" b="0" dirty="0">
                          <a:solidFill>
                            <a:srgbClr val="202020"/>
                          </a:solidFill>
                        </a:rPr>
                        <a:t>₹10.5 lakh</a:t>
                      </a:r>
                    </a:p>
                  </a:txBody>
                  <a:tcPr marL="68580" marR="68580" marT="34290" marB="34290" anchor="ctr"/>
                </a:tc>
                <a:tc>
                  <a:txBody>
                    <a:bodyPr/>
                    <a:lstStyle/>
                    <a:p>
                      <a:pPr algn="l"/>
                      <a:r>
                        <a:rPr lang="en-IN" sz="1200" b="0" dirty="0">
                          <a:solidFill>
                            <a:srgbClr val="202020"/>
                          </a:solidFill>
                        </a:rPr>
                        <a:t>₹2.8 lakh</a:t>
                      </a:r>
                    </a:p>
                  </a:txBody>
                  <a:tcPr marL="68580" marR="68580" marT="34290" marB="34290" anchor="ctr"/>
                </a:tc>
              </a:tr>
              <a:tr h="430000">
                <a:tc>
                  <a:txBody>
                    <a:bodyPr/>
                    <a:lstStyle/>
                    <a:p>
                      <a:pPr algn="l"/>
                      <a:r>
                        <a:rPr lang="en-IN" sz="1200" b="0" dirty="0">
                          <a:solidFill>
                            <a:srgbClr val="202020"/>
                          </a:solidFill>
                        </a:rPr>
                        <a:t>(s, S) policy</a:t>
                      </a:r>
                    </a:p>
                  </a:txBody>
                  <a:tcPr marL="68580" marR="68580" marT="34290" marB="34290" anchor="ctr">
                    <a:solidFill>
                      <a:srgbClr val="F2F7F3"/>
                    </a:solidFill>
                  </a:tcPr>
                </a:tc>
                <a:tc>
                  <a:txBody>
                    <a:bodyPr/>
                    <a:lstStyle/>
                    <a:p>
                      <a:pPr algn="l"/>
                      <a:r>
                        <a:rPr lang="en-IN" sz="1200" b="0" dirty="0">
                          <a:solidFill>
                            <a:srgbClr val="202020"/>
                          </a:solidFill>
                        </a:rPr>
                        <a:t>₹73.9 lakh</a:t>
                      </a:r>
                    </a:p>
                  </a:txBody>
                  <a:tcPr marL="68580" marR="68580" marT="34290" marB="34290" anchor="ctr">
                    <a:solidFill>
                      <a:srgbClr val="F2F7F3"/>
                    </a:solidFill>
                  </a:tcPr>
                </a:tc>
                <a:tc>
                  <a:txBody>
                    <a:bodyPr/>
                    <a:lstStyle/>
                    <a:p>
                      <a:pPr algn="l"/>
                      <a:r>
                        <a:rPr lang="en-IN" sz="1200" b="0" dirty="0">
                          <a:solidFill>
                            <a:srgbClr val="202020"/>
                          </a:solidFill>
                        </a:rPr>
                        <a:t>₹7.1 lakh</a:t>
                      </a:r>
                    </a:p>
                  </a:txBody>
                  <a:tcPr marL="68580" marR="68580" marT="34290" marB="34290" anchor="ctr">
                    <a:solidFill>
                      <a:srgbClr val="F2F7F3"/>
                    </a:solidFill>
                  </a:tcPr>
                </a:tc>
                <a:tc>
                  <a:txBody>
                    <a:bodyPr/>
                    <a:lstStyle/>
                    <a:p>
                      <a:pPr algn="l"/>
                      <a:r>
                        <a:rPr lang="en-IN" sz="1200" b="0" dirty="0">
                          <a:solidFill>
                            <a:srgbClr val="202020"/>
                          </a:solidFill>
                        </a:rPr>
                        <a:t>94.9%</a:t>
                      </a:r>
                    </a:p>
                  </a:txBody>
                  <a:tcPr marL="68580" marR="68580" marT="34290" marB="34290" anchor="ctr">
                    <a:solidFill>
                      <a:srgbClr val="F2F7F3"/>
                    </a:solidFill>
                  </a:tcPr>
                </a:tc>
                <a:tc>
                  <a:txBody>
                    <a:bodyPr/>
                    <a:lstStyle/>
                    <a:p>
                      <a:pPr algn="l"/>
                      <a:r>
                        <a:rPr lang="en-IN" sz="1200" b="0" dirty="0">
                          <a:solidFill>
                            <a:srgbClr val="202020"/>
                          </a:solidFill>
                        </a:rPr>
                        <a:t>₹16.5 lakh</a:t>
                      </a:r>
                    </a:p>
                  </a:txBody>
                  <a:tcPr marL="68580" marR="68580" marT="34290" marB="34290" anchor="ctr">
                    <a:solidFill>
                      <a:srgbClr val="F2F7F3"/>
                    </a:solidFill>
                  </a:tcPr>
                </a:tc>
                <a:tc>
                  <a:txBody>
                    <a:bodyPr/>
                    <a:lstStyle/>
                    <a:p>
                      <a:pPr algn="l"/>
                      <a:r>
                        <a:rPr lang="en-IN" sz="1200" b="0" dirty="0">
                          <a:solidFill>
                            <a:srgbClr val="202020"/>
                          </a:solidFill>
                        </a:rPr>
                        <a:t>₹3.1 lakh</a:t>
                      </a:r>
                    </a:p>
                  </a:txBody>
                  <a:tcPr marL="68580" marR="68580" marT="34290" marB="34290" anchor="ctr">
                    <a:solidFill>
                      <a:srgbClr val="F2F7F3"/>
                    </a:solidFill>
                  </a:tcPr>
                </a:tc>
              </a:tr>
              <a:tr h="430000">
                <a:tc>
                  <a:txBody>
                    <a:bodyPr/>
                    <a:lstStyle/>
                    <a:p>
                      <a:pPr algn="l"/>
                      <a:r>
                        <a:rPr lang="en-IN" sz="1200" b="0" dirty="0">
                          <a:solidFill>
                            <a:srgbClr val="202020"/>
                          </a:solidFill>
                        </a:rPr>
                        <a:t>constant order (control)</a:t>
                      </a:r>
                    </a:p>
                  </a:txBody>
                  <a:tcPr marL="68580" marR="68580" marT="34290" marB="34290" anchor="ctr"/>
                </a:tc>
                <a:tc>
                  <a:txBody>
                    <a:bodyPr/>
                    <a:lstStyle/>
                    <a:p>
                      <a:pPr algn="l"/>
                      <a:r>
                        <a:rPr lang="en-IN" sz="1200" b="0" dirty="0">
                          <a:solidFill>
                            <a:srgbClr val="202020"/>
                          </a:solidFill>
                        </a:rPr>
                        <a:t>₹53.3 lakh</a:t>
                      </a:r>
                    </a:p>
                  </a:txBody>
                  <a:tcPr marL="68580" marR="68580" marT="34290" marB="34290" anchor="ctr"/>
                </a:tc>
                <a:tc>
                  <a:txBody>
                    <a:bodyPr/>
                    <a:lstStyle/>
                    <a:p>
                      <a:pPr algn="l"/>
                      <a:r>
                        <a:rPr lang="en-IN" sz="1200" b="0" dirty="0">
                          <a:solidFill>
                            <a:srgbClr val="202020"/>
                          </a:solidFill>
                        </a:rPr>
                        <a:t>₹13.4 lakh</a:t>
                      </a:r>
                    </a:p>
                  </a:txBody>
                  <a:tcPr marL="68580" marR="68580" marT="34290" marB="34290" anchor="ctr"/>
                </a:tc>
                <a:tc>
                  <a:txBody>
                    <a:bodyPr/>
                    <a:lstStyle/>
                    <a:p>
                      <a:pPr algn="l"/>
                      <a:r>
                        <a:rPr lang="en-IN" sz="1200" b="0" dirty="0">
                          <a:solidFill>
                            <a:srgbClr val="202020"/>
                          </a:solidFill>
                        </a:rPr>
                        <a:t>92.3%</a:t>
                      </a:r>
                    </a:p>
                  </a:txBody>
                  <a:tcPr marL="68580" marR="68580" marT="34290" marB="34290" anchor="ctr"/>
                </a:tc>
                <a:tc>
                  <a:txBody>
                    <a:bodyPr/>
                    <a:lstStyle/>
                    <a:p>
                      <a:pPr algn="l"/>
                      <a:r>
                        <a:rPr lang="en-IN" sz="1200" b="0" dirty="0">
                          <a:solidFill>
                            <a:srgbClr val="202020"/>
                          </a:solidFill>
                        </a:rPr>
                        <a:t>₹29.0 lakh</a:t>
                      </a:r>
                    </a:p>
                  </a:txBody>
                  <a:tcPr marL="68580" marR="68580" marT="34290" marB="34290" anchor="ctr"/>
                </a:tc>
                <a:tc>
                  <a:txBody>
                    <a:bodyPr/>
                    <a:lstStyle/>
                    <a:p>
                      <a:pPr algn="l"/>
                      <a:r>
                        <a:rPr lang="en-IN" sz="1200" b="0" dirty="0">
                          <a:solidFill>
                            <a:srgbClr val="202020"/>
                          </a:solidFill>
                        </a:rPr>
                        <a:t>₹3.5 lakh</a:t>
                      </a:r>
                    </a:p>
                  </a:txBody>
                  <a:tcPr marL="68580" marR="68580" marT="34290" marB="34290" anchor="ctr"/>
                </a:tc>
              </a:tr>
              <a:tr h="430000">
                <a:tc>
                  <a:txBody>
                    <a:bodyPr/>
                    <a:lstStyle/>
                    <a:p>
                      <a:pPr algn="l"/>
                      <a:r>
                        <a:rPr lang="en-IN" sz="1200" b="0" dirty="0">
                          <a:solidFill>
                            <a:srgbClr val="202020"/>
                          </a:solidFill>
                        </a:rPr>
                        <a:t>random (sanity check)</a:t>
                      </a:r>
                    </a:p>
                  </a:txBody>
                  <a:tcPr marL="68580" marR="68580" marT="34290" marB="34290" anchor="ctr">
                    <a:solidFill>
                      <a:srgbClr val="F2F7F3"/>
                    </a:solidFill>
                  </a:tcPr>
                </a:tc>
                <a:tc>
                  <a:txBody>
                    <a:bodyPr/>
                    <a:lstStyle/>
                    <a:p>
                      <a:pPr algn="l"/>
                      <a:r>
                        <a:rPr lang="en-IN" sz="1200" b="0" dirty="0">
                          <a:solidFill>
                            <a:srgbClr val="202020"/>
                          </a:solidFill>
                        </a:rPr>
                        <a:t>-₹35.9 lakh</a:t>
                      </a:r>
                    </a:p>
                  </a:txBody>
                  <a:tcPr marL="68580" marR="68580" marT="34290" marB="34290" anchor="ctr">
                    <a:solidFill>
                      <a:srgbClr val="F2F7F3"/>
                    </a:solidFill>
                  </a:tcPr>
                </a:tc>
                <a:tc>
                  <a:txBody>
                    <a:bodyPr/>
                    <a:lstStyle/>
                    <a:p>
                      <a:pPr algn="l"/>
                      <a:r>
                        <a:rPr lang="en-IN" sz="1200" b="0" dirty="0">
                          <a:solidFill>
                            <a:srgbClr val="202020"/>
                          </a:solidFill>
                        </a:rPr>
                        <a:t>₹13.6 lakh</a:t>
                      </a:r>
                    </a:p>
                  </a:txBody>
                  <a:tcPr marL="68580" marR="68580" marT="34290" marB="34290" anchor="ctr">
                    <a:solidFill>
                      <a:srgbClr val="F2F7F3"/>
                    </a:solidFill>
                  </a:tcPr>
                </a:tc>
                <a:tc>
                  <a:txBody>
                    <a:bodyPr/>
                    <a:lstStyle/>
                    <a:p>
                      <a:pPr algn="l"/>
                      <a:r>
                        <a:rPr lang="en-IN" sz="1200" b="0" dirty="0">
                          <a:solidFill>
                            <a:srgbClr val="202020"/>
                          </a:solidFill>
                        </a:rPr>
                        <a:t>94.2%</a:t>
                      </a:r>
                    </a:p>
                  </a:txBody>
                  <a:tcPr marL="68580" marR="68580" marT="34290" marB="34290" anchor="ctr">
                    <a:solidFill>
                      <a:srgbClr val="F2F7F3"/>
                    </a:solidFill>
                  </a:tcPr>
                </a:tc>
                <a:tc>
                  <a:txBody>
                    <a:bodyPr/>
                    <a:lstStyle/>
                    <a:p>
                      <a:pPr algn="l"/>
                      <a:r>
                        <a:rPr lang="en-IN" sz="1200" b="0" dirty="0">
                          <a:solidFill>
                            <a:srgbClr val="202020"/>
                          </a:solidFill>
                        </a:rPr>
                        <a:t>₹20.9 lakh</a:t>
                      </a:r>
                    </a:p>
                  </a:txBody>
                  <a:tcPr marL="68580" marR="68580" marT="34290" marB="34290" anchor="ctr">
                    <a:solidFill>
                      <a:srgbClr val="F2F7F3"/>
                    </a:solidFill>
                  </a:tcPr>
                </a:tc>
                <a:tc>
                  <a:txBody>
                    <a:bodyPr/>
                    <a:lstStyle/>
                    <a:p>
                      <a:pPr algn="l"/>
                      <a:r>
                        <a:rPr lang="en-IN" sz="1200" b="0" dirty="0">
                          <a:solidFill>
                            <a:srgbClr val="202020"/>
                          </a:solidFill>
                        </a:rPr>
                        <a:t>₹15.6 lakh</a:t>
                      </a:r>
                    </a:p>
                  </a:txBody>
                  <a:tcPr marL="68580" marR="68580" marT="34290" marB="34290" anchor="ctr">
                    <a:solidFill>
                      <a:srgbClr val="F2F7F3"/>
                    </a:solidFill>
                  </a:tcPr>
                </a:tc>
              </a:tr>
            </a:tbl>
          </a:graphicData>
        </a:graphic>
      </p:graphicFrame>
      <p:sp>
        <p:nvSpPr>
          <p:cNvPr id="42" name="Note"/>
          <p:cNvSpPr txBox="1"/>
          <p:nvPr/>
        </p:nvSpPr>
        <p:spPr>
          <a:xfrm>
            <a:off x="838198" y="5450000"/>
            <a:ext cx="10515600" cy="700000"/>
          </a:xfrm>
          <a:prstGeom prst="rect">
            <a:avLst/>
          </a:prstGeom>
        </p:spPr>
        <p:txBody>
          <a:bodyPr wrap="square" lIns="0" rIns="0">
            <a:normAutofit/>
          </a:bodyPr>
          <a:lstStyle/>
          <a:p>
            <a:pPr lvl="0">
              <a:lnSpc>
                <a:spcPct val="100000"/>
              </a:lnSpc>
              <a:spcBef>
                <a:spcPts val="600"/>
              </a:spcBef>
              <a:buNone/>
            </a:pPr>
            <a:r>
              <a:rPr lang="en-IN" sz="1300" b="0" dirty="0">
                <a:solidFill>
                  <a:srgbClr val="0D5A28"/>
                </a:solidFill>
              </a:rPr>
              <a:t>Tuning mattered: widening the search lifted the best method from ₹69.7 lakh to ₹89.2 lakh. Beating an untuned method would have proved nothing.</a:t>
            </a:r>
          </a:p>
        </p:txBody>
      </p:sp>
    </p:spTree>
    <p:extLst>
      <p:ext uri="{BB962C8B-B14F-4D97-AF65-F5344CB8AC3E}">
        <p14:creationId xmlns:p14="http://schemas.microsoft.com/office/powerpoint/2010/main" val="1945778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89B3-0AC1-5F52-E096-BD003D7629A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1F72107-6428-FBDB-6F2C-7FBFD9CA0434}"/>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EED6AF64-D2C2-CFB1-A34D-E86A88546498}"/>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ACADAE92-4334-30CF-A6D8-858502055ABC}"/>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5548835-4273-B718-93B0-8DBB45552593}"/>
              </a:ext>
            </a:extLst>
          </p:cNvPr>
          <p:cNvSpPr>
            <a:spLocks noGrp="1"/>
          </p:cNvSpPr>
          <p:nvPr>
            <p:ph type="title"/>
          </p:nvPr>
        </p:nvSpPr>
        <p:spPr>
          <a:xfrm>
            <a:off x="838198" y="-201435"/>
            <a:ext cx="10515600" cy="1325563"/>
          </a:xfrm>
        </p:spPr>
        <p:txBody>
          <a:bodyPr>
            <a:normAutofit/>
          </a:bodyPr>
          <a:lstStyle/>
          <a:p>
            <a:br>
              <a:rPr lang="en-IN" dirty="0">
                <a:solidFill>
                  <a:schemeClr val="accent1">
                    <a:lumMod val="50000"/>
                  </a:schemeClr>
                </a:solidFill>
              </a:rPr>
            </a:br>
            <a:r>
              <a:rPr lang="en-IN" dirty="0">
                <a:solidFill>
                  <a:schemeClr val="accent1">
                    <a:lumMod val="50000"/>
                  </a:schemeClr>
                </a:solidFill>
              </a:rPr>
              <a:t>Preliminary Results and Discussion</a:t>
            </a:r>
          </a:p>
        </p:txBody>
      </p:sp>
      <p:sp>
        <p:nvSpPr>
          <p:cNvPr id="3" name="Content Placeholder 2">
            <a:extLst>
              <a:ext uri="{FF2B5EF4-FFF2-40B4-BE49-F238E27FC236}">
                <a16:creationId xmlns:a16="http://schemas.microsoft.com/office/drawing/2014/main" id="{CF23217A-3C1B-A4BA-438B-B419170C690C}"/>
              </a:ext>
            </a:extLst>
          </p:cNvPr>
          <p:cNvSpPr>
            <a:spLocks noGrp="1"/>
          </p:cNvSpPr>
          <p:nvPr>
            <p:ph idx="1"/>
          </p:nvPr>
        </p:nvSpPr>
        <p:spPr>
          <a:xfrm>
            <a:off x="838198" y="1594415"/>
            <a:ext cx="10515600" cy="620000"/>
          </a:xfrm>
        </p:spPr>
        <p:txBody>
          <a:bodyPr>
            <a:normAutofit/>
          </a:bodyPr>
          <a:lstStyle/>
          <a:p>
            <a:pPr lvl="0">
              <a:lnSpc>
                <a:spcPct val="100000"/>
              </a:lnSpc>
              <a:spcBef>
                <a:spcPts val="600"/>
              </a:spcBef>
              <a:buNone/>
            </a:pPr>
            <a:r>
              <a:rPr lang="en-IN" sz="1400" b="0" dirty="0"/>
              <a:t>Same 30 held-out seeds, same action granularity, identical customers per seed, so the difference is skill and not luck.</a:t>
            </a:r>
          </a:p>
        </p:txBody>
      </p:sp>
      <p:sp>
        <p:nvSpPr>
          <p:cNvPr id="19" name="Slide Number Placeholder 18">
            <a:extLst>
              <a:ext uri="{FF2B5EF4-FFF2-40B4-BE49-F238E27FC236}">
                <a16:creationId xmlns:a16="http://schemas.microsoft.com/office/drawing/2014/main" id="{A15E0039-7212-15DF-9782-04DF472BED60}"/>
              </a:ext>
            </a:extLst>
          </p:cNvPr>
          <p:cNvSpPr>
            <a:spLocks noGrp="1"/>
          </p:cNvSpPr>
          <p:nvPr>
            <p:ph type="sldNum" sz="quarter" idx="12"/>
          </p:nvPr>
        </p:nvSpPr>
        <p:spPr/>
        <p:txBody>
          <a:bodyPr/>
          <a:lstStyle/>
          <a:p>
            <a:fld id="{C2216105-7B7A-4C42-B2A1-5E9A2FA4F8FD}" type="slidenum">
              <a:rPr lang="en-IN" smtClean="0"/>
              <a:t>11</a:t>
            </a:fld>
            <a:endParaRPr lang="en-IN" dirty="0"/>
          </a:p>
        </p:txBody>
      </p:sp>
      <p:graphicFrame>
        <p:nvGraphicFramePr>
          <p:cNvPr id="43" name="Table 43"/>
          <p:cNvGraphicFramePr>
            <a:graphicFrameLocks noGrp="1"/>
          </p:cNvGraphicFramePr>
          <p:nvPr/>
        </p:nvGraphicFramePr>
        <p:xfrm>
          <a:off x="838198" y="2250000"/>
          <a:ext cx="10500000" cy="2100000"/>
        </p:xfrm>
        <a:graphic>
          <a:graphicData uri="http://schemas.openxmlformats.org/drawingml/2006/table">
            <a:tbl>
              <a:tblPr firstRow="1" bandRow="1">
                <a:tableStyleId>{5C22544A-7EE6-4342-B048-85BDC9FD1C3A}</a:tableStyleId>
              </a:tblPr>
              <a:tblGrid>
                <a:gridCol w="4600000"/>
                <a:gridCol w="1900000"/>
                <a:gridCol w="1900000"/>
                <a:gridCol w="2100000"/>
              </a:tblGrid>
              <a:tr h="420000">
                <a:tc>
                  <a:txBody>
                    <a:bodyPr/>
                    <a:lstStyle/>
                    <a:p>
                      <a:pPr algn="l"/>
                      <a:r>
                        <a:rPr lang="en-IN" sz="1200" b="1" dirty="0">
                          <a:solidFill>
                            <a:srgbClr val="FFFFFF"/>
                          </a:solidFill>
                        </a:rPr>
                        <a:t>Method</a:t>
                      </a:r>
                    </a:p>
                  </a:txBody>
                  <a:tcPr marL="68580" marR="68580" marT="34290" marB="34290" anchor="ctr">
                    <a:solidFill>
                      <a:srgbClr val="1A9B46"/>
                    </a:solidFill>
                  </a:tcPr>
                </a:tc>
                <a:tc>
                  <a:txBody>
                    <a:bodyPr/>
                    <a:lstStyle/>
                    <a:p>
                      <a:pPr algn="l"/>
                      <a:r>
                        <a:rPr lang="en-IN" sz="1200" b="1" dirty="0">
                          <a:solidFill>
                            <a:srgbClr val="FFFFFF"/>
                          </a:solidFill>
                        </a:rPr>
                        <a:t>Profit</a:t>
                      </a:r>
                    </a:p>
                  </a:txBody>
                  <a:tcPr marL="68580" marR="68580" marT="34290" marB="34290" anchor="ctr">
                    <a:solidFill>
                      <a:srgbClr val="1A9B46"/>
                    </a:solidFill>
                  </a:tcPr>
                </a:tc>
                <a:tc>
                  <a:txBody>
                    <a:bodyPr/>
                    <a:lstStyle/>
                    <a:p>
                      <a:pPr algn="l"/>
                      <a:r>
                        <a:rPr lang="en-IN" sz="1200" b="1" dirty="0">
                          <a:solidFill>
                            <a:srgbClr val="FFFFFF"/>
                          </a:solidFill>
                        </a:rPr>
                        <a:t>Fill rate</a:t>
                      </a:r>
                    </a:p>
                  </a:txBody>
                  <a:tcPr marL="68580" marR="68580" marT="34290" marB="34290" anchor="ctr">
                    <a:solidFill>
                      <a:srgbClr val="1A9B46"/>
                    </a:solidFill>
                  </a:tcPr>
                </a:tc>
                <a:tc>
                  <a:txBody>
                    <a:bodyPr/>
                    <a:lstStyle/>
                    <a:p>
                      <a:pPr algn="l"/>
                      <a:r>
                        <a:rPr lang="en-IN" sz="1200" b="1" dirty="0">
                          <a:solidFill>
                            <a:srgbClr val="FFFFFF"/>
                          </a:solidFill>
                        </a:rPr>
                        <a:t>Ordering fees</a:t>
                      </a:r>
                    </a:p>
                  </a:txBody>
                  <a:tcPr marL="68580" marR="68580" marT="34290" marB="34290" anchor="ctr">
                    <a:solidFill>
                      <a:srgbClr val="1A9B46"/>
                    </a:solidFill>
                  </a:tcPr>
                </a:tc>
              </a:tr>
              <a:tr h="420000">
                <a:tc>
                  <a:txBody>
                    <a:bodyPr/>
                    <a:lstStyle/>
                    <a:p>
                      <a:pPr algn="l"/>
                      <a:r>
                        <a:rPr lang="en-IN" sz="1200" b="0" dirty="0">
                          <a:solidFill>
                            <a:srgbClr val="202020"/>
                          </a:solidFill>
                        </a:rPr>
                        <a:t>forecast + safety stock (best classical)</a:t>
                      </a:r>
                    </a:p>
                  </a:txBody>
                  <a:tcPr marL="68580" marR="68580" marT="34290" marB="34290" anchor="ctr"/>
                </a:tc>
                <a:tc>
                  <a:txBody>
                    <a:bodyPr/>
                    <a:lstStyle/>
                    <a:p>
                      <a:pPr algn="l"/>
                      <a:r>
                        <a:rPr lang="en-IN" sz="1200" b="0" dirty="0">
                          <a:solidFill>
                            <a:srgbClr val="202020"/>
                          </a:solidFill>
                        </a:rPr>
                        <a:t>₹87.8 lakh</a:t>
                      </a:r>
                    </a:p>
                  </a:txBody>
                  <a:tcPr marL="68580" marR="68580" marT="34290" marB="34290" anchor="ctr"/>
                </a:tc>
                <a:tc>
                  <a:txBody>
                    <a:bodyPr/>
                    <a:lstStyle/>
                    <a:p>
                      <a:pPr algn="l"/>
                      <a:r>
                        <a:rPr lang="en-IN" sz="1200" b="0" dirty="0">
                          <a:solidFill>
                            <a:srgbClr val="202020"/>
                          </a:solidFill>
                        </a:rPr>
                        <a:t>97.9%</a:t>
                      </a:r>
                    </a:p>
                  </a:txBody>
                  <a:tcPr marL="68580" marR="68580" marT="34290" marB="34290" anchor="ctr"/>
                </a:tc>
                <a:tc>
                  <a:txBody>
                    <a:bodyPr/>
                    <a:lstStyle/>
                    <a:p>
                      <a:pPr algn="l"/>
                      <a:r>
                        <a:rPr lang="en-IN" sz="1200" b="0" dirty="0">
                          <a:solidFill>
                            <a:srgbClr val="202020"/>
                          </a:solidFill>
                        </a:rPr>
                        <a:t>₹2.9 lakh</a:t>
                      </a:r>
                    </a:p>
                  </a:txBody>
                  <a:tcPr marL="68580" marR="68580" marT="34290" marB="34290" anchor="ctr"/>
                </a:tc>
              </a:tr>
              <a:tr h="420000">
                <a:tc>
                  <a:txBody>
                    <a:bodyPr/>
                    <a:lstStyle/>
                    <a:p>
                      <a:pPr algn="l"/>
                      <a:r>
                        <a:rPr lang="en-IN" sz="1200" b="0" dirty="0">
                          <a:solidFill>
                            <a:srgbClr val="202020"/>
                          </a:solidFill>
                        </a:rPr>
                        <a:t>AI agent, tuned, 2M steps</a:t>
                      </a:r>
                    </a:p>
                  </a:txBody>
                  <a:tcPr marL="68580" marR="68580" marT="34290" marB="34290" anchor="ctr">
                    <a:solidFill>
                      <a:srgbClr val="F2F7F3"/>
                    </a:solidFill>
                  </a:tcPr>
                </a:tc>
                <a:tc>
                  <a:txBody>
                    <a:bodyPr/>
                    <a:lstStyle/>
                    <a:p>
                      <a:pPr algn="l"/>
                      <a:r>
                        <a:rPr lang="en-IN" sz="1200" b="0" dirty="0">
                          <a:solidFill>
                            <a:srgbClr val="202020"/>
                          </a:solidFill>
                        </a:rPr>
                        <a:t>₹79.7 lakh</a:t>
                      </a:r>
                    </a:p>
                  </a:txBody>
                  <a:tcPr marL="68580" marR="68580" marT="34290" marB="34290" anchor="ctr">
                    <a:solidFill>
                      <a:srgbClr val="F2F7F3"/>
                    </a:solidFill>
                  </a:tcPr>
                </a:tc>
                <a:tc>
                  <a:txBody>
                    <a:bodyPr/>
                    <a:lstStyle/>
                    <a:p>
                      <a:pPr algn="l"/>
                      <a:r>
                        <a:rPr lang="en-IN" sz="1200" b="0" dirty="0">
                          <a:solidFill>
                            <a:srgbClr val="202020"/>
                          </a:solidFill>
                        </a:rPr>
                        <a:t>95.1%</a:t>
                      </a:r>
                    </a:p>
                  </a:txBody>
                  <a:tcPr marL="68580" marR="68580" marT="34290" marB="34290" anchor="ctr">
                    <a:solidFill>
                      <a:srgbClr val="F2F7F3"/>
                    </a:solidFill>
                  </a:tcPr>
                </a:tc>
                <a:tc>
                  <a:txBody>
                    <a:bodyPr/>
                    <a:lstStyle/>
                    <a:p>
                      <a:pPr algn="l"/>
                      <a:r>
                        <a:rPr lang="en-IN" sz="1200" b="0" dirty="0">
                          <a:solidFill>
                            <a:srgbClr val="202020"/>
                          </a:solidFill>
                        </a:rPr>
                        <a:t>₹5.8 lakh</a:t>
                      </a:r>
                    </a:p>
                  </a:txBody>
                  <a:tcPr marL="68580" marR="68580" marT="34290" marB="34290" anchor="ctr">
                    <a:solidFill>
                      <a:srgbClr val="F2F7F3"/>
                    </a:solidFill>
                  </a:tcPr>
                </a:tc>
              </a:tr>
              <a:tr h="420000">
                <a:tc>
                  <a:txBody>
                    <a:bodyPr/>
                    <a:lstStyle/>
                    <a:p>
                      <a:pPr algn="l"/>
                      <a:r>
                        <a:rPr lang="en-IN" sz="1200" b="0" dirty="0">
                          <a:solidFill>
                            <a:srgbClr val="202020"/>
                          </a:solidFill>
                        </a:rPr>
                        <a:t>AI agent, untuned, 1M steps</a:t>
                      </a:r>
                    </a:p>
                  </a:txBody>
                  <a:tcPr marL="68580" marR="68580" marT="34290" marB="34290" anchor="ctr"/>
                </a:tc>
                <a:tc>
                  <a:txBody>
                    <a:bodyPr/>
                    <a:lstStyle/>
                    <a:p>
                      <a:pPr algn="l"/>
                      <a:r>
                        <a:rPr lang="en-IN" sz="1200" b="0" dirty="0">
                          <a:solidFill>
                            <a:srgbClr val="202020"/>
                          </a:solidFill>
                        </a:rPr>
                        <a:t>₹74.8 lakh</a:t>
                      </a:r>
                    </a:p>
                  </a:txBody>
                  <a:tcPr marL="68580" marR="68580" marT="34290" marB="34290" anchor="ctr"/>
                </a:tc>
                <a:tc>
                  <a:txBody>
                    <a:bodyPr/>
                    <a:lstStyle/>
                    <a:p>
                      <a:pPr algn="l"/>
                      <a:r>
                        <a:rPr lang="en-IN" sz="1200" b="0" dirty="0">
                          <a:solidFill>
                            <a:srgbClr val="202020"/>
                          </a:solidFill>
                        </a:rPr>
                        <a:t>94.3%</a:t>
                      </a:r>
                    </a:p>
                  </a:txBody>
                  <a:tcPr marL="68580" marR="68580" marT="34290" marB="34290" anchor="ctr"/>
                </a:tc>
                <a:tc>
                  <a:txBody>
                    <a:bodyPr/>
                    <a:lstStyle/>
                    <a:p>
                      <a:pPr algn="l"/>
                      <a:r>
                        <a:rPr lang="en-IN" sz="1200" b="0" dirty="0">
                          <a:solidFill>
                            <a:srgbClr val="202020"/>
                          </a:solidFill>
                        </a:rPr>
                        <a:t>₹7.4 lakh</a:t>
                      </a:r>
                    </a:p>
                  </a:txBody>
                  <a:tcPr marL="68580" marR="68580" marT="34290" marB="34290" anchor="ctr"/>
                </a:tc>
              </a:tr>
              <a:tr h="420000">
                <a:tc>
                  <a:txBody>
                    <a:bodyPr/>
                    <a:lstStyle/>
                    <a:p>
                      <a:pPr algn="l"/>
                      <a:r>
                        <a:rPr lang="en-IN" sz="1200" b="0" dirty="0">
                          <a:solidFill>
                            <a:srgbClr val="202020"/>
                          </a:solidFill>
                        </a:rPr>
                        <a:t>AI agent, no action masking, 1M steps</a:t>
                      </a:r>
                    </a:p>
                  </a:txBody>
                  <a:tcPr marL="68580" marR="68580" marT="34290" marB="34290" anchor="ctr">
                    <a:solidFill>
                      <a:srgbClr val="F2F7F3"/>
                    </a:solidFill>
                  </a:tcPr>
                </a:tc>
                <a:tc>
                  <a:txBody>
                    <a:bodyPr/>
                    <a:lstStyle/>
                    <a:p>
                      <a:pPr algn="l"/>
                      <a:r>
                        <a:rPr lang="en-IN" sz="1200" b="0" dirty="0">
                          <a:solidFill>
                            <a:srgbClr val="202020"/>
                          </a:solidFill>
                        </a:rPr>
                        <a:t>₹23.7 lakh</a:t>
                      </a:r>
                    </a:p>
                  </a:txBody>
                  <a:tcPr marL="68580" marR="68580" marT="34290" marB="34290" anchor="ctr">
                    <a:solidFill>
                      <a:srgbClr val="F2F7F3"/>
                    </a:solidFill>
                  </a:tcPr>
                </a:tc>
                <a:tc>
                  <a:txBody>
                    <a:bodyPr/>
                    <a:lstStyle/>
                    <a:p>
                      <a:pPr algn="l"/>
                      <a:r>
                        <a:rPr lang="en-IN" sz="1200" b="0" dirty="0">
                          <a:solidFill>
                            <a:srgbClr val="202020"/>
                          </a:solidFill>
                        </a:rPr>
                        <a:t>94.8%</a:t>
                      </a:r>
                    </a:p>
                  </a:txBody>
                  <a:tcPr marL="68580" marR="68580" marT="34290" marB="34290" anchor="ctr">
                    <a:solidFill>
                      <a:srgbClr val="F2F7F3"/>
                    </a:solidFill>
                  </a:tcPr>
                </a:tc>
                <a:tc>
                  <a:txBody>
                    <a:bodyPr/>
                    <a:lstStyle/>
                    <a:p>
                      <a:pPr algn="l"/>
                      <a:r>
                        <a:rPr lang="en-IN" sz="1200" b="0" dirty="0">
                          <a:solidFill>
                            <a:srgbClr val="202020"/>
                          </a:solidFill>
                        </a:rPr>
                        <a:t>₹14.7 lakh</a:t>
                      </a:r>
                    </a:p>
                  </a:txBody>
                  <a:tcPr marL="68580" marR="68580" marT="34290" marB="34290" anchor="ctr">
                    <a:solidFill>
                      <a:srgbClr val="F2F7F3"/>
                    </a:solidFill>
                  </a:tcPr>
                </a:tc>
              </a:tr>
            </a:tbl>
          </a:graphicData>
        </a:graphic>
      </p:graphicFrame>
      <p:sp>
        <p:nvSpPr>
          <p:cNvPr id="44" name="Findings"/>
          <p:cNvSpPr txBox="1"/>
          <p:nvPr/>
        </p:nvSpPr>
        <p:spPr>
          <a:xfrm>
            <a:off x="838198" y="4420000"/>
            <a:ext cx="10515600" cy="1900000"/>
          </a:xfrm>
          <a:prstGeom prst="rect">
            <a:avLst/>
          </a:prstGeom>
        </p:spPr>
        <p:txBody>
          <a:bodyPr wrap="square" lIns="0" rIns="0">
            <a:normAutofit/>
          </a:bodyPr>
          <a:lstStyle/>
          <a:p>
            <a:pPr lvl="0">
              <a:lnSpc>
                <a:spcPct val="100000"/>
              </a:lnSpc>
              <a:spcBef>
                <a:spcPts val="600"/>
              </a:spcBef>
              <a:buNone/>
            </a:pPr>
            <a:r>
              <a:rPr lang="en-IN" sz="1400" b="1" dirty="0">
                <a:solidFill>
                  <a:srgbClr val="0D5A28"/>
                </a:solidFill>
              </a:rPr>
              <a:t>The classical method still wins, by ₹8.1 lakh per run (paired t = -6.45, n = 30, significant). The AI reaches 90.8% of its profit and beats two of the four classical methods.</a:t>
            </a:r>
          </a:p>
          <a:p>
            <a:pPr lvl="0">
              <a:lnSpc>
                <a:spcPct val="100000"/>
              </a:lnSpc>
              <a:spcBef>
                <a:spcPts val="600"/>
              </a:spcBef>
              <a:buNone/>
            </a:pPr>
            <a:r>
              <a:rPr lang="en-IN" sz="1250" b="0" dirty="0">
                <a:solidFill>
                  <a:srgbClr val="202020"/>
                </a:solidFill>
              </a:rPr>
              <a:t>Where the gap comes from: the AI runs out of stock more often (95.1% fill against 97.9%) and spreads orders across suppliers, paying twice the ordering fees (₹5.8 lakh against ₹2.9 lakh).</a:t>
            </a:r>
          </a:p>
          <a:p>
            <a:pPr lvl="0">
              <a:lnSpc>
                <a:spcPct val="100000"/>
              </a:lnSpc>
              <a:spcBef>
                <a:spcPts val="600"/>
              </a:spcBef>
              <a:buNone/>
            </a:pPr>
            <a:r>
              <a:rPr lang="en-IN" sz="1250" b="0" dirty="0">
                <a:solidFill>
                  <a:srgbClr val="202020"/>
                </a:solidFill>
              </a:rPr>
              <a:t>Action masking was the biggest single improvement (about 3x). Tuning then closed 38% of the remaining gap, from ₹13.0 lakh to ₹8.1 lakh.</a:t>
            </a:r>
          </a:p>
          <a:p>
            <a:pPr lvl="0">
              <a:lnSpc>
                <a:spcPct val="100000"/>
              </a:lnSpc>
              <a:spcBef>
                <a:spcPts val="600"/>
              </a:spcBef>
              <a:buNone/>
            </a:pPr>
            <a:r>
              <a:rPr lang="en-IN" sz="1250" b="0" dirty="0">
                <a:solidFill>
                  <a:srgbClr val="202020"/>
                </a:solidFill>
              </a:rPr>
              <a:t>The search picked the lowest learning rate on offer and the larger network: the earlier runs were unstable because they learned too fast, not because the network was too small.</a:t>
            </a:r>
          </a:p>
        </p:txBody>
      </p:sp>
    </p:spTree>
    <p:extLst>
      <p:ext uri="{BB962C8B-B14F-4D97-AF65-F5344CB8AC3E}">
        <p14:creationId xmlns:p14="http://schemas.microsoft.com/office/powerpoint/2010/main" val="1306294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71526-2B57-345B-9988-73C52DE5BB17}"/>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1D2005DA-011E-14F6-D275-FB7626337CBD}"/>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62F564F3-F59D-00CB-AB44-AAF4791DB0DF}"/>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DAF8A5A9-76DB-16DA-D167-9652E55CB946}"/>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B01B822-E4BB-F383-A6FB-FAC13CC01402}"/>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Interim Summary/Conclusion</a:t>
            </a:r>
          </a:p>
        </p:txBody>
      </p:sp>
      <p:sp>
        <p:nvSpPr>
          <p:cNvPr id="3" name="Content Placeholder 2">
            <a:extLst>
              <a:ext uri="{FF2B5EF4-FFF2-40B4-BE49-F238E27FC236}">
                <a16:creationId xmlns:a16="http://schemas.microsoft.com/office/drawing/2014/main" id="{FD9B961A-643B-4D5D-965F-E46733235D25}"/>
              </a:ext>
            </a:extLst>
          </p:cNvPr>
          <p:cNvSpPr>
            <a:spLocks noGrp="1"/>
          </p:cNvSpPr>
          <p:nvPr>
            <p:ph idx="1"/>
          </p:nvPr>
        </p:nvSpPr>
        <p:spPr>
          <a:xfrm>
            <a:off x="838198" y="1594415"/>
            <a:ext cx="10515600" cy="4500000"/>
          </a:xfrm>
        </p:spPr>
        <p:txBody>
          <a:bodyPr>
            <a:normAutofit/>
          </a:bodyPr>
          <a:lstStyle/>
          <a:p>
            <a:pPr lvl="0">
              <a:lnSpc>
                <a:spcPct val="100000"/>
              </a:lnSpc>
              <a:spcBef>
                <a:spcPts val="600"/>
              </a:spcBef>
            </a:pPr>
            <a:r>
              <a:rPr lang="en-IN" sz="1600" b="0" dirty="0"/>
              <a:t>Built and verified: the simulator, four tuned classical policies, the RL training pipeline, and a held-out evaluation harness. 92 automated tests pass.</a:t>
            </a:r>
          </a:p>
          <a:p>
            <a:pPr lvl="0">
              <a:lnSpc>
                <a:spcPct val="100000"/>
              </a:lnSpc>
              <a:spcBef>
                <a:spcPts val="600"/>
              </a:spcBef>
            </a:pPr>
            <a:r>
              <a:rPr lang="en-IN" sz="1600" b="0" dirty="0"/>
              <a:t>The dataset decision is evidence-based: one candidate dataset was screened and rejected for having no weekday or seasonal structure.</a:t>
            </a:r>
          </a:p>
          <a:p>
            <a:pPr lvl="0">
              <a:lnSpc>
                <a:spcPct val="100000"/>
              </a:lnSpc>
              <a:spcBef>
                <a:spcPts val="600"/>
              </a:spcBef>
            </a:pPr>
            <a:r>
              <a:rPr lang="en-IN" sz="1600" b="0" dirty="0"/>
              <a:t>Action masking is the largest single contributor to agent performance so far (3x improvement).</a:t>
            </a:r>
          </a:p>
          <a:p>
            <a:pPr lvl="0">
              <a:lnSpc>
                <a:spcPct val="100000"/>
              </a:lnSpc>
              <a:spcBef>
                <a:spcPts val="600"/>
              </a:spcBef>
            </a:pPr>
            <a:r>
              <a:rPr lang="en-IN" sz="1600" b="1" dirty="0"/>
              <a:t>Honest current finding: the tuned classical policy still beats the RL agent by ₹8.1 lakh per run, and the difference is statistically significant.</a:t>
            </a:r>
          </a:p>
          <a:p>
            <a:pPr lvl="0">
              <a:lnSpc>
                <a:spcPct val="100000"/>
              </a:lnSpc>
              <a:spcBef>
                <a:spcPts val="600"/>
              </a:spcBef>
            </a:pPr>
            <a:r>
              <a:rPr lang="en-IN" sz="1600" b="0" dirty="0"/>
              <a:t>This is a meaningful result rather than an artefact, because the comparison is fair by construction: same environment, same seeds, same action set.</a:t>
            </a:r>
          </a:p>
          <a:p>
            <a:pPr lvl="0">
              <a:lnSpc>
                <a:spcPct val="100000"/>
              </a:lnSpc>
              <a:spcBef>
                <a:spcPts val="600"/>
              </a:spcBef>
            </a:pPr>
            <a:r>
              <a:rPr lang="en-IN" sz="1600" b="0" dirty="0"/>
              <a:t>Remaining work is the LLM explanation and scenario layer, which is the novel contribution of the project.</a:t>
            </a:r>
          </a:p>
        </p:txBody>
      </p:sp>
      <p:sp>
        <p:nvSpPr>
          <p:cNvPr id="19" name="Slide Number Placeholder 18">
            <a:extLst>
              <a:ext uri="{FF2B5EF4-FFF2-40B4-BE49-F238E27FC236}">
                <a16:creationId xmlns:a16="http://schemas.microsoft.com/office/drawing/2014/main" id="{2FDF9863-C6EA-77F7-3286-501B5614C0AE}"/>
              </a:ext>
            </a:extLst>
          </p:cNvPr>
          <p:cNvSpPr>
            <a:spLocks noGrp="1"/>
          </p:cNvSpPr>
          <p:nvPr>
            <p:ph type="sldNum" sz="quarter" idx="12"/>
          </p:nvPr>
        </p:nvSpPr>
        <p:spPr/>
        <p:txBody>
          <a:bodyPr/>
          <a:lstStyle/>
          <a:p>
            <a:fld id="{C2216105-7B7A-4C42-B2A1-5E9A2FA4F8FD}" type="slidenum">
              <a:rPr lang="en-IN" smtClean="0"/>
              <a:t>12</a:t>
            </a:fld>
            <a:endParaRPr lang="en-IN" dirty="0"/>
          </a:p>
        </p:txBody>
      </p:sp>
    </p:spTree>
    <p:extLst>
      <p:ext uri="{BB962C8B-B14F-4D97-AF65-F5344CB8AC3E}">
        <p14:creationId xmlns:p14="http://schemas.microsoft.com/office/powerpoint/2010/main" val="2183726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6F314-BA7C-F9EA-2887-1AD6B6BD608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D9804D83-BC91-7248-A4E8-DEA59425EFDB}"/>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A5BAAEE0-CE27-E262-E47C-09A2764B7692}"/>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25FB856C-0EFB-9D17-B4BD-1F7CAAAE933C}"/>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B514DF7-0C81-0D1E-9C3F-24BBC3CF5DBB}"/>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Completion plan for the next phase</a:t>
            </a:r>
          </a:p>
        </p:txBody>
      </p:sp>
      <p:sp>
        <p:nvSpPr>
          <p:cNvPr id="3" name="Content Placeholder 2">
            <a:extLst>
              <a:ext uri="{FF2B5EF4-FFF2-40B4-BE49-F238E27FC236}">
                <a16:creationId xmlns:a16="http://schemas.microsoft.com/office/drawing/2014/main" id="{FCCC8974-D57C-3FAA-07C0-CAD8C2DED645}"/>
              </a:ext>
            </a:extLst>
          </p:cNvPr>
          <p:cNvSpPr>
            <a:spLocks noGrp="1"/>
          </p:cNvSpPr>
          <p:nvPr>
            <p:ph idx="1"/>
          </p:nvPr>
        </p:nvSpPr>
        <p:spPr>
          <a:xfrm>
            <a:off x="838198" y="1594415"/>
            <a:ext cx="10515600" cy="560000"/>
          </a:xfrm>
        </p:spPr>
        <p:txBody>
          <a:bodyPr>
            <a:normAutofit/>
          </a:bodyPr>
          <a:lstStyle/>
          <a:p>
            <a:pPr lvl="0">
              <a:lnSpc>
                <a:spcPct val="100000"/>
              </a:lnSpc>
              <a:spcBef>
                <a:spcPts val="600"/>
              </a:spcBef>
              <a:buNone/>
            </a:pPr>
            <a:r>
              <a:rPr lang="en-IN" sz="1400" b="0" dirty="0"/>
              <a:t>Engineering is complete; the remaining phases deliver the explainability contribution and the report.</a:t>
            </a:r>
          </a:p>
        </p:txBody>
      </p:sp>
      <p:sp>
        <p:nvSpPr>
          <p:cNvPr id="19" name="Slide Number Placeholder 18">
            <a:extLst>
              <a:ext uri="{FF2B5EF4-FFF2-40B4-BE49-F238E27FC236}">
                <a16:creationId xmlns:a16="http://schemas.microsoft.com/office/drawing/2014/main" id="{AD6C57ED-5F3F-F988-5159-7DE3C35136E8}"/>
              </a:ext>
            </a:extLst>
          </p:cNvPr>
          <p:cNvSpPr>
            <a:spLocks noGrp="1"/>
          </p:cNvSpPr>
          <p:nvPr>
            <p:ph type="sldNum" sz="quarter" idx="12"/>
          </p:nvPr>
        </p:nvSpPr>
        <p:spPr/>
        <p:txBody>
          <a:bodyPr/>
          <a:lstStyle/>
          <a:p>
            <a:fld id="{C2216105-7B7A-4C42-B2A1-5E9A2FA4F8FD}" type="slidenum">
              <a:rPr lang="en-IN" smtClean="0"/>
              <a:t>13</a:t>
            </a:fld>
            <a:endParaRPr lang="en-IN" dirty="0"/>
          </a:p>
        </p:txBody>
      </p:sp>
      <p:graphicFrame>
        <p:nvGraphicFramePr>
          <p:cNvPr id="45" name="Table 45"/>
          <p:cNvGraphicFramePr>
            <a:graphicFrameLocks noGrp="1"/>
          </p:cNvGraphicFramePr>
          <p:nvPr/>
        </p:nvGraphicFramePr>
        <p:xfrm>
          <a:off x="838198" y="2200000"/>
          <a:ext cx="10200000" cy="3640000"/>
        </p:xfrm>
        <a:graphic>
          <a:graphicData uri="http://schemas.openxmlformats.org/drawingml/2006/table">
            <a:tbl>
              <a:tblPr firstRow="1" bandRow="1">
                <a:tableStyleId>{5C22544A-7EE6-4342-B048-85BDC9FD1C3A}</a:tableStyleId>
              </a:tblPr>
              <a:tblGrid>
                <a:gridCol w="900000"/>
                <a:gridCol w="3600000"/>
                <a:gridCol w="3900000"/>
                <a:gridCol w="1800000"/>
              </a:tblGrid>
              <a:tr h="520000">
                <a:tc>
                  <a:txBody>
                    <a:bodyPr/>
                    <a:lstStyle/>
                    <a:p>
                      <a:pPr algn="l"/>
                      <a:r>
                        <a:rPr lang="en-IN" sz="1150" b="1" dirty="0">
                          <a:solidFill>
                            <a:srgbClr val="FFFFFF"/>
                          </a:solidFill>
                        </a:rPr>
                        <a:t>Phase</a:t>
                      </a:r>
                    </a:p>
                  </a:txBody>
                  <a:tcPr marL="68580" marR="68580" marT="34290" marB="34290" anchor="ctr">
                    <a:solidFill>
                      <a:srgbClr val="1A9B46"/>
                    </a:solidFill>
                  </a:tcPr>
                </a:tc>
                <a:tc>
                  <a:txBody>
                    <a:bodyPr/>
                    <a:lstStyle/>
                    <a:p>
                      <a:pPr algn="l"/>
                      <a:r>
                        <a:rPr lang="en-IN" sz="1150" b="1" dirty="0">
                          <a:solidFill>
                            <a:srgbClr val="FFFFFF"/>
                          </a:solidFill>
                        </a:rPr>
                        <a:t>Work item</a:t>
                      </a:r>
                    </a:p>
                  </a:txBody>
                  <a:tcPr marL="68580" marR="68580" marT="34290" marB="34290" anchor="ctr">
                    <a:solidFill>
                      <a:srgbClr val="1A9B46"/>
                    </a:solidFill>
                  </a:tcPr>
                </a:tc>
                <a:tc>
                  <a:txBody>
                    <a:bodyPr/>
                    <a:lstStyle/>
                    <a:p>
                      <a:pPr algn="l"/>
                      <a:r>
                        <a:rPr lang="en-IN" sz="1150" b="1" dirty="0">
                          <a:solidFill>
                            <a:srgbClr val="FFFFFF"/>
                          </a:solidFill>
                        </a:rPr>
                        <a:t>Deliverable</a:t>
                      </a:r>
                    </a:p>
                  </a:txBody>
                  <a:tcPr marL="68580" marR="68580" marT="34290" marB="34290" anchor="ctr">
                    <a:solidFill>
                      <a:srgbClr val="1A9B46"/>
                    </a:solidFill>
                  </a:tcPr>
                </a:tc>
                <a:tc>
                  <a:txBody>
                    <a:bodyPr/>
                    <a:lstStyle/>
                    <a:p>
                      <a:pPr algn="l"/>
                      <a:r>
                        <a:rPr lang="en-IN" sz="1150" b="1" dirty="0">
                          <a:solidFill>
                            <a:srgbClr val="FFFFFF"/>
                          </a:solidFill>
                        </a:rPr>
                        <a:t>Status</a:t>
                      </a:r>
                    </a:p>
                  </a:txBody>
                  <a:tcPr marL="68580" marR="68580" marT="34290" marB="34290" anchor="ctr">
                    <a:solidFill>
                      <a:srgbClr val="1A9B46"/>
                    </a:solidFill>
                  </a:tcPr>
                </a:tc>
              </a:tr>
              <a:tr h="520000">
                <a:tc>
                  <a:txBody>
                    <a:bodyPr/>
                    <a:lstStyle/>
                    <a:p>
                      <a:pPr algn="l"/>
                      <a:r>
                        <a:rPr lang="en-IN" sz="1150" b="0" dirty="0">
                          <a:solidFill>
                            <a:srgbClr val="202020"/>
                          </a:solidFill>
                        </a:rPr>
                        <a:t>5</a:t>
                      </a:r>
                    </a:p>
                  </a:txBody>
                  <a:tcPr marL="68580" marR="68580" marT="34290" marB="34290" anchor="ctr"/>
                </a:tc>
                <a:tc>
                  <a:txBody>
                    <a:bodyPr/>
                    <a:lstStyle/>
                    <a:p>
                      <a:pPr algn="l"/>
                      <a:r>
                        <a:rPr lang="en-IN" sz="1150" b="0" dirty="0">
                          <a:solidFill>
                            <a:srgbClr val="202020"/>
                          </a:solidFill>
                        </a:rPr>
                        <a:t>Finalise held-out evaluation and hyperparameter sweep</a:t>
                      </a:r>
                    </a:p>
                  </a:txBody>
                  <a:tcPr marL="68580" marR="68580" marT="34290" marB="34290" anchor="ctr"/>
                </a:tc>
                <a:tc>
                  <a:txBody>
                    <a:bodyPr/>
                    <a:lstStyle/>
                    <a:p>
                      <a:pPr algn="l"/>
                      <a:r>
                        <a:rPr lang="en-IN" sz="1150" b="0" dirty="0">
                          <a:solidFill>
                            <a:srgbClr val="202020"/>
                          </a:solidFill>
                        </a:rPr>
                        <a:t>Final RL vs classical comparison table</a:t>
                      </a:r>
                    </a:p>
                  </a:txBody>
                  <a:tcPr marL="68580" marR="68580" marT="34290" marB="34290" anchor="ctr"/>
                </a:tc>
                <a:tc>
                  <a:txBody>
                    <a:bodyPr/>
                    <a:lstStyle/>
                    <a:p>
                      <a:pPr algn="l"/>
                      <a:r>
                        <a:rPr lang="en-IN" sz="1150" b="0" dirty="0">
                          <a:solidFill>
                            <a:srgbClr val="202020"/>
                          </a:solidFill>
                        </a:rPr>
                        <a:t>In progress</a:t>
                      </a:r>
                    </a:p>
                  </a:txBody>
                  <a:tcPr marL="68580" marR="68580" marT="34290" marB="34290" anchor="ctr"/>
                </a:tc>
              </a:tr>
              <a:tr h="520000">
                <a:tc>
                  <a:txBody>
                    <a:bodyPr/>
                    <a:lstStyle/>
                    <a:p>
                      <a:pPr algn="l"/>
                      <a:r>
                        <a:rPr lang="en-IN" sz="1150" b="0" dirty="0">
                          <a:solidFill>
                            <a:srgbClr val="202020"/>
                          </a:solidFill>
                        </a:rPr>
                        <a:t>6</a:t>
                      </a:r>
                    </a:p>
                  </a:txBody>
                  <a:tcPr marL="68580" marR="68580" marT="34290" marB="34290" anchor="ctr">
                    <a:solidFill>
                      <a:srgbClr val="F2F7F3"/>
                    </a:solidFill>
                  </a:tcPr>
                </a:tc>
                <a:tc>
                  <a:txBody>
                    <a:bodyPr/>
                    <a:lstStyle/>
                    <a:p>
                      <a:pPr algn="l"/>
                      <a:r>
                        <a:rPr lang="en-IN" sz="1150" b="0" dirty="0">
                          <a:solidFill>
                            <a:srgbClr val="202020"/>
                          </a:solidFill>
                        </a:rPr>
                        <a:t>LLM explanation module via OpenRouter</a:t>
                      </a:r>
                    </a:p>
                  </a:txBody>
                  <a:tcPr marL="68580" marR="68580" marT="34290" marB="34290" anchor="ctr">
                    <a:solidFill>
                      <a:srgbClr val="F2F7F3"/>
                    </a:solidFill>
                  </a:tcPr>
                </a:tc>
                <a:tc>
                  <a:txBody>
                    <a:bodyPr/>
                    <a:lstStyle/>
                    <a:p>
                      <a:pPr algn="l"/>
                      <a:r>
                        <a:rPr lang="en-IN" sz="1150" b="0" dirty="0">
                          <a:solidFill>
                            <a:srgbClr val="202020"/>
                          </a:solidFill>
                        </a:rPr>
                        <a:t>Plain-English explanation of every order decision</a:t>
                      </a:r>
                    </a:p>
                  </a:txBody>
                  <a:tcPr marL="68580" marR="68580" marT="34290" marB="34290" anchor="ctr">
                    <a:solidFill>
                      <a:srgbClr val="F2F7F3"/>
                    </a:solidFill>
                  </a:tcPr>
                </a:tc>
                <a:tc>
                  <a:txBody>
                    <a:bodyPr/>
                    <a:lstStyle/>
                    <a:p>
                      <a:pPr algn="l"/>
                      <a:r>
                        <a:rPr lang="en-IN" sz="1150" b="0" dirty="0">
                          <a:solidFill>
                            <a:srgbClr val="202020"/>
                          </a:solidFill>
                        </a:rPr>
                        <a:t>Next</a:t>
                      </a:r>
                    </a:p>
                  </a:txBody>
                  <a:tcPr marL="68580" marR="68580" marT="34290" marB="34290" anchor="ctr">
                    <a:solidFill>
                      <a:srgbClr val="F2F7F3"/>
                    </a:solidFill>
                  </a:tcPr>
                </a:tc>
              </a:tr>
              <a:tr h="520000">
                <a:tc>
                  <a:txBody>
                    <a:bodyPr/>
                    <a:lstStyle/>
                    <a:p>
                      <a:pPr algn="l"/>
                      <a:r>
                        <a:rPr lang="en-IN" sz="1150" b="0" dirty="0">
                          <a:solidFill>
                            <a:srgbClr val="202020"/>
                          </a:solidFill>
                        </a:rPr>
                        <a:t>7</a:t>
                      </a:r>
                    </a:p>
                  </a:txBody>
                  <a:tcPr marL="68580" marR="68580" marT="34290" marB="34290" anchor="ctr"/>
                </a:tc>
                <a:tc>
                  <a:txBody>
                    <a:bodyPr/>
                    <a:lstStyle/>
                    <a:p>
                      <a:pPr algn="l"/>
                      <a:r>
                        <a:rPr lang="en-IN" sz="1150" b="0" dirty="0">
                          <a:solidFill>
                            <a:srgbClr val="202020"/>
                          </a:solidFill>
                        </a:rPr>
                        <a:t>LLM scenario generator</a:t>
                      </a:r>
                    </a:p>
                  </a:txBody>
                  <a:tcPr marL="68580" marR="68580" marT="34290" marB="34290" anchor="ctr"/>
                </a:tc>
                <a:tc>
                  <a:txBody>
                    <a:bodyPr/>
                    <a:lstStyle/>
                    <a:p>
                      <a:pPr algn="l"/>
                      <a:r>
                        <a:rPr lang="en-IN" sz="1150" b="0" dirty="0">
                          <a:solidFill>
                            <a:srgbClr val="202020"/>
                          </a:solidFill>
                        </a:rPr>
                        <a:t>Demand-spike and supplier-failure stress tests</a:t>
                      </a:r>
                    </a:p>
                  </a:txBody>
                  <a:tcPr marL="68580" marR="68580" marT="34290" marB="34290" anchor="ctr"/>
                </a:tc>
                <a:tc>
                  <a:txBody>
                    <a:bodyPr/>
                    <a:lstStyle/>
                    <a:p>
                      <a:pPr algn="l"/>
                      <a:r>
                        <a:rPr lang="en-IN" sz="1150" b="0" dirty="0">
                          <a:solidFill>
                            <a:srgbClr val="202020"/>
                          </a:solidFill>
                        </a:rPr>
                        <a:t>Planned</a:t>
                      </a:r>
                    </a:p>
                  </a:txBody>
                  <a:tcPr marL="68580" marR="68580" marT="34290" marB="34290" anchor="ctr"/>
                </a:tc>
              </a:tr>
              <a:tr h="520000">
                <a:tc>
                  <a:txBody>
                    <a:bodyPr/>
                    <a:lstStyle/>
                    <a:p>
                      <a:pPr algn="l"/>
                      <a:r>
                        <a:rPr lang="en-IN" sz="1150" b="0" dirty="0">
                          <a:solidFill>
                            <a:srgbClr val="202020"/>
                          </a:solidFill>
                        </a:rPr>
                        <a:t>8</a:t>
                      </a:r>
                    </a:p>
                  </a:txBody>
                  <a:tcPr marL="68580" marR="68580" marT="34290" marB="34290" anchor="ctr">
                    <a:solidFill>
                      <a:srgbClr val="F2F7F3"/>
                    </a:solidFill>
                  </a:tcPr>
                </a:tc>
                <a:tc>
                  <a:txBody>
                    <a:bodyPr/>
                    <a:lstStyle/>
                    <a:p>
                      <a:pPr algn="l"/>
                      <a:r>
                        <a:rPr lang="en-IN" sz="1150" b="0" dirty="0">
                          <a:solidFill>
                            <a:srgbClr val="202020"/>
                          </a:solidFill>
                        </a:rPr>
                        <a:t>Streamlit decision-support dashboard</a:t>
                      </a:r>
                    </a:p>
                  </a:txBody>
                  <a:tcPr marL="68580" marR="68580" marT="34290" marB="34290" anchor="ctr">
                    <a:solidFill>
                      <a:srgbClr val="F2F7F3"/>
                    </a:solidFill>
                  </a:tcPr>
                </a:tc>
                <a:tc>
                  <a:txBody>
                    <a:bodyPr/>
                    <a:lstStyle/>
                    <a:p>
                      <a:pPr algn="l"/>
                      <a:r>
                        <a:rPr lang="en-IN" sz="1150" b="0" dirty="0">
                          <a:solidFill>
                            <a:srgbClr val="202020"/>
                          </a:solidFill>
                        </a:rPr>
                        <a:t>Interactive interface for a manager</a:t>
                      </a:r>
                    </a:p>
                  </a:txBody>
                  <a:tcPr marL="68580" marR="68580" marT="34290" marB="34290" anchor="ctr">
                    <a:solidFill>
                      <a:srgbClr val="F2F7F3"/>
                    </a:solidFill>
                  </a:tcPr>
                </a:tc>
                <a:tc>
                  <a:txBody>
                    <a:bodyPr/>
                    <a:lstStyle/>
                    <a:p>
                      <a:pPr algn="l"/>
                      <a:r>
                        <a:rPr lang="en-IN" sz="1150" b="0" dirty="0">
                          <a:solidFill>
                            <a:srgbClr val="202020"/>
                          </a:solidFill>
                        </a:rPr>
                        <a:t>Planned</a:t>
                      </a:r>
                    </a:p>
                  </a:txBody>
                  <a:tcPr marL="68580" marR="68580" marT="34290" marB="34290" anchor="ctr">
                    <a:solidFill>
                      <a:srgbClr val="F2F7F3"/>
                    </a:solidFill>
                  </a:tcPr>
                </a:tc>
              </a:tr>
              <a:tr h="520000">
                <a:tc>
                  <a:txBody>
                    <a:bodyPr/>
                    <a:lstStyle/>
                    <a:p>
                      <a:pPr algn="l"/>
                      <a:r>
                        <a:rPr lang="en-IN" sz="1150" b="0" dirty="0">
                          <a:solidFill>
                            <a:srgbClr val="202020"/>
                          </a:solidFill>
                        </a:rPr>
                        <a:t>9</a:t>
                      </a:r>
                    </a:p>
                  </a:txBody>
                  <a:tcPr marL="68580" marR="68580" marT="34290" marB="34290" anchor="ctr"/>
                </a:tc>
                <a:tc>
                  <a:txBody>
                    <a:bodyPr/>
                    <a:lstStyle/>
                    <a:p>
                      <a:pPr algn="l"/>
                      <a:r>
                        <a:rPr lang="en-IN" sz="1150" b="0" dirty="0">
                          <a:solidFill>
                            <a:srgbClr val="202020"/>
                          </a:solidFill>
                        </a:rPr>
                        <a:t>LLM-guided curriculum training</a:t>
                      </a:r>
                    </a:p>
                  </a:txBody>
                  <a:tcPr marL="68580" marR="68580" marT="34290" marB="34290" anchor="ctr"/>
                </a:tc>
                <a:tc>
                  <a:txBody>
                    <a:bodyPr/>
                    <a:lstStyle/>
                    <a:p>
                      <a:pPr algn="l"/>
                      <a:r>
                        <a:rPr lang="en-IN" sz="1150" b="0" dirty="0">
                          <a:solidFill>
                            <a:srgbClr val="202020"/>
                          </a:solidFill>
                        </a:rPr>
                        <a:t>Agent trained on generated hard scenarios</a:t>
                      </a:r>
                    </a:p>
                  </a:txBody>
                  <a:tcPr marL="68580" marR="68580" marT="34290" marB="34290" anchor="ctr"/>
                </a:tc>
                <a:tc>
                  <a:txBody>
                    <a:bodyPr/>
                    <a:lstStyle/>
                    <a:p>
                      <a:pPr algn="l"/>
                      <a:r>
                        <a:rPr lang="en-IN" sz="1150" b="0" dirty="0">
                          <a:solidFill>
                            <a:srgbClr val="202020"/>
                          </a:solidFill>
                        </a:rPr>
                        <a:t>Planned</a:t>
                      </a:r>
                    </a:p>
                  </a:txBody>
                  <a:tcPr marL="68580" marR="68580" marT="34290" marB="34290" anchor="ctr"/>
                </a:tc>
              </a:tr>
              <a:tr h="520000">
                <a:tc>
                  <a:txBody>
                    <a:bodyPr/>
                    <a:lstStyle/>
                    <a:p>
                      <a:pPr algn="l"/>
                      <a:r>
                        <a:rPr lang="en-IN" sz="1150" b="0" dirty="0">
                          <a:solidFill>
                            <a:srgbClr val="202020"/>
                          </a:solidFill>
                        </a:rPr>
                        <a:t>10</a:t>
                      </a:r>
                    </a:p>
                  </a:txBody>
                  <a:tcPr marL="68580" marR="68580" marT="34290" marB="34290" anchor="ctr">
                    <a:solidFill>
                      <a:srgbClr val="F2F7F3"/>
                    </a:solidFill>
                  </a:tcPr>
                </a:tc>
                <a:tc>
                  <a:txBody>
                    <a:bodyPr/>
                    <a:lstStyle/>
                    <a:p>
                      <a:pPr algn="l"/>
                      <a:r>
                        <a:rPr lang="en-IN" sz="1150" b="0" dirty="0">
                          <a:solidFill>
                            <a:srgbClr val="202020"/>
                          </a:solidFill>
                        </a:rPr>
                        <a:t>Final report and documentation</a:t>
                      </a:r>
                    </a:p>
                  </a:txBody>
                  <a:tcPr marL="68580" marR="68580" marT="34290" marB="34290" anchor="ctr">
                    <a:solidFill>
                      <a:srgbClr val="F2F7F3"/>
                    </a:solidFill>
                  </a:tcPr>
                </a:tc>
                <a:tc>
                  <a:txBody>
                    <a:bodyPr/>
                    <a:lstStyle/>
                    <a:p>
                      <a:pPr algn="l"/>
                      <a:r>
                        <a:rPr lang="en-IN" sz="1150" b="0" dirty="0">
                          <a:solidFill>
                            <a:srgbClr val="202020"/>
                          </a:solidFill>
                        </a:rPr>
                        <a:t>Written report, figures, reproducible code</a:t>
                      </a:r>
                    </a:p>
                  </a:txBody>
                  <a:tcPr marL="68580" marR="68580" marT="34290" marB="34290" anchor="ctr">
                    <a:solidFill>
                      <a:srgbClr val="F2F7F3"/>
                    </a:solidFill>
                  </a:tcPr>
                </a:tc>
                <a:tc>
                  <a:txBody>
                    <a:bodyPr/>
                    <a:lstStyle/>
                    <a:p>
                      <a:pPr algn="l"/>
                      <a:r>
                        <a:rPr lang="en-IN" sz="1150" b="0" dirty="0">
                          <a:solidFill>
                            <a:srgbClr val="202020"/>
                          </a:solidFill>
                        </a:rPr>
                        <a:t>Planned</a:t>
                      </a:r>
                    </a:p>
                  </a:txBody>
                  <a:tcPr marL="68580" marR="68580" marT="34290" marB="34290" anchor="ctr">
                    <a:solidFill>
                      <a:srgbClr val="F2F7F3"/>
                    </a:solidFill>
                  </a:tcPr>
                </a:tc>
              </a:tr>
            </a:tbl>
          </a:graphicData>
        </a:graphic>
      </p:graphicFrame>
    </p:spTree>
    <p:extLst>
      <p:ext uri="{BB962C8B-B14F-4D97-AF65-F5344CB8AC3E}">
        <p14:creationId xmlns:p14="http://schemas.microsoft.com/office/powerpoint/2010/main" val="317096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56FC5-0E3C-A6B8-635B-1F7B49A6C130}"/>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FDB453B-3A22-52C1-24DB-5B74E4377552}"/>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D6B723E1-B797-DB6E-6D5C-2DDEBD4A1AC5}"/>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BD04B0AC-25BB-0D89-3565-833F799E5A67}"/>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DDBAFA9-C5E4-4F84-A13B-188A3AEF1AB7}"/>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References</a:t>
            </a:r>
          </a:p>
        </p:txBody>
      </p:sp>
      <p:sp>
        <p:nvSpPr>
          <p:cNvPr id="3" name="Content Placeholder 2">
            <a:extLst>
              <a:ext uri="{FF2B5EF4-FFF2-40B4-BE49-F238E27FC236}">
                <a16:creationId xmlns:a16="http://schemas.microsoft.com/office/drawing/2014/main" id="{EE91D3B1-7942-40A3-F6DB-34AEA5D4611E}"/>
              </a:ext>
            </a:extLst>
          </p:cNvPr>
          <p:cNvSpPr>
            <a:spLocks noGrp="1"/>
          </p:cNvSpPr>
          <p:nvPr>
            <p:ph idx="1"/>
          </p:nvPr>
        </p:nvSpPr>
        <p:spPr>
          <a:xfrm>
            <a:off x="838198" y="1594415"/>
            <a:ext cx="10515600" cy="4600000"/>
          </a:xfrm>
        </p:spPr>
        <p:txBody>
          <a:bodyPr>
            <a:normAutofit/>
          </a:bodyPr>
          <a:lstStyle/>
          <a:p>
            <a:pPr lvl="0">
              <a:lnSpc>
                <a:spcPct val="100000"/>
              </a:lnSpc>
              <a:spcBef>
                <a:spcPts val="600"/>
              </a:spcBef>
            </a:pPr>
            <a:r>
              <a:rPr lang="en-IN" sz="1250" b="0" dirty="0"/>
              <a:t>Schulman, J., Wolski, F., Dhariwal, P., Radford, A., Klimov, O. (2017). Proximal Policy Optimization Algorithms. arXiv:1707.06347.</a:t>
            </a:r>
          </a:p>
          <a:p>
            <a:pPr lvl="0">
              <a:lnSpc>
                <a:spcPct val="100000"/>
              </a:lnSpc>
              <a:spcBef>
                <a:spcPts val="600"/>
              </a:spcBef>
            </a:pPr>
            <a:r>
              <a:rPr lang="en-IN" sz="1250" b="0" dirty="0"/>
              <a:t>Oroojlooyjadid, A., Nazari, M., Snyder, L. V., Takac, M. (2022). A Deep Q-Network for the Beer Game. Manufacturing &amp; Service Operations Management.</a:t>
            </a:r>
          </a:p>
          <a:p>
            <a:pPr lvl="0">
              <a:lnSpc>
                <a:spcPct val="100000"/>
              </a:lnSpc>
              <a:spcBef>
                <a:spcPts val="600"/>
              </a:spcBef>
            </a:pPr>
            <a:r>
              <a:rPr lang="en-IN" sz="1250" b="0" dirty="0"/>
              <a:t>Gijsbrechts, J., Boute, R. N., Van Mieghem, J. A., Zhang, D. (2022). Can Deep Reinforcement Learning Improve Inventory Management? Manufacturing &amp; Service Operations Management.</a:t>
            </a:r>
          </a:p>
          <a:p>
            <a:pPr lvl="0">
              <a:lnSpc>
                <a:spcPct val="100000"/>
              </a:lnSpc>
              <a:spcBef>
                <a:spcPts val="600"/>
              </a:spcBef>
            </a:pPr>
            <a:r>
              <a:rPr lang="en-IN" sz="1250" b="0" dirty="0"/>
              <a:t>Boute, R. N., Gijsbrechts, J., van Jaarsveld, W., Vanvuchelen, N. (2022). Deep Reinforcement Learning for Inventory Control: A Roadmap. European Journal of Operational Research.</a:t>
            </a:r>
          </a:p>
          <a:p>
            <a:pPr lvl="0">
              <a:lnSpc>
                <a:spcPct val="100000"/>
              </a:lnSpc>
              <a:spcBef>
                <a:spcPts val="600"/>
              </a:spcBef>
            </a:pPr>
            <a:r>
              <a:rPr lang="en-IN" sz="1250" b="0" dirty="0"/>
              <a:t>Huang, S., Ontanon, S. (2022). A Closer Look at Invalid Action Masking in Policy Gradient Algorithms. FLAIRS-35.</a:t>
            </a:r>
          </a:p>
          <a:p>
            <a:pPr lvl="0">
              <a:lnSpc>
                <a:spcPct val="100000"/>
              </a:lnSpc>
              <a:spcBef>
                <a:spcPts val="600"/>
              </a:spcBef>
            </a:pPr>
            <a:r>
              <a:rPr lang="en-IN" sz="1250" b="0" dirty="0"/>
              <a:t>Chen, D., Sain, S. L., Guo, K. (2012). Data mining for the online retail industry. Journal of Database Marketing &amp; Customer Strategy Management.</a:t>
            </a:r>
          </a:p>
          <a:p>
            <a:pPr lvl="0">
              <a:lnSpc>
                <a:spcPct val="100000"/>
              </a:lnSpc>
              <a:spcBef>
                <a:spcPts val="600"/>
              </a:spcBef>
            </a:pPr>
            <a:r>
              <a:rPr lang="en-IN" sz="1250" b="0" dirty="0"/>
              <a:t>Dua, D., Graff, C. Online Retail II Data Set. UCI Machine Learning Repository. https://archive.ics.uci.edu/dataset/502</a:t>
            </a:r>
          </a:p>
          <a:p>
            <a:pPr lvl="0">
              <a:lnSpc>
                <a:spcPct val="100000"/>
              </a:lnSpc>
              <a:spcBef>
                <a:spcPts val="600"/>
              </a:spcBef>
            </a:pPr>
            <a:r>
              <a:rPr lang="en-IN" sz="1250" b="0" dirty="0"/>
              <a:t>Raffin, A. et al. (2021). Stable-Baselines3: Reliable Reinforcement Learning Implementations. Journal of Machine Learning Research 22(268).</a:t>
            </a:r>
          </a:p>
        </p:txBody>
      </p:sp>
      <p:sp>
        <p:nvSpPr>
          <p:cNvPr id="19" name="Slide Number Placeholder 18">
            <a:extLst>
              <a:ext uri="{FF2B5EF4-FFF2-40B4-BE49-F238E27FC236}">
                <a16:creationId xmlns:a16="http://schemas.microsoft.com/office/drawing/2014/main" id="{B92827C7-83E9-7058-AC38-12B102F2CDB4}"/>
              </a:ext>
            </a:extLst>
          </p:cNvPr>
          <p:cNvSpPr>
            <a:spLocks noGrp="1"/>
          </p:cNvSpPr>
          <p:nvPr>
            <p:ph type="sldNum" sz="quarter" idx="12"/>
          </p:nvPr>
        </p:nvSpPr>
        <p:spPr/>
        <p:txBody>
          <a:bodyPr/>
          <a:lstStyle/>
          <a:p>
            <a:fld id="{C2216105-7B7A-4C42-B2A1-5E9A2FA4F8FD}" type="slidenum">
              <a:rPr lang="en-IN" smtClean="0"/>
              <a:t>14</a:t>
            </a:fld>
            <a:endParaRPr lang="en-IN" dirty="0"/>
          </a:p>
        </p:txBody>
      </p:sp>
    </p:spTree>
    <p:extLst>
      <p:ext uri="{BB962C8B-B14F-4D97-AF65-F5344CB8AC3E}">
        <p14:creationId xmlns:p14="http://schemas.microsoft.com/office/powerpoint/2010/main" val="999092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B8A55-5635-8705-2ED7-B5A24A0E5089}"/>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1928AD1B-6B1F-5ED7-E4CA-9F0C9B52AE56}"/>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76FD4A37-93A4-8FCC-DBB9-62D9FAFC783A}"/>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A4BFEDEC-E8DE-DA64-2F5D-41CE15570E06}"/>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801B5F-205B-C641-7ED1-D909C7B4C642}"/>
              </a:ext>
            </a:extLst>
          </p:cNvPr>
          <p:cNvSpPr>
            <a:spLocks noGrp="1"/>
          </p:cNvSpPr>
          <p:nvPr>
            <p:ph idx="1"/>
          </p:nvPr>
        </p:nvSpPr>
        <p:spPr>
          <a:xfrm>
            <a:off x="838198" y="1594415"/>
            <a:ext cx="10515600" cy="4351338"/>
          </a:xfrm>
        </p:spPr>
        <p:txBody>
          <a:bodyPr/>
          <a:lstStyle/>
          <a:p>
            <a:endParaRPr lang="en-IN" dirty="0"/>
          </a:p>
          <a:p>
            <a:endParaRPr lang="en-IN" dirty="0"/>
          </a:p>
          <a:p>
            <a:endParaRPr lang="en-IN" dirty="0"/>
          </a:p>
          <a:p>
            <a:pPr marL="3657600" lvl="8" indent="0">
              <a:buNone/>
            </a:pPr>
            <a:r>
              <a:rPr lang="en-IN" sz="5400" dirty="0"/>
              <a:t>Thank you</a:t>
            </a:r>
          </a:p>
        </p:txBody>
      </p:sp>
      <p:sp>
        <p:nvSpPr>
          <p:cNvPr id="19" name="Slide Number Placeholder 18">
            <a:extLst>
              <a:ext uri="{FF2B5EF4-FFF2-40B4-BE49-F238E27FC236}">
                <a16:creationId xmlns:a16="http://schemas.microsoft.com/office/drawing/2014/main" id="{2103796E-86B2-8297-B180-43B97BCCAD60}"/>
              </a:ext>
            </a:extLst>
          </p:cNvPr>
          <p:cNvSpPr>
            <a:spLocks noGrp="1"/>
          </p:cNvSpPr>
          <p:nvPr>
            <p:ph type="sldNum" sz="quarter" idx="12"/>
          </p:nvPr>
        </p:nvSpPr>
        <p:spPr/>
        <p:txBody>
          <a:bodyPr/>
          <a:lstStyle/>
          <a:p>
            <a:fld id="{C2216105-7B7A-4C42-B2A1-5E9A2FA4F8FD}" type="slidenum">
              <a:rPr lang="en-IN" smtClean="0"/>
              <a:t>15</a:t>
            </a:fld>
            <a:endParaRPr lang="en-IN" dirty="0"/>
          </a:p>
        </p:txBody>
      </p:sp>
    </p:spTree>
    <p:extLst>
      <p:ext uri="{BB962C8B-B14F-4D97-AF65-F5344CB8AC3E}">
        <p14:creationId xmlns:p14="http://schemas.microsoft.com/office/powerpoint/2010/main" val="1769455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3D1B-3B02-2762-5BA1-052E755654D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84365C9-E666-36EE-4DB1-04791BFC26FB}"/>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4D89FC00-7640-2DC1-0BAF-6A1DC613CF6B}"/>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170CA935-25F2-6478-C664-35BFDF7E813C}"/>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804C7A-5A65-0B7B-02CE-9C44C0E40DAE}"/>
              </a:ext>
            </a:extLst>
          </p:cNvPr>
          <p:cNvSpPr>
            <a:spLocks noGrp="1"/>
          </p:cNvSpPr>
          <p:nvPr>
            <p:ph type="title"/>
          </p:nvPr>
        </p:nvSpPr>
        <p:spPr>
          <a:xfrm>
            <a:off x="838198" y="171711"/>
            <a:ext cx="10515600" cy="1325563"/>
          </a:xfrm>
        </p:spPr>
        <p:txBody>
          <a:bodyPr/>
          <a:lstStyle/>
          <a:p>
            <a:r>
              <a:rPr lang="en-IN" dirty="0">
                <a:solidFill>
                  <a:schemeClr val="accent1">
                    <a:lumMod val="50000"/>
                  </a:schemeClr>
                </a:solidFill>
              </a:rPr>
              <a:t>System Architecture</a:t>
            </a:r>
            <a:br>
              <a:rPr lang="en-IN" dirty="0">
                <a:solidFill>
                  <a:schemeClr val="accent1">
                    <a:lumMod val="50000"/>
                  </a:schemeClr>
                </a:solidFill>
              </a:rPr>
            </a:br>
            <a:endParaRPr lang="en-IN" dirty="0"/>
          </a:p>
        </p:txBody>
      </p:sp>
      <p:sp>
        <p:nvSpPr>
          <p:cNvPr id="19" name="Slide Number Placeholder 18">
            <a:extLst>
              <a:ext uri="{FF2B5EF4-FFF2-40B4-BE49-F238E27FC236}">
                <a16:creationId xmlns:a16="http://schemas.microsoft.com/office/drawing/2014/main" id="{9B6D94B3-8D6F-6862-5C85-C28EA1FEBFFD}"/>
              </a:ext>
            </a:extLst>
          </p:cNvPr>
          <p:cNvSpPr>
            <a:spLocks noGrp="1"/>
          </p:cNvSpPr>
          <p:nvPr>
            <p:ph type="sldNum" sz="quarter" idx="12"/>
          </p:nvPr>
        </p:nvSpPr>
        <p:spPr/>
        <p:txBody>
          <a:bodyPr/>
          <a:lstStyle/>
          <a:p>
            <a:fld id="{C2216105-7B7A-4C42-B2A1-5E9A2FA4F8FD}" type="slidenum">
              <a:rPr lang="en-IN" smtClean="0"/>
              <a:t>3</a:t>
            </a:fld>
            <a:endParaRPr lang="en-IN" dirty="0"/>
          </a:p>
        </p:txBody>
      </p:sp>
      <p:sp>
        <p:nvSpPr>
          <p:cNvPr id="300" name="Box 300"/>
          <p:cNvSpPr/>
          <p:nvPr/>
        </p:nvSpPr>
        <p:spPr>
          <a:xfrm>
            <a:off x="838198" y="1520000"/>
            <a:ext cx="1943120" cy="2300000"/>
          </a:xfrm>
          <a:prstGeom prst="roundRect">
            <a:avLst>
              <a:gd name="adj" fmla="val 10000"/>
            </a:avLst>
          </a:prstGeom>
          <a:solidFill>
            <a:srgbClr val="F5F5F7"/>
          </a:solidFill>
          <a:ln w="12700">
            <a:solidFill>
              <a:srgbClr val="D5D5DC"/>
            </a:solidFill>
          </a:ln>
        </p:spPr>
        <p:txBody>
          <a:bodyPr anchor="t" lIns="91440" rIns="91440" tIns="45720" bIns="45720">
            <a:normAutofit/>
          </a:bodyPr>
          <a:lstStyle/>
          <a:p>
            <a:pPr algn="ctr">
              <a:lnSpc>
                <a:spcPct val="95000"/>
              </a:lnSpc>
              <a:buNone/>
            </a:pPr>
            <a:r>
              <a:rPr lang="en-IN" sz="1050" b="1" dirty="0">
                <a:solidFill>
                  <a:srgbClr val="3A3A44"/>
                </a:solidFill>
                <a:latin typeface="Calibri"/>
              </a:rPr>
              <a:t>DAILY STATE</a:t>
            </a:r>
          </a:p>
          <a:p>
            <a:pPr algn="ctr">
              <a:lnSpc>
                <a:spcPct val="95000"/>
              </a:lnSpc>
              <a:buNone/>
            </a:pPr>
            <a:r>
              <a:rPr lang="en-IN" sz="1050" b="1" dirty="0">
                <a:solidFill>
                  <a:srgbClr val="3A3A44"/>
                </a:solidFill>
                <a:latin typeface="Calibri"/>
              </a:rPr>
              <a:t>one day, t of 180</a:t>
            </a:r>
          </a:p>
          <a:p>
            <a:pPr algn="ctr">
              <a:lnSpc>
                <a:spcPct val="95000"/>
              </a:lnSpc>
              <a:buNone/>
            </a:pPr>
            <a:r>
              <a:rPr lang="en-IN" sz="800" b="0" dirty="0">
                <a:solidFill>
                  <a:srgbClr val="5A5A66"/>
                </a:solidFill>
                <a:latin typeface="Calibri"/>
              </a:rPr>
              <a:t>what the agent sees</a:t>
            </a:r>
          </a:p>
        </p:txBody>
      </p:sp>
      <p:sp>
        <p:nvSpPr>
          <p:cNvPr id="301" name="Box 301"/>
          <p:cNvSpPr/>
          <p:nvPr/>
        </p:nvSpPr>
        <p:spPr>
          <a:xfrm>
            <a:off x="938198" y="2340000"/>
            <a:ext cx="1743120" cy="1370000"/>
          </a:xfrm>
          <a:prstGeom prst="roundRect">
            <a:avLst>
              <a:gd name="adj" fmla="val 10000"/>
            </a:avLst>
          </a:prstGeom>
          <a:solidFill>
            <a:srgbClr val="FFFFFF"/>
          </a:solidFill>
          <a:ln w="12700">
            <a:solidFill>
              <a:srgbClr val="D5D5DC"/>
            </a:solidFill>
          </a:ln>
        </p:spPr>
        <p:txBody>
          <a:bodyPr anchor="ctr" lIns="91440" rIns="91440" tIns="45720" bIns="45720">
            <a:normAutofit/>
          </a:bodyPr>
          <a:lstStyle/>
          <a:p>
            <a:pPr algn="l">
              <a:lnSpc>
                <a:spcPct val="95000"/>
              </a:lnSpc>
              <a:buNone/>
            </a:pPr>
            <a:r>
              <a:rPr lang="en-IN" sz="750" b="0" dirty="0">
                <a:solidFill>
                  <a:srgbClr val="5A5A66"/>
                </a:solidFill>
                <a:latin typeface="Calibri"/>
              </a:rPr>
              <a:t>10 products</a:t>
            </a:r>
          </a:p>
          <a:p>
            <a:pPr algn="l">
              <a:lnSpc>
                <a:spcPct val="95000"/>
              </a:lnSpc>
              <a:buNone/>
            </a:pPr>
            <a:r>
              <a:rPr lang="en-IN" sz="750" b="0" dirty="0">
                <a:solidFill>
                  <a:srgbClr val="5A5A66"/>
                </a:solidFill>
                <a:latin typeface="Calibri"/>
              </a:rPr>
              <a:t>3 suppliers</a:t>
            </a:r>
          </a:p>
          <a:p>
            <a:pPr algn="l">
              <a:lnSpc>
                <a:spcPct val="95000"/>
              </a:lnSpc>
              <a:buNone/>
            </a:pPr>
            <a:r>
              <a:rPr lang="en-IN" sz="750" b="0" dirty="0">
                <a:solidFill>
                  <a:srgbClr val="5A5A66"/>
                </a:solidFill>
                <a:latin typeface="Calibri"/>
              </a:rPr>
              <a:t>stock on hand</a:t>
            </a:r>
          </a:p>
          <a:p>
            <a:pPr algn="l">
              <a:lnSpc>
                <a:spcPct val="95000"/>
              </a:lnSpc>
              <a:buNone/>
            </a:pPr>
            <a:r>
              <a:rPr lang="en-IN" sz="750" b="0" dirty="0">
                <a:solidFill>
                  <a:srgbClr val="5A5A66"/>
                </a:solidFill>
                <a:latin typeface="Calibri"/>
              </a:rPr>
              <a:t>orders in transit</a:t>
            </a:r>
          </a:p>
        </p:txBody>
      </p:sp>
      <p:sp>
        <p:nvSpPr>
          <p:cNvPr id="310" name="Box 310"/>
          <p:cNvSpPr/>
          <p:nvPr/>
        </p:nvSpPr>
        <p:spPr>
          <a:xfrm>
            <a:off x="2981318" y="1520000"/>
            <a:ext cx="1943120" cy="2300000"/>
          </a:xfrm>
          <a:prstGeom prst="roundRect">
            <a:avLst>
              <a:gd name="adj" fmla="val 10000"/>
            </a:avLst>
          </a:prstGeom>
          <a:solidFill>
            <a:srgbClr val="E8F3EC"/>
          </a:solidFill>
          <a:ln w="12700">
            <a:solidFill>
              <a:srgbClr val="8FBFA3"/>
            </a:solidFill>
          </a:ln>
        </p:spPr>
        <p:txBody>
          <a:bodyPr anchor="t" lIns="91440" rIns="91440" tIns="45720" bIns="45720">
            <a:normAutofit/>
          </a:bodyPr>
          <a:lstStyle/>
          <a:p>
            <a:pPr algn="ctr">
              <a:lnSpc>
                <a:spcPct val="95000"/>
              </a:lnSpc>
              <a:buNone/>
            </a:pPr>
            <a:r>
              <a:rPr lang="en-IN" sz="1050" b="1" dirty="0">
                <a:solidFill>
                  <a:srgbClr val="1A6B3C"/>
                </a:solidFill>
                <a:latin typeface="Calibri"/>
              </a:rPr>
              <a:t>1. DEMAND</a:t>
            </a:r>
          </a:p>
          <a:p>
            <a:pPr algn="ctr">
              <a:lnSpc>
                <a:spcPct val="95000"/>
              </a:lnSpc>
              <a:buNone/>
            </a:pPr>
            <a:r>
              <a:rPr lang="en-IN" sz="1050" b="1" dirty="0">
                <a:solidFill>
                  <a:srgbClr val="1A6B3C"/>
                </a:solidFill>
                <a:latin typeface="Calibri"/>
              </a:rPr>
              <a:t>CALIBRATION</a:t>
            </a:r>
          </a:p>
          <a:p>
            <a:pPr algn="ctr">
              <a:lnSpc>
                <a:spcPct val="95000"/>
              </a:lnSpc>
              <a:buNone/>
            </a:pPr>
            <a:r>
              <a:rPr lang="en-IN" sz="800" b="0" dirty="0">
                <a:solidFill>
                  <a:srgbClr val="3D6B50"/>
                </a:solidFill>
                <a:latin typeface="Calibri"/>
              </a:rPr>
              <a:t>UCI Online Retail II</a:t>
            </a:r>
          </a:p>
        </p:txBody>
      </p:sp>
      <p:sp>
        <p:nvSpPr>
          <p:cNvPr id="311" name="Box 311"/>
          <p:cNvSpPr/>
          <p:nvPr/>
        </p:nvSpPr>
        <p:spPr>
          <a:xfrm>
            <a:off x="3081318" y="2340000"/>
            <a:ext cx="1743120" cy="1370000"/>
          </a:xfrm>
          <a:prstGeom prst="roundRect">
            <a:avLst>
              <a:gd name="adj" fmla="val 10000"/>
            </a:avLst>
          </a:prstGeom>
          <a:solidFill>
            <a:srgbClr val="FFFFFF"/>
          </a:solidFill>
          <a:ln w="12700">
            <a:solidFill>
              <a:srgbClr val="8FBFA3"/>
            </a:solidFill>
          </a:ln>
        </p:spPr>
        <p:txBody>
          <a:bodyPr anchor="ctr" lIns="91440" rIns="91440" tIns="45720" bIns="45720">
            <a:normAutofit/>
          </a:bodyPr>
          <a:lstStyle/>
          <a:p>
            <a:pPr algn="l">
              <a:lnSpc>
                <a:spcPct val="95000"/>
              </a:lnSpc>
              <a:buNone/>
            </a:pPr>
            <a:r>
              <a:rPr lang="en-IN" sz="750" b="0" dirty="0">
                <a:solidFill>
                  <a:srgbClr val="3D6B50"/>
                </a:solidFill>
                <a:latin typeface="Calibri"/>
              </a:rPr>
              <a:t>1,067,371 transactions cleaned</a:t>
            </a:r>
          </a:p>
          <a:p>
            <a:pPr algn="l">
              <a:lnSpc>
                <a:spcPct val="95000"/>
              </a:lnSpc>
              <a:buNone/>
            </a:pPr>
            <a:r>
              <a:rPr lang="en-IN" sz="750" b="0" dirty="0">
                <a:solidFill>
                  <a:srgbClr val="3D6B50"/>
                </a:solidFill>
                <a:latin typeface="Calibri"/>
              </a:rPr>
              <a:t>Gamma-Poisson demand fitted</a:t>
            </a:r>
          </a:p>
          <a:p>
            <a:pPr algn="l">
              <a:lnSpc>
                <a:spcPct val="95000"/>
              </a:lnSpc>
              <a:buNone/>
            </a:pPr>
            <a:r>
              <a:rPr lang="en-IN" sz="750" b="0" dirty="0">
                <a:solidFill>
                  <a:srgbClr val="3D6B50"/>
                </a:solidFill>
                <a:latin typeface="Calibri"/>
              </a:rPr>
              <a:t>weekday and month factors</a:t>
            </a:r>
          </a:p>
          <a:p>
            <a:pPr algn="l">
              <a:lnSpc>
                <a:spcPct val="95000"/>
              </a:lnSpc>
              <a:buNone/>
            </a:pPr>
            <a:r>
              <a:rPr lang="en-IN" sz="750" b="0" dirty="0">
                <a:solidFill>
                  <a:srgbClr val="3D6B50"/>
                </a:solidFill>
                <a:latin typeface="Calibri"/>
              </a:rPr>
              <a:t>variance about 216x the mean</a:t>
            </a:r>
          </a:p>
          <a:p>
            <a:pPr algn="l">
              <a:lnSpc>
                <a:spcPct val="95000"/>
              </a:lnSpc>
              <a:buNone/>
            </a:pPr>
            <a:r>
              <a:rPr lang="en-IN" sz="750" b="0" dirty="0">
                <a:solidFill>
                  <a:srgbClr val="3D6B50"/>
                </a:solidFill>
                <a:latin typeface="Calibri"/>
              </a:rPr>
              <a:t>fitted before 1 Jun 2011 only</a:t>
            </a:r>
          </a:p>
        </p:txBody>
      </p:sp>
      <p:sp>
        <p:nvSpPr>
          <p:cNvPr id="320" name="Box 320"/>
          <p:cNvSpPr/>
          <p:nvPr/>
        </p:nvSpPr>
        <p:spPr>
          <a:xfrm>
            <a:off x="5124438" y="1520000"/>
            <a:ext cx="1943120" cy="2300000"/>
          </a:xfrm>
          <a:prstGeom prst="roundRect">
            <a:avLst>
              <a:gd name="adj" fmla="val 10000"/>
            </a:avLst>
          </a:prstGeom>
          <a:solidFill>
            <a:srgbClr val="E6EEF8"/>
          </a:solidFill>
          <a:ln w="12700">
            <a:solidFill>
              <a:srgbClr val="9BB4D6"/>
            </a:solidFill>
          </a:ln>
        </p:spPr>
        <p:txBody>
          <a:bodyPr anchor="t" lIns="91440" rIns="91440" tIns="45720" bIns="45720">
            <a:normAutofit/>
          </a:bodyPr>
          <a:lstStyle/>
          <a:p>
            <a:pPr algn="ctr">
              <a:lnSpc>
                <a:spcPct val="95000"/>
              </a:lnSpc>
              <a:buNone/>
            </a:pPr>
            <a:r>
              <a:rPr lang="en-IN" sz="1050" b="1" dirty="0">
                <a:solidFill>
                  <a:srgbClr val="1F4E79"/>
                </a:solidFill>
                <a:latin typeface="Calibri"/>
              </a:rPr>
              <a:t>2. SUPPLY CHAIN</a:t>
            </a:r>
          </a:p>
          <a:p>
            <a:pPr algn="ctr">
              <a:lnSpc>
                <a:spcPct val="95000"/>
              </a:lnSpc>
              <a:buNone/>
            </a:pPr>
            <a:r>
              <a:rPr lang="en-IN" sz="1050" b="1" dirty="0">
                <a:solidFill>
                  <a:srgbClr val="1F4E79"/>
                </a:solidFill>
                <a:latin typeface="Calibri"/>
              </a:rPr>
              <a:t>SIMULATOR</a:t>
            </a:r>
          </a:p>
          <a:p>
            <a:pPr algn="ctr">
              <a:lnSpc>
                <a:spcPct val="95000"/>
              </a:lnSpc>
              <a:buNone/>
            </a:pPr>
            <a:r>
              <a:rPr lang="en-IN" sz="800" b="0" dirty="0">
                <a:solidFill>
                  <a:srgbClr val="3C5F80"/>
                </a:solidFill>
                <a:latin typeface="Calibri"/>
              </a:rPr>
              <a:t>Gymnasium environment</a:t>
            </a:r>
          </a:p>
        </p:txBody>
      </p:sp>
      <p:sp>
        <p:nvSpPr>
          <p:cNvPr id="321" name="Box 321"/>
          <p:cNvSpPr/>
          <p:nvPr/>
        </p:nvSpPr>
        <p:spPr>
          <a:xfrm>
            <a:off x="5224438" y="2340000"/>
            <a:ext cx="1743120" cy="1370000"/>
          </a:xfrm>
          <a:prstGeom prst="roundRect">
            <a:avLst>
              <a:gd name="adj" fmla="val 10000"/>
            </a:avLst>
          </a:prstGeom>
          <a:solidFill>
            <a:srgbClr val="FFFFFF"/>
          </a:solidFill>
          <a:ln w="12700">
            <a:solidFill>
              <a:srgbClr val="9BB4D6"/>
            </a:solidFill>
          </a:ln>
        </p:spPr>
        <p:txBody>
          <a:bodyPr anchor="ctr" lIns="91440" rIns="91440" tIns="45720" bIns="45720">
            <a:normAutofit/>
          </a:bodyPr>
          <a:lstStyle/>
          <a:p>
            <a:pPr algn="l">
              <a:lnSpc>
                <a:spcPct val="95000"/>
              </a:lnSpc>
              <a:buNone/>
            </a:pPr>
            <a:r>
              <a:rPr lang="en-IN" sz="750" b="0" dirty="0">
                <a:solidFill>
                  <a:srgbClr val="3C5F80"/>
                </a:solidFill>
                <a:latin typeface="Calibri"/>
              </a:rPr>
              <a:t>3 suppliers, 1-8 day lead time</a:t>
            </a:r>
          </a:p>
          <a:p>
            <a:pPr algn="l">
              <a:lnSpc>
                <a:spcPct val="95000"/>
              </a:lnSpc>
              <a:buNone/>
            </a:pPr>
            <a:r>
              <a:rPr lang="en-IN" sz="750" b="0" dirty="0">
                <a:solidFill>
                  <a:srgbClr val="3C5F80"/>
                </a:solidFill>
                <a:latin typeface="Calibri"/>
              </a:rPr>
              <a:t>80-98% fill rate, MOQ, outages</a:t>
            </a:r>
          </a:p>
          <a:p>
            <a:pPr algn="l">
              <a:lnSpc>
                <a:spcPct val="95000"/>
              </a:lnSpc>
              <a:buNone/>
            </a:pPr>
            <a:r>
              <a:rPr lang="en-IN" sz="750" b="0" dirty="0">
                <a:solidFill>
                  <a:srgbClr val="3C5F80"/>
                </a:solidFill>
                <a:latin typeface="Calibri"/>
              </a:rPr>
              <a:t>one shared 20,000-unit store</a:t>
            </a:r>
          </a:p>
          <a:p>
            <a:pPr algn="l">
              <a:lnSpc>
                <a:spcPct val="95000"/>
              </a:lnSpc>
              <a:buNone/>
            </a:pPr>
            <a:r>
              <a:rPr lang="en-IN" sz="750" b="0" dirty="0">
                <a:solidFill>
                  <a:srgbClr val="3C5F80"/>
                </a:solidFill>
                <a:latin typeface="Calibri"/>
              </a:rPr>
              <a:t>revenue, holding, ordering,</a:t>
            </a:r>
          </a:p>
          <a:p>
            <a:pPr algn="l">
              <a:lnSpc>
                <a:spcPct val="95000"/>
              </a:lnSpc>
              <a:buNone/>
            </a:pPr>
            <a:r>
              <a:rPr lang="en-IN" sz="750" b="0" dirty="0">
                <a:solidFill>
                  <a:srgbClr val="3C5F80"/>
                </a:solidFill>
                <a:latin typeface="Calibri"/>
              </a:rPr>
              <a:t>lost-sale and overflow costs</a:t>
            </a:r>
          </a:p>
        </p:txBody>
      </p:sp>
      <p:sp>
        <p:nvSpPr>
          <p:cNvPr id="330" name="Box 330"/>
          <p:cNvSpPr/>
          <p:nvPr/>
        </p:nvSpPr>
        <p:spPr>
          <a:xfrm>
            <a:off x="7267558" y="1520000"/>
            <a:ext cx="1943120" cy="2300000"/>
          </a:xfrm>
          <a:prstGeom prst="roundRect">
            <a:avLst>
              <a:gd name="adj" fmla="val 10000"/>
            </a:avLst>
          </a:prstGeom>
          <a:solidFill>
            <a:srgbClr val="FDF3E0"/>
          </a:solidFill>
          <a:ln w="12700">
            <a:solidFill>
              <a:srgbClr val="DCBE86"/>
            </a:solidFill>
          </a:ln>
        </p:spPr>
        <p:txBody>
          <a:bodyPr anchor="t" lIns="91440" rIns="91440" tIns="45720" bIns="45720">
            <a:normAutofit/>
          </a:bodyPr>
          <a:lstStyle/>
          <a:p>
            <a:pPr algn="ctr">
              <a:lnSpc>
                <a:spcPct val="95000"/>
              </a:lnSpc>
              <a:buNone/>
            </a:pPr>
            <a:r>
              <a:rPr lang="en-IN" sz="1050" b="1" dirty="0">
                <a:solidFill>
                  <a:srgbClr val="8A5A00"/>
                </a:solidFill>
                <a:latin typeface="Calibri"/>
              </a:rPr>
              <a:t>3. STATE FEATURE</a:t>
            </a:r>
          </a:p>
          <a:p>
            <a:pPr algn="ctr">
              <a:lnSpc>
                <a:spcPct val="95000"/>
              </a:lnSpc>
              <a:buNone/>
            </a:pPr>
            <a:r>
              <a:rPr lang="en-IN" sz="1050" b="1" dirty="0">
                <a:solidFill>
                  <a:srgbClr val="8A5A00"/>
                </a:solidFill>
                <a:latin typeface="Calibri"/>
              </a:rPr>
              <a:t>EXTRACTION</a:t>
            </a:r>
          </a:p>
          <a:p>
            <a:pPr algn="ctr">
              <a:lnSpc>
                <a:spcPct val="95000"/>
              </a:lnSpc>
              <a:buNone/>
            </a:pPr>
            <a:r>
              <a:rPr lang="en-IN" sz="800" b="0" dirty="0">
                <a:solidFill>
                  <a:srgbClr val="6E5220"/>
                </a:solidFill>
                <a:latin typeface="Calibri"/>
              </a:rPr>
              <a:t>88 values, rebuilt daily</a:t>
            </a:r>
          </a:p>
        </p:txBody>
      </p:sp>
      <p:sp>
        <p:nvSpPr>
          <p:cNvPr id="331" name="Box 331"/>
          <p:cNvSpPr/>
          <p:nvPr/>
        </p:nvSpPr>
        <p:spPr>
          <a:xfrm>
            <a:off x="7367558" y="2340000"/>
            <a:ext cx="1743120" cy="1370000"/>
          </a:xfrm>
          <a:prstGeom prst="roundRect">
            <a:avLst>
              <a:gd name="adj" fmla="val 10000"/>
            </a:avLst>
          </a:prstGeom>
          <a:solidFill>
            <a:srgbClr val="FFFFFF"/>
          </a:solidFill>
          <a:ln w="12700">
            <a:solidFill>
              <a:srgbClr val="DCBE86"/>
            </a:solidFill>
          </a:ln>
        </p:spPr>
        <p:txBody>
          <a:bodyPr anchor="ctr" lIns="91440" rIns="91440" tIns="45720" bIns="45720">
            <a:normAutofit/>
          </a:bodyPr>
          <a:lstStyle/>
          <a:p>
            <a:pPr algn="l">
              <a:lnSpc>
                <a:spcPct val="95000"/>
              </a:lnSpc>
              <a:buNone/>
            </a:pPr>
            <a:r>
              <a:rPr lang="en-IN" sz="750" b="0" dirty="0">
                <a:solidFill>
                  <a:srgbClr val="6E5220"/>
                </a:solidFill>
                <a:latin typeface="Calibri"/>
              </a:rPr>
              <a:t>stock, in transit, days of cover</a:t>
            </a:r>
          </a:p>
          <a:p>
            <a:pPr algn="l">
              <a:lnSpc>
                <a:spcPct val="95000"/>
              </a:lnSpc>
              <a:buNone/>
            </a:pPr>
            <a:r>
              <a:rPr lang="en-IN" sz="750" b="0" dirty="0">
                <a:solidFill>
                  <a:srgbClr val="6E5220"/>
                </a:solidFill>
                <a:latin typeface="Calibri"/>
              </a:rPr>
              <a:t>7-day mean, volatility, trend</a:t>
            </a:r>
          </a:p>
          <a:p>
            <a:pPr algn="l">
              <a:lnSpc>
                <a:spcPct val="95000"/>
              </a:lnSpc>
              <a:buNone/>
            </a:pPr>
            <a:r>
              <a:rPr lang="en-IN" sz="750" b="0" dirty="0">
                <a:solidFill>
                  <a:srgbClr val="6E5220"/>
                </a:solidFill>
                <a:latin typeface="Calibri"/>
              </a:rPr>
              <a:t>unmet backlog per product</a:t>
            </a:r>
          </a:p>
          <a:p>
            <a:pPr algn="l">
              <a:lnSpc>
                <a:spcPct val="95000"/>
              </a:lnSpc>
              <a:buNone/>
            </a:pPr>
            <a:r>
              <a:rPr lang="en-IN" sz="750" b="0" dirty="0">
                <a:solidFill>
                  <a:srgbClr val="6E5220"/>
                </a:solidFill>
                <a:latin typeface="Calibri"/>
              </a:rPr>
              <a:t>weekday and season</a:t>
            </a:r>
          </a:p>
          <a:p>
            <a:pPr algn="l">
              <a:lnSpc>
                <a:spcPct val="95000"/>
              </a:lnSpc>
              <a:buNone/>
            </a:pPr>
            <a:r>
              <a:rPr lang="en-IN" sz="750" b="0" dirty="0">
                <a:solidFill>
                  <a:srgbClr val="6E5220"/>
                </a:solidFill>
                <a:latin typeface="Calibri"/>
              </a:rPr>
              <a:t>supplier lead time and fill</a:t>
            </a:r>
          </a:p>
        </p:txBody>
      </p:sp>
      <p:sp>
        <p:nvSpPr>
          <p:cNvPr id="340" name="Box 340"/>
          <p:cNvSpPr/>
          <p:nvPr/>
        </p:nvSpPr>
        <p:spPr>
          <a:xfrm>
            <a:off x="9410678" y="1520000"/>
            <a:ext cx="1943120" cy="2300000"/>
          </a:xfrm>
          <a:prstGeom prst="roundRect">
            <a:avLst>
              <a:gd name="adj" fmla="val 10000"/>
            </a:avLst>
          </a:prstGeom>
          <a:solidFill>
            <a:srgbClr val="F0E9F7"/>
          </a:solidFill>
          <a:ln w="12700">
            <a:solidFill>
              <a:srgbClr val="B9A2D4"/>
            </a:solidFill>
          </a:ln>
        </p:spPr>
        <p:txBody>
          <a:bodyPr anchor="t" lIns="91440" rIns="91440" tIns="45720" bIns="45720">
            <a:normAutofit/>
          </a:bodyPr>
          <a:lstStyle/>
          <a:p>
            <a:pPr algn="ctr">
              <a:lnSpc>
                <a:spcPct val="95000"/>
              </a:lnSpc>
              <a:buNone/>
            </a:pPr>
            <a:r>
              <a:rPr lang="en-IN" sz="1050" b="1" dirty="0">
                <a:solidFill>
                  <a:srgbClr val="5B3E8E"/>
                </a:solidFill>
                <a:latin typeface="Calibri"/>
              </a:rPr>
              <a:t>4. MASKABLE PPO</a:t>
            </a:r>
          </a:p>
          <a:p>
            <a:pPr algn="ctr">
              <a:lnSpc>
                <a:spcPct val="95000"/>
              </a:lnSpc>
              <a:buNone/>
            </a:pPr>
            <a:r>
              <a:rPr lang="en-IN" sz="1050" b="1" dirty="0">
                <a:solidFill>
                  <a:srgbClr val="5B3E8E"/>
                </a:solidFill>
                <a:latin typeface="Calibri"/>
              </a:rPr>
              <a:t>AGENT</a:t>
            </a:r>
          </a:p>
          <a:p>
            <a:pPr algn="ctr">
              <a:lnSpc>
                <a:spcPct val="95000"/>
              </a:lnSpc>
              <a:buNone/>
            </a:pPr>
            <a:r>
              <a:rPr lang="en-IN" sz="800" b="0" dirty="0">
                <a:solidFill>
                  <a:srgbClr val="5A4A70"/>
                </a:solidFill>
                <a:latin typeface="Calibri"/>
              </a:rPr>
              <a:t>the learned policy</a:t>
            </a:r>
          </a:p>
        </p:txBody>
      </p:sp>
      <p:sp>
        <p:nvSpPr>
          <p:cNvPr id="341" name="Box 341"/>
          <p:cNvSpPr/>
          <p:nvPr/>
        </p:nvSpPr>
        <p:spPr>
          <a:xfrm>
            <a:off x="9510678" y="2340000"/>
            <a:ext cx="1743120" cy="1370000"/>
          </a:xfrm>
          <a:prstGeom prst="roundRect">
            <a:avLst>
              <a:gd name="adj" fmla="val 10000"/>
            </a:avLst>
          </a:prstGeom>
          <a:solidFill>
            <a:srgbClr val="FFFFFF"/>
          </a:solidFill>
          <a:ln w="12700">
            <a:solidFill>
              <a:srgbClr val="B9A2D4"/>
            </a:solidFill>
          </a:ln>
        </p:spPr>
        <p:txBody>
          <a:bodyPr anchor="ctr" lIns="91440" rIns="91440" tIns="45720" bIns="45720">
            <a:normAutofit/>
          </a:bodyPr>
          <a:lstStyle/>
          <a:p>
            <a:pPr algn="l">
              <a:lnSpc>
                <a:spcPct val="95000"/>
              </a:lnSpc>
              <a:buNone/>
            </a:pPr>
            <a:r>
              <a:rPr lang="en-IN" sz="750" b="0" dirty="0">
                <a:solidFill>
                  <a:srgbClr val="5A4A70"/>
                </a:solidFill>
                <a:latin typeface="Calibri"/>
              </a:rPr>
              <a:t>input: the 88 features</a:t>
            </a:r>
          </a:p>
          <a:p>
            <a:pPr algn="l">
              <a:lnSpc>
                <a:spcPct val="95000"/>
              </a:lnSpc>
              <a:buNone/>
            </a:pPr>
            <a:r>
              <a:rPr lang="en-IN" sz="750" b="0" dirty="0">
                <a:solidFill>
                  <a:srgbClr val="5A4A70"/>
                </a:solidFill>
                <a:latin typeface="Calibri"/>
              </a:rPr>
              <a:t>MLP, two 256-unit layers</a:t>
            </a:r>
          </a:p>
          <a:p>
            <a:pPr algn="l">
              <a:lnSpc>
                <a:spcPct val="95000"/>
              </a:lnSpc>
              <a:buNone/>
            </a:pPr>
            <a:r>
              <a:rPr lang="en-IN" sz="750" b="0" dirty="0">
                <a:solidFill>
                  <a:srgbClr val="5A4A70"/>
                </a:solidFill>
                <a:latin typeface="Calibri"/>
              </a:rPr>
              <a:t>21 choices per product:</a:t>
            </a:r>
          </a:p>
          <a:p>
            <a:pPr algn="l">
              <a:lnSpc>
                <a:spcPct val="95000"/>
              </a:lnSpc>
              <a:buNone/>
            </a:pPr>
            <a:r>
              <a:rPr lang="en-IN" sz="750" b="0" dirty="0">
                <a:solidFill>
                  <a:srgbClr val="5A4A70"/>
                </a:solidFill>
                <a:latin typeface="Calibri"/>
              </a:rPr>
              <a:t>7 quantities x 3 suppliers</a:t>
            </a:r>
          </a:p>
          <a:p>
            <a:pPr algn="l">
              <a:lnSpc>
                <a:spcPct val="95000"/>
              </a:lnSpc>
              <a:buNone/>
            </a:pPr>
            <a:r>
              <a:rPr lang="en-IN" sz="750" b="0" dirty="0">
                <a:solidFill>
                  <a:srgbClr val="5A4A70"/>
                </a:solidFill>
                <a:latin typeface="Calibri"/>
              </a:rPr>
              <a:t>illegal choices masked out</a:t>
            </a:r>
          </a:p>
        </p:txBody>
      </p:sp>
      <p:sp>
        <p:nvSpPr>
          <p:cNvPr id="350" name="Arrow 350"/>
          <p:cNvSpPr/>
          <p:nvPr/>
        </p:nvSpPr>
        <p:spPr>
          <a:xfrm>
            <a:off x="2801318" y="2600000"/>
            <a:ext cx="160000" cy="140000"/>
          </a:xfrm>
          <a:prstGeom prst="rightArrow">
            <a:avLst/>
          </a:prstGeom>
          <a:solidFill>
            <a:srgbClr val="9BB7A5"/>
          </a:solidFill>
          <a:ln>
            <a:noFill/>
          </a:ln>
        </p:spPr>
        <p:txBody>
          <a:bodyPr/>
          <a:lstStyle/>
          <a:p/>
        </p:txBody>
      </p:sp>
      <p:sp>
        <p:nvSpPr>
          <p:cNvPr id="351" name="Arrow 351"/>
          <p:cNvSpPr/>
          <p:nvPr/>
        </p:nvSpPr>
        <p:spPr>
          <a:xfrm>
            <a:off x="4944438" y="2600000"/>
            <a:ext cx="160000" cy="140000"/>
          </a:xfrm>
          <a:prstGeom prst="rightArrow">
            <a:avLst/>
          </a:prstGeom>
          <a:solidFill>
            <a:srgbClr val="9BB7A5"/>
          </a:solidFill>
          <a:ln>
            <a:noFill/>
          </a:ln>
        </p:spPr>
        <p:txBody>
          <a:bodyPr/>
          <a:lstStyle/>
          <a:p/>
        </p:txBody>
      </p:sp>
      <p:sp>
        <p:nvSpPr>
          <p:cNvPr id="352" name="Arrow 352"/>
          <p:cNvSpPr/>
          <p:nvPr/>
        </p:nvSpPr>
        <p:spPr>
          <a:xfrm>
            <a:off x="7087558" y="2600000"/>
            <a:ext cx="160000" cy="140000"/>
          </a:xfrm>
          <a:prstGeom prst="rightArrow">
            <a:avLst/>
          </a:prstGeom>
          <a:solidFill>
            <a:srgbClr val="9BB7A5"/>
          </a:solidFill>
          <a:ln>
            <a:noFill/>
          </a:ln>
        </p:spPr>
        <p:txBody>
          <a:bodyPr/>
          <a:lstStyle/>
          <a:p/>
        </p:txBody>
      </p:sp>
      <p:sp>
        <p:nvSpPr>
          <p:cNvPr id="353" name="Arrow 353"/>
          <p:cNvSpPr/>
          <p:nvPr/>
        </p:nvSpPr>
        <p:spPr>
          <a:xfrm>
            <a:off x="9230678" y="2600000"/>
            <a:ext cx="160000" cy="140000"/>
          </a:xfrm>
          <a:prstGeom prst="rightArrow">
            <a:avLst/>
          </a:prstGeom>
          <a:solidFill>
            <a:srgbClr val="9BB7A5"/>
          </a:solidFill>
          <a:ln>
            <a:noFill/>
          </a:ln>
        </p:spPr>
        <p:txBody>
          <a:bodyPr/>
          <a:lstStyle/>
          <a:p/>
        </p:txBody>
      </p:sp>
      <p:sp>
        <p:nvSpPr>
          <p:cNvPr id="360" name="Arrow 360"/>
          <p:cNvSpPr/>
          <p:nvPr/>
        </p:nvSpPr>
        <p:spPr>
          <a:xfrm>
            <a:off x="9796458" y="3830000"/>
            <a:ext cx="160000" cy="200000"/>
          </a:xfrm>
          <a:prstGeom prst="downArrow">
            <a:avLst/>
          </a:prstGeom>
          <a:solidFill>
            <a:srgbClr val="9BB7A5"/>
          </a:solidFill>
          <a:ln>
            <a:noFill/>
          </a:ln>
        </p:spPr>
        <p:txBody>
          <a:bodyPr/>
          <a:lstStyle/>
          <a:p/>
        </p:txBody>
      </p:sp>
      <p:sp>
        <p:nvSpPr>
          <p:cNvPr id="361" name="Arrow 361"/>
          <p:cNvSpPr/>
          <p:nvPr/>
        </p:nvSpPr>
        <p:spPr>
          <a:xfrm>
            <a:off x="10808018" y="3830000"/>
            <a:ext cx="160000" cy="200000"/>
          </a:xfrm>
          <a:prstGeom prst="downArrow">
            <a:avLst/>
          </a:prstGeom>
          <a:solidFill>
            <a:srgbClr val="9BB7A5"/>
          </a:solidFill>
          <a:ln>
            <a:noFill/>
          </a:ln>
        </p:spPr>
        <p:txBody>
          <a:bodyPr/>
          <a:lstStyle/>
          <a:p/>
        </p:txBody>
      </p:sp>
      <p:sp>
        <p:nvSpPr>
          <p:cNvPr id="362" name="Box 362"/>
          <p:cNvSpPr/>
          <p:nvPr/>
        </p:nvSpPr>
        <p:spPr>
          <a:xfrm>
            <a:off x="9410678" y="4050000"/>
            <a:ext cx="931560" cy="520000"/>
          </a:xfrm>
          <a:prstGeom prst="roundRect">
            <a:avLst>
              <a:gd name="adj" fmla="val 10000"/>
            </a:avLst>
          </a:prstGeom>
          <a:solidFill>
            <a:srgbClr val="E8F5E9"/>
          </a:solidFill>
          <a:ln w="12700">
            <a:solidFill>
              <a:srgbClr val="7CB342"/>
            </a:solidFill>
          </a:ln>
        </p:spPr>
        <p:txBody>
          <a:bodyPr anchor="ctr" lIns="91440" rIns="91440" tIns="45720" bIns="45720">
            <a:normAutofit/>
          </a:bodyPr>
          <a:lstStyle/>
          <a:p>
            <a:pPr algn="ctr">
              <a:lnSpc>
                <a:spcPct val="95000"/>
              </a:lnSpc>
              <a:buNone/>
            </a:pPr>
            <a:r>
              <a:rPr lang="en-IN" sz="1000" b="1" dirty="0">
                <a:solidFill>
                  <a:srgbClr val="2E7D32"/>
                </a:solidFill>
                <a:latin typeface="Calibri"/>
              </a:rPr>
              <a:t>ORDER</a:t>
            </a:r>
          </a:p>
          <a:p>
            <a:pPr algn="ctr">
              <a:lnSpc>
                <a:spcPct val="95000"/>
              </a:lnSpc>
              <a:buNone/>
            </a:pPr>
            <a:r>
              <a:rPr lang="en-IN" sz="700" b="0" dirty="0">
                <a:solidFill>
                  <a:srgbClr val="2E7D32"/>
                </a:solidFill>
                <a:latin typeface="Calibri"/>
              </a:rPr>
              <a:t>qty + supplier</a:t>
            </a:r>
          </a:p>
        </p:txBody>
      </p:sp>
      <p:sp>
        <p:nvSpPr>
          <p:cNvPr id="363" name="Box 363"/>
          <p:cNvSpPr/>
          <p:nvPr/>
        </p:nvSpPr>
        <p:spPr>
          <a:xfrm>
            <a:off x="10422238" y="4050000"/>
            <a:ext cx="931560" cy="520000"/>
          </a:xfrm>
          <a:prstGeom prst="roundRect">
            <a:avLst>
              <a:gd name="adj" fmla="val 10000"/>
            </a:avLst>
          </a:prstGeom>
          <a:solidFill>
            <a:srgbClr val="F3F4F6"/>
          </a:solidFill>
          <a:ln w="12700">
            <a:solidFill>
              <a:srgbClr val="B8BDC4"/>
            </a:solidFill>
          </a:ln>
        </p:spPr>
        <p:txBody>
          <a:bodyPr anchor="ctr" lIns="91440" rIns="91440" tIns="45720" bIns="45720">
            <a:normAutofit/>
          </a:bodyPr>
          <a:lstStyle/>
          <a:p>
            <a:pPr algn="ctr">
              <a:lnSpc>
                <a:spcPct val="95000"/>
              </a:lnSpc>
              <a:buNone/>
            </a:pPr>
            <a:r>
              <a:rPr lang="en-IN" sz="1000" b="1" dirty="0">
                <a:solidFill>
                  <a:srgbClr val="44484F"/>
                </a:solidFill>
                <a:latin typeface="Calibri"/>
              </a:rPr>
              <a:t>HOLD</a:t>
            </a:r>
          </a:p>
          <a:p>
            <a:pPr algn="ctr">
              <a:lnSpc>
                <a:spcPct val="95000"/>
              </a:lnSpc>
              <a:buNone/>
            </a:pPr>
            <a:r>
              <a:rPr lang="en-IN" sz="700" b="0" dirty="0">
                <a:solidFill>
                  <a:srgbClr val="44484F"/>
                </a:solidFill>
                <a:latin typeface="Calibri"/>
              </a:rPr>
              <a:t>no order today</a:t>
            </a:r>
          </a:p>
        </p:txBody>
      </p:sp>
      <p:sp>
        <p:nvSpPr>
          <p:cNvPr id="370" name="Box 370"/>
          <p:cNvSpPr/>
          <p:nvPr/>
        </p:nvSpPr>
        <p:spPr>
          <a:xfrm>
            <a:off x="6095998" y="4290000"/>
            <a:ext cx="3354680" cy="38100"/>
          </a:xfrm>
          <a:prstGeom prst="roundRect">
            <a:avLst>
              <a:gd name="adj" fmla="val 10000"/>
            </a:avLst>
          </a:prstGeom>
          <a:solidFill>
            <a:srgbClr val="9BB4D6"/>
          </a:solidFill>
          <a:ln w="12700">
            <a:solidFill>
              <a:srgbClr val="9BB4D6"/>
            </a:solidFill>
          </a:ln>
        </p:spPr>
        <p:txBody>
          <a:bodyPr anchor="ctr" lIns="91440" rIns="91440" tIns="45720" bIns="45720">
            <a:normAutofit/>
          </a:bodyPr>
          <a:lstStyle/>
          <a:p/>
        </p:txBody>
      </p:sp>
      <p:sp>
        <p:nvSpPr>
          <p:cNvPr id="371" name="Arrow 371"/>
          <p:cNvSpPr/>
          <p:nvPr/>
        </p:nvSpPr>
        <p:spPr>
          <a:xfrm>
            <a:off x="6015998" y="3830000"/>
            <a:ext cx="160000" cy="470000"/>
          </a:xfrm>
          <a:prstGeom prst="downArrow">
            <a:avLst/>
          </a:prstGeom>
          <a:solidFill>
            <a:srgbClr val="9BB7A5"/>
          </a:solidFill>
          <a:ln>
            <a:noFill/>
          </a:ln>
        </p:spPr>
        <p:txBody>
          <a:bodyPr/>
          <a:lstStyle/>
          <a:p/>
        </p:txBody>
      </p:sp>
      <p:sp>
        <p:nvSpPr>
          <p:cNvPr id="372" name="Text 372"/>
          <p:cNvSpPr txBox="1"/>
          <p:nvPr/>
        </p:nvSpPr>
        <p:spPr>
          <a:xfrm>
            <a:off x="6175998" y="4340000"/>
            <a:ext cx="3154680" cy="300000"/>
          </a:xfrm>
          <a:prstGeom prst="rect">
            <a:avLst/>
          </a:prstGeom>
        </p:spPr>
        <p:txBody>
          <a:bodyPr wrap="square" lIns="0" rIns="0">
            <a:normAutofit/>
          </a:bodyPr>
          <a:lstStyle/>
          <a:p>
            <a:pPr lvl="0">
              <a:lnSpc>
                <a:spcPct val="100000"/>
              </a:lnSpc>
              <a:spcBef>
                <a:spcPts val="600"/>
              </a:spcBef>
              <a:buNone/>
            </a:pPr>
            <a:r>
              <a:rPr lang="en-IN" sz="800" b="0" dirty="0">
                <a:solidFill>
                  <a:srgbClr val="3C5F80"/>
                </a:solidFill>
              </a:rPr>
              <a:t>action applied, next day begins</a:t>
            </a:r>
          </a:p>
        </p:txBody>
      </p:sp>
      <p:sp>
        <p:nvSpPr>
          <p:cNvPr id="380" name="Arrow 380"/>
          <p:cNvSpPr/>
          <p:nvPr/>
        </p:nvSpPr>
        <p:spPr>
          <a:xfrm>
            <a:off x="9796458" y="4590000"/>
            <a:ext cx="160000" cy="400000"/>
          </a:xfrm>
          <a:prstGeom prst="downArrow">
            <a:avLst/>
          </a:prstGeom>
          <a:solidFill>
            <a:srgbClr val="9BB7A5"/>
          </a:solidFill>
          <a:ln>
            <a:noFill/>
          </a:ln>
        </p:spPr>
        <p:txBody>
          <a:bodyPr/>
          <a:lstStyle/>
          <a:p/>
        </p:txBody>
      </p:sp>
      <p:sp>
        <p:nvSpPr>
          <p:cNvPr id="381" name="Box 381"/>
          <p:cNvSpPr/>
          <p:nvPr/>
        </p:nvSpPr>
        <p:spPr>
          <a:xfrm>
            <a:off x="7450000" y="5000000"/>
            <a:ext cx="3903798" cy="800000"/>
          </a:xfrm>
          <a:prstGeom prst="roundRect">
            <a:avLst>
              <a:gd name="adj" fmla="val 10000"/>
            </a:avLst>
          </a:prstGeom>
          <a:solidFill>
            <a:srgbClr val="E3F2FD"/>
          </a:solidFill>
          <a:ln w="12700">
            <a:solidFill>
              <a:srgbClr val="7BAEDC"/>
            </a:solidFill>
          </a:ln>
        </p:spPr>
        <p:txBody>
          <a:bodyPr anchor="ctr" lIns="91440" rIns="91440" tIns="45720" bIns="45720">
            <a:normAutofit/>
          </a:bodyPr>
          <a:lstStyle/>
          <a:p>
            <a:pPr algn="ctr">
              <a:lnSpc>
                <a:spcPct val="95000"/>
              </a:lnSpc>
              <a:buNone/>
            </a:pPr>
            <a:r>
              <a:rPr lang="en-IN" sz="1050" b="1" dirty="0">
                <a:solidFill>
                  <a:srgbClr val="0D47A1"/>
                </a:solidFill>
                <a:latin typeface="Calibri"/>
              </a:rPr>
              <a:t>EPISODE OUTCOME</a:t>
            </a:r>
          </a:p>
          <a:p>
            <a:pPr algn="ctr">
              <a:lnSpc>
                <a:spcPct val="95000"/>
              </a:lnSpc>
              <a:buNone/>
            </a:pPr>
            <a:r>
              <a:rPr lang="en-IN" sz="800" b="0" dirty="0">
                <a:solidFill>
                  <a:srgbClr val="1B5E8A"/>
                </a:solidFill>
                <a:latin typeface="Calibri"/>
              </a:rPr>
              <a:t>180 days of profit, scored on 30 held-out seeds</a:t>
            </a:r>
          </a:p>
          <a:p>
            <a:pPr algn="ctr">
              <a:lnSpc>
                <a:spcPct val="95000"/>
              </a:lnSpc>
              <a:buNone/>
            </a:pPr>
            <a:r>
              <a:rPr lang="en-IN" sz="800" b="0" dirty="0">
                <a:solidFill>
                  <a:srgbClr val="1B5E8A"/>
                </a:solidFill>
                <a:latin typeface="Calibri"/>
              </a:rPr>
              <a:t>against four grid-search tuned classical policies</a:t>
            </a:r>
          </a:p>
        </p:txBody>
      </p:sp>
      <p:sp>
        <p:nvSpPr>
          <p:cNvPr id="390" name="Box 390"/>
          <p:cNvSpPr/>
          <p:nvPr/>
        </p:nvSpPr>
        <p:spPr>
          <a:xfrm>
            <a:off x="838198" y="4750000"/>
            <a:ext cx="6411802" cy="1450000"/>
          </a:xfrm>
          <a:prstGeom prst="roundRect">
            <a:avLst>
              <a:gd name="adj" fmla="val 10000"/>
            </a:avLst>
          </a:prstGeom>
          <a:solidFill>
            <a:srgbClr val="FAFAFC"/>
          </a:solidFill>
          <a:ln w="12700">
            <a:solidFill>
              <a:srgbClr val="E0E0E8"/>
            </a:solidFill>
          </a:ln>
        </p:spPr>
        <p:txBody>
          <a:bodyPr anchor="ctr" lIns="91440" rIns="91440" tIns="45720" bIns="45720">
            <a:normAutofit/>
          </a:bodyPr>
          <a:lstStyle/>
          <a:p/>
        </p:txBody>
      </p:sp>
      <p:sp>
        <p:nvSpPr>
          <p:cNvPr id="391" name="Text 391"/>
          <p:cNvSpPr txBox="1"/>
          <p:nvPr/>
        </p:nvSpPr>
        <p:spPr>
          <a:xfrm>
            <a:off x="998198" y="4870000"/>
            <a:ext cx="6091802" cy="1220000"/>
          </a:xfrm>
          <a:prstGeom prst="rect">
            <a:avLst/>
          </a:prstGeom>
        </p:spPr>
        <p:txBody>
          <a:bodyPr wrap="square" lIns="0" rIns="0">
            <a:normAutofit/>
          </a:bodyPr>
          <a:lstStyle/>
          <a:p>
            <a:pPr lvl="0">
              <a:lnSpc>
                <a:spcPct val="100000"/>
              </a:lnSpc>
              <a:spcBef>
                <a:spcPts val="600"/>
              </a:spcBef>
              <a:buNone/>
            </a:pPr>
            <a:r>
              <a:rPr lang="en-IN" sz="900" b="1" dirty="0">
                <a:solidFill>
                  <a:srgbClr val="3A3A44"/>
                </a:solidFill>
              </a:rPr>
              <a:t>HOW IT WORKS</a:t>
            </a:r>
          </a:p>
          <a:p>
            <a:pPr lvl="0">
              <a:lnSpc>
                <a:spcPct val="100000"/>
              </a:lnSpc>
              <a:spcBef>
                <a:spcPts val="600"/>
              </a:spcBef>
              <a:buNone/>
            </a:pPr>
            <a:r>
              <a:rPr lang="en-IN" sz="800" b="0" dirty="0">
                <a:solidFill>
                  <a:srgbClr val="44484F"/>
                </a:solidFill>
              </a:rPr>
              <a:t>Real sales history is reduced to demand statistics, which drive the simulator. Each simulated day the simulator hands the agent 88 numbers describing stock, demand and supplier health.</a:t>
            </a:r>
          </a:p>
          <a:p>
            <a:pPr lvl="0">
              <a:lnSpc>
                <a:spcPct val="100000"/>
              </a:lnSpc>
              <a:spcBef>
                <a:spcPts val="600"/>
              </a:spcBef>
              <a:buNone/>
            </a:pPr>
            <a:r>
              <a:rPr lang="en-IN" sz="800" b="0" dirty="0">
                <a:solidFill>
                  <a:srgbClr val="44484F"/>
                </a:solidFill>
              </a:rPr>
              <a:t>The agent picks a quantity and a supplier for all 10 products at once; illegal choices are blocked before it chooses. The simulator applies the order, returns that day's profit, and the loop repeats for 180 days.</a:t>
            </a:r>
          </a:p>
          <a:p>
            <a:pPr lvl="0">
              <a:lnSpc>
                <a:spcPct val="100000"/>
              </a:lnSpc>
              <a:spcBef>
                <a:spcPts val="600"/>
              </a:spcBef>
              <a:buNone/>
            </a:pPr>
            <a:r>
              <a:rPr lang="en-IN" sz="800" b="1" dirty="0">
                <a:solidFill>
                  <a:srgbClr val="7A5210"/>
                </a:solidFill>
              </a:rPr>
              <a:t>Next phase: an LLM turns each decision into a business-language explanation, and generates the disruption scenarios used to stress test it.</a:t>
            </a:r>
          </a:p>
        </p:txBody>
      </p:sp>
    </p:spTree>
    <p:extLst>
      <p:ext uri="{BB962C8B-B14F-4D97-AF65-F5344CB8AC3E}">
        <p14:creationId xmlns:p14="http://schemas.microsoft.com/office/powerpoint/2010/main" val="3949777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89B3-0AC1-5F52-E096-BD003D7629A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1F72107-6428-FBDB-6F2C-7FBFD9CA0434}"/>
              </a:ext>
            </a:extLst>
          </p:cNvPr>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a:extLst>
              <a:ext uri="{FF2B5EF4-FFF2-40B4-BE49-F238E27FC236}">
                <a16:creationId xmlns:a16="http://schemas.microsoft.com/office/drawing/2014/main" id="{EED6AF64-D2C2-CFB1-A34D-E86A88546498}"/>
              </a:ext>
            </a:extLst>
          </p:cNvPr>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a:ea typeface="Times New Roman"/>
                <a:cs typeface="Times New Roman"/>
                <a:sym typeface="Times New Roman"/>
              </a:rPr>
              <a:t>[</a:t>
            </a:r>
            <a:r>
              <a:rPr lang="en-IN" sz="1600" b="1" dirty="0">
                <a:solidFill>
                  <a:srgbClr val="081271"/>
                </a:solidFill>
                <a:latin typeface="Times New Roman"/>
                <a:ea typeface="Times New Roman"/>
                <a:cs typeface="Times New Roman"/>
                <a:sym typeface="Times New Roman"/>
              </a:rPr>
              <a:t>Mid Project Review]</a:t>
            </a:r>
            <a:r>
              <a:rPr lang="en-IN" sz="1600" b="1" i="0" u="none" strike="noStrike" cap="none" dirty="0">
                <a:solidFill>
                  <a:srgbClr val="081271"/>
                </a:solidFill>
                <a:latin typeface="Times New Roman"/>
                <a:ea typeface="Times New Roman"/>
                <a:cs typeface="Times New Roman"/>
                <a:sym typeface="Times New Roman"/>
              </a:rPr>
              <a:t>     </a:t>
            </a:r>
            <a:endParaRPr sz="1600" b="1" i="0" u="none" strike="noStrike" cap="none" dirty="0">
              <a:solidFill>
                <a:srgbClr val="081271"/>
              </a:solidFill>
              <a:latin typeface="Times New Roman"/>
              <a:ea typeface="Times New Roman"/>
              <a:cs typeface="Times New Roman"/>
              <a:sym typeface="Times New Roman"/>
            </a:endParaRPr>
          </a:p>
        </p:txBody>
      </p:sp>
      <p:cxnSp>
        <p:nvCxnSpPr>
          <p:cNvPr id="16" name="Straight Connector 15">
            <a:extLst>
              <a:ext uri="{FF2B5EF4-FFF2-40B4-BE49-F238E27FC236}">
                <a16:creationId xmlns:a16="http://schemas.microsoft.com/office/drawing/2014/main" id="{ACADAE92-4334-30CF-A6D8-858502055ABC}"/>
              </a:ext>
            </a:extLst>
          </p:cNvPr>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5548835-4273-B718-93B0-8DBB45552593}"/>
              </a:ext>
            </a:extLst>
          </p:cNvPr>
          <p:cNvSpPr>
            <a:spLocks noGrp="1"/>
          </p:cNvSpPr>
          <p:nvPr>
            <p:ph type="title"/>
          </p:nvPr>
        </p:nvSpPr>
        <p:spPr>
          <a:xfrm>
            <a:off x="838198" y="-201435"/>
            <a:ext cx="10515600" cy="1325563"/>
          </a:xfrm>
        </p:spPr>
        <p:txBody>
          <a:bodyPr>
            <a:normAutofit/>
          </a:bodyPr>
          <a:lstStyle/>
          <a:p>
            <a:br>
              <a:rPr lang="en-IN" dirty="0">
                <a:solidFill>
                  <a:schemeClr val="accent1">
                    <a:lumMod val="50000"/>
                  </a:schemeClr>
                </a:solidFill>
              </a:rPr>
            </a:br>
            <a:r>
              <a:rPr lang="en-IN" dirty="0">
                <a:solidFill>
                  <a:schemeClr val="accent1">
                    <a:lumMod val="50000"/>
                  </a:schemeClr>
                </a:solidFill>
              </a:rPr>
              <a:t>Preliminary Results and Discussion</a:t>
            </a:r>
          </a:p>
        </p:txBody>
      </p:sp>
      <p:sp>
        <p:nvSpPr>
          <p:cNvPr id="19" name="Slide Number Placeholder 18">
            <a:extLst>
              <a:ext uri="{FF2B5EF4-FFF2-40B4-BE49-F238E27FC236}">
                <a16:creationId xmlns:a16="http://schemas.microsoft.com/office/drawing/2014/main" id="{A15E0039-7212-15DF-9782-04DF472BED60}"/>
              </a:ext>
            </a:extLst>
          </p:cNvPr>
          <p:cNvSpPr>
            <a:spLocks noGrp="1"/>
          </p:cNvSpPr>
          <p:nvPr>
            <p:ph type="sldNum" sz="quarter" idx="12"/>
          </p:nvPr>
        </p:nvSpPr>
        <p:spPr/>
        <p:txBody>
          <a:bodyPr/>
          <a:lstStyle/>
          <a:p>
            <a:fld id="{C2216105-7B7A-4C42-B2A1-5E9A2FA4F8FD}" type="slidenum">
              <a:rPr lang="en-IN" smtClean="0"/>
              <a:t>11</a:t>
            </a:fld>
            <a:endParaRPr lang="en-IN" dirty="0"/>
          </a:p>
        </p:txBody>
      </p:sp>
      <p:pic>
        <p:nvPicPr>
          <p:cNvPr id="200" name="Picture 200"/>
          <p:cNvPicPr>
            <a:picLocks noChangeAspect="1"/>
          </p:cNvPicPr>
          <p:nvPr/>
        </p:nvPicPr>
        <p:blipFill>
          <a:blip r:embed="rIdFigA"/>
          <a:stretch>
            <a:fillRect/>
          </a:stretch>
        </p:blipFill>
        <p:spPr>
          <a:xfrm>
            <a:off x="838198" y="2050000"/>
            <a:ext cx="5100000" cy="2588636"/>
          </a:xfrm>
          <a:prstGeom prst="rect">
            <a:avLst/>
          </a:prstGeom>
          <a:ln w="9525">
            <a:solidFill>
              <a:srgbClr val="C8D8CC"/>
            </a:solidFill>
          </a:ln>
        </p:spPr>
      </p:pic>
      <p:pic>
        <p:nvPicPr>
          <p:cNvPr id="201" name="Picture 201"/>
          <p:cNvPicPr>
            <a:picLocks noChangeAspect="1"/>
          </p:cNvPicPr>
          <p:nvPr/>
        </p:nvPicPr>
        <p:blipFill>
          <a:blip r:embed="rIdFigB"/>
          <a:stretch>
            <a:fillRect/>
          </a:stretch>
        </p:blipFill>
        <p:spPr>
          <a:xfrm>
            <a:off x="6253798" y="2050000"/>
            <a:ext cx="5100000" cy="2463068"/>
          </a:xfrm>
          <a:prstGeom prst="rect">
            <a:avLst/>
          </a:prstGeom>
          <a:ln w="9525">
            <a:solidFill>
              <a:srgbClr val="C8D8CC"/>
            </a:solidFill>
          </a:ln>
        </p:spPr>
      </p:pic>
      <p:sp>
        <p:nvSpPr>
          <p:cNvPr id="210" name="Text 210"/>
          <p:cNvSpPr txBox="1"/>
          <p:nvPr/>
        </p:nvSpPr>
        <p:spPr>
          <a:xfrm>
            <a:off x="838198" y="4950000"/>
            <a:ext cx="10515600" cy="1200000"/>
          </a:xfrm>
          <a:prstGeom prst="rect">
            <a:avLst/>
          </a:prstGeom>
        </p:spPr>
        <p:txBody>
          <a:bodyPr wrap="square" lIns="0" rIns="0">
            <a:normAutofit/>
          </a:bodyPr>
          <a:lstStyle/>
          <a:p>
            <a:pPr lvl="0">
              <a:lnSpc>
                <a:spcPct val="100000"/>
              </a:lnSpc>
              <a:spcBef>
                <a:spcPts val="600"/>
              </a:spcBef>
              <a:buNone/>
            </a:pPr>
            <a:r>
              <a:rPr lang="en-IN" sz="1150" b="0" dirty="0">
                <a:solidFill>
                  <a:srgbClr val="202020"/>
                </a:solidFill>
              </a:rPr>
              <a:t>Left: every policy on the 30 held-out reporting seeds. The tuned agent sits third, above two classical policies; the spread across seeds is wide enough that only a paired test can settle the ordering.</a:t>
            </a:r>
          </a:p>
          <a:p>
            <a:pPr lvl="0">
              <a:lnSpc>
                <a:spcPct val="100000"/>
              </a:lnSpc>
              <a:spcBef>
                <a:spcPts val="600"/>
              </a:spcBef>
              <a:buNone/>
            </a:pPr>
            <a:r>
              <a:rPr lang="en-IN" sz="1150" b="0" dirty="0">
                <a:solidFill>
                  <a:srgbClr val="202020"/>
                </a:solidFill>
              </a:rPr>
              <a:t>Right: learning progress on the training-eval seeds. Masking lifts the whole curve; tuning lifts it again and trains to 2M steps. The tuned run flattens just under the classical reference line rather than crossing it.</a:t>
            </a:r>
          </a:p>
        </p:txBody>
      </p:sp>
      <p:sp>
        <p:nvSpPr>
          <p:cNvPr id="211" name="Text 211"/>
          <p:cNvSpPr txBox="1"/>
          <p:nvPr/>
        </p:nvSpPr>
        <p:spPr>
          <a:xfrm>
            <a:off x="838198" y="1594415"/>
            <a:ext cx="10515600" cy="400000"/>
          </a:xfrm>
          <a:prstGeom prst="rect">
            <a:avLst/>
          </a:prstGeom>
        </p:spPr>
        <p:txBody>
          <a:bodyPr wrap="square" lIns="0" rIns="0">
            <a:normAutofit/>
          </a:bodyPr>
          <a:lstStyle/>
          <a:p>
            <a:pPr lvl="0">
              <a:lnSpc>
                <a:spcPct val="100000"/>
              </a:lnSpc>
              <a:spcBef>
                <a:spcPts val="600"/>
              </a:spcBef>
              <a:buNone/>
            </a:pPr>
            <a:r>
              <a:rPr lang="en-IN" sz="1400" b="0" dirty="0">
                <a:solidFill>
                  <a:srgbClr val="0D5A28"/>
                </a:solidFill>
              </a:rPr>
              <a:t>Visual evidence for the numbers on the previous slide, generated directly from the stored result files.</a:t>
            </a:r>
          </a:p>
        </p:txBody>
      </p:sp>
    </p:spTree>
    <p:extLst>
      <p:ext uri="{BB962C8B-B14F-4D97-AF65-F5344CB8AC3E}">
        <p14:creationId xmlns:p14="http://schemas.microsoft.com/office/powerpoint/2010/main" val="1306294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404</TotalTime>
  <Words>189</Words>
  <Application>Microsoft Office PowerPoint</Application>
  <PresentationFormat>Widescreen</PresentationFormat>
  <Paragraphs>74</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Calibri Light</vt:lpstr>
      <vt:lpstr>Times New Roman</vt:lpstr>
      <vt:lpstr>Office Theme</vt:lpstr>
      <vt:lpstr>PowerPoint Presentation</vt:lpstr>
      <vt:lpstr>Outline </vt:lpstr>
      <vt:lpstr>Introduction and Motivation </vt:lpstr>
      <vt:lpstr>Problem Definition </vt:lpstr>
      <vt:lpstr>Literature Review </vt:lpstr>
      <vt:lpstr>Gaps Identified </vt:lpstr>
      <vt:lpstr>Objectives </vt:lpstr>
      <vt:lpstr>Methodology </vt:lpstr>
      <vt:lpstr>Dataset Description</vt:lpstr>
      <vt:lpstr> Preliminary Results and Discussion</vt:lpstr>
      <vt:lpstr> Preliminary Results and Discussion</vt:lpstr>
      <vt:lpstr>Interim Summary/Conclusion</vt:lpstr>
      <vt:lpstr>Completion plan for the next phase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Jyothish Lal G - [CEN} Amrita Vishwa Vidyapeetham.</cp:lastModifiedBy>
  <cp:revision>45</cp:revision>
  <dcterms:created xsi:type="dcterms:W3CDTF">2023-07-03T07:55:31Z</dcterms:created>
  <dcterms:modified xsi:type="dcterms:W3CDTF">2026-07-28T09:22:06Z</dcterms:modified>
</cp:coreProperties>
</file>