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media/image2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handoutMasterIdLst>
    <p:handoutMasterId r:id="rId22"/>
  </p:handoutMasterIdLst>
  <p:sldIdLst>
    <p:sldId id="256" r:id="rId3"/>
    <p:sldId id="290" r:id="rId5"/>
    <p:sldId id="291" r:id="rId6"/>
    <p:sldId id="292" r:id="rId7"/>
    <p:sldId id="293" r:id="rId8"/>
    <p:sldId id="294" r:id="rId9"/>
    <p:sldId id="295" r:id="rId10"/>
    <p:sldId id="296" r:id="rId11"/>
    <p:sldId id="307" r:id="rId12"/>
    <p:sldId id="297" r:id="rId13"/>
    <p:sldId id="309" r:id="rId14"/>
    <p:sldId id="298" r:id="rId15"/>
    <p:sldId id="305" r:id="rId16"/>
    <p:sldId id="308" r:id="rId17"/>
    <p:sldId id="306" r:id="rId18"/>
    <p:sldId id="300" r:id="rId19"/>
    <p:sldId id="302" r:id="rId20"/>
    <p:sldId id="304" r:id="rId2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  <a:srgbClr val="1A9B46"/>
    <a:srgbClr val="18AD4A"/>
    <a:srgbClr val="081271"/>
    <a:srgbClr val="FFFB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20016" autoAdjust="0"/>
    <p:restoredTop sz="94660"/>
  </p:normalViewPr>
  <p:slideViewPr>
    <p:cSldViewPr snapToGrid="0">
      <p:cViewPr varScale="1">
        <p:scale>
          <a:sx n="82" d="100"/>
          <a:sy n="82" d="100"/>
        </p:scale>
        <p:origin x="490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5" Type="http://schemas.openxmlformats.org/officeDocument/2006/relationships/tableStyles" Target="tableStyles.xml"/><Relationship Id="rId24" Type="http://schemas.openxmlformats.org/officeDocument/2006/relationships/viewProps" Target="viewProps.xml"/><Relationship Id="rId23" Type="http://schemas.openxmlformats.org/officeDocument/2006/relationships/presProps" Target="presProps.xml"/><Relationship Id="rId22" Type="http://schemas.openxmlformats.org/officeDocument/2006/relationships/handoutMaster" Target="handoutMasters/handoutMaster1.xml"/><Relationship Id="rId21" Type="http://schemas.openxmlformats.org/officeDocument/2006/relationships/slide" Target="slides/slide18.xml"/><Relationship Id="rId20" Type="http://schemas.openxmlformats.org/officeDocument/2006/relationships/slide" Target="slides/slide17.xml"/><Relationship Id="rId2" Type="http://schemas.openxmlformats.org/officeDocument/2006/relationships/theme" Target="theme/theme1.xml"/><Relationship Id="rId19" Type="http://schemas.openxmlformats.org/officeDocument/2006/relationships/slide" Target="slides/slide16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56333AC-344F-40AF-9E99-79D0BF1BA136}" type="datetimeFigureOut">
              <a:rPr lang="en-IN" smtClean="0"/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r>
              <a:rPr lang="en-IN"/>
              <a:t>Speech Processing</a:t>
            </a:r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AE13A14-01DD-4442-9BD4-9CC7EED32526}" type="slidenum">
              <a:rPr lang="en-IN" smtClean="0"/>
            </a:fld>
            <a:endParaRPr lang="en-I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792E8E5-BD41-4FE3-96D2-635440A77753}" type="datetimeFigureOut">
              <a:rPr lang="en-IN" smtClean="0"/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r>
              <a:rPr lang="en-IN"/>
              <a:t>Speech Processing</a:t>
            </a:r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669347C-ECC5-466E-9761-F92650021703}" type="slidenum">
              <a:rPr lang="en-IN" smtClean="0"/>
            </a:fld>
            <a:endParaRPr lang="en-I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6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7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69347C-ECC5-466E-9761-F92650021703}" type="slidenum">
              <a:rPr lang="en-IN" smtClean="0"/>
            </a:fld>
            <a:endParaRPr lang="en-IN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69347C-ECC5-466E-9761-F92650021703}" type="slidenum">
              <a:rPr lang="en-IN" smtClean="0"/>
            </a:fld>
            <a:endParaRPr lang="en-IN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69347C-ECC5-466E-9761-F92650021703}" type="slidenum">
              <a:rPr lang="en-IN" smtClean="0"/>
            </a:fld>
            <a:endParaRPr lang="en-IN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69347C-ECC5-466E-9761-F92650021703}" type="slidenum">
              <a:rPr lang="en-IN" smtClean="0"/>
            </a:fld>
            <a:endParaRPr lang="en-IN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69347C-ECC5-466E-9761-F92650021703}" type="slidenum">
              <a:rPr lang="en-IN" smtClean="0"/>
            </a:fld>
            <a:endParaRPr lang="en-IN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69347C-ECC5-466E-9761-F92650021703}" type="slidenum">
              <a:rPr lang="en-IN" smtClean="0"/>
            </a:fld>
            <a:endParaRPr lang="en-IN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69347C-ECC5-466E-9761-F92650021703}" type="slidenum">
              <a:rPr lang="en-IN" smtClean="0"/>
            </a:fld>
            <a:endParaRPr lang="en-IN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69347C-ECC5-466E-9761-F92650021703}" type="slidenum">
              <a:rPr lang="en-IN" smtClean="0"/>
            </a:fld>
            <a:endParaRPr lang="en-IN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69347C-ECC5-466E-9761-F92650021703}" type="slidenum">
              <a:rPr lang="en-IN" smtClean="0"/>
            </a:fld>
            <a:endParaRPr lang="en-IN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69347C-ECC5-466E-9761-F92650021703}" type="slidenum">
              <a:rPr lang="en-IN" smtClean="0"/>
            </a:fld>
            <a:endParaRPr lang="en-IN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69347C-ECC5-466E-9761-F92650021703}" type="slidenum">
              <a:rPr lang="en-IN" smtClean="0"/>
            </a:fld>
            <a:endParaRPr lang="en-IN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69347C-ECC5-466E-9761-F92650021703}" type="slidenum">
              <a:rPr lang="en-IN" smtClean="0"/>
            </a:fld>
            <a:endParaRPr lang="en-IN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69347C-ECC5-466E-9761-F92650021703}" type="slidenum">
              <a:rPr lang="en-IN" smtClean="0"/>
            </a:fld>
            <a:endParaRPr lang="en-IN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69347C-ECC5-466E-9761-F92650021703}" type="slidenum">
              <a:rPr lang="en-IN" smtClean="0"/>
            </a:fld>
            <a:endParaRPr lang="en-IN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69347C-ECC5-466E-9761-F92650021703}" type="slidenum">
              <a:rPr lang="en-IN" smtClean="0"/>
            </a:fld>
            <a:endParaRPr lang="en-IN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dirty="0"/>
              <a:t>Click to edit Master title style</a:t>
            </a:r>
            <a:endParaRPr lang="en-IN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E2F458-B665-432D-ACF1-3C56F813001B}" type="datetime1">
              <a:rPr lang="en-IN" smtClean="0"/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dirty="0"/>
              <a:t>Speech Processing</a:t>
            </a:r>
            <a:endParaRPr lang="en-IN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216105-7B7A-4C42-B2A1-5E9A2FA4F8FD}" type="slidenum">
              <a:rPr lang="en-IN" smtClean="0"/>
            </a:fld>
            <a:endParaRPr lang="en-IN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6C15BD-94E4-4067-8A33-3C6EC4BD0B33}" type="datetime1">
              <a:rPr lang="en-IN" smtClean="0"/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Speech Processing</a:t>
            </a:r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216105-7B7A-4C42-B2A1-5E9A2FA4F8FD}" type="slidenum">
              <a:rPr lang="en-IN" smtClean="0"/>
            </a:fld>
            <a:endParaRPr lang="en-IN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634687-F519-4EB7-A5A2-8F32F570280C}" type="datetime1">
              <a:rPr lang="en-IN" smtClean="0"/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Speech Processing</a:t>
            </a:r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216105-7B7A-4C42-B2A1-5E9A2FA4F8FD}" type="slidenum">
              <a:rPr lang="en-IN" smtClean="0"/>
            </a:fld>
            <a:endParaRPr lang="en-IN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9FD66B-7BF9-457E-8F34-7A62FFE4EC1F}" type="datetime1">
              <a:rPr lang="en-IN" smtClean="0"/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Speech Processing</a:t>
            </a:r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216105-7B7A-4C42-B2A1-5E9A2FA4F8FD}" type="slidenum">
              <a:rPr lang="en-IN" smtClean="0"/>
            </a:fld>
            <a:endParaRPr lang="en-IN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  <a:endParaRPr lang="en-US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AE7592-1B5F-45CD-B707-8D5A5E58EE31}" type="datetime1">
              <a:rPr lang="en-IN" smtClean="0"/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Speech Processing</a:t>
            </a:r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216105-7B7A-4C42-B2A1-5E9A2FA4F8FD}" type="slidenum">
              <a:rPr lang="en-IN" smtClean="0"/>
            </a:fld>
            <a:endParaRPr lang="en-IN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0ABBB8-8A7F-45A3-83C4-4C9477351CC6}" type="datetime1">
              <a:rPr lang="en-IN" smtClean="0"/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Speech Processing</a:t>
            </a:r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216105-7B7A-4C42-B2A1-5E9A2FA4F8FD}" type="slidenum">
              <a:rPr lang="en-IN" smtClean="0"/>
            </a:fld>
            <a:endParaRPr lang="en-IN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435D1B-80AA-466C-8316-5AE450E66A39}" type="datetime1">
              <a:rPr lang="en-IN" smtClean="0"/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Speech Processing</a:t>
            </a:r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216105-7B7A-4C42-B2A1-5E9A2FA4F8FD}" type="slidenum">
              <a:rPr lang="en-IN" smtClean="0"/>
            </a:fld>
            <a:endParaRPr lang="en-IN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447488-929A-4615-A557-C0AD33B297D1}" type="datetime1">
              <a:rPr lang="en-IN" smtClean="0"/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Speech Processing</a:t>
            </a:r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216105-7B7A-4C42-B2A1-5E9A2FA4F8FD}" type="slidenum">
              <a:rPr lang="en-IN" smtClean="0"/>
            </a:fld>
            <a:endParaRPr lang="en-IN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BDCACE-EBE9-4116-B81B-E040F2D3F20E}" type="datetime1">
              <a:rPr lang="en-IN" smtClean="0"/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Speech Processing</a:t>
            </a:r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216105-7B7A-4C42-B2A1-5E9A2FA4F8FD}" type="slidenum">
              <a:rPr lang="en-IN" smtClean="0"/>
            </a:fld>
            <a:endParaRPr lang="en-IN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9BF764-0E37-4886-B1E5-DFBF599A6490}" type="datetime1">
              <a:rPr lang="en-IN" smtClean="0"/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Speech Processing</a:t>
            </a:r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216105-7B7A-4C42-B2A1-5E9A2FA4F8FD}" type="slidenum">
              <a:rPr lang="en-IN" smtClean="0"/>
            </a:fld>
            <a:endParaRPr lang="en-IN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A9FEB4-F282-4F07-B60D-731E94E7D45B}" type="datetime1">
              <a:rPr lang="en-IN" smtClean="0"/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Speech Processing</a:t>
            </a:r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216105-7B7A-4C42-B2A1-5E9A2FA4F8FD}" type="slidenum">
              <a:rPr lang="en-IN" smtClean="0"/>
            </a:fld>
            <a:endParaRPr lang="en-IN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24EDEC-E80A-4952-9B8F-BFE95EE7B0BE}" type="datetime1">
              <a:rPr lang="en-IN" smtClean="0"/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IN"/>
              <a:t>Speech Processing</a:t>
            </a:r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2216105-7B7A-4C42-B2A1-5E9A2FA4F8FD}" type="slidenum">
              <a:rPr lang="en-IN" smtClean="0"/>
            </a:fld>
            <a:endParaRPr lang="en-I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image" Target="../media/image3.png"/><Relationship Id="rId2" Type="http://schemas.openxmlformats.org/officeDocument/2006/relationships/image" Target="../media/image2.svg"/><Relationship Id="rId1" Type="http://schemas.openxmlformats.org/officeDocument/2006/relationships/image" Target="../media/image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9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4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5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7.png"/><Relationship Id="rId1" Type="http://schemas.openxmlformats.org/officeDocument/2006/relationships/image" Target="../media/image6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/>
          <p:cNvSpPr/>
          <p:nvPr/>
        </p:nvSpPr>
        <p:spPr>
          <a:xfrm>
            <a:off x="-1" y="0"/>
            <a:ext cx="12191998" cy="1262131"/>
          </a:xfrm>
          <a:prstGeom prst="rect">
            <a:avLst/>
          </a:prstGeom>
          <a:gradFill flip="none" rotWithShape="1">
            <a:gsLst>
              <a:gs pos="0">
                <a:srgbClr val="1A9B46">
                  <a:tint val="66000"/>
                  <a:satMod val="160000"/>
                </a:srgbClr>
              </a:gs>
              <a:gs pos="50000">
                <a:srgbClr val="1A9B46">
                  <a:tint val="44500"/>
                  <a:satMod val="160000"/>
                </a:srgbClr>
              </a:gs>
              <a:gs pos="100000">
                <a:srgbClr val="1A9B46">
                  <a:tint val="23500"/>
                  <a:satMod val="160000"/>
                </a:srgb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0" name="Google Shape;91;p1"/>
          <p:cNvSpPr txBox="1"/>
          <p:nvPr/>
        </p:nvSpPr>
        <p:spPr>
          <a:xfrm>
            <a:off x="-1" y="6416040"/>
            <a:ext cx="12191998" cy="441960"/>
          </a:xfrm>
          <a:prstGeom prst="rect">
            <a:avLst/>
          </a:prstGeom>
          <a:gradFill flip="none" rotWithShape="1">
            <a:gsLst>
              <a:gs pos="0">
                <a:srgbClr val="1A9B46">
                  <a:tint val="66000"/>
                  <a:satMod val="160000"/>
                </a:srgbClr>
              </a:gs>
              <a:gs pos="50000">
                <a:srgbClr val="1A9B46">
                  <a:tint val="44500"/>
                  <a:satMod val="160000"/>
                </a:srgbClr>
              </a:gs>
              <a:gs pos="100000">
                <a:srgbClr val="1A9B46">
                  <a:tint val="23500"/>
                  <a:satMod val="160000"/>
                </a:srgb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600" b="1" i="0" u="none" strike="noStrike" cap="none" dirty="0">
                <a:solidFill>
                  <a:srgbClr val="08127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[</a:t>
            </a:r>
            <a:r>
              <a:rPr lang="en-IN" sz="1600" b="1" dirty="0">
                <a:solidFill>
                  <a:srgbClr val="08127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Mid Project Review]</a:t>
            </a:r>
            <a:r>
              <a:rPr lang="en-IN" sz="1600" b="1" i="0" u="none" strike="noStrike" cap="none" dirty="0">
                <a:solidFill>
                  <a:srgbClr val="08127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     </a:t>
            </a:r>
            <a:endParaRPr sz="1600" b="1" i="0" u="none" strike="noStrike" cap="none" dirty="0">
              <a:solidFill>
                <a:srgbClr val="081271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  <a:sym typeface="Times New Roman" panose="02020603050405020304"/>
            </a:endParaRPr>
          </a:p>
        </p:txBody>
      </p:sp>
      <p:sp>
        <p:nvSpPr>
          <p:cNvPr id="11" name="Title 3"/>
          <p:cNvSpPr txBox="1"/>
          <p:nvPr/>
        </p:nvSpPr>
        <p:spPr>
          <a:xfrm>
            <a:off x="609598" y="2872601"/>
            <a:ext cx="10972800" cy="1044156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IN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SupplyAI-RL: Explainable Supply Chain Optimization</a:t>
            </a:r>
            <a:endParaRPr lang="en-IN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1935319" y="236845"/>
            <a:ext cx="7999556" cy="82994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2400" b="1" dirty="0">
                <a:solidFill>
                  <a:srgbClr val="FF0000"/>
                </a:solidFill>
              </a:rPr>
              <a:t> Mid semester project review– </a:t>
            </a:r>
            <a:r>
              <a:rPr lang="en-US" sz="2400" b="1" dirty="0">
                <a:solidFill>
                  <a:srgbClr val="7030A0"/>
                </a:solidFill>
              </a:rPr>
              <a:t>August 2026</a:t>
            </a:r>
            <a:endParaRPr lang="en-US" sz="2400" b="1" dirty="0">
              <a:solidFill>
                <a:srgbClr val="7030A0"/>
              </a:solidFill>
            </a:endParaRPr>
          </a:p>
          <a:p>
            <a:pPr algn="ctr"/>
            <a:r>
              <a:rPr lang="it-IT" sz="2400" b="1" dirty="0"/>
              <a:t> Reinforcement Learning</a:t>
            </a:r>
            <a:endParaRPr lang="en-IN" sz="2400" b="1" dirty="0">
              <a:solidFill>
                <a:srgbClr val="7030A0"/>
              </a:solidFill>
            </a:endParaRPr>
          </a:p>
        </p:txBody>
      </p:sp>
      <p:cxnSp>
        <p:nvCxnSpPr>
          <p:cNvPr id="16" name="Straight Connector 15"/>
          <p:cNvCxnSpPr/>
          <p:nvPr/>
        </p:nvCxnSpPr>
        <p:spPr>
          <a:xfrm>
            <a:off x="0" y="1260899"/>
            <a:ext cx="12192000" cy="0"/>
          </a:xfrm>
          <a:prstGeom prst="line">
            <a:avLst/>
          </a:prstGeom>
          <a:ln w="28575">
            <a:solidFill>
              <a:srgbClr val="1A9B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507500" y="5873326"/>
            <a:ext cx="3562985" cy="36830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Date of the Presentation:20-8-2026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9" name="Slide Number Placeholder 18"/>
          <p:cNvSpPr>
            <a:spLocks noGrp="1"/>
          </p:cNvSpPr>
          <p:nvPr>
            <p:ph type="sldNum" sz="quarter" idx="12"/>
          </p:nvPr>
        </p:nvSpPr>
        <p:spPr>
          <a:xfrm>
            <a:off x="10804848" y="6356350"/>
            <a:ext cx="548951" cy="365125"/>
          </a:xfrm>
        </p:spPr>
        <p:txBody>
          <a:bodyPr/>
          <a:lstStyle/>
          <a:p>
            <a:fld id="{C2216105-7B7A-4C42-B2A1-5E9A2FA4F8FD}" type="slidenum">
              <a:rPr lang="en-IN" smtClean="0"/>
            </a:fld>
            <a:endParaRPr lang="en-IN" dirty="0"/>
          </a:p>
        </p:txBody>
      </p:sp>
      <p:sp>
        <p:nvSpPr>
          <p:cNvPr id="20" name="Title 3"/>
          <p:cNvSpPr txBox="1"/>
          <p:nvPr/>
        </p:nvSpPr>
        <p:spPr>
          <a:xfrm>
            <a:off x="597918" y="4057920"/>
            <a:ext cx="10972800" cy="654434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defRPr sz="1315">
                <a:solidFill>
                  <a:srgbClr val="000000"/>
                </a:solidFill>
              </a:defRPr>
            </a:pPr>
            <a:r>
              <a:rPr sz="1200">
                <a:solidFill>
                  <a:srgbClr val="000000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+mn-ea"/>
              </a:rPr>
              <a:t>SANTOSH — CB.SC.U4AIE23310</a:t>
            </a:r>
            <a:endParaRPr sz="1200">
              <a:latin typeface="Times New Roman" panose="02020603050405020304"/>
              <a:ea typeface="Times New Roman" panose="02020603050405020304"/>
              <a:cs typeface="Times New Roman" panose="02020603050405020304"/>
            </a:endParaRPr>
          </a:p>
          <a:p>
            <a:pPr algn="ctr">
              <a:defRPr sz="1315">
                <a:solidFill>
                  <a:srgbClr val="000000"/>
                </a:solidFill>
              </a:defRPr>
            </a:pPr>
            <a:r>
              <a:rPr sz="1200">
                <a:solidFill>
                  <a:srgbClr val="000000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+mn-ea"/>
              </a:rPr>
              <a:t>K. KOUSHIK — CB.SC.U4AIE23312</a:t>
            </a:r>
            <a:endParaRPr sz="1200">
              <a:latin typeface="Times New Roman" panose="02020603050405020304"/>
              <a:ea typeface="Times New Roman" panose="02020603050405020304"/>
              <a:cs typeface="Times New Roman" panose="02020603050405020304"/>
            </a:endParaRPr>
          </a:p>
          <a:p>
            <a:pPr algn="ctr">
              <a:defRPr sz="1315">
                <a:solidFill>
                  <a:srgbClr val="000000"/>
                </a:solidFill>
              </a:defRPr>
            </a:pPr>
            <a:r>
              <a:rPr sz="1200">
                <a:solidFill>
                  <a:srgbClr val="000000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+mn-ea"/>
              </a:rPr>
              <a:t>DHARANI PRATHAP — CB.SC.U4AIE23330</a:t>
            </a:r>
            <a:endParaRPr sz="1200">
              <a:latin typeface="Times New Roman" panose="02020603050405020304"/>
              <a:ea typeface="Times New Roman" panose="02020603050405020304"/>
              <a:cs typeface="Times New Roman" panose="02020603050405020304"/>
            </a:endParaRPr>
          </a:p>
          <a:p>
            <a:pPr algn="ctr">
              <a:defRPr sz="1315">
                <a:solidFill>
                  <a:srgbClr val="000000"/>
                </a:solidFill>
              </a:defRPr>
            </a:pPr>
            <a:r>
              <a:rPr sz="1200">
                <a:solidFill>
                  <a:srgbClr val="000000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+mn-ea"/>
              </a:rPr>
              <a:t>SRINITH — CB.SC.U4AIE23357</a:t>
            </a:r>
            <a:endParaRPr lang="en-IN" sz="400" dirty="0">
              <a:solidFill>
                <a:srgbClr val="000000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  <a:sym typeface="+mn-ea"/>
            </a:endParaRPr>
          </a:p>
        </p:txBody>
      </p:sp>
      <p:sp>
        <p:nvSpPr>
          <p:cNvPr id="2" name="Rectangle 1"/>
          <p:cNvSpPr/>
          <p:nvPr/>
        </p:nvSpPr>
        <p:spPr>
          <a:xfrm>
            <a:off x="150810" y="5675807"/>
            <a:ext cx="3353435" cy="64516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Batch and Group Number: D-06</a:t>
            </a:r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/>
          <p:cNvSpPr/>
          <p:nvPr/>
        </p:nvSpPr>
        <p:spPr>
          <a:xfrm>
            <a:off x="-1" y="0"/>
            <a:ext cx="12191998" cy="1262131"/>
          </a:xfrm>
          <a:prstGeom prst="rect">
            <a:avLst/>
          </a:prstGeom>
          <a:gradFill flip="none" rotWithShape="1">
            <a:gsLst>
              <a:gs pos="0">
                <a:srgbClr val="1A9B46">
                  <a:tint val="66000"/>
                  <a:satMod val="160000"/>
                </a:srgbClr>
              </a:gs>
              <a:gs pos="50000">
                <a:srgbClr val="1A9B46">
                  <a:tint val="44500"/>
                  <a:satMod val="160000"/>
                </a:srgbClr>
              </a:gs>
              <a:gs pos="100000">
                <a:srgbClr val="1A9B46">
                  <a:tint val="23500"/>
                  <a:satMod val="160000"/>
                </a:srgb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sz="4400" dirty="0">
              <a:solidFill>
                <a:schemeClr val="accent1">
                  <a:lumMod val="50000"/>
                </a:schemeClr>
              </a:solidFill>
            </a:endParaRPr>
          </a:p>
        </p:txBody>
      </p:sp>
      <p:sp>
        <p:nvSpPr>
          <p:cNvPr id="10" name="Google Shape;91;p1"/>
          <p:cNvSpPr txBox="1"/>
          <p:nvPr/>
        </p:nvSpPr>
        <p:spPr>
          <a:xfrm>
            <a:off x="-1" y="6416040"/>
            <a:ext cx="12191998" cy="441960"/>
          </a:xfrm>
          <a:prstGeom prst="rect">
            <a:avLst/>
          </a:prstGeom>
          <a:gradFill flip="none" rotWithShape="1">
            <a:gsLst>
              <a:gs pos="0">
                <a:srgbClr val="1A9B46">
                  <a:tint val="66000"/>
                  <a:satMod val="160000"/>
                </a:srgbClr>
              </a:gs>
              <a:gs pos="50000">
                <a:srgbClr val="1A9B46">
                  <a:tint val="44500"/>
                  <a:satMod val="160000"/>
                </a:srgbClr>
              </a:gs>
              <a:gs pos="100000">
                <a:srgbClr val="1A9B46">
                  <a:tint val="23500"/>
                  <a:satMod val="160000"/>
                </a:srgb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600" b="1" i="0" u="none" strike="noStrike" cap="none" dirty="0">
                <a:solidFill>
                  <a:srgbClr val="08127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[</a:t>
            </a:r>
            <a:r>
              <a:rPr lang="en-IN" sz="1600" b="1" dirty="0">
                <a:solidFill>
                  <a:srgbClr val="08127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Mid Project Review]</a:t>
            </a:r>
            <a:r>
              <a:rPr lang="en-IN" sz="1600" b="1" i="0" u="none" strike="noStrike" cap="none" dirty="0">
                <a:solidFill>
                  <a:srgbClr val="08127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     </a:t>
            </a:r>
            <a:endParaRPr sz="1600" b="1" i="0" u="none" strike="noStrike" cap="none" dirty="0">
              <a:solidFill>
                <a:srgbClr val="081271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  <a:sym typeface="Times New Roman" panose="02020603050405020304"/>
            </a:endParaRPr>
          </a:p>
        </p:txBody>
      </p:sp>
      <p:cxnSp>
        <p:nvCxnSpPr>
          <p:cNvPr id="16" name="Straight Connector 15"/>
          <p:cNvCxnSpPr/>
          <p:nvPr/>
        </p:nvCxnSpPr>
        <p:spPr>
          <a:xfrm>
            <a:off x="0" y="1260899"/>
            <a:ext cx="12192000" cy="0"/>
          </a:xfrm>
          <a:prstGeom prst="line">
            <a:avLst/>
          </a:prstGeom>
          <a:ln w="28575">
            <a:solidFill>
              <a:srgbClr val="1A9B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198" y="171711"/>
            <a:ext cx="10515600" cy="1325563"/>
          </a:xfrm>
        </p:spPr>
        <p:txBody>
          <a:bodyPr/>
          <a:lstStyle/>
          <a:p>
            <a:r>
              <a:rPr lang="en-IN" dirty="0">
                <a:solidFill>
                  <a:schemeClr val="accent1">
                    <a:lumMod val="50000"/>
                  </a:schemeClr>
                </a:solidFill>
              </a:rPr>
              <a:t>Outline</a:t>
            </a:r>
            <a:br>
              <a:rPr lang="en-IN" dirty="0">
                <a:solidFill>
                  <a:schemeClr val="accent1">
                    <a:lumMod val="50000"/>
                  </a:schemeClr>
                </a:solidFill>
              </a:rPr>
            </a:br>
            <a:endParaRPr lang="en-IN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198" y="1594415"/>
            <a:ext cx="10515600" cy="4351338"/>
          </a:xfrm>
        </p:spPr>
        <p:txBody>
          <a:bodyPr>
            <a:normAutofit/>
          </a:bodyPr>
          <a:lstStyle/>
          <a:p>
            <a:pPr lvl="0">
              <a:lnSpc>
                <a:spcPct val="100000"/>
              </a:lnSpc>
              <a:spcBef>
                <a:spcPts val="600"/>
              </a:spcBef>
            </a:pPr>
            <a:r>
              <a:rPr lang="en-IN" sz="1800" b="0" dirty="0"/>
              <a:t>Introduction and Motivation</a:t>
            </a:r>
            <a:endParaRPr lang="en-IN" sz="1800" b="0" dirty="0"/>
          </a:p>
          <a:p>
            <a:pPr lvl="0">
              <a:lnSpc>
                <a:spcPct val="100000"/>
              </a:lnSpc>
              <a:spcBef>
                <a:spcPts val="600"/>
              </a:spcBef>
            </a:pPr>
            <a:r>
              <a:rPr lang="en-IN" sz="1800" b="0" dirty="0"/>
              <a:t>Problem Definition</a:t>
            </a:r>
            <a:endParaRPr lang="en-IN" sz="1800" b="0" dirty="0"/>
          </a:p>
          <a:p>
            <a:pPr lvl="0">
              <a:lnSpc>
                <a:spcPct val="100000"/>
              </a:lnSpc>
              <a:spcBef>
                <a:spcPts val="600"/>
              </a:spcBef>
            </a:pPr>
            <a:r>
              <a:rPr lang="en-IN" sz="1800" b="0" dirty="0"/>
              <a:t>Literature Review and Gaps Identified</a:t>
            </a:r>
            <a:endParaRPr lang="en-IN" sz="1800" b="0" dirty="0"/>
          </a:p>
          <a:p>
            <a:pPr lvl="0">
              <a:lnSpc>
                <a:spcPct val="100000"/>
              </a:lnSpc>
              <a:spcBef>
                <a:spcPts val="600"/>
              </a:spcBef>
            </a:pPr>
            <a:r>
              <a:rPr lang="en-IN" sz="1800" b="0" dirty="0"/>
              <a:t>Objectives</a:t>
            </a:r>
            <a:endParaRPr lang="en-IN" sz="1800" b="0" dirty="0"/>
          </a:p>
          <a:p>
            <a:pPr lvl="0">
              <a:lnSpc>
                <a:spcPct val="100000"/>
              </a:lnSpc>
              <a:spcBef>
                <a:spcPts val="600"/>
              </a:spcBef>
            </a:pPr>
            <a:r>
              <a:rPr lang="en-IN" sz="1800" b="0" dirty="0"/>
              <a:t>Methodology: simulator, RL formulation, LLM explanation layer</a:t>
            </a:r>
            <a:endParaRPr lang="en-IN" sz="1800" b="0" dirty="0"/>
          </a:p>
          <a:p>
            <a:pPr lvl="0">
              <a:lnSpc>
                <a:spcPct val="100000"/>
              </a:lnSpc>
              <a:spcBef>
                <a:spcPts val="600"/>
              </a:spcBef>
            </a:pPr>
            <a:r>
              <a:rPr lang="en-IN" sz="1800" b="0" dirty="0"/>
              <a:t>Dataset Description and Calibration</a:t>
            </a:r>
            <a:endParaRPr lang="en-IN" sz="1800" b="0" dirty="0"/>
          </a:p>
          <a:p>
            <a:pPr lvl="0">
              <a:lnSpc>
                <a:spcPct val="100000"/>
              </a:lnSpc>
              <a:spcBef>
                <a:spcPts val="600"/>
              </a:spcBef>
            </a:pPr>
            <a:r>
              <a:rPr lang="en-IN" sz="1800" b="0" dirty="0"/>
              <a:t>Preliminary Results: tuned classical policies vs the RL agent</a:t>
            </a:r>
            <a:endParaRPr lang="en-IN" sz="1800" b="0" dirty="0"/>
          </a:p>
          <a:p>
            <a:pPr lvl="0">
              <a:lnSpc>
                <a:spcPct val="100000"/>
              </a:lnSpc>
              <a:spcBef>
                <a:spcPts val="600"/>
              </a:spcBef>
            </a:pPr>
            <a:r>
              <a:rPr lang="en-IN" sz="1800" b="0" dirty="0"/>
              <a:t>Interim Summary and Completion Plan</a:t>
            </a:r>
            <a:endParaRPr lang="en-IN" sz="1800" b="0" dirty="0"/>
          </a:p>
        </p:txBody>
      </p:sp>
      <p:sp>
        <p:nvSpPr>
          <p:cNvPr id="19" name="Slide Number Placeholder 1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216105-7B7A-4C42-B2A1-5E9A2FA4F8FD}" type="slidenum">
              <a:rPr lang="en-IN" smtClean="0"/>
            </a:fld>
            <a:endParaRPr lang="en-IN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/>
          <p:cNvSpPr/>
          <p:nvPr/>
        </p:nvSpPr>
        <p:spPr>
          <a:xfrm>
            <a:off x="-1" y="0"/>
            <a:ext cx="12191998" cy="1262131"/>
          </a:xfrm>
          <a:prstGeom prst="rect">
            <a:avLst/>
          </a:prstGeom>
          <a:gradFill flip="none" rotWithShape="1">
            <a:gsLst>
              <a:gs pos="0">
                <a:srgbClr val="1A9B46">
                  <a:tint val="66000"/>
                  <a:satMod val="160000"/>
                </a:srgbClr>
              </a:gs>
              <a:gs pos="50000">
                <a:srgbClr val="1A9B46">
                  <a:tint val="44500"/>
                  <a:satMod val="160000"/>
                </a:srgbClr>
              </a:gs>
              <a:gs pos="100000">
                <a:srgbClr val="1A9B46">
                  <a:tint val="23500"/>
                  <a:satMod val="160000"/>
                </a:srgb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sz="4400" dirty="0">
              <a:solidFill>
                <a:schemeClr val="accent1">
                  <a:lumMod val="50000"/>
                </a:schemeClr>
              </a:solidFill>
            </a:endParaRPr>
          </a:p>
        </p:txBody>
      </p:sp>
      <p:sp>
        <p:nvSpPr>
          <p:cNvPr id="10" name="Google Shape;91;p1"/>
          <p:cNvSpPr txBox="1"/>
          <p:nvPr/>
        </p:nvSpPr>
        <p:spPr>
          <a:xfrm>
            <a:off x="-1" y="6416040"/>
            <a:ext cx="12191998" cy="441960"/>
          </a:xfrm>
          <a:prstGeom prst="rect">
            <a:avLst/>
          </a:prstGeom>
          <a:gradFill flip="none" rotWithShape="1">
            <a:gsLst>
              <a:gs pos="0">
                <a:srgbClr val="1A9B46">
                  <a:tint val="66000"/>
                  <a:satMod val="160000"/>
                </a:srgbClr>
              </a:gs>
              <a:gs pos="50000">
                <a:srgbClr val="1A9B46">
                  <a:tint val="44500"/>
                  <a:satMod val="160000"/>
                </a:srgbClr>
              </a:gs>
              <a:gs pos="100000">
                <a:srgbClr val="1A9B46">
                  <a:tint val="23500"/>
                  <a:satMod val="160000"/>
                </a:srgb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600" b="1" i="0" u="none" strike="noStrike" cap="none" dirty="0">
                <a:solidFill>
                  <a:srgbClr val="08127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[</a:t>
            </a:r>
            <a:r>
              <a:rPr lang="en-IN" sz="1600" b="1" dirty="0">
                <a:solidFill>
                  <a:srgbClr val="08127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Mid Project Review]</a:t>
            </a:r>
            <a:r>
              <a:rPr lang="en-IN" sz="1600" b="1" i="0" u="none" strike="noStrike" cap="none" dirty="0">
                <a:solidFill>
                  <a:srgbClr val="08127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     </a:t>
            </a:r>
            <a:endParaRPr sz="1600" b="1" i="0" u="none" strike="noStrike" cap="none" dirty="0">
              <a:solidFill>
                <a:srgbClr val="081271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  <a:sym typeface="Times New Roman" panose="02020603050405020304"/>
            </a:endParaRPr>
          </a:p>
        </p:txBody>
      </p:sp>
      <p:cxnSp>
        <p:nvCxnSpPr>
          <p:cNvPr id="16" name="Straight Connector 15"/>
          <p:cNvCxnSpPr/>
          <p:nvPr/>
        </p:nvCxnSpPr>
        <p:spPr>
          <a:xfrm>
            <a:off x="0" y="1260899"/>
            <a:ext cx="12192000" cy="0"/>
          </a:xfrm>
          <a:prstGeom prst="line">
            <a:avLst/>
          </a:prstGeom>
          <a:ln w="28575">
            <a:solidFill>
              <a:srgbClr val="1A9B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198" y="171711"/>
            <a:ext cx="10515600" cy="1325563"/>
          </a:xfrm>
        </p:spPr>
        <p:txBody>
          <a:bodyPr/>
          <a:lstStyle/>
          <a:p>
            <a:r>
              <a:rPr lang="en-IN" dirty="0">
                <a:solidFill>
                  <a:schemeClr val="accent1">
                    <a:lumMod val="50000"/>
                  </a:schemeClr>
                </a:solidFill>
              </a:rPr>
              <a:t>Introduction and Motivation</a:t>
            </a:r>
            <a:br>
              <a:rPr lang="en-IN" dirty="0">
                <a:solidFill>
                  <a:schemeClr val="accent1">
                    <a:lumMod val="50000"/>
                  </a:schemeClr>
                </a:solidFill>
              </a:rPr>
            </a:br>
            <a:endParaRPr lang="en-IN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198" y="1594415"/>
            <a:ext cx="10515600" cy="4351338"/>
          </a:xfrm>
        </p:spPr>
        <p:txBody>
          <a:bodyPr>
            <a:normAutofit/>
          </a:bodyPr>
          <a:lstStyle/>
          <a:p>
            <a:pPr lvl="0">
              <a:lnSpc>
                <a:spcPct val="100000"/>
              </a:lnSpc>
              <a:spcBef>
                <a:spcPts val="600"/>
              </a:spcBef>
            </a:pPr>
            <a:r>
              <a:rPr lang="en-IN" sz="1800" b="1" dirty="0"/>
              <a:t>Retail inventory is a daily decision under uncertainty, and both errors are expensive.</a:t>
            </a:r>
            <a:endParaRPr lang="en-IN" sz="1800" b="1" dirty="0"/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en-IN" sz="1500" b="0" dirty="0"/>
              <a:t>Order too much: capital is tied up, storage is paid for, and unsold stock is marked down or written off.</a:t>
            </a:r>
            <a:endParaRPr lang="en-IN" sz="1500" b="0" dirty="0"/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en-IN" sz="1500" b="0" dirty="0"/>
              <a:t>Order too little: the sale is lost permanently, because the customer buys elsewhere.</a:t>
            </a:r>
            <a:endParaRPr lang="en-IN" sz="1500" b="0" dirty="0"/>
          </a:p>
          <a:p>
            <a:pPr lvl="0">
              <a:lnSpc>
                <a:spcPct val="100000"/>
              </a:lnSpc>
              <a:spcBef>
                <a:spcPts val="600"/>
              </a:spcBef>
            </a:pPr>
            <a:r>
              <a:rPr lang="en-IN" sz="1800" b="1" dirty="0"/>
              <a:t>Classical policies treat each product in isolation and assume demand is well behaved.</a:t>
            </a:r>
            <a:endParaRPr lang="en-IN" sz="1800" b="1" dirty="0"/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en-IN" sz="1500" b="0" dirty="0"/>
              <a:t>Real demand is not. In our data the variance of daily demand is roughly 216 times its mean, so the standard Poisson assumption fails badly.</a:t>
            </a:r>
            <a:endParaRPr lang="en-IN" sz="1500" b="0" dirty="0"/>
          </a:p>
          <a:p>
            <a:pPr lvl="0">
              <a:lnSpc>
                <a:spcPct val="100000"/>
              </a:lnSpc>
              <a:spcBef>
                <a:spcPts val="600"/>
              </a:spcBef>
            </a:pPr>
            <a:r>
              <a:rPr lang="en-IN" sz="1800" b="1" dirty="0"/>
              <a:t>Reinforcement learning can express what a formula cannot: a joint ordering and sourcing policy that adapts to season, volatility and supplier state.</a:t>
            </a:r>
            <a:endParaRPr lang="en-IN" sz="1800" b="1" dirty="0"/>
          </a:p>
          <a:p>
            <a:pPr lvl="0">
              <a:lnSpc>
                <a:spcPct val="100000"/>
              </a:lnSpc>
              <a:spcBef>
                <a:spcPts val="600"/>
              </a:spcBef>
            </a:pPr>
            <a:r>
              <a:rPr lang="en-IN" sz="1800" b="1" dirty="0"/>
              <a:t>But a manager will not act on a number they cannot interpret.</a:t>
            </a:r>
            <a:endParaRPr lang="en-IN" sz="1800" b="1" dirty="0"/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en-IN" sz="1500" b="0" dirty="0"/>
              <a:t>Hence the motivation: pair an RL decision-maker with an LLM that states the reason for every order in business language.</a:t>
            </a:r>
            <a:endParaRPr lang="en-IN" sz="1500" b="0" dirty="0"/>
          </a:p>
        </p:txBody>
      </p:sp>
      <p:sp>
        <p:nvSpPr>
          <p:cNvPr id="19" name="Slide Number Placeholder 1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216105-7B7A-4C42-B2A1-5E9A2FA4F8FD}" type="slidenum">
              <a:rPr lang="en-IN" smtClean="0"/>
            </a:fld>
            <a:endParaRPr lang="en-IN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/>
          <p:cNvSpPr/>
          <p:nvPr/>
        </p:nvSpPr>
        <p:spPr>
          <a:xfrm>
            <a:off x="-1" y="0"/>
            <a:ext cx="12191998" cy="1262131"/>
          </a:xfrm>
          <a:prstGeom prst="rect">
            <a:avLst/>
          </a:prstGeom>
          <a:gradFill flip="none" rotWithShape="1">
            <a:gsLst>
              <a:gs pos="0">
                <a:srgbClr val="1A9B46">
                  <a:tint val="66000"/>
                  <a:satMod val="160000"/>
                </a:srgbClr>
              </a:gs>
              <a:gs pos="50000">
                <a:srgbClr val="1A9B46">
                  <a:tint val="44500"/>
                  <a:satMod val="160000"/>
                </a:srgbClr>
              </a:gs>
              <a:gs pos="100000">
                <a:srgbClr val="1A9B46">
                  <a:tint val="23500"/>
                  <a:satMod val="160000"/>
                </a:srgb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sz="4400" dirty="0">
              <a:solidFill>
                <a:schemeClr val="accent1">
                  <a:lumMod val="50000"/>
                </a:schemeClr>
              </a:solidFill>
            </a:endParaRPr>
          </a:p>
        </p:txBody>
      </p:sp>
      <p:sp>
        <p:nvSpPr>
          <p:cNvPr id="10" name="Google Shape;91;p1"/>
          <p:cNvSpPr txBox="1"/>
          <p:nvPr/>
        </p:nvSpPr>
        <p:spPr>
          <a:xfrm>
            <a:off x="-1" y="6416040"/>
            <a:ext cx="12191998" cy="441960"/>
          </a:xfrm>
          <a:prstGeom prst="rect">
            <a:avLst/>
          </a:prstGeom>
          <a:gradFill flip="none" rotWithShape="1">
            <a:gsLst>
              <a:gs pos="0">
                <a:srgbClr val="1A9B46">
                  <a:tint val="66000"/>
                  <a:satMod val="160000"/>
                </a:srgbClr>
              </a:gs>
              <a:gs pos="50000">
                <a:srgbClr val="1A9B46">
                  <a:tint val="44500"/>
                  <a:satMod val="160000"/>
                </a:srgbClr>
              </a:gs>
              <a:gs pos="100000">
                <a:srgbClr val="1A9B46">
                  <a:tint val="23500"/>
                  <a:satMod val="160000"/>
                </a:srgb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600" b="1" i="0" u="none" strike="noStrike" cap="none" dirty="0">
                <a:solidFill>
                  <a:srgbClr val="08127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[</a:t>
            </a:r>
            <a:r>
              <a:rPr lang="en-IN" sz="1600" b="1" dirty="0">
                <a:solidFill>
                  <a:srgbClr val="08127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Mid Project Review]</a:t>
            </a:r>
            <a:r>
              <a:rPr lang="en-IN" sz="1600" b="1" i="0" u="none" strike="noStrike" cap="none" dirty="0">
                <a:solidFill>
                  <a:srgbClr val="08127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     </a:t>
            </a:r>
            <a:endParaRPr sz="1600" b="1" i="0" u="none" strike="noStrike" cap="none" dirty="0">
              <a:solidFill>
                <a:srgbClr val="081271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  <a:sym typeface="Times New Roman" panose="02020603050405020304"/>
            </a:endParaRPr>
          </a:p>
        </p:txBody>
      </p:sp>
      <p:cxnSp>
        <p:nvCxnSpPr>
          <p:cNvPr id="16" name="Straight Connector 15"/>
          <p:cNvCxnSpPr/>
          <p:nvPr/>
        </p:nvCxnSpPr>
        <p:spPr>
          <a:xfrm>
            <a:off x="0" y="1260899"/>
            <a:ext cx="12192000" cy="0"/>
          </a:xfrm>
          <a:prstGeom prst="line">
            <a:avLst/>
          </a:prstGeom>
          <a:ln w="28575">
            <a:solidFill>
              <a:srgbClr val="1A9B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198" y="171711"/>
            <a:ext cx="10515600" cy="1325563"/>
          </a:xfrm>
        </p:spPr>
        <p:txBody>
          <a:bodyPr/>
          <a:lstStyle/>
          <a:p>
            <a:r>
              <a:rPr lang="en-IN" dirty="0">
                <a:solidFill>
                  <a:schemeClr val="accent1">
                    <a:lumMod val="50000"/>
                  </a:schemeClr>
                </a:solidFill>
              </a:rPr>
              <a:t>Problem Definition</a:t>
            </a:r>
            <a:br>
              <a:rPr lang="en-IN" dirty="0">
                <a:solidFill>
                  <a:schemeClr val="accent1">
                    <a:lumMod val="50000"/>
                  </a:schemeClr>
                </a:solidFill>
              </a:rPr>
            </a:br>
            <a:endParaRPr lang="en-IN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198" y="1594415"/>
            <a:ext cx="10515600" cy="4351338"/>
          </a:xfrm>
        </p:spPr>
        <p:txBody>
          <a:bodyPr>
            <a:normAutofit/>
          </a:bodyPr>
          <a:lstStyle/>
          <a:p>
            <a:pPr lvl="0">
              <a:lnSpc>
                <a:spcPct val="100000"/>
              </a:lnSpc>
              <a:spcBef>
                <a:spcPts val="600"/>
              </a:spcBef>
            </a:pPr>
            <a:r>
              <a:rPr lang="en-IN" sz="1700" b="0" dirty="0"/>
              <a:t>Manage 10 products across 3 suppliers over a 180-day horizon, sharing a single 20,000-unit warehouse.</a:t>
            </a:r>
            <a:endParaRPr lang="en-IN" sz="1700" b="0" dirty="0"/>
          </a:p>
          <a:p>
            <a:pPr lvl="0">
              <a:lnSpc>
                <a:spcPct val="100000"/>
              </a:lnSpc>
              <a:spcBef>
                <a:spcPts val="600"/>
              </a:spcBef>
            </a:pPr>
            <a:r>
              <a:rPr lang="en-IN" sz="1700" b="0" dirty="0"/>
              <a:t>Each simulated day, for every product, decide two things jointly: how much to order, and from which supplier.</a:t>
            </a:r>
            <a:endParaRPr lang="en-IN" sz="1700" b="0" dirty="0"/>
          </a:p>
          <a:p>
            <a:pPr lvl="0">
              <a:lnSpc>
                <a:spcPct val="100000"/>
              </a:lnSpc>
              <a:spcBef>
                <a:spcPts val="600"/>
              </a:spcBef>
            </a:pPr>
            <a:r>
              <a:rPr lang="en-IN" sz="1700" b="0" dirty="0"/>
              <a:t>Suppliers differ in unit cost, lead time (1-8 days), fill reliability (80-98%), minimum order quantity and outage risk.</a:t>
            </a:r>
            <a:endParaRPr lang="en-IN" sz="1700" b="0" dirty="0"/>
          </a:p>
          <a:p>
            <a:pPr lvl="0">
              <a:lnSpc>
                <a:spcPct val="100000"/>
              </a:lnSpc>
              <a:spcBef>
                <a:spcPts val="600"/>
              </a:spcBef>
            </a:pPr>
            <a:r>
              <a:rPr lang="en-IN" sz="1700" b="1" dirty="0"/>
              <a:t>Objective: maximise total profit = revenue - purchase - holding - ordering fees - lost-sale penalty.</a:t>
            </a:r>
            <a:endParaRPr lang="en-IN" sz="1700" b="1" dirty="0"/>
          </a:p>
          <a:p>
            <a:pPr lvl="0">
              <a:lnSpc>
                <a:spcPct val="100000"/>
              </a:lnSpc>
              <a:spcBef>
                <a:spcPts val="600"/>
              </a:spcBef>
            </a:pPr>
            <a:r>
              <a:rPr lang="en-IN" sz="1700" b="0" dirty="0"/>
              <a:t>Scale: 21 choices per product over 10 products per day, so enumeration is impossible.</a:t>
            </a:r>
            <a:endParaRPr lang="en-IN" sz="1700" b="0" dirty="0"/>
          </a:p>
          <a:p>
            <a:pPr lvl="0">
              <a:lnSpc>
                <a:spcPct val="100000"/>
              </a:lnSpc>
              <a:spcBef>
                <a:spcPts val="600"/>
              </a:spcBef>
            </a:pPr>
            <a:r>
              <a:rPr lang="en-IN" sz="1700" b="0" dirty="0"/>
              <a:t>Decisions are coupled in time (today's order becomes next week's stock) and across products (one shared capacity).</a:t>
            </a:r>
            <a:endParaRPr lang="en-IN" sz="1700" b="0" dirty="0"/>
          </a:p>
          <a:p>
            <a:pPr lvl="0">
              <a:lnSpc>
                <a:spcPct val="100000"/>
              </a:lnSpc>
              <a:spcBef>
                <a:spcPts val="600"/>
              </a:spcBef>
            </a:pPr>
            <a:r>
              <a:rPr lang="en-IN" sz="1700" b="1" dirty="0"/>
              <a:t>Additional requirement: every decision must come with a business-readable justification.</a:t>
            </a:r>
            <a:endParaRPr lang="en-IN" sz="1700" b="1" dirty="0"/>
          </a:p>
        </p:txBody>
      </p:sp>
      <p:sp>
        <p:nvSpPr>
          <p:cNvPr id="19" name="Slide Number Placeholder 1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216105-7B7A-4C42-B2A1-5E9A2FA4F8FD}" type="slidenum">
              <a:rPr lang="en-IN" smtClean="0"/>
            </a:fld>
            <a:endParaRPr lang="en-IN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/>
          <p:cNvSpPr/>
          <p:nvPr/>
        </p:nvSpPr>
        <p:spPr>
          <a:xfrm>
            <a:off x="335901" y="97140"/>
            <a:ext cx="12191998" cy="1262131"/>
          </a:xfrm>
          <a:prstGeom prst="rect">
            <a:avLst/>
          </a:prstGeom>
          <a:gradFill flip="none" rotWithShape="1">
            <a:gsLst>
              <a:gs pos="0">
                <a:srgbClr val="1A9B46">
                  <a:tint val="66000"/>
                  <a:satMod val="160000"/>
                </a:srgbClr>
              </a:gs>
              <a:gs pos="50000">
                <a:srgbClr val="1A9B46">
                  <a:tint val="44500"/>
                  <a:satMod val="160000"/>
                </a:srgbClr>
              </a:gs>
              <a:gs pos="100000">
                <a:srgbClr val="1A9B46">
                  <a:tint val="23500"/>
                  <a:satMod val="160000"/>
                </a:srgb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sz="4400" dirty="0">
              <a:solidFill>
                <a:schemeClr val="accent1">
                  <a:lumMod val="50000"/>
                </a:schemeClr>
              </a:solidFill>
            </a:endParaRPr>
          </a:p>
        </p:txBody>
      </p:sp>
      <p:sp>
        <p:nvSpPr>
          <p:cNvPr id="10" name="Google Shape;91;p1"/>
          <p:cNvSpPr txBox="1"/>
          <p:nvPr/>
        </p:nvSpPr>
        <p:spPr>
          <a:xfrm>
            <a:off x="-1" y="6416040"/>
            <a:ext cx="12191998" cy="441960"/>
          </a:xfrm>
          <a:prstGeom prst="rect">
            <a:avLst/>
          </a:prstGeom>
          <a:gradFill flip="none" rotWithShape="1">
            <a:gsLst>
              <a:gs pos="0">
                <a:srgbClr val="1A9B46">
                  <a:tint val="66000"/>
                  <a:satMod val="160000"/>
                </a:srgbClr>
              </a:gs>
              <a:gs pos="50000">
                <a:srgbClr val="1A9B46">
                  <a:tint val="44500"/>
                  <a:satMod val="160000"/>
                </a:srgbClr>
              </a:gs>
              <a:gs pos="100000">
                <a:srgbClr val="1A9B46">
                  <a:tint val="23500"/>
                  <a:satMod val="160000"/>
                </a:srgb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600" b="1" i="0" u="none" strike="noStrike" cap="none" dirty="0">
                <a:solidFill>
                  <a:srgbClr val="08127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[</a:t>
            </a:r>
            <a:r>
              <a:rPr lang="en-IN" sz="1600" b="1" dirty="0">
                <a:solidFill>
                  <a:srgbClr val="08127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Mid Project Review]</a:t>
            </a:r>
            <a:r>
              <a:rPr lang="en-IN" sz="1600" b="1" i="0" u="none" strike="noStrike" cap="none" dirty="0">
                <a:solidFill>
                  <a:srgbClr val="08127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     </a:t>
            </a:r>
            <a:endParaRPr sz="1600" b="1" i="0" u="none" strike="noStrike" cap="none" dirty="0">
              <a:solidFill>
                <a:srgbClr val="081271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  <a:sym typeface="Times New Roman" panose="02020603050405020304"/>
            </a:endParaRPr>
          </a:p>
        </p:txBody>
      </p:sp>
      <p:cxnSp>
        <p:nvCxnSpPr>
          <p:cNvPr id="16" name="Straight Connector 15"/>
          <p:cNvCxnSpPr/>
          <p:nvPr/>
        </p:nvCxnSpPr>
        <p:spPr>
          <a:xfrm>
            <a:off x="0" y="1260899"/>
            <a:ext cx="12192000" cy="0"/>
          </a:xfrm>
          <a:prstGeom prst="line">
            <a:avLst/>
          </a:prstGeom>
          <a:ln w="28575">
            <a:solidFill>
              <a:srgbClr val="1A9B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198" y="171711"/>
            <a:ext cx="10515600" cy="1325563"/>
          </a:xfrm>
        </p:spPr>
        <p:txBody>
          <a:bodyPr/>
          <a:lstStyle/>
          <a:p>
            <a:r>
              <a:rPr lang="en-IN" dirty="0">
                <a:solidFill>
                  <a:schemeClr val="accent1">
                    <a:lumMod val="50000"/>
                  </a:schemeClr>
                </a:solidFill>
              </a:rPr>
              <a:t>Literature Review</a:t>
            </a:r>
            <a:br>
              <a:rPr lang="en-IN" dirty="0">
                <a:solidFill>
                  <a:schemeClr val="accent1">
                    <a:lumMod val="50000"/>
                  </a:schemeClr>
                </a:solidFill>
              </a:rPr>
            </a:br>
            <a:endParaRPr lang="en-IN" dirty="0"/>
          </a:p>
        </p:txBody>
      </p:sp>
      <p:sp>
        <p:nvSpPr>
          <p:cNvPr id="19" name="Slide Number Placeholder 1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216105-7B7A-4C42-B2A1-5E9A2FA4F8FD}" type="slidenum">
              <a:rPr lang="en-IN" smtClean="0"/>
            </a:fld>
            <a:endParaRPr lang="en-IN" dirty="0"/>
          </a:p>
        </p:txBody>
      </p:sp>
      <p:graphicFrame>
        <p:nvGraphicFramePr>
          <p:cNvPr id="40" name="Table 40"/>
          <p:cNvGraphicFramePr>
            <a:graphicFrameLocks noGrp="1"/>
          </p:cNvGraphicFramePr>
          <p:nvPr/>
        </p:nvGraphicFramePr>
        <p:xfrm>
          <a:off x="838198" y="1700000"/>
          <a:ext cx="10670000" cy="33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0000"/>
                <a:gridCol w="2350000"/>
                <a:gridCol w="1500000"/>
                <a:gridCol w="2100000"/>
                <a:gridCol w="2300000"/>
                <a:gridCol w="1900000"/>
              </a:tblGrid>
              <a:tr h="560000">
                <a:tc>
                  <a:txBody>
                    <a:bodyPr/>
                    <a:lstStyle/>
                    <a:p>
                      <a:pPr algn="l"/>
                      <a:r>
                        <a:rPr lang="en-IN" sz="950" b="1" dirty="0">
                          <a:solidFill>
                            <a:srgbClr val="FFFFFF"/>
                          </a:solidFill>
                        </a:rPr>
                        <a:t>Sl No</a:t>
                      </a:r>
                      <a:endParaRPr lang="en-IN" sz="950" b="1" dirty="0">
                        <a:solidFill>
                          <a:srgbClr val="FFFFFF"/>
                        </a:solidFill>
                      </a:endParaRPr>
                    </a:p>
                  </a:txBody>
                  <a:tcPr marL="68580" marR="68580" marT="34290" marB="34290" anchor="ctr">
                    <a:solidFill>
                      <a:srgbClr val="1A9B4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950" b="1" dirty="0">
                          <a:solidFill>
                            <a:srgbClr val="FFFFFF"/>
                          </a:solidFill>
                        </a:rPr>
                        <a:t>Title and year</a:t>
                      </a:r>
                      <a:endParaRPr lang="en-IN" sz="950" b="1" dirty="0">
                        <a:solidFill>
                          <a:srgbClr val="FFFFFF"/>
                        </a:solidFill>
                      </a:endParaRPr>
                    </a:p>
                  </a:txBody>
                  <a:tcPr marL="68580" marR="68580" marT="34290" marB="34290" anchor="ctr">
                    <a:solidFill>
                      <a:srgbClr val="1A9B4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950" b="1" dirty="0">
                          <a:solidFill>
                            <a:srgbClr val="FFFFFF"/>
                          </a:solidFill>
                        </a:rPr>
                        <a:t>Journal / Conference</a:t>
                      </a:r>
                      <a:endParaRPr lang="en-IN" sz="950" b="1" dirty="0">
                        <a:solidFill>
                          <a:srgbClr val="FFFFFF"/>
                        </a:solidFill>
                      </a:endParaRPr>
                    </a:p>
                  </a:txBody>
                  <a:tcPr marL="68580" marR="68580" marT="34290" marB="34290" anchor="ctr">
                    <a:solidFill>
                      <a:srgbClr val="1A9B4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950" b="1" dirty="0">
                          <a:solidFill>
                            <a:srgbClr val="FFFFFF"/>
                          </a:solidFill>
                        </a:rPr>
                        <a:t>Methodology</a:t>
                      </a:r>
                      <a:endParaRPr lang="en-IN" sz="950" b="1" dirty="0">
                        <a:solidFill>
                          <a:srgbClr val="FFFFFF"/>
                        </a:solidFill>
                      </a:endParaRPr>
                    </a:p>
                  </a:txBody>
                  <a:tcPr marL="68580" marR="68580" marT="34290" marB="34290" anchor="ctr">
                    <a:solidFill>
                      <a:srgbClr val="1A9B4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950" b="1" dirty="0">
                          <a:solidFill>
                            <a:srgbClr val="FFFFFF"/>
                          </a:solidFill>
                        </a:rPr>
                        <a:t>Key findings</a:t>
                      </a:r>
                      <a:endParaRPr lang="en-IN" sz="950" b="1" dirty="0">
                        <a:solidFill>
                          <a:srgbClr val="FFFFFF"/>
                        </a:solidFill>
                      </a:endParaRPr>
                    </a:p>
                  </a:txBody>
                  <a:tcPr marL="68580" marR="68580" marT="34290" marB="34290" anchor="ctr">
                    <a:solidFill>
                      <a:srgbClr val="1A9B4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950" b="1" dirty="0">
                          <a:solidFill>
                            <a:srgbClr val="FFFFFF"/>
                          </a:solidFill>
                        </a:rPr>
                        <a:t>Limitations</a:t>
                      </a:r>
                      <a:endParaRPr lang="en-IN" sz="950" b="1" dirty="0">
                        <a:solidFill>
                          <a:srgbClr val="FFFFFF"/>
                        </a:solidFill>
                      </a:endParaRPr>
                    </a:p>
                  </a:txBody>
                  <a:tcPr marL="68580" marR="68580" marT="34290" marB="34290" anchor="ctr">
                    <a:solidFill>
                      <a:srgbClr val="1A9B46"/>
                    </a:solidFill>
                  </a:tcPr>
                </a:tc>
              </a:tr>
              <a:tr h="560000">
                <a:tc>
                  <a:txBody>
                    <a:bodyPr/>
                    <a:lstStyle/>
                    <a:p>
                      <a:pPr algn="l"/>
                      <a:r>
                        <a:rPr lang="en-IN" sz="950" b="0" dirty="0">
                          <a:solidFill>
                            <a:srgbClr val="202020"/>
                          </a:solidFill>
                        </a:rPr>
                        <a:t>1</a:t>
                      </a:r>
                      <a:endParaRPr lang="en-IN" sz="950" b="0" dirty="0">
                        <a:solidFill>
                          <a:srgbClr val="202020"/>
                        </a:solidFill>
                      </a:endParaRPr>
                    </a:p>
                  </a:txBody>
                  <a:tcPr marL="68580" marR="68580" marT="34290" marB="34290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950" b="0" dirty="0">
                          <a:solidFill>
                            <a:srgbClr val="202020"/>
                          </a:solidFill>
                        </a:rPr>
                        <a:t>Proximal Policy Optimization Algorithms (2017)</a:t>
                      </a:r>
                      <a:endParaRPr lang="en-IN" sz="950" b="0" dirty="0">
                        <a:solidFill>
                          <a:srgbClr val="202020"/>
                        </a:solidFill>
                      </a:endParaRPr>
                    </a:p>
                  </a:txBody>
                  <a:tcPr marL="68580" marR="68580" marT="34290" marB="34290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950" b="0" dirty="0">
                          <a:solidFill>
                            <a:srgbClr val="202020"/>
                          </a:solidFill>
                        </a:rPr>
                        <a:t>arXiv preprint</a:t>
                      </a:r>
                      <a:endParaRPr lang="en-IN" sz="950" b="0" dirty="0">
                        <a:solidFill>
                          <a:srgbClr val="202020"/>
                        </a:solidFill>
                      </a:endParaRPr>
                    </a:p>
                  </a:txBody>
                  <a:tcPr marL="68580" marR="68580" marT="34290" marB="34290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950" b="0" dirty="0">
                          <a:solidFill>
                            <a:srgbClr val="202020"/>
                          </a:solidFill>
                        </a:rPr>
                        <a:t>Clipped surrogate policy-gradient objective</a:t>
                      </a:r>
                      <a:endParaRPr lang="en-IN" sz="950" b="0" dirty="0">
                        <a:solidFill>
                          <a:srgbClr val="202020"/>
                        </a:solidFill>
                      </a:endParaRPr>
                    </a:p>
                  </a:txBody>
                  <a:tcPr marL="68580" marR="68580" marT="34290" marB="34290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950" b="0" dirty="0">
                          <a:solidFill>
                            <a:srgbClr val="202020"/>
                          </a:solidFill>
                        </a:rPr>
                        <a:t>Stable, sample-efficient on-policy RL; the default modern baseline</a:t>
                      </a:r>
                      <a:endParaRPr lang="en-IN" sz="950" b="0" dirty="0">
                        <a:solidFill>
                          <a:srgbClr val="202020"/>
                        </a:solidFill>
                      </a:endParaRPr>
                    </a:p>
                  </a:txBody>
                  <a:tcPr marL="68580" marR="68580" marT="34290" marB="34290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950" b="0" dirty="0">
                          <a:solidFill>
                            <a:srgbClr val="202020"/>
                          </a:solidFill>
                        </a:rPr>
                        <a:t>General purpose; no supply-chain structure</a:t>
                      </a:r>
                      <a:endParaRPr lang="en-IN" sz="950" b="0" dirty="0">
                        <a:solidFill>
                          <a:srgbClr val="202020"/>
                        </a:solidFill>
                      </a:endParaRPr>
                    </a:p>
                  </a:txBody>
                  <a:tcPr marL="68580" marR="68580" marT="34290" marB="34290" anchor="ctr"/>
                </a:tc>
              </a:tr>
              <a:tr h="560000">
                <a:tc>
                  <a:txBody>
                    <a:bodyPr/>
                    <a:lstStyle/>
                    <a:p>
                      <a:pPr algn="l"/>
                      <a:r>
                        <a:rPr lang="en-IN" sz="950" b="0" dirty="0">
                          <a:solidFill>
                            <a:srgbClr val="202020"/>
                          </a:solidFill>
                        </a:rPr>
                        <a:t>2</a:t>
                      </a:r>
                      <a:endParaRPr lang="en-IN" sz="950" b="0" dirty="0">
                        <a:solidFill>
                          <a:srgbClr val="202020"/>
                        </a:solidFill>
                      </a:endParaRPr>
                    </a:p>
                  </a:txBody>
                  <a:tcPr marL="68580" marR="68580" marT="34290" marB="34290" anchor="ctr">
                    <a:solidFill>
                      <a:srgbClr val="F2F7F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950" b="0" dirty="0">
                          <a:solidFill>
                            <a:srgbClr val="202020"/>
                          </a:solidFill>
                        </a:rPr>
                        <a:t>A Deep Q-Network for the Beer Game (2022)</a:t>
                      </a:r>
                      <a:endParaRPr lang="en-IN" sz="950" b="0" dirty="0">
                        <a:solidFill>
                          <a:srgbClr val="202020"/>
                        </a:solidFill>
                      </a:endParaRPr>
                    </a:p>
                  </a:txBody>
                  <a:tcPr marL="68580" marR="68580" marT="34290" marB="34290" anchor="ctr">
                    <a:solidFill>
                      <a:srgbClr val="F2F7F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950" b="0" dirty="0">
                          <a:solidFill>
                            <a:srgbClr val="202020"/>
                          </a:solidFill>
                        </a:rPr>
                        <a:t>M&amp;SOM</a:t>
                      </a:r>
                      <a:endParaRPr lang="en-IN" sz="950" b="0" dirty="0">
                        <a:solidFill>
                          <a:srgbClr val="202020"/>
                        </a:solidFill>
                      </a:endParaRPr>
                    </a:p>
                  </a:txBody>
                  <a:tcPr marL="68580" marR="68580" marT="34290" marB="34290" anchor="ctr">
                    <a:solidFill>
                      <a:srgbClr val="F2F7F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950" b="0" dirty="0">
                          <a:solidFill>
                            <a:srgbClr val="202020"/>
                          </a:solidFill>
                        </a:rPr>
                        <a:t>DQN on a serial beer-game supply chain</a:t>
                      </a:r>
                      <a:endParaRPr lang="en-IN" sz="950" b="0" dirty="0">
                        <a:solidFill>
                          <a:srgbClr val="202020"/>
                        </a:solidFill>
                      </a:endParaRPr>
                    </a:p>
                  </a:txBody>
                  <a:tcPr marL="68580" marR="68580" marT="34290" marB="34290" anchor="ctr">
                    <a:solidFill>
                      <a:srgbClr val="F2F7F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950" b="0" dirty="0">
                          <a:solidFill>
                            <a:srgbClr val="202020"/>
                          </a:solidFill>
                        </a:rPr>
                        <a:t>DRL matches or beats base-stock policies under cooperation</a:t>
                      </a:r>
                      <a:endParaRPr lang="en-IN" sz="950" b="0" dirty="0">
                        <a:solidFill>
                          <a:srgbClr val="202020"/>
                        </a:solidFill>
                      </a:endParaRPr>
                    </a:p>
                  </a:txBody>
                  <a:tcPr marL="68580" marR="68580" marT="34290" marB="34290" anchor="ctr">
                    <a:solidFill>
                      <a:srgbClr val="F2F7F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950" b="0" dirty="0">
                          <a:solidFill>
                            <a:srgbClr val="202020"/>
                          </a:solidFill>
                        </a:rPr>
                        <a:t>Single product, serial chain, no sourcing choice</a:t>
                      </a:r>
                      <a:endParaRPr lang="en-IN" sz="950" b="0" dirty="0">
                        <a:solidFill>
                          <a:srgbClr val="202020"/>
                        </a:solidFill>
                      </a:endParaRPr>
                    </a:p>
                  </a:txBody>
                  <a:tcPr marL="68580" marR="68580" marT="34290" marB="34290" anchor="ctr">
                    <a:solidFill>
                      <a:srgbClr val="F2F7F3"/>
                    </a:solidFill>
                  </a:tcPr>
                </a:tc>
              </a:tr>
              <a:tr h="560000">
                <a:tc>
                  <a:txBody>
                    <a:bodyPr/>
                    <a:lstStyle/>
                    <a:p>
                      <a:pPr algn="l"/>
                      <a:r>
                        <a:rPr lang="en-IN" sz="950" b="0" dirty="0">
                          <a:solidFill>
                            <a:srgbClr val="202020"/>
                          </a:solidFill>
                        </a:rPr>
                        <a:t>3</a:t>
                      </a:r>
                      <a:endParaRPr lang="en-IN" sz="950" b="0" dirty="0">
                        <a:solidFill>
                          <a:srgbClr val="202020"/>
                        </a:solidFill>
                      </a:endParaRPr>
                    </a:p>
                  </a:txBody>
                  <a:tcPr marL="68580" marR="68580" marT="34290" marB="34290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950" b="0" dirty="0">
                          <a:solidFill>
                            <a:srgbClr val="202020"/>
                          </a:solidFill>
                        </a:rPr>
                        <a:t>Can Deep RL Improve Inventory Management? (2022)</a:t>
                      </a:r>
                      <a:endParaRPr lang="en-IN" sz="950" b="0" dirty="0">
                        <a:solidFill>
                          <a:srgbClr val="202020"/>
                        </a:solidFill>
                      </a:endParaRPr>
                    </a:p>
                  </a:txBody>
                  <a:tcPr marL="68580" marR="68580" marT="34290" marB="34290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950" b="0" dirty="0">
                          <a:solidFill>
                            <a:srgbClr val="202020"/>
                          </a:solidFill>
                        </a:rPr>
                        <a:t>M&amp;SOM</a:t>
                      </a:r>
                      <a:endParaRPr lang="en-IN" sz="950" b="0" dirty="0">
                        <a:solidFill>
                          <a:srgbClr val="202020"/>
                        </a:solidFill>
                      </a:endParaRPr>
                    </a:p>
                  </a:txBody>
                  <a:tcPr marL="68580" marR="68580" marT="34290" marB="34290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950" b="0" dirty="0">
                          <a:solidFill>
                            <a:srgbClr val="202020"/>
                          </a:solidFill>
                        </a:rPr>
                        <a:t>A3C on lost-sales and dual-sourcing problems</a:t>
                      </a:r>
                      <a:endParaRPr lang="en-IN" sz="950" b="0" dirty="0">
                        <a:solidFill>
                          <a:srgbClr val="202020"/>
                        </a:solidFill>
                      </a:endParaRPr>
                    </a:p>
                  </a:txBody>
                  <a:tcPr marL="68580" marR="68580" marT="34290" marB="34290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950" b="0" dirty="0">
                          <a:solidFill>
                            <a:srgbClr val="202020"/>
                          </a:solidFill>
                        </a:rPr>
                        <a:t>Competitive with tuned heuristics but not clearly superior</a:t>
                      </a:r>
                      <a:endParaRPr lang="en-IN" sz="950" b="0" dirty="0">
                        <a:solidFill>
                          <a:srgbClr val="202020"/>
                        </a:solidFill>
                      </a:endParaRPr>
                    </a:p>
                  </a:txBody>
                  <a:tcPr marL="68580" marR="68580" marT="34290" marB="34290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950" b="0" dirty="0">
                          <a:solidFill>
                            <a:srgbClr val="202020"/>
                          </a:solidFill>
                        </a:rPr>
                        <a:t>Heavy tuning cost; no explanation layer</a:t>
                      </a:r>
                      <a:endParaRPr lang="en-IN" sz="950" b="0" dirty="0">
                        <a:solidFill>
                          <a:srgbClr val="202020"/>
                        </a:solidFill>
                      </a:endParaRPr>
                    </a:p>
                  </a:txBody>
                  <a:tcPr marL="68580" marR="68580" marT="34290" marB="34290" anchor="ctr"/>
                </a:tc>
              </a:tr>
              <a:tr h="560000">
                <a:tc>
                  <a:txBody>
                    <a:bodyPr/>
                    <a:lstStyle/>
                    <a:p>
                      <a:pPr algn="l"/>
                      <a:r>
                        <a:rPr lang="en-IN" sz="950" b="0" dirty="0">
                          <a:solidFill>
                            <a:srgbClr val="202020"/>
                          </a:solidFill>
                        </a:rPr>
                        <a:t>4</a:t>
                      </a:r>
                      <a:endParaRPr lang="en-IN" sz="950" b="0" dirty="0">
                        <a:solidFill>
                          <a:srgbClr val="202020"/>
                        </a:solidFill>
                      </a:endParaRPr>
                    </a:p>
                  </a:txBody>
                  <a:tcPr marL="68580" marR="68580" marT="34290" marB="34290" anchor="ctr">
                    <a:solidFill>
                      <a:srgbClr val="F2F7F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950" b="0" dirty="0">
                          <a:solidFill>
                            <a:srgbClr val="202020"/>
                          </a:solidFill>
                        </a:rPr>
                        <a:t>Deep RL for Inventory Control: A Roadmap (2022)</a:t>
                      </a:r>
                      <a:endParaRPr lang="en-IN" sz="950" b="0" dirty="0">
                        <a:solidFill>
                          <a:srgbClr val="202020"/>
                        </a:solidFill>
                      </a:endParaRPr>
                    </a:p>
                  </a:txBody>
                  <a:tcPr marL="68580" marR="68580" marT="34290" marB="34290" anchor="ctr">
                    <a:solidFill>
                      <a:srgbClr val="F2F7F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950" b="0" dirty="0">
                          <a:solidFill>
                            <a:srgbClr val="202020"/>
                          </a:solidFill>
                        </a:rPr>
                        <a:t>EJOR</a:t>
                      </a:r>
                      <a:endParaRPr lang="en-IN" sz="950" b="0" dirty="0">
                        <a:solidFill>
                          <a:srgbClr val="202020"/>
                        </a:solidFill>
                      </a:endParaRPr>
                    </a:p>
                  </a:txBody>
                  <a:tcPr marL="68580" marR="68580" marT="34290" marB="34290" anchor="ctr">
                    <a:solidFill>
                      <a:srgbClr val="F2F7F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950" b="0" dirty="0">
                          <a:solidFill>
                            <a:srgbClr val="202020"/>
                          </a:solidFill>
                        </a:rPr>
                        <a:t>Survey and research roadmap</a:t>
                      </a:r>
                      <a:endParaRPr lang="en-IN" sz="950" b="0" dirty="0">
                        <a:solidFill>
                          <a:srgbClr val="202020"/>
                        </a:solidFill>
                      </a:endParaRPr>
                    </a:p>
                  </a:txBody>
                  <a:tcPr marL="68580" marR="68580" marT="34290" marB="34290" anchor="ctr">
                    <a:solidFill>
                      <a:srgbClr val="F2F7F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950" b="0" dirty="0">
                          <a:solidFill>
                            <a:srgbClr val="202020"/>
                          </a:solidFill>
                        </a:rPr>
                        <a:t>Names fair benchmarking and interpretability as open problems</a:t>
                      </a:r>
                      <a:endParaRPr lang="en-IN" sz="950" b="0" dirty="0">
                        <a:solidFill>
                          <a:srgbClr val="202020"/>
                        </a:solidFill>
                      </a:endParaRPr>
                    </a:p>
                  </a:txBody>
                  <a:tcPr marL="68580" marR="68580" marT="34290" marB="34290" anchor="ctr">
                    <a:solidFill>
                      <a:srgbClr val="F2F7F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950" b="0" dirty="0">
                          <a:solidFill>
                            <a:srgbClr val="202020"/>
                          </a:solidFill>
                        </a:rPr>
                        <a:t>Conceptual; no implementation or results</a:t>
                      </a:r>
                      <a:endParaRPr lang="en-IN" sz="950" b="0" dirty="0">
                        <a:solidFill>
                          <a:srgbClr val="202020"/>
                        </a:solidFill>
                      </a:endParaRPr>
                    </a:p>
                  </a:txBody>
                  <a:tcPr marL="68580" marR="68580" marT="34290" marB="34290" anchor="ctr">
                    <a:solidFill>
                      <a:srgbClr val="F2F7F3"/>
                    </a:solidFill>
                  </a:tcPr>
                </a:tc>
              </a:tr>
              <a:tr h="560000">
                <a:tc>
                  <a:txBody>
                    <a:bodyPr/>
                    <a:lstStyle/>
                    <a:p>
                      <a:pPr algn="l"/>
                      <a:r>
                        <a:rPr lang="en-IN" sz="950" b="0" dirty="0">
                          <a:solidFill>
                            <a:srgbClr val="202020"/>
                          </a:solidFill>
                        </a:rPr>
                        <a:t>5</a:t>
                      </a:r>
                      <a:endParaRPr lang="en-IN" sz="950" b="0" dirty="0">
                        <a:solidFill>
                          <a:srgbClr val="202020"/>
                        </a:solidFill>
                      </a:endParaRPr>
                    </a:p>
                  </a:txBody>
                  <a:tcPr marL="68580" marR="68580" marT="34290" marB="34290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950" b="0" dirty="0">
                          <a:solidFill>
                            <a:srgbClr val="202020"/>
                          </a:solidFill>
                        </a:rPr>
                        <a:t>A Closer Look at Invalid Action Masking in Policy Gradient Algorithms (2022)</a:t>
                      </a:r>
                      <a:endParaRPr lang="en-IN" sz="950" b="0" dirty="0">
                        <a:solidFill>
                          <a:srgbClr val="202020"/>
                        </a:solidFill>
                      </a:endParaRPr>
                    </a:p>
                  </a:txBody>
                  <a:tcPr marL="68580" marR="68580" marT="34290" marB="34290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950" b="0" dirty="0">
                          <a:solidFill>
                            <a:srgbClr val="202020"/>
                          </a:solidFill>
                        </a:rPr>
                        <a:t>FLAIRS</a:t>
                      </a:r>
                      <a:endParaRPr lang="en-IN" sz="950" b="0" dirty="0">
                        <a:solidFill>
                          <a:srgbClr val="202020"/>
                        </a:solidFill>
                      </a:endParaRPr>
                    </a:p>
                  </a:txBody>
                  <a:tcPr marL="68580" marR="68580" marT="34290" marB="34290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950" b="0" dirty="0">
                          <a:solidFill>
                            <a:srgbClr val="202020"/>
                          </a:solidFill>
                        </a:rPr>
                        <a:t>Action masking inside policy-gradient methods</a:t>
                      </a:r>
                      <a:endParaRPr lang="en-IN" sz="950" b="0" dirty="0">
                        <a:solidFill>
                          <a:srgbClr val="202020"/>
                        </a:solidFill>
                      </a:endParaRPr>
                    </a:p>
                  </a:txBody>
                  <a:tcPr marL="68580" marR="68580" marT="34290" marB="34290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950" b="0" dirty="0">
                          <a:solidFill>
                            <a:srgbClr val="202020"/>
                          </a:solidFill>
                        </a:rPr>
                        <a:t>Masking is a valid gradient and scales to large action spaces</a:t>
                      </a:r>
                      <a:endParaRPr lang="en-IN" sz="950" b="0" dirty="0">
                        <a:solidFill>
                          <a:srgbClr val="202020"/>
                        </a:solidFill>
                      </a:endParaRPr>
                    </a:p>
                  </a:txBody>
                  <a:tcPr marL="68580" marR="68580" marT="34290" marB="34290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950" b="0" dirty="0">
                          <a:solidFill>
                            <a:srgbClr val="202020"/>
                          </a:solidFill>
                        </a:rPr>
                        <a:t>Not demonstrated on inventory or sourcing</a:t>
                      </a:r>
                      <a:endParaRPr lang="en-IN" sz="950" b="0" dirty="0">
                        <a:solidFill>
                          <a:srgbClr val="202020"/>
                        </a:solidFill>
                      </a:endParaRPr>
                    </a:p>
                  </a:txBody>
                  <a:tcPr marL="68580" marR="68580" marT="34290" marB="34290"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/>
          <p:cNvSpPr/>
          <p:nvPr/>
        </p:nvSpPr>
        <p:spPr>
          <a:xfrm>
            <a:off x="-1" y="0"/>
            <a:ext cx="12191998" cy="1262131"/>
          </a:xfrm>
          <a:prstGeom prst="rect">
            <a:avLst/>
          </a:prstGeom>
          <a:gradFill flip="none" rotWithShape="1">
            <a:gsLst>
              <a:gs pos="0">
                <a:srgbClr val="1A9B46">
                  <a:tint val="66000"/>
                  <a:satMod val="160000"/>
                </a:srgbClr>
              </a:gs>
              <a:gs pos="50000">
                <a:srgbClr val="1A9B46">
                  <a:tint val="44500"/>
                  <a:satMod val="160000"/>
                </a:srgbClr>
              </a:gs>
              <a:gs pos="100000">
                <a:srgbClr val="1A9B46">
                  <a:tint val="23500"/>
                  <a:satMod val="160000"/>
                </a:srgb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sz="4400" dirty="0">
              <a:solidFill>
                <a:schemeClr val="accent1">
                  <a:lumMod val="50000"/>
                </a:schemeClr>
              </a:solidFill>
            </a:endParaRPr>
          </a:p>
        </p:txBody>
      </p:sp>
      <p:sp>
        <p:nvSpPr>
          <p:cNvPr id="10" name="Google Shape;91;p1"/>
          <p:cNvSpPr txBox="1"/>
          <p:nvPr/>
        </p:nvSpPr>
        <p:spPr>
          <a:xfrm>
            <a:off x="-1" y="6416040"/>
            <a:ext cx="12191998" cy="441960"/>
          </a:xfrm>
          <a:prstGeom prst="rect">
            <a:avLst/>
          </a:prstGeom>
          <a:gradFill flip="none" rotWithShape="1">
            <a:gsLst>
              <a:gs pos="0">
                <a:srgbClr val="1A9B46">
                  <a:tint val="66000"/>
                  <a:satMod val="160000"/>
                </a:srgbClr>
              </a:gs>
              <a:gs pos="50000">
                <a:srgbClr val="1A9B46">
                  <a:tint val="44500"/>
                  <a:satMod val="160000"/>
                </a:srgbClr>
              </a:gs>
              <a:gs pos="100000">
                <a:srgbClr val="1A9B46">
                  <a:tint val="23500"/>
                  <a:satMod val="160000"/>
                </a:srgb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600" b="1" i="0" u="none" strike="noStrike" cap="none" dirty="0">
                <a:solidFill>
                  <a:srgbClr val="08127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[</a:t>
            </a:r>
            <a:r>
              <a:rPr lang="en-IN" sz="1600" b="1" dirty="0">
                <a:solidFill>
                  <a:srgbClr val="08127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Mid Project Review]</a:t>
            </a:r>
            <a:r>
              <a:rPr lang="en-IN" sz="1600" b="1" i="0" u="none" strike="noStrike" cap="none" dirty="0">
                <a:solidFill>
                  <a:srgbClr val="08127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     </a:t>
            </a:r>
            <a:endParaRPr sz="1600" b="1" i="0" u="none" strike="noStrike" cap="none" dirty="0">
              <a:solidFill>
                <a:srgbClr val="081271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  <a:sym typeface="Times New Roman" panose="02020603050405020304"/>
            </a:endParaRPr>
          </a:p>
        </p:txBody>
      </p:sp>
      <p:cxnSp>
        <p:nvCxnSpPr>
          <p:cNvPr id="16" name="Straight Connector 15"/>
          <p:cNvCxnSpPr/>
          <p:nvPr/>
        </p:nvCxnSpPr>
        <p:spPr>
          <a:xfrm>
            <a:off x="0" y="1260899"/>
            <a:ext cx="12192000" cy="0"/>
          </a:xfrm>
          <a:prstGeom prst="line">
            <a:avLst/>
          </a:prstGeom>
          <a:ln w="28575">
            <a:solidFill>
              <a:srgbClr val="1A9B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198" y="171711"/>
            <a:ext cx="10515600" cy="1325563"/>
          </a:xfrm>
        </p:spPr>
        <p:txBody>
          <a:bodyPr/>
          <a:lstStyle/>
          <a:p>
            <a:r>
              <a:rPr lang="en-IN" dirty="0">
                <a:solidFill>
                  <a:schemeClr val="accent1">
                    <a:lumMod val="50000"/>
                  </a:schemeClr>
                </a:solidFill>
              </a:rPr>
              <a:t>Gaps Identified</a:t>
            </a:r>
            <a:br>
              <a:rPr lang="en-IN" dirty="0">
                <a:solidFill>
                  <a:schemeClr val="accent1">
                    <a:lumMod val="50000"/>
                  </a:schemeClr>
                </a:solidFill>
              </a:rPr>
            </a:br>
            <a:endParaRPr lang="en-IN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198" y="1594415"/>
            <a:ext cx="10515600" cy="4351338"/>
          </a:xfrm>
        </p:spPr>
        <p:txBody>
          <a:bodyPr>
            <a:normAutofit/>
          </a:bodyPr>
          <a:lstStyle/>
          <a:p>
            <a:pPr lvl="0">
              <a:lnSpc>
                <a:spcPct val="100000"/>
              </a:lnSpc>
              <a:spcBef>
                <a:spcPts val="600"/>
              </a:spcBef>
            </a:pPr>
            <a:r>
              <a:rPr lang="en-IN" sz="1700" b="0" dirty="0"/>
              <a:t>Weak benchmarks. Most DRL inventory papers compare against textbook-default heuristics rather than properly tuned ones, which inflates the reported gain.</a:t>
            </a:r>
            <a:endParaRPr lang="en-IN" sz="1700" b="0" dirty="0"/>
          </a:p>
          <a:p>
            <a:pPr lvl="0">
              <a:lnSpc>
                <a:spcPct val="100000"/>
              </a:lnSpc>
              <a:spcBef>
                <a:spcPts val="600"/>
              </a:spcBef>
            </a:pPr>
            <a:r>
              <a:rPr lang="en-IN" sz="1700" b="0" dirty="0"/>
              <a:t>Narrow problem settings. Single-product or serial chains dominate; joint quantity and supplier selection under one shared capacity is rarely modelled.</a:t>
            </a:r>
            <a:endParaRPr lang="en-IN" sz="1700" b="0" dirty="0"/>
          </a:p>
          <a:p>
            <a:pPr lvl="0">
              <a:lnSpc>
                <a:spcPct val="100000"/>
              </a:lnSpc>
              <a:spcBef>
                <a:spcPts val="600"/>
              </a:spcBef>
            </a:pPr>
            <a:r>
              <a:rPr lang="en-IN" sz="1700" b="0" dirty="0"/>
              <a:t>Explainability is deferred. Learned policies output a number, not a reason, so they stay in simulation and never reach a decision-maker.</a:t>
            </a:r>
            <a:endParaRPr lang="en-IN" sz="1700" b="0" dirty="0"/>
          </a:p>
          <a:p>
            <a:pPr lvl="0">
              <a:lnSpc>
                <a:spcPct val="100000"/>
              </a:lnSpc>
              <a:spcBef>
                <a:spcPts val="600"/>
              </a:spcBef>
            </a:pPr>
            <a:r>
              <a:rPr lang="en-IN" sz="1700" b="0" dirty="0"/>
              <a:t>Stress testing is hand-built. Demand spikes and supplier failures are coded case by case, so coverage is narrow and hard to extend.</a:t>
            </a:r>
            <a:endParaRPr lang="en-IN" sz="1700" b="0" dirty="0"/>
          </a:p>
          <a:p>
            <a:pPr lvl="0">
              <a:lnSpc>
                <a:spcPct val="100000"/>
              </a:lnSpc>
              <a:spcBef>
                <a:spcPts val="600"/>
              </a:spcBef>
            </a:pPr>
            <a:r>
              <a:rPr lang="en-IN" sz="1700" b="1" dirty="0"/>
              <a:t>No existing work couples an RL inventory agent with an LLM that both explains its decisions and generates the scenarios used to test it.</a:t>
            </a:r>
            <a:endParaRPr lang="en-IN" sz="1700" b="1" dirty="0"/>
          </a:p>
        </p:txBody>
      </p:sp>
      <p:sp>
        <p:nvSpPr>
          <p:cNvPr id="19" name="Slide Number Placeholder 1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216105-7B7A-4C42-B2A1-5E9A2FA4F8FD}" type="slidenum">
              <a:rPr lang="en-IN" smtClean="0"/>
            </a:fld>
            <a:endParaRPr lang="en-IN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/>
          <p:cNvSpPr/>
          <p:nvPr/>
        </p:nvSpPr>
        <p:spPr>
          <a:xfrm>
            <a:off x="-1" y="0"/>
            <a:ext cx="12191998" cy="1262131"/>
          </a:xfrm>
          <a:prstGeom prst="rect">
            <a:avLst/>
          </a:prstGeom>
          <a:gradFill flip="none" rotWithShape="1">
            <a:gsLst>
              <a:gs pos="0">
                <a:srgbClr val="1A9B46">
                  <a:tint val="66000"/>
                  <a:satMod val="160000"/>
                </a:srgbClr>
              </a:gs>
              <a:gs pos="50000">
                <a:srgbClr val="1A9B46">
                  <a:tint val="44500"/>
                  <a:satMod val="160000"/>
                </a:srgbClr>
              </a:gs>
              <a:gs pos="100000">
                <a:srgbClr val="1A9B46">
                  <a:tint val="23500"/>
                  <a:satMod val="160000"/>
                </a:srgb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sz="4400" dirty="0">
              <a:solidFill>
                <a:schemeClr val="accent1">
                  <a:lumMod val="50000"/>
                </a:schemeClr>
              </a:solidFill>
            </a:endParaRPr>
          </a:p>
        </p:txBody>
      </p:sp>
      <p:sp>
        <p:nvSpPr>
          <p:cNvPr id="10" name="Google Shape;91;p1"/>
          <p:cNvSpPr txBox="1"/>
          <p:nvPr/>
        </p:nvSpPr>
        <p:spPr>
          <a:xfrm>
            <a:off x="-1" y="6416040"/>
            <a:ext cx="12191998" cy="441960"/>
          </a:xfrm>
          <a:prstGeom prst="rect">
            <a:avLst/>
          </a:prstGeom>
          <a:gradFill flip="none" rotWithShape="1">
            <a:gsLst>
              <a:gs pos="0">
                <a:srgbClr val="1A9B46">
                  <a:tint val="66000"/>
                  <a:satMod val="160000"/>
                </a:srgbClr>
              </a:gs>
              <a:gs pos="50000">
                <a:srgbClr val="1A9B46">
                  <a:tint val="44500"/>
                  <a:satMod val="160000"/>
                </a:srgbClr>
              </a:gs>
              <a:gs pos="100000">
                <a:srgbClr val="1A9B46">
                  <a:tint val="23500"/>
                  <a:satMod val="160000"/>
                </a:srgb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600" b="1" i="0" u="none" strike="noStrike" cap="none" dirty="0">
                <a:solidFill>
                  <a:srgbClr val="08127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[</a:t>
            </a:r>
            <a:r>
              <a:rPr lang="en-IN" sz="1600" b="1" dirty="0">
                <a:solidFill>
                  <a:srgbClr val="08127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Mid Project Review]</a:t>
            </a:r>
            <a:r>
              <a:rPr lang="en-IN" sz="1600" b="1" i="0" u="none" strike="noStrike" cap="none" dirty="0">
                <a:solidFill>
                  <a:srgbClr val="08127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     </a:t>
            </a:r>
            <a:endParaRPr sz="1600" b="1" i="0" u="none" strike="noStrike" cap="none" dirty="0">
              <a:solidFill>
                <a:srgbClr val="081271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  <a:sym typeface="Times New Roman" panose="02020603050405020304"/>
            </a:endParaRPr>
          </a:p>
        </p:txBody>
      </p:sp>
      <p:cxnSp>
        <p:nvCxnSpPr>
          <p:cNvPr id="16" name="Straight Connector 15"/>
          <p:cNvCxnSpPr/>
          <p:nvPr/>
        </p:nvCxnSpPr>
        <p:spPr>
          <a:xfrm>
            <a:off x="0" y="1260899"/>
            <a:ext cx="12192000" cy="0"/>
          </a:xfrm>
          <a:prstGeom prst="line">
            <a:avLst/>
          </a:prstGeom>
          <a:ln w="28575">
            <a:solidFill>
              <a:srgbClr val="1A9B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198" y="171711"/>
            <a:ext cx="10515600" cy="1325563"/>
          </a:xfrm>
        </p:spPr>
        <p:txBody>
          <a:bodyPr/>
          <a:lstStyle/>
          <a:p>
            <a:r>
              <a:rPr lang="en-IN" dirty="0">
                <a:solidFill>
                  <a:schemeClr val="accent1">
                    <a:lumMod val="50000"/>
                  </a:schemeClr>
                </a:solidFill>
              </a:rPr>
              <a:t>Objectives</a:t>
            </a:r>
            <a:br>
              <a:rPr lang="en-IN" dirty="0">
                <a:solidFill>
                  <a:schemeClr val="accent1">
                    <a:lumMod val="50000"/>
                  </a:schemeClr>
                </a:solidFill>
              </a:rPr>
            </a:br>
            <a:endParaRPr lang="en-IN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198" y="1594415"/>
            <a:ext cx="10515600" cy="4351338"/>
          </a:xfrm>
        </p:spPr>
        <p:txBody>
          <a:bodyPr>
            <a:normAutofit/>
          </a:bodyPr>
          <a:lstStyle/>
          <a:p>
            <a:pPr lvl="0">
              <a:lnSpc>
                <a:spcPct val="100000"/>
              </a:lnSpc>
              <a:spcBef>
                <a:spcPts val="600"/>
              </a:spcBef>
            </a:pPr>
            <a:r>
              <a:rPr lang="en-IN" sz="1800" b="1" dirty="0"/>
              <a:t>1. Build a supply chain simulator calibrated from real retail transaction data.</a:t>
            </a:r>
            <a:endParaRPr lang="en-IN" sz="1800" b="1" dirty="0"/>
          </a:p>
          <a:p>
            <a:pPr lvl="0">
              <a:lnSpc>
                <a:spcPct val="100000"/>
              </a:lnSpc>
              <a:spcBef>
                <a:spcPts val="600"/>
              </a:spcBef>
            </a:pPr>
            <a:r>
              <a:rPr lang="en-IN" sz="1800" b="1" dirty="0"/>
              <a:t>2. Train a reinforcement learning agent to choose reorder quantity and supplier jointly.</a:t>
            </a:r>
            <a:endParaRPr lang="en-IN" sz="1800" b="1" dirty="0"/>
          </a:p>
          <a:p>
            <a:pPr lvl="0">
              <a:lnSpc>
                <a:spcPct val="100000"/>
              </a:lnSpc>
              <a:spcBef>
                <a:spcPts val="600"/>
              </a:spcBef>
            </a:pPr>
            <a:r>
              <a:rPr lang="en-IN" sz="1800" b="1" dirty="0"/>
              <a:t>3. Use an LLM to explain each decision in business language.</a:t>
            </a:r>
            <a:endParaRPr lang="en-IN" sz="1800" b="1" dirty="0"/>
          </a:p>
          <a:p>
            <a:pPr lvl="0">
              <a:lnSpc>
                <a:spcPct val="100000"/>
              </a:lnSpc>
              <a:spcBef>
                <a:spcPts val="600"/>
              </a:spcBef>
            </a:pPr>
            <a:r>
              <a:rPr lang="en-IN" sz="1800" b="1" dirty="0"/>
              <a:t>4. Use an LLM to generate demand-spike and supplier-delay scenarios for stress testing.</a:t>
            </a:r>
            <a:endParaRPr lang="en-IN" sz="1800" b="1" dirty="0"/>
          </a:p>
          <a:p>
            <a:pPr lvl="0">
              <a:lnSpc>
                <a:spcPct val="100000"/>
              </a:lnSpc>
              <a:spcBef>
                <a:spcPts val="600"/>
              </a:spcBef>
            </a:pPr>
            <a:r>
              <a:rPr lang="en-IN" sz="1800" b="1" dirty="0"/>
              <a:t>5. Compare the RL agent against properly tuned classical inventory policies.</a:t>
            </a:r>
            <a:endParaRPr lang="en-IN" sz="1800" b="1" dirty="0"/>
          </a:p>
          <a:p>
            <a:pPr lvl="0">
              <a:lnSpc>
                <a:spcPct val="100000"/>
              </a:lnSpc>
              <a:spcBef>
                <a:spcPts val="600"/>
              </a:spcBef>
            </a:pPr>
            <a:r>
              <a:rPr lang="en-IN" sz="1500" b="0" dirty="0"/>
              <a:t>Objectives 1, 2 and 5 are complete. Objectives 3 and 4 are the next phase.</a:t>
            </a:r>
            <a:endParaRPr lang="en-IN" sz="1500" b="0" dirty="0"/>
          </a:p>
        </p:txBody>
      </p:sp>
      <p:sp>
        <p:nvSpPr>
          <p:cNvPr id="19" name="Slide Number Placeholder 1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216105-7B7A-4C42-B2A1-5E9A2FA4F8FD}" type="slidenum">
              <a:rPr lang="en-IN" smtClean="0"/>
            </a:fld>
            <a:endParaRPr lang="en-IN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/>
          <p:cNvSpPr/>
          <p:nvPr/>
        </p:nvSpPr>
        <p:spPr>
          <a:xfrm>
            <a:off x="-1" y="0"/>
            <a:ext cx="12191998" cy="1262131"/>
          </a:xfrm>
          <a:prstGeom prst="rect">
            <a:avLst/>
          </a:prstGeom>
          <a:gradFill flip="none" rotWithShape="1">
            <a:gsLst>
              <a:gs pos="0">
                <a:srgbClr val="1A9B46">
                  <a:tint val="66000"/>
                  <a:satMod val="160000"/>
                </a:srgbClr>
              </a:gs>
              <a:gs pos="50000">
                <a:srgbClr val="1A9B46">
                  <a:tint val="44500"/>
                  <a:satMod val="160000"/>
                </a:srgbClr>
              </a:gs>
              <a:gs pos="100000">
                <a:srgbClr val="1A9B46">
                  <a:tint val="23500"/>
                  <a:satMod val="160000"/>
                </a:srgb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sz="4400" dirty="0">
              <a:solidFill>
                <a:schemeClr val="accent1">
                  <a:lumMod val="50000"/>
                </a:schemeClr>
              </a:solidFill>
            </a:endParaRPr>
          </a:p>
        </p:txBody>
      </p:sp>
      <p:sp>
        <p:nvSpPr>
          <p:cNvPr id="10" name="Google Shape;91;p1"/>
          <p:cNvSpPr txBox="1"/>
          <p:nvPr/>
        </p:nvSpPr>
        <p:spPr>
          <a:xfrm>
            <a:off x="-1" y="6416040"/>
            <a:ext cx="12191998" cy="441960"/>
          </a:xfrm>
          <a:prstGeom prst="rect">
            <a:avLst/>
          </a:prstGeom>
          <a:gradFill flip="none" rotWithShape="1">
            <a:gsLst>
              <a:gs pos="0">
                <a:srgbClr val="1A9B46">
                  <a:tint val="66000"/>
                  <a:satMod val="160000"/>
                </a:srgbClr>
              </a:gs>
              <a:gs pos="50000">
                <a:srgbClr val="1A9B46">
                  <a:tint val="44500"/>
                  <a:satMod val="160000"/>
                </a:srgbClr>
              </a:gs>
              <a:gs pos="100000">
                <a:srgbClr val="1A9B46">
                  <a:tint val="23500"/>
                  <a:satMod val="160000"/>
                </a:srgb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600" b="1" i="0" u="none" strike="noStrike" cap="none" dirty="0">
                <a:solidFill>
                  <a:srgbClr val="08127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[</a:t>
            </a:r>
            <a:r>
              <a:rPr lang="en-IN" sz="1600" b="1" dirty="0">
                <a:solidFill>
                  <a:srgbClr val="08127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Mid Project Review]</a:t>
            </a:r>
            <a:r>
              <a:rPr lang="en-IN" sz="1600" b="1" i="0" u="none" strike="noStrike" cap="none" dirty="0">
                <a:solidFill>
                  <a:srgbClr val="08127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     </a:t>
            </a:r>
            <a:endParaRPr sz="1600" b="1" i="0" u="none" strike="noStrike" cap="none" dirty="0">
              <a:solidFill>
                <a:srgbClr val="081271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  <a:sym typeface="Times New Roman" panose="02020603050405020304"/>
            </a:endParaRPr>
          </a:p>
        </p:txBody>
      </p:sp>
      <p:cxnSp>
        <p:nvCxnSpPr>
          <p:cNvPr id="16" name="Straight Connector 15"/>
          <p:cNvCxnSpPr/>
          <p:nvPr/>
        </p:nvCxnSpPr>
        <p:spPr>
          <a:xfrm>
            <a:off x="0" y="1260899"/>
            <a:ext cx="12192000" cy="0"/>
          </a:xfrm>
          <a:prstGeom prst="line">
            <a:avLst/>
          </a:prstGeom>
          <a:ln w="28575">
            <a:solidFill>
              <a:srgbClr val="1A9B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198" y="171711"/>
            <a:ext cx="10515600" cy="1325563"/>
          </a:xfrm>
        </p:spPr>
        <p:txBody>
          <a:bodyPr/>
          <a:lstStyle/>
          <a:p>
            <a:r>
              <a:rPr lang="en-IN" dirty="0">
                <a:solidFill>
                  <a:schemeClr val="accent1">
                    <a:lumMod val="50000"/>
                  </a:schemeClr>
                </a:solidFill>
              </a:rPr>
              <a:t>Methodology</a:t>
            </a:r>
            <a:br>
              <a:rPr lang="en-IN" dirty="0">
                <a:solidFill>
                  <a:schemeClr val="accent1">
                    <a:lumMod val="50000"/>
                  </a:schemeClr>
                </a:solidFill>
              </a:rPr>
            </a:br>
            <a:endParaRPr lang="en-IN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198" y="1594415"/>
            <a:ext cx="10515600" cy="4500000"/>
          </a:xfrm>
        </p:spPr>
        <p:txBody>
          <a:bodyPr>
            <a:normAutofit/>
          </a:bodyPr>
          <a:lstStyle/>
          <a:p>
            <a:pPr lvl="0">
              <a:lnSpc>
                <a:spcPct val="100000"/>
              </a:lnSpc>
              <a:spcBef>
                <a:spcPts val="600"/>
              </a:spcBef>
            </a:pPr>
            <a:r>
              <a:rPr lang="en-IN" sz="1600" b="0" dirty="0"/>
              <a:t>Pipeline: real transactions - statistical calibration - simulator - agent and baselines - held-out comparison - LLM explanation layer.</a:t>
            </a:r>
            <a:endParaRPr lang="en-IN" sz="1600" b="0" dirty="0"/>
          </a:p>
          <a:p>
            <a:pPr lvl="0">
              <a:lnSpc>
                <a:spcPct val="100000"/>
              </a:lnSpc>
              <a:spcBef>
                <a:spcPts val="600"/>
              </a:spcBef>
            </a:pPr>
            <a:r>
              <a:rPr lang="en-IN" sz="1700" b="1" dirty="0"/>
              <a:t>MDP formulation</a:t>
            </a:r>
            <a:endParaRPr lang="en-IN" sz="1700" b="1" dirty="0"/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en-IN" sz="1350" b="0" dirty="0"/>
              <a:t>State (88 values): per product stock, in-transit, days of cover, 7-day mean and volatility, trend, backlog; plus weekday, season, and each supplier's availability, lead time and recent fill rate.</a:t>
            </a:r>
            <a:endParaRPr lang="en-IN" sz="1350" b="0" dirty="0"/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en-IN" sz="1350" b="0" dirty="0"/>
              <a:t>Action: for each product one joint choice of (quantity bucket, supplier) - 7 x 3 = 21 options, as MultiDiscrete over 10 products.</a:t>
            </a:r>
            <a:endParaRPr lang="en-IN" sz="1350" b="0" dirty="0"/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en-IN" sz="1350" b="0" dirty="0"/>
              <a:t>Reward: that day's realised profit. Episode: 180 days.</a:t>
            </a:r>
            <a:endParaRPr lang="en-IN" sz="1350" b="0" dirty="0"/>
          </a:p>
          <a:p>
            <a:pPr lvl="0">
              <a:lnSpc>
                <a:spcPct val="100000"/>
              </a:lnSpc>
              <a:spcBef>
                <a:spcPts val="600"/>
              </a:spcBef>
            </a:pPr>
            <a:r>
              <a:rPr lang="en-IN" sz="1700" b="1" dirty="0"/>
              <a:t>Algorithm: MaskablePPO (PPO with invalid-action masking), MLP of two 128-unit hidden layers, trained on CPU.</a:t>
            </a:r>
            <a:endParaRPr lang="en-IN" sz="1700" b="1" dirty="0"/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en-IN" sz="1350" b="0" dirty="0"/>
              <a:t>Masking blocks suppliers in outage and orders exceeding free capacity. Worth about 3x on its own: best profit rose from 23,717 to 72,740.</a:t>
            </a:r>
            <a:endParaRPr lang="en-IN" sz="1350" b="0" dirty="0"/>
          </a:p>
          <a:p>
            <a:pPr lvl="0">
              <a:lnSpc>
                <a:spcPct val="100000"/>
              </a:lnSpc>
              <a:spcBef>
                <a:spcPts val="600"/>
              </a:spcBef>
            </a:pPr>
            <a:r>
              <a:rPr lang="en-IN" sz="1700" b="1" dirty="0"/>
              <a:t>Fair comparison by construction: baselines are grid-search tuned, face the same seeds and the same action granularity, and are scored on 30 held-out seeds disjoint from all tuning and training seeds.</a:t>
            </a:r>
            <a:endParaRPr lang="en-IN" sz="1700" b="1" dirty="0"/>
          </a:p>
        </p:txBody>
      </p:sp>
      <p:sp>
        <p:nvSpPr>
          <p:cNvPr id="19" name="Slide Number Placeholder 1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216105-7B7A-4C42-B2A1-5E9A2FA4F8FD}" type="slidenum">
              <a:rPr lang="en-IN" smtClean="0"/>
            </a:fld>
            <a:endParaRPr lang="en-IN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/>
          <p:cNvSpPr/>
          <p:nvPr/>
        </p:nvSpPr>
        <p:spPr>
          <a:xfrm>
            <a:off x="-1" y="0"/>
            <a:ext cx="12191998" cy="1262131"/>
          </a:xfrm>
          <a:prstGeom prst="rect">
            <a:avLst/>
          </a:prstGeom>
          <a:gradFill flip="none" rotWithShape="1">
            <a:gsLst>
              <a:gs pos="0">
                <a:srgbClr val="1A9B46">
                  <a:tint val="66000"/>
                  <a:satMod val="160000"/>
                </a:srgbClr>
              </a:gs>
              <a:gs pos="50000">
                <a:srgbClr val="1A9B46">
                  <a:tint val="44500"/>
                  <a:satMod val="160000"/>
                </a:srgbClr>
              </a:gs>
              <a:gs pos="100000">
                <a:srgbClr val="1A9B46">
                  <a:tint val="23500"/>
                  <a:satMod val="160000"/>
                </a:srgb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sz="4400" dirty="0">
              <a:solidFill>
                <a:schemeClr val="accent1">
                  <a:lumMod val="50000"/>
                </a:schemeClr>
              </a:solidFill>
            </a:endParaRPr>
          </a:p>
        </p:txBody>
      </p:sp>
      <p:sp>
        <p:nvSpPr>
          <p:cNvPr id="10" name="Google Shape;91;p1"/>
          <p:cNvSpPr txBox="1"/>
          <p:nvPr/>
        </p:nvSpPr>
        <p:spPr>
          <a:xfrm>
            <a:off x="-1" y="6416040"/>
            <a:ext cx="12191998" cy="441960"/>
          </a:xfrm>
          <a:prstGeom prst="rect">
            <a:avLst/>
          </a:prstGeom>
          <a:gradFill flip="none" rotWithShape="1">
            <a:gsLst>
              <a:gs pos="0">
                <a:srgbClr val="1A9B46">
                  <a:tint val="66000"/>
                  <a:satMod val="160000"/>
                </a:srgbClr>
              </a:gs>
              <a:gs pos="50000">
                <a:srgbClr val="1A9B46">
                  <a:tint val="44500"/>
                  <a:satMod val="160000"/>
                </a:srgbClr>
              </a:gs>
              <a:gs pos="100000">
                <a:srgbClr val="1A9B46">
                  <a:tint val="23500"/>
                  <a:satMod val="160000"/>
                </a:srgb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600" b="1" i="0" u="none" strike="noStrike" cap="none" dirty="0">
                <a:solidFill>
                  <a:srgbClr val="08127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[</a:t>
            </a:r>
            <a:r>
              <a:rPr lang="en-IN" sz="1600" b="1" dirty="0">
                <a:solidFill>
                  <a:srgbClr val="08127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Mid Project Review]</a:t>
            </a:r>
            <a:r>
              <a:rPr lang="en-IN" sz="1600" b="1" i="0" u="none" strike="noStrike" cap="none" dirty="0">
                <a:solidFill>
                  <a:srgbClr val="08127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     </a:t>
            </a:r>
            <a:endParaRPr sz="1600" b="1" i="0" u="none" strike="noStrike" cap="none" dirty="0">
              <a:solidFill>
                <a:srgbClr val="081271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  <a:sym typeface="Times New Roman" panose="02020603050405020304"/>
            </a:endParaRPr>
          </a:p>
        </p:txBody>
      </p:sp>
      <p:cxnSp>
        <p:nvCxnSpPr>
          <p:cNvPr id="16" name="Straight Connector 15"/>
          <p:cNvCxnSpPr/>
          <p:nvPr/>
        </p:nvCxnSpPr>
        <p:spPr>
          <a:xfrm>
            <a:off x="0" y="1260899"/>
            <a:ext cx="12192000" cy="0"/>
          </a:xfrm>
          <a:prstGeom prst="line">
            <a:avLst/>
          </a:prstGeom>
          <a:ln w="28575">
            <a:solidFill>
              <a:srgbClr val="1A9B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198" y="171711"/>
            <a:ext cx="10515600" cy="1325563"/>
          </a:xfrm>
        </p:spPr>
        <p:txBody>
          <a:bodyPr>
            <a:normAutofit fontScale="90000"/>
          </a:bodyPr>
          <a:lstStyle/>
          <a:p>
            <a:r>
              <a:rPr lang="en-IN" dirty="0">
                <a:solidFill>
                  <a:schemeClr val="accent1">
                    <a:lumMod val="50000"/>
                  </a:schemeClr>
                </a:solidFill>
              </a:rPr>
              <a:t>System Architecture</a:t>
            </a:r>
            <a:br>
              <a:rPr lang="en-IN" dirty="0">
                <a:solidFill>
                  <a:schemeClr val="accent1">
                    <a:lumMod val="50000"/>
                  </a:schemeClr>
                </a:solidFill>
              </a:rPr>
            </a:br>
            <a:endParaRPr lang="en-IN" dirty="0"/>
          </a:p>
        </p:txBody>
      </p:sp>
      <p:sp>
        <p:nvSpPr>
          <p:cNvPr id="19" name="Slide Number Placeholder 1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216105-7B7A-4C42-B2A1-5E9A2FA4F8FD}" type="slidenum">
              <a:rPr lang="en-IN" smtClean="0"/>
            </a:fld>
            <a:endParaRPr lang="en-IN" dirty="0"/>
          </a:p>
        </p:txBody>
      </p:sp>
      <p:sp>
        <p:nvSpPr>
          <p:cNvPr id="300" name="Box 300"/>
          <p:cNvSpPr/>
          <p:nvPr/>
        </p:nvSpPr>
        <p:spPr>
          <a:xfrm>
            <a:off x="838198" y="1520000"/>
            <a:ext cx="1943120" cy="2300000"/>
          </a:xfrm>
          <a:prstGeom prst="roundRect">
            <a:avLst>
              <a:gd name="adj" fmla="val 10000"/>
            </a:avLst>
          </a:prstGeom>
          <a:solidFill>
            <a:srgbClr val="F5F5F7"/>
          </a:solidFill>
          <a:ln w="12700">
            <a:solidFill>
              <a:srgbClr val="D5D5DC"/>
            </a:solidFill>
          </a:ln>
        </p:spPr>
        <p:txBody>
          <a:bodyPr lIns="91440" tIns="45720" rIns="91440" bIns="45720" anchor="t">
            <a:normAutofit/>
          </a:bodyPr>
          <a:lstStyle/>
          <a:p>
            <a:pPr algn="ctr">
              <a:lnSpc>
                <a:spcPct val="95000"/>
              </a:lnSpc>
              <a:buNone/>
            </a:pPr>
            <a:r>
              <a:rPr lang="en-IN" sz="1050" b="1" dirty="0">
                <a:solidFill>
                  <a:srgbClr val="3A3A44"/>
                </a:solidFill>
                <a:latin typeface="Calibri" panose="020F0502020204030204"/>
              </a:rPr>
              <a:t>DAILY STATE</a:t>
            </a:r>
            <a:endParaRPr lang="en-IN" sz="1050" b="1" dirty="0">
              <a:solidFill>
                <a:srgbClr val="3A3A44"/>
              </a:solidFill>
              <a:latin typeface="Calibri" panose="020F0502020204030204"/>
            </a:endParaRPr>
          </a:p>
          <a:p>
            <a:pPr algn="ctr">
              <a:lnSpc>
                <a:spcPct val="95000"/>
              </a:lnSpc>
              <a:buNone/>
            </a:pPr>
            <a:r>
              <a:rPr lang="en-IN" sz="1050" b="1" dirty="0">
                <a:solidFill>
                  <a:srgbClr val="3A3A44"/>
                </a:solidFill>
                <a:latin typeface="Calibri" panose="020F0502020204030204"/>
              </a:rPr>
              <a:t>one day, t of 180</a:t>
            </a:r>
            <a:endParaRPr lang="en-IN" sz="1050" b="1" dirty="0">
              <a:solidFill>
                <a:srgbClr val="3A3A44"/>
              </a:solidFill>
              <a:latin typeface="Calibri" panose="020F0502020204030204"/>
            </a:endParaRPr>
          </a:p>
          <a:p>
            <a:pPr algn="ctr">
              <a:lnSpc>
                <a:spcPct val="95000"/>
              </a:lnSpc>
              <a:buNone/>
            </a:pPr>
            <a:r>
              <a:rPr lang="en-IN" sz="800" b="0" dirty="0">
                <a:solidFill>
                  <a:srgbClr val="5A5A66"/>
                </a:solidFill>
                <a:latin typeface="Calibri" panose="020F0502020204030204"/>
              </a:rPr>
              <a:t>what the agent sees</a:t>
            </a:r>
            <a:endParaRPr lang="en-IN" sz="800" b="0" dirty="0">
              <a:solidFill>
                <a:srgbClr val="5A5A66"/>
              </a:solidFill>
              <a:latin typeface="Calibri" panose="020F0502020204030204"/>
            </a:endParaRPr>
          </a:p>
        </p:txBody>
      </p:sp>
      <p:sp>
        <p:nvSpPr>
          <p:cNvPr id="301" name="Box 301"/>
          <p:cNvSpPr/>
          <p:nvPr/>
        </p:nvSpPr>
        <p:spPr>
          <a:xfrm>
            <a:off x="938198" y="2340000"/>
            <a:ext cx="1743120" cy="1370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5D5DC"/>
            </a:solidFill>
          </a:ln>
        </p:spPr>
        <p:txBody>
          <a:bodyPr lIns="91440" tIns="45720" rIns="91440" bIns="45720" anchor="ctr">
            <a:normAutofit/>
          </a:bodyPr>
          <a:lstStyle/>
          <a:p>
            <a:pPr algn="l">
              <a:lnSpc>
                <a:spcPct val="95000"/>
              </a:lnSpc>
              <a:buNone/>
            </a:pPr>
            <a:r>
              <a:rPr lang="en-IN" sz="750" b="0" dirty="0">
                <a:solidFill>
                  <a:srgbClr val="5A5A66"/>
                </a:solidFill>
                <a:latin typeface="Calibri" panose="020F0502020204030204"/>
              </a:rPr>
              <a:t>10 products</a:t>
            </a:r>
            <a:endParaRPr lang="en-IN" sz="750" b="0" dirty="0">
              <a:solidFill>
                <a:srgbClr val="5A5A66"/>
              </a:solidFill>
              <a:latin typeface="Calibri" panose="020F0502020204030204"/>
            </a:endParaRPr>
          </a:p>
          <a:p>
            <a:pPr algn="l">
              <a:lnSpc>
                <a:spcPct val="95000"/>
              </a:lnSpc>
              <a:buNone/>
            </a:pPr>
            <a:r>
              <a:rPr lang="en-IN" sz="750" b="0" dirty="0">
                <a:solidFill>
                  <a:srgbClr val="5A5A66"/>
                </a:solidFill>
                <a:latin typeface="Calibri" panose="020F0502020204030204"/>
              </a:rPr>
              <a:t>3 suppliers</a:t>
            </a:r>
            <a:endParaRPr lang="en-IN" sz="750" b="0" dirty="0">
              <a:solidFill>
                <a:srgbClr val="5A5A66"/>
              </a:solidFill>
              <a:latin typeface="Calibri" panose="020F0502020204030204"/>
            </a:endParaRPr>
          </a:p>
          <a:p>
            <a:pPr algn="l">
              <a:lnSpc>
                <a:spcPct val="95000"/>
              </a:lnSpc>
              <a:buNone/>
            </a:pPr>
            <a:r>
              <a:rPr lang="en-IN" sz="750" b="0" dirty="0">
                <a:solidFill>
                  <a:srgbClr val="5A5A66"/>
                </a:solidFill>
                <a:latin typeface="Calibri" panose="020F0502020204030204"/>
              </a:rPr>
              <a:t>stock on hand</a:t>
            </a:r>
            <a:endParaRPr lang="en-IN" sz="750" b="0" dirty="0">
              <a:solidFill>
                <a:srgbClr val="5A5A66"/>
              </a:solidFill>
              <a:latin typeface="Calibri" panose="020F0502020204030204"/>
            </a:endParaRPr>
          </a:p>
          <a:p>
            <a:pPr algn="l">
              <a:lnSpc>
                <a:spcPct val="95000"/>
              </a:lnSpc>
              <a:buNone/>
            </a:pPr>
            <a:r>
              <a:rPr lang="en-IN" sz="750" b="0" dirty="0">
                <a:solidFill>
                  <a:srgbClr val="5A5A66"/>
                </a:solidFill>
                <a:latin typeface="Calibri" panose="020F0502020204030204"/>
              </a:rPr>
              <a:t>orders in transit</a:t>
            </a:r>
            <a:endParaRPr lang="en-IN" sz="750" b="0" dirty="0">
              <a:solidFill>
                <a:srgbClr val="5A5A66"/>
              </a:solidFill>
              <a:latin typeface="Calibri" panose="020F0502020204030204"/>
            </a:endParaRPr>
          </a:p>
        </p:txBody>
      </p:sp>
      <p:sp>
        <p:nvSpPr>
          <p:cNvPr id="310" name="Box 310"/>
          <p:cNvSpPr/>
          <p:nvPr/>
        </p:nvSpPr>
        <p:spPr>
          <a:xfrm>
            <a:off x="2981318" y="1520000"/>
            <a:ext cx="1943120" cy="2300000"/>
          </a:xfrm>
          <a:prstGeom prst="roundRect">
            <a:avLst>
              <a:gd name="adj" fmla="val 10000"/>
            </a:avLst>
          </a:prstGeom>
          <a:solidFill>
            <a:srgbClr val="E8F3EC"/>
          </a:solidFill>
          <a:ln w="12700">
            <a:solidFill>
              <a:srgbClr val="8FBFA3"/>
            </a:solidFill>
          </a:ln>
        </p:spPr>
        <p:txBody>
          <a:bodyPr lIns="91440" tIns="45720" rIns="91440" bIns="45720" anchor="t">
            <a:normAutofit/>
          </a:bodyPr>
          <a:lstStyle/>
          <a:p>
            <a:pPr algn="ctr">
              <a:lnSpc>
                <a:spcPct val="95000"/>
              </a:lnSpc>
              <a:buNone/>
            </a:pPr>
            <a:r>
              <a:rPr lang="en-IN" sz="1050" b="1" dirty="0">
                <a:solidFill>
                  <a:srgbClr val="1A6B3C"/>
                </a:solidFill>
                <a:latin typeface="Calibri" panose="020F0502020204030204"/>
              </a:rPr>
              <a:t>1. DEMAND</a:t>
            </a:r>
            <a:endParaRPr lang="en-IN" sz="1050" b="1" dirty="0">
              <a:solidFill>
                <a:srgbClr val="1A6B3C"/>
              </a:solidFill>
              <a:latin typeface="Calibri" panose="020F0502020204030204"/>
            </a:endParaRPr>
          </a:p>
          <a:p>
            <a:pPr algn="ctr">
              <a:lnSpc>
                <a:spcPct val="95000"/>
              </a:lnSpc>
              <a:buNone/>
            </a:pPr>
            <a:r>
              <a:rPr lang="en-IN" sz="1050" b="1" dirty="0">
                <a:solidFill>
                  <a:srgbClr val="1A6B3C"/>
                </a:solidFill>
                <a:latin typeface="Calibri" panose="020F0502020204030204"/>
              </a:rPr>
              <a:t>CALIBRATION</a:t>
            </a:r>
            <a:endParaRPr lang="en-IN" sz="1050" b="1" dirty="0">
              <a:solidFill>
                <a:srgbClr val="1A6B3C"/>
              </a:solidFill>
              <a:latin typeface="Calibri" panose="020F0502020204030204"/>
            </a:endParaRPr>
          </a:p>
          <a:p>
            <a:pPr algn="ctr">
              <a:lnSpc>
                <a:spcPct val="95000"/>
              </a:lnSpc>
              <a:buNone/>
            </a:pPr>
            <a:r>
              <a:rPr lang="en-IN" sz="800" b="0" dirty="0">
                <a:solidFill>
                  <a:srgbClr val="3D6B50"/>
                </a:solidFill>
                <a:latin typeface="Calibri" panose="020F0502020204030204"/>
              </a:rPr>
              <a:t>UCI Online Retail II</a:t>
            </a:r>
            <a:endParaRPr lang="en-IN" sz="800" b="0" dirty="0">
              <a:solidFill>
                <a:srgbClr val="3D6B50"/>
              </a:solidFill>
              <a:latin typeface="Calibri" panose="020F0502020204030204"/>
            </a:endParaRPr>
          </a:p>
        </p:txBody>
      </p:sp>
      <p:sp>
        <p:nvSpPr>
          <p:cNvPr id="311" name="Box 311"/>
          <p:cNvSpPr/>
          <p:nvPr/>
        </p:nvSpPr>
        <p:spPr>
          <a:xfrm>
            <a:off x="3081318" y="2340000"/>
            <a:ext cx="1743120" cy="1370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8FBFA3"/>
            </a:solidFill>
          </a:ln>
        </p:spPr>
        <p:txBody>
          <a:bodyPr lIns="91440" tIns="45720" rIns="91440" bIns="45720" anchor="ctr">
            <a:normAutofit/>
          </a:bodyPr>
          <a:lstStyle/>
          <a:p>
            <a:pPr algn="l">
              <a:lnSpc>
                <a:spcPct val="95000"/>
              </a:lnSpc>
              <a:buNone/>
            </a:pPr>
            <a:r>
              <a:rPr lang="en-IN" sz="750" b="0" dirty="0">
                <a:solidFill>
                  <a:srgbClr val="3D6B50"/>
                </a:solidFill>
                <a:latin typeface="Calibri" panose="020F0502020204030204"/>
              </a:rPr>
              <a:t>1,067,371 transactions cleaned</a:t>
            </a:r>
            <a:endParaRPr lang="en-IN" sz="750" b="0" dirty="0">
              <a:solidFill>
                <a:srgbClr val="3D6B50"/>
              </a:solidFill>
              <a:latin typeface="Calibri" panose="020F0502020204030204"/>
            </a:endParaRPr>
          </a:p>
          <a:p>
            <a:pPr algn="l">
              <a:lnSpc>
                <a:spcPct val="95000"/>
              </a:lnSpc>
              <a:buNone/>
            </a:pPr>
            <a:r>
              <a:rPr lang="en-IN" sz="750" b="0" dirty="0">
                <a:solidFill>
                  <a:srgbClr val="3D6B50"/>
                </a:solidFill>
                <a:latin typeface="Calibri" panose="020F0502020204030204"/>
              </a:rPr>
              <a:t>Gamma-Poisson demand fitted</a:t>
            </a:r>
            <a:endParaRPr lang="en-IN" sz="750" b="0" dirty="0">
              <a:solidFill>
                <a:srgbClr val="3D6B50"/>
              </a:solidFill>
              <a:latin typeface="Calibri" panose="020F0502020204030204"/>
            </a:endParaRPr>
          </a:p>
          <a:p>
            <a:pPr algn="l">
              <a:lnSpc>
                <a:spcPct val="95000"/>
              </a:lnSpc>
              <a:buNone/>
            </a:pPr>
            <a:r>
              <a:rPr lang="en-IN" sz="750" b="0" dirty="0">
                <a:solidFill>
                  <a:srgbClr val="3D6B50"/>
                </a:solidFill>
                <a:latin typeface="Calibri" panose="020F0502020204030204"/>
              </a:rPr>
              <a:t>weekday and month factors</a:t>
            </a:r>
            <a:endParaRPr lang="en-IN" sz="750" b="0" dirty="0">
              <a:solidFill>
                <a:srgbClr val="3D6B50"/>
              </a:solidFill>
              <a:latin typeface="Calibri" panose="020F0502020204030204"/>
            </a:endParaRPr>
          </a:p>
          <a:p>
            <a:pPr algn="l">
              <a:lnSpc>
                <a:spcPct val="95000"/>
              </a:lnSpc>
              <a:buNone/>
            </a:pPr>
            <a:r>
              <a:rPr lang="en-IN" sz="750" b="0" dirty="0">
                <a:solidFill>
                  <a:srgbClr val="3D6B50"/>
                </a:solidFill>
                <a:latin typeface="Calibri" panose="020F0502020204030204"/>
              </a:rPr>
              <a:t>variance about 216x the mean</a:t>
            </a:r>
            <a:endParaRPr lang="en-IN" sz="750" b="0" dirty="0">
              <a:solidFill>
                <a:srgbClr val="3D6B50"/>
              </a:solidFill>
              <a:latin typeface="Calibri" panose="020F0502020204030204"/>
            </a:endParaRPr>
          </a:p>
          <a:p>
            <a:pPr algn="l">
              <a:lnSpc>
                <a:spcPct val="95000"/>
              </a:lnSpc>
              <a:buNone/>
            </a:pPr>
            <a:r>
              <a:rPr lang="en-IN" sz="750" b="0" dirty="0">
                <a:solidFill>
                  <a:srgbClr val="3D6B50"/>
                </a:solidFill>
                <a:latin typeface="Calibri" panose="020F0502020204030204"/>
              </a:rPr>
              <a:t>fitted before 1 Jun 2011 only</a:t>
            </a:r>
            <a:endParaRPr lang="en-IN" sz="750" b="0" dirty="0">
              <a:solidFill>
                <a:srgbClr val="3D6B50"/>
              </a:solidFill>
              <a:latin typeface="Calibri" panose="020F0502020204030204"/>
            </a:endParaRPr>
          </a:p>
        </p:txBody>
      </p:sp>
      <p:sp>
        <p:nvSpPr>
          <p:cNvPr id="320" name="Box 320"/>
          <p:cNvSpPr/>
          <p:nvPr/>
        </p:nvSpPr>
        <p:spPr>
          <a:xfrm>
            <a:off x="5124438" y="1520000"/>
            <a:ext cx="1943120" cy="2300000"/>
          </a:xfrm>
          <a:prstGeom prst="roundRect">
            <a:avLst>
              <a:gd name="adj" fmla="val 10000"/>
            </a:avLst>
          </a:prstGeom>
          <a:solidFill>
            <a:srgbClr val="E6EEF8"/>
          </a:solidFill>
          <a:ln w="12700">
            <a:solidFill>
              <a:srgbClr val="9BB4D6"/>
            </a:solidFill>
          </a:ln>
        </p:spPr>
        <p:txBody>
          <a:bodyPr lIns="91440" tIns="45720" rIns="91440" bIns="45720" anchor="t">
            <a:normAutofit/>
          </a:bodyPr>
          <a:lstStyle/>
          <a:p>
            <a:pPr algn="ctr">
              <a:lnSpc>
                <a:spcPct val="95000"/>
              </a:lnSpc>
              <a:buNone/>
            </a:pPr>
            <a:r>
              <a:rPr lang="en-IN" sz="1050" b="1" dirty="0">
                <a:solidFill>
                  <a:srgbClr val="1F4E79"/>
                </a:solidFill>
                <a:latin typeface="Calibri" panose="020F0502020204030204"/>
              </a:rPr>
              <a:t>2. SUPPLY CHAIN</a:t>
            </a:r>
            <a:endParaRPr lang="en-IN" sz="1050" b="1" dirty="0">
              <a:solidFill>
                <a:srgbClr val="1F4E79"/>
              </a:solidFill>
              <a:latin typeface="Calibri" panose="020F0502020204030204"/>
            </a:endParaRPr>
          </a:p>
          <a:p>
            <a:pPr algn="ctr">
              <a:lnSpc>
                <a:spcPct val="95000"/>
              </a:lnSpc>
              <a:buNone/>
            </a:pPr>
            <a:r>
              <a:rPr lang="en-IN" sz="1050" b="1" dirty="0">
                <a:solidFill>
                  <a:srgbClr val="1F4E79"/>
                </a:solidFill>
                <a:latin typeface="Calibri" panose="020F0502020204030204"/>
              </a:rPr>
              <a:t>SIMULATOR</a:t>
            </a:r>
            <a:endParaRPr lang="en-IN" sz="1050" b="1" dirty="0">
              <a:solidFill>
                <a:srgbClr val="1F4E79"/>
              </a:solidFill>
              <a:latin typeface="Calibri" panose="020F0502020204030204"/>
            </a:endParaRPr>
          </a:p>
          <a:p>
            <a:pPr algn="ctr">
              <a:lnSpc>
                <a:spcPct val="95000"/>
              </a:lnSpc>
              <a:buNone/>
            </a:pPr>
            <a:r>
              <a:rPr lang="en-IN" sz="800" b="0" dirty="0">
                <a:solidFill>
                  <a:srgbClr val="3C5F80"/>
                </a:solidFill>
                <a:latin typeface="Calibri" panose="020F0502020204030204"/>
              </a:rPr>
              <a:t>Gymnasium environment</a:t>
            </a:r>
            <a:endParaRPr lang="en-IN" sz="800" b="0" dirty="0">
              <a:solidFill>
                <a:srgbClr val="3C5F80"/>
              </a:solidFill>
              <a:latin typeface="Calibri" panose="020F0502020204030204"/>
            </a:endParaRPr>
          </a:p>
        </p:txBody>
      </p:sp>
      <p:sp>
        <p:nvSpPr>
          <p:cNvPr id="321" name="Box 321"/>
          <p:cNvSpPr/>
          <p:nvPr/>
        </p:nvSpPr>
        <p:spPr>
          <a:xfrm>
            <a:off x="5224438" y="2340000"/>
            <a:ext cx="1743120" cy="1370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9BB4D6"/>
            </a:solidFill>
          </a:ln>
        </p:spPr>
        <p:txBody>
          <a:bodyPr lIns="91440" tIns="45720" rIns="91440" bIns="45720" anchor="ctr">
            <a:normAutofit/>
          </a:bodyPr>
          <a:lstStyle/>
          <a:p>
            <a:pPr algn="l">
              <a:lnSpc>
                <a:spcPct val="95000"/>
              </a:lnSpc>
              <a:buNone/>
            </a:pPr>
            <a:r>
              <a:rPr lang="en-IN" sz="750" b="0" dirty="0">
                <a:solidFill>
                  <a:srgbClr val="3C5F80"/>
                </a:solidFill>
                <a:latin typeface="Calibri" panose="020F0502020204030204"/>
              </a:rPr>
              <a:t>3 suppliers, 1-8 day lead time</a:t>
            </a:r>
            <a:endParaRPr lang="en-IN" sz="750" b="0" dirty="0">
              <a:solidFill>
                <a:srgbClr val="3C5F80"/>
              </a:solidFill>
              <a:latin typeface="Calibri" panose="020F0502020204030204"/>
            </a:endParaRPr>
          </a:p>
          <a:p>
            <a:pPr algn="l">
              <a:lnSpc>
                <a:spcPct val="95000"/>
              </a:lnSpc>
              <a:buNone/>
            </a:pPr>
            <a:r>
              <a:rPr lang="en-IN" sz="750" b="0" dirty="0">
                <a:solidFill>
                  <a:srgbClr val="3C5F80"/>
                </a:solidFill>
                <a:latin typeface="Calibri" panose="020F0502020204030204"/>
              </a:rPr>
              <a:t>80-98% fill rate, MOQ, outages</a:t>
            </a:r>
            <a:endParaRPr lang="en-IN" sz="750" b="0" dirty="0">
              <a:solidFill>
                <a:srgbClr val="3C5F80"/>
              </a:solidFill>
              <a:latin typeface="Calibri" panose="020F0502020204030204"/>
            </a:endParaRPr>
          </a:p>
          <a:p>
            <a:pPr algn="l">
              <a:lnSpc>
                <a:spcPct val="95000"/>
              </a:lnSpc>
              <a:buNone/>
            </a:pPr>
            <a:r>
              <a:rPr lang="en-IN" sz="750" b="0" dirty="0">
                <a:solidFill>
                  <a:srgbClr val="3C5F80"/>
                </a:solidFill>
                <a:latin typeface="Calibri" panose="020F0502020204030204"/>
              </a:rPr>
              <a:t>one shared 20,000-unit store</a:t>
            </a:r>
            <a:endParaRPr lang="en-IN" sz="750" b="0" dirty="0">
              <a:solidFill>
                <a:srgbClr val="3C5F80"/>
              </a:solidFill>
              <a:latin typeface="Calibri" panose="020F0502020204030204"/>
            </a:endParaRPr>
          </a:p>
          <a:p>
            <a:pPr algn="l">
              <a:lnSpc>
                <a:spcPct val="95000"/>
              </a:lnSpc>
              <a:buNone/>
            </a:pPr>
            <a:r>
              <a:rPr lang="en-IN" sz="750" b="0" dirty="0">
                <a:solidFill>
                  <a:srgbClr val="3C5F80"/>
                </a:solidFill>
                <a:latin typeface="Calibri" panose="020F0502020204030204"/>
              </a:rPr>
              <a:t>revenue, holding, ordering,</a:t>
            </a:r>
            <a:endParaRPr lang="en-IN" sz="750" b="0" dirty="0">
              <a:solidFill>
                <a:srgbClr val="3C5F80"/>
              </a:solidFill>
              <a:latin typeface="Calibri" panose="020F0502020204030204"/>
            </a:endParaRPr>
          </a:p>
          <a:p>
            <a:pPr algn="l">
              <a:lnSpc>
                <a:spcPct val="95000"/>
              </a:lnSpc>
              <a:buNone/>
            </a:pPr>
            <a:r>
              <a:rPr lang="en-IN" sz="750" b="0" dirty="0">
                <a:solidFill>
                  <a:srgbClr val="3C5F80"/>
                </a:solidFill>
                <a:latin typeface="Calibri" panose="020F0502020204030204"/>
              </a:rPr>
              <a:t>lost-sale and overflow costs</a:t>
            </a:r>
            <a:endParaRPr lang="en-IN" sz="750" b="0" dirty="0">
              <a:solidFill>
                <a:srgbClr val="3C5F80"/>
              </a:solidFill>
              <a:latin typeface="Calibri" panose="020F0502020204030204"/>
            </a:endParaRPr>
          </a:p>
        </p:txBody>
      </p:sp>
      <p:sp>
        <p:nvSpPr>
          <p:cNvPr id="330" name="Box 330"/>
          <p:cNvSpPr/>
          <p:nvPr/>
        </p:nvSpPr>
        <p:spPr>
          <a:xfrm>
            <a:off x="7267558" y="1520000"/>
            <a:ext cx="1943120" cy="2300000"/>
          </a:xfrm>
          <a:prstGeom prst="roundRect">
            <a:avLst>
              <a:gd name="adj" fmla="val 10000"/>
            </a:avLst>
          </a:prstGeom>
          <a:solidFill>
            <a:srgbClr val="FDF3E0"/>
          </a:solidFill>
          <a:ln w="12700">
            <a:solidFill>
              <a:srgbClr val="DCBE86"/>
            </a:solidFill>
          </a:ln>
        </p:spPr>
        <p:txBody>
          <a:bodyPr lIns="91440" tIns="45720" rIns="91440" bIns="45720" anchor="t">
            <a:normAutofit/>
          </a:bodyPr>
          <a:lstStyle/>
          <a:p>
            <a:pPr algn="ctr">
              <a:lnSpc>
                <a:spcPct val="95000"/>
              </a:lnSpc>
              <a:buNone/>
            </a:pPr>
            <a:r>
              <a:rPr lang="en-IN" sz="1050" b="1" dirty="0">
                <a:solidFill>
                  <a:srgbClr val="8A5A00"/>
                </a:solidFill>
                <a:latin typeface="Calibri" panose="020F0502020204030204"/>
              </a:rPr>
              <a:t>3. STATE FEATURE</a:t>
            </a:r>
            <a:endParaRPr lang="en-IN" sz="1050" b="1" dirty="0">
              <a:solidFill>
                <a:srgbClr val="8A5A00"/>
              </a:solidFill>
              <a:latin typeface="Calibri" panose="020F0502020204030204"/>
            </a:endParaRPr>
          </a:p>
          <a:p>
            <a:pPr algn="ctr">
              <a:lnSpc>
                <a:spcPct val="95000"/>
              </a:lnSpc>
              <a:buNone/>
            </a:pPr>
            <a:r>
              <a:rPr lang="en-IN" sz="1050" b="1" dirty="0">
                <a:solidFill>
                  <a:srgbClr val="8A5A00"/>
                </a:solidFill>
                <a:latin typeface="Calibri" panose="020F0502020204030204"/>
              </a:rPr>
              <a:t>EXTRACTION</a:t>
            </a:r>
            <a:endParaRPr lang="en-IN" sz="1050" b="1" dirty="0">
              <a:solidFill>
                <a:srgbClr val="8A5A00"/>
              </a:solidFill>
              <a:latin typeface="Calibri" panose="020F0502020204030204"/>
            </a:endParaRPr>
          </a:p>
          <a:p>
            <a:pPr algn="ctr">
              <a:lnSpc>
                <a:spcPct val="95000"/>
              </a:lnSpc>
              <a:buNone/>
            </a:pPr>
            <a:r>
              <a:rPr lang="en-IN" sz="800" b="0" dirty="0">
                <a:solidFill>
                  <a:srgbClr val="6E5220"/>
                </a:solidFill>
                <a:latin typeface="Calibri" panose="020F0502020204030204"/>
              </a:rPr>
              <a:t>88 values, rebuilt daily</a:t>
            </a:r>
            <a:endParaRPr lang="en-IN" sz="800" b="0" dirty="0">
              <a:solidFill>
                <a:srgbClr val="6E5220"/>
              </a:solidFill>
              <a:latin typeface="Calibri" panose="020F0502020204030204"/>
            </a:endParaRPr>
          </a:p>
        </p:txBody>
      </p:sp>
      <p:sp>
        <p:nvSpPr>
          <p:cNvPr id="331" name="Box 331"/>
          <p:cNvSpPr/>
          <p:nvPr/>
        </p:nvSpPr>
        <p:spPr>
          <a:xfrm>
            <a:off x="7367558" y="2340000"/>
            <a:ext cx="1743120" cy="1370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CBE86"/>
            </a:solidFill>
          </a:ln>
        </p:spPr>
        <p:txBody>
          <a:bodyPr lIns="91440" tIns="45720" rIns="91440" bIns="45720" anchor="ctr">
            <a:normAutofit/>
          </a:bodyPr>
          <a:lstStyle/>
          <a:p>
            <a:pPr algn="l">
              <a:lnSpc>
                <a:spcPct val="95000"/>
              </a:lnSpc>
              <a:buNone/>
            </a:pPr>
            <a:r>
              <a:rPr lang="en-IN" sz="750" b="0" dirty="0">
                <a:solidFill>
                  <a:srgbClr val="6E5220"/>
                </a:solidFill>
                <a:latin typeface="Calibri" panose="020F0502020204030204"/>
              </a:rPr>
              <a:t>stock, in transit, days of cover</a:t>
            </a:r>
            <a:endParaRPr lang="en-IN" sz="750" b="0" dirty="0">
              <a:solidFill>
                <a:srgbClr val="6E5220"/>
              </a:solidFill>
              <a:latin typeface="Calibri" panose="020F0502020204030204"/>
            </a:endParaRPr>
          </a:p>
          <a:p>
            <a:pPr algn="l">
              <a:lnSpc>
                <a:spcPct val="95000"/>
              </a:lnSpc>
              <a:buNone/>
            </a:pPr>
            <a:r>
              <a:rPr lang="en-IN" sz="750" b="0" dirty="0">
                <a:solidFill>
                  <a:srgbClr val="6E5220"/>
                </a:solidFill>
                <a:latin typeface="Calibri" panose="020F0502020204030204"/>
              </a:rPr>
              <a:t>7-day mean, volatility, trend</a:t>
            </a:r>
            <a:endParaRPr lang="en-IN" sz="750" b="0" dirty="0">
              <a:solidFill>
                <a:srgbClr val="6E5220"/>
              </a:solidFill>
              <a:latin typeface="Calibri" panose="020F0502020204030204"/>
            </a:endParaRPr>
          </a:p>
          <a:p>
            <a:pPr algn="l">
              <a:lnSpc>
                <a:spcPct val="95000"/>
              </a:lnSpc>
              <a:buNone/>
            </a:pPr>
            <a:r>
              <a:rPr lang="en-IN" sz="750" b="0" dirty="0">
                <a:solidFill>
                  <a:srgbClr val="6E5220"/>
                </a:solidFill>
                <a:latin typeface="Calibri" panose="020F0502020204030204"/>
              </a:rPr>
              <a:t>unmet backlog per product</a:t>
            </a:r>
            <a:endParaRPr lang="en-IN" sz="750" b="0" dirty="0">
              <a:solidFill>
                <a:srgbClr val="6E5220"/>
              </a:solidFill>
              <a:latin typeface="Calibri" panose="020F0502020204030204"/>
            </a:endParaRPr>
          </a:p>
          <a:p>
            <a:pPr algn="l">
              <a:lnSpc>
                <a:spcPct val="95000"/>
              </a:lnSpc>
              <a:buNone/>
            </a:pPr>
            <a:r>
              <a:rPr lang="en-IN" sz="750" b="0" dirty="0">
                <a:solidFill>
                  <a:srgbClr val="6E5220"/>
                </a:solidFill>
                <a:latin typeface="Calibri" panose="020F0502020204030204"/>
              </a:rPr>
              <a:t>weekday and season</a:t>
            </a:r>
            <a:endParaRPr lang="en-IN" sz="750" b="0" dirty="0">
              <a:solidFill>
                <a:srgbClr val="6E5220"/>
              </a:solidFill>
              <a:latin typeface="Calibri" panose="020F0502020204030204"/>
            </a:endParaRPr>
          </a:p>
          <a:p>
            <a:pPr algn="l">
              <a:lnSpc>
                <a:spcPct val="95000"/>
              </a:lnSpc>
              <a:buNone/>
            </a:pPr>
            <a:r>
              <a:rPr lang="en-IN" sz="750" b="0" dirty="0">
                <a:solidFill>
                  <a:srgbClr val="6E5220"/>
                </a:solidFill>
                <a:latin typeface="Calibri" panose="020F0502020204030204"/>
              </a:rPr>
              <a:t>supplier lead time and fill</a:t>
            </a:r>
            <a:endParaRPr lang="en-IN" sz="750" b="0" dirty="0">
              <a:solidFill>
                <a:srgbClr val="6E5220"/>
              </a:solidFill>
              <a:latin typeface="Calibri" panose="020F0502020204030204"/>
            </a:endParaRPr>
          </a:p>
        </p:txBody>
      </p:sp>
      <p:sp>
        <p:nvSpPr>
          <p:cNvPr id="340" name="Box 340"/>
          <p:cNvSpPr/>
          <p:nvPr/>
        </p:nvSpPr>
        <p:spPr>
          <a:xfrm>
            <a:off x="9410678" y="1520000"/>
            <a:ext cx="1943120" cy="2300000"/>
          </a:xfrm>
          <a:prstGeom prst="roundRect">
            <a:avLst>
              <a:gd name="adj" fmla="val 10000"/>
            </a:avLst>
          </a:prstGeom>
          <a:solidFill>
            <a:srgbClr val="F0E9F7"/>
          </a:solidFill>
          <a:ln w="12700">
            <a:solidFill>
              <a:srgbClr val="B9A2D4"/>
            </a:solidFill>
          </a:ln>
        </p:spPr>
        <p:txBody>
          <a:bodyPr lIns="91440" tIns="45720" rIns="91440" bIns="45720" anchor="t">
            <a:normAutofit/>
          </a:bodyPr>
          <a:lstStyle/>
          <a:p>
            <a:pPr algn="ctr">
              <a:lnSpc>
                <a:spcPct val="95000"/>
              </a:lnSpc>
              <a:buNone/>
            </a:pPr>
            <a:r>
              <a:rPr lang="en-IN" sz="1050" b="1" dirty="0">
                <a:solidFill>
                  <a:srgbClr val="5B3E8E"/>
                </a:solidFill>
                <a:latin typeface="Calibri" panose="020F0502020204030204"/>
              </a:rPr>
              <a:t>4. MASKABLE PPO</a:t>
            </a:r>
            <a:endParaRPr lang="en-IN" sz="1050" b="1" dirty="0">
              <a:solidFill>
                <a:srgbClr val="5B3E8E"/>
              </a:solidFill>
              <a:latin typeface="Calibri" panose="020F0502020204030204"/>
            </a:endParaRPr>
          </a:p>
          <a:p>
            <a:pPr algn="ctr">
              <a:lnSpc>
                <a:spcPct val="95000"/>
              </a:lnSpc>
              <a:buNone/>
            </a:pPr>
            <a:r>
              <a:rPr lang="en-IN" sz="1050" b="1" dirty="0">
                <a:solidFill>
                  <a:srgbClr val="5B3E8E"/>
                </a:solidFill>
                <a:latin typeface="Calibri" panose="020F0502020204030204"/>
              </a:rPr>
              <a:t>AGENT</a:t>
            </a:r>
            <a:endParaRPr lang="en-IN" sz="1050" b="1" dirty="0">
              <a:solidFill>
                <a:srgbClr val="5B3E8E"/>
              </a:solidFill>
              <a:latin typeface="Calibri" panose="020F0502020204030204"/>
            </a:endParaRPr>
          </a:p>
          <a:p>
            <a:pPr algn="ctr">
              <a:lnSpc>
                <a:spcPct val="95000"/>
              </a:lnSpc>
              <a:buNone/>
            </a:pPr>
            <a:r>
              <a:rPr lang="en-IN" sz="800" b="0" dirty="0">
                <a:solidFill>
                  <a:srgbClr val="5A4A70"/>
                </a:solidFill>
                <a:latin typeface="Calibri" panose="020F0502020204030204"/>
              </a:rPr>
              <a:t>the learned policy</a:t>
            </a:r>
            <a:endParaRPr lang="en-IN" sz="800" b="0" dirty="0">
              <a:solidFill>
                <a:srgbClr val="5A4A70"/>
              </a:solidFill>
              <a:latin typeface="Calibri" panose="020F0502020204030204"/>
            </a:endParaRPr>
          </a:p>
        </p:txBody>
      </p:sp>
      <p:sp>
        <p:nvSpPr>
          <p:cNvPr id="341" name="Box 341"/>
          <p:cNvSpPr/>
          <p:nvPr/>
        </p:nvSpPr>
        <p:spPr>
          <a:xfrm>
            <a:off x="9510678" y="2340000"/>
            <a:ext cx="1743120" cy="1370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B9A2D4"/>
            </a:solidFill>
          </a:ln>
        </p:spPr>
        <p:txBody>
          <a:bodyPr lIns="91440" tIns="45720" rIns="91440" bIns="45720" anchor="ctr">
            <a:normAutofit/>
          </a:bodyPr>
          <a:lstStyle/>
          <a:p>
            <a:pPr algn="l">
              <a:lnSpc>
                <a:spcPct val="95000"/>
              </a:lnSpc>
              <a:buNone/>
            </a:pPr>
            <a:r>
              <a:rPr lang="en-IN" sz="750" b="0" dirty="0">
                <a:solidFill>
                  <a:srgbClr val="5A4A70"/>
                </a:solidFill>
                <a:latin typeface="Calibri" panose="020F0502020204030204"/>
              </a:rPr>
              <a:t>input: the 88 features</a:t>
            </a:r>
            <a:endParaRPr lang="en-IN" sz="750" b="0" dirty="0">
              <a:solidFill>
                <a:srgbClr val="5A4A70"/>
              </a:solidFill>
              <a:latin typeface="Calibri" panose="020F0502020204030204"/>
            </a:endParaRPr>
          </a:p>
          <a:p>
            <a:pPr algn="l">
              <a:lnSpc>
                <a:spcPct val="95000"/>
              </a:lnSpc>
              <a:buNone/>
            </a:pPr>
            <a:r>
              <a:rPr lang="en-IN" sz="750" b="0" dirty="0">
                <a:solidFill>
                  <a:srgbClr val="5A4A70"/>
                </a:solidFill>
                <a:latin typeface="Calibri" panose="020F0502020204030204"/>
              </a:rPr>
              <a:t>MLP, two 256-unit layers</a:t>
            </a:r>
            <a:endParaRPr lang="en-IN" sz="750" b="0" dirty="0">
              <a:solidFill>
                <a:srgbClr val="5A4A70"/>
              </a:solidFill>
              <a:latin typeface="Calibri" panose="020F0502020204030204"/>
            </a:endParaRPr>
          </a:p>
          <a:p>
            <a:pPr algn="l">
              <a:lnSpc>
                <a:spcPct val="95000"/>
              </a:lnSpc>
              <a:buNone/>
            </a:pPr>
            <a:r>
              <a:rPr lang="en-IN" sz="750" b="0" dirty="0">
                <a:solidFill>
                  <a:srgbClr val="5A4A70"/>
                </a:solidFill>
                <a:latin typeface="Calibri" panose="020F0502020204030204"/>
              </a:rPr>
              <a:t>21 choices per product:</a:t>
            </a:r>
            <a:endParaRPr lang="en-IN" sz="750" b="0" dirty="0">
              <a:solidFill>
                <a:srgbClr val="5A4A70"/>
              </a:solidFill>
              <a:latin typeface="Calibri" panose="020F0502020204030204"/>
            </a:endParaRPr>
          </a:p>
          <a:p>
            <a:pPr algn="l">
              <a:lnSpc>
                <a:spcPct val="95000"/>
              </a:lnSpc>
              <a:buNone/>
            </a:pPr>
            <a:r>
              <a:rPr lang="en-IN" sz="750" b="0" dirty="0">
                <a:solidFill>
                  <a:srgbClr val="5A4A70"/>
                </a:solidFill>
                <a:latin typeface="Calibri" panose="020F0502020204030204"/>
              </a:rPr>
              <a:t>7 quantities x 3 suppliers</a:t>
            </a:r>
            <a:endParaRPr lang="en-IN" sz="750" b="0" dirty="0">
              <a:solidFill>
                <a:srgbClr val="5A4A70"/>
              </a:solidFill>
              <a:latin typeface="Calibri" panose="020F0502020204030204"/>
            </a:endParaRPr>
          </a:p>
          <a:p>
            <a:pPr algn="l">
              <a:lnSpc>
                <a:spcPct val="95000"/>
              </a:lnSpc>
              <a:buNone/>
            </a:pPr>
            <a:r>
              <a:rPr lang="en-IN" sz="750" b="0" dirty="0">
                <a:solidFill>
                  <a:srgbClr val="5A4A70"/>
                </a:solidFill>
                <a:latin typeface="Calibri" panose="020F0502020204030204"/>
              </a:rPr>
              <a:t>illegal choices masked out</a:t>
            </a:r>
            <a:endParaRPr lang="en-IN" sz="750" b="0" dirty="0">
              <a:solidFill>
                <a:srgbClr val="5A4A70"/>
              </a:solidFill>
              <a:latin typeface="Calibri" panose="020F0502020204030204"/>
            </a:endParaRPr>
          </a:p>
        </p:txBody>
      </p:sp>
      <p:sp>
        <p:nvSpPr>
          <p:cNvPr id="350" name="Arrow 350"/>
          <p:cNvSpPr/>
          <p:nvPr/>
        </p:nvSpPr>
        <p:spPr>
          <a:xfrm>
            <a:off x="2801318" y="2600000"/>
            <a:ext cx="160000" cy="140000"/>
          </a:xfrm>
          <a:prstGeom prst="rightArrow">
            <a:avLst/>
          </a:prstGeom>
          <a:solidFill>
            <a:srgbClr val="9BB7A5"/>
          </a:solidFill>
          <a:ln>
            <a:noFill/>
          </a:ln>
        </p:spPr>
        <p:txBody>
          <a:bodyPr/>
          <a:lstStyle/>
          <a:p/>
        </p:txBody>
      </p:sp>
      <p:sp>
        <p:nvSpPr>
          <p:cNvPr id="351" name="Arrow 351"/>
          <p:cNvSpPr/>
          <p:nvPr/>
        </p:nvSpPr>
        <p:spPr>
          <a:xfrm>
            <a:off x="4944438" y="2600000"/>
            <a:ext cx="160000" cy="140000"/>
          </a:xfrm>
          <a:prstGeom prst="rightArrow">
            <a:avLst/>
          </a:prstGeom>
          <a:solidFill>
            <a:srgbClr val="9BB7A5"/>
          </a:solidFill>
          <a:ln>
            <a:noFill/>
          </a:ln>
        </p:spPr>
        <p:txBody>
          <a:bodyPr/>
          <a:lstStyle/>
          <a:p/>
        </p:txBody>
      </p:sp>
      <p:sp>
        <p:nvSpPr>
          <p:cNvPr id="352" name="Arrow 352"/>
          <p:cNvSpPr/>
          <p:nvPr/>
        </p:nvSpPr>
        <p:spPr>
          <a:xfrm>
            <a:off x="7087558" y="2600000"/>
            <a:ext cx="160000" cy="140000"/>
          </a:xfrm>
          <a:prstGeom prst="rightArrow">
            <a:avLst/>
          </a:prstGeom>
          <a:solidFill>
            <a:srgbClr val="9BB7A5"/>
          </a:solidFill>
          <a:ln>
            <a:noFill/>
          </a:ln>
        </p:spPr>
        <p:txBody>
          <a:bodyPr/>
          <a:lstStyle/>
          <a:p/>
        </p:txBody>
      </p:sp>
      <p:sp>
        <p:nvSpPr>
          <p:cNvPr id="353" name="Arrow 353"/>
          <p:cNvSpPr/>
          <p:nvPr/>
        </p:nvSpPr>
        <p:spPr>
          <a:xfrm>
            <a:off x="9230678" y="2600000"/>
            <a:ext cx="160000" cy="140000"/>
          </a:xfrm>
          <a:prstGeom prst="rightArrow">
            <a:avLst/>
          </a:prstGeom>
          <a:solidFill>
            <a:srgbClr val="9BB7A5"/>
          </a:solidFill>
          <a:ln>
            <a:noFill/>
          </a:ln>
        </p:spPr>
        <p:txBody>
          <a:bodyPr/>
          <a:lstStyle/>
          <a:p/>
        </p:txBody>
      </p:sp>
      <p:sp>
        <p:nvSpPr>
          <p:cNvPr id="360" name="Arrow 360"/>
          <p:cNvSpPr/>
          <p:nvPr/>
        </p:nvSpPr>
        <p:spPr>
          <a:xfrm>
            <a:off x="9796458" y="3830000"/>
            <a:ext cx="160000" cy="200000"/>
          </a:xfrm>
          <a:prstGeom prst="downArrow">
            <a:avLst/>
          </a:prstGeom>
          <a:solidFill>
            <a:srgbClr val="9BB7A5"/>
          </a:solidFill>
          <a:ln>
            <a:noFill/>
          </a:ln>
        </p:spPr>
        <p:txBody>
          <a:bodyPr/>
          <a:lstStyle/>
          <a:p/>
        </p:txBody>
      </p:sp>
      <p:sp>
        <p:nvSpPr>
          <p:cNvPr id="361" name="Arrow 361"/>
          <p:cNvSpPr/>
          <p:nvPr/>
        </p:nvSpPr>
        <p:spPr>
          <a:xfrm>
            <a:off x="10808018" y="3830000"/>
            <a:ext cx="160000" cy="200000"/>
          </a:xfrm>
          <a:prstGeom prst="downArrow">
            <a:avLst/>
          </a:prstGeom>
          <a:solidFill>
            <a:srgbClr val="9BB7A5"/>
          </a:solidFill>
          <a:ln>
            <a:noFill/>
          </a:ln>
        </p:spPr>
        <p:txBody>
          <a:bodyPr/>
          <a:lstStyle/>
          <a:p/>
        </p:txBody>
      </p:sp>
      <p:sp>
        <p:nvSpPr>
          <p:cNvPr id="362" name="Box 362"/>
          <p:cNvSpPr/>
          <p:nvPr/>
        </p:nvSpPr>
        <p:spPr>
          <a:xfrm>
            <a:off x="9410678" y="4050000"/>
            <a:ext cx="931560" cy="520000"/>
          </a:xfrm>
          <a:prstGeom prst="roundRect">
            <a:avLst>
              <a:gd name="adj" fmla="val 10000"/>
            </a:avLst>
          </a:prstGeom>
          <a:solidFill>
            <a:srgbClr val="E8F5E9"/>
          </a:solidFill>
          <a:ln w="12700">
            <a:solidFill>
              <a:srgbClr val="7CB342"/>
            </a:solidFill>
          </a:ln>
        </p:spPr>
        <p:txBody>
          <a:bodyPr lIns="91440" tIns="45720" rIns="91440" bIns="45720" anchor="ctr">
            <a:normAutofit/>
          </a:bodyPr>
          <a:lstStyle/>
          <a:p>
            <a:pPr algn="ctr">
              <a:lnSpc>
                <a:spcPct val="95000"/>
              </a:lnSpc>
              <a:buNone/>
            </a:pPr>
            <a:r>
              <a:rPr lang="en-IN" sz="1000" b="1" dirty="0">
                <a:solidFill>
                  <a:srgbClr val="2E7D32"/>
                </a:solidFill>
                <a:latin typeface="Calibri" panose="020F0502020204030204"/>
              </a:rPr>
              <a:t>ORDER</a:t>
            </a:r>
            <a:endParaRPr lang="en-IN" sz="1000" b="1" dirty="0">
              <a:solidFill>
                <a:srgbClr val="2E7D32"/>
              </a:solidFill>
              <a:latin typeface="Calibri" panose="020F0502020204030204"/>
            </a:endParaRPr>
          </a:p>
          <a:p>
            <a:pPr algn="ctr">
              <a:lnSpc>
                <a:spcPct val="95000"/>
              </a:lnSpc>
              <a:buNone/>
            </a:pPr>
            <a:r>
              <a:rPr lang="en-IN" sz="700" b="0" dirty="0">
                <a:solidFill>
                  <a:srgbClr val="2E7D32"/>
                </a:solidFill>
                <a:latin typeface="Calibri" panose="020F0502020204030204"/>
              </a:rPr>
              <a:t>qty + supplier</a:t>
            </a:r>
            <a:endParaRPr lang="en-IN" sz="700" b="0" dirty="0">
              <a:solidFill>
                <a:srgbClr val="2E7D32"/>
              </a:solidFill>
              <a:latin typeface="Calibri" panose="020F0502020204030204"/>
            </a:endParaRPr>
          </a:p>
        </p:txBody>
      </p:sp>
      <p:sp>
        <p:nvSpPr>
          <p:cNvPr id="363" name="Box 363"/>
          <p:cNvSpPr/>
          <p:nvPr/>
        </p:nvSpPr>
        <p:spPr>
          <a:xfrm>
            <a:off x="10422238" y="4050000"/>
            <a:ext cx="931560" cy="520000"/>
          </a:xfrm>
          <a:prstGeom prst="roundRect">
            <a:avLst>
              <a:gd name="adj" fmla="val 10000"/>
            </a:avLst>
          </a:prstGeom>
          <a:solidFill>
            <a:srgbClr val="F3F4F6"/>
          </a:solidFill>
          <a:ln w="12700">
            <a:solidFill>
              <a:srgbClr val="B8BDC4"/>
            </a:solidFill>
          </a:ln>
        </p:spPr>
        <p:txBody>
          <a:bodyPr lIns="91440" tIns="45720" rIns="91440" bIns="45720" anchor="ctr">
            <a:normAutofit/>
          </a:bodyPr>
          <a:lstStyle/>
          <a:p>
            <a:pPr algn="ctr">
              <a:lnSpc>
                <a:spcPct val="95000"/>
              </a:lnSpc>
              <a:buNone/>
            </a:pPr>
            <a:r>
              <a:rPr lang="en-IN" sz="1000" b="1" dirty="0">
                <a:solidFill>
                  <a:srgbClr val="44484F"/>
                </a:solidFill>
                <a:latin typeface="Calibri" panose="020F0502020204030204"/>
              </a:rPr>
              <a:t>HOLD</a:t>
            </a:r>
            <a:endParaRPr lang="en-IN" sz="1000" b="1" dirty="0">
              <a:solidFill>
                <a:srgbClr val="44484F"/>
              </a:solidFill>
              <a:latin typeface="Calibri" panose="020F0502020204030204"/>
            </a:endParaRPr>
          </a:p>
          <a:p>
            <a:pPr algn="ctr">
              <a:lnSpc>
                <a:spcPct val="95000"/>
              </a:lnSpc>
              <a:buNone/>
            </a:pPr>
            <a:r>
              <a:rPr lang="en-IN" sz="700" b="0" dirty="0">
                <a:solidFill>
                  <a:srgbClr val="44484F"/>
                </a:solidFill>
                <a:latin typeface="Calibri" panose="020F0502020204030204"/>
              </a:rPr>
              <a:t>no order today</a:t>
            </a:r>
            <a:endParaRPr lang="en-IN" sz="700" b="0" dirty="0">
              <a:solidFill>
                <a:srgbClr val="44484F"/>
              </a:solidFill>
              <a:latin typeface="Calibri" panose="020F0502020204030204"/>
            </a:endParaRPr>
          </a:p>
        </p:txBody>
      </p:sp>
      <p:sp>
        <p:nvSpPr>
          <p:cNvPr id="370" name="Box 370"/>
          <p:cNvSpPr/>
          <p:nvPr/>
        </p:nvSpPr>
        <p:spPr>
          <a:xfrm>
            <a:off x="6095998" y="4290000"/>
            <a:ext cx="3354680" cy="38100"/>
          </a:xfrm>
          <a:prstGeom prst="roundRect">
            <a:avLst>
              <a:gd name="adj" fmla="val 10000"/>
            </a:avLst>
          </a:prstGeom>
          <a:solidFill>
            <a:srgbClr val="9BB4D6"/>
          </a:solidFill>
          <a:ln w="12700">
            <a:solidFill>
              <a:srgbClr val="9BB4D6"/>
            </a:solidFill>
          </a:ln>
        </p:spPr>
        <p:txBody>
          <a:bodyPr lIns="91440" tIns="45720" rIns="91440" bIns="45720" anchor="ctr">
            <a:normAutofit/>
          </a:bodyPr>
          <a:lstStyle/>
          <a:p/>
        </p:txBody>
      </p:sp>
      <p:sp>
        <p:nvSpPr>
          <p:cNvPr id="371" name="Arrow 371"/>
          <p:cNvSpPr/>
          <p:nvPr/>
        </p:nvSpPr>
        <p:spPr>
          <a:xfrm>
            <a:off x="6015998" y="3830000"/>
            <a:ext cx="160000" cy="470000"/>
          </a:xfrm>
          <a:prstGeom prst="downArrow">
            <a:avLst/>
          </a:prstGeom>
          <a:solidFill>
            <a:srgbClr val="9BB7A5"/>
          </a:solidFill>
          <a:ln>
            <a:noFill/>
          </a:ln>
        </p:spPr>
        <p:txBody>
          <a:bodyPr/>
          <a:lstStyle/>
          <a:p/>
        </p:txBody>
      </p:sp>
      <p:sp>
        <p:nvSpPr>
          <p:cNvPr id="372" name="Text 372"/>
          <p:cNvSpPr txBox="1"/>
          <p:nvPr/>
        </p:nvSpPr>
        <p:spPr>
          <a:xfrm>
            <a:off x="6175998" y="4340000"/>
            <a:ext cx="3154680" cy="300000"/>
          </a:xfrm>
          <a:prstGeom prst="rect">
            <a:avLst/>
          </a:prstGeom>
        </p:spPr>
        <p:txBody>
          <a:bodyPr wrap="square" lIns="0" rIns="0">
            <a:normAutofit/>
          </a:bodyPr>
          <a:lstStyle/>
          <a:p>
            <a:pPr lvl="0">
              <a:lnSpc>
                <a:spcPct val="100000"/>
              </a:lnSpc>
              <a:spcBef>
                <a:spcPts val="600"/>
              </a:spcBef>
              <a:buNone/>
            </a:pPr>
            <a:r>
              <a:rPr lang="en-IN" sz="800" b="0" dirty="0">
                <a:solidFill>
                  <a:srgbClr val="3C5F80"/>
                </a:solidFill>
              </a:rPr>
              <a:t>action applied, next day begins</a:t>
            </a:r>
            <a:endParaRPr lang="en-IN" sz="800" b="0" dirty="0">
              <a:solidFill>
                <a:srgbClr val="3C5F80"/>
              </a:solidFill>
            </a:endParaRPr>
          </a:p>
        </p:txBody>
      </p:sp>
      <p:sp>
        <p:nvSpPr>
          <p:cNvPr id="380" name="Arrow 380"/>
          <p:cNvSpPr/>
          <p:nvPr/>
        </p:nvSpPr>
        <p:spPr>
          <a:xfrm>
            <a:off x="9796458" y="4590000"/>
            <a:ext cx="160000" cy="400000"/>
          </a:xfrm>
          <a:prstGeom prst="downArrow">
            <a:avLst/>
          </a:prstGeom>
          <a:solidFill>
            <a:srgbClr val="9BB7A5"/>
          </a:solidFill>
          <a:ln>
            <a:noFill/>
          </a:ln>
        </p:spPr>
        <p:txBody>
          <a:bodyPr/>
          <a:lstStyle/>
          <a:p/>
        </p:txBody>
      </p:sp>
      <p:sp>
        <p:nvSpPr>
          <p:cNvPr id="381" name="Box 381"/>
          <p:cNvSpPr/>
          <p:nvPr/>
        </p:nvSpPr>
        <p:spPr>
          <a:xfrm>
            <a:off x="7450000" y="5000000"/>
            <a:ext cx="3903798" cy="800000"/>
          </a:xfrm>
          <a:prstGeom prst="roundRect">
            <a:avLst>
              <a:gd name="adj" fmla="val 10000"/>
            </a:avLst>
          </a:prstGeom>
          <a:solidFill>
            <a:srgbClr val="E3F2FD"/>
          </a:solidFill>
          <a:ln w="12700">
            <a:solidFill>
              <a:srgbClr val="7BAEDC"/>
            </a:solidFill>
          </a:ln>
        </p:spPr>
        <p:txBody>
          <a:bodyPr lIns="91440" tIns="45720" rIns="91440" bIns="45720" anchor="ctr">
            <a:normAutofit/>
          </a:bodyPr>
          <a:lstStyle/>
          <a:p>
            <a:pPr algn="ctr">
              <a:lnSpc>
                <a:spcPct val="95000"/>
              </a:lnSpc>
              <a:buNone/>
            </a:pPr>
            <a:r>
              <a:rPr lang="en-IN" sz="1050" b="1" dirty="0">
                <a:solidFill>
                  <a:srgbClr val="0D47A1"/>
                </a:solidFill>
                <a:latin typeface="Calibri" panose="020F0502020204030204"/>
              </a:rPr>
              <a:t>EPISODE OUTCOME</a:t>
            </a:r>
            <a:endParaRPr lang="en-IN" sz="1050" b="1" dirty="0">
              <a:solidFill>
                <a:srgbClr val="0D47A1"/>
              </a:solidFill>
              <a:latin typeface="Calibri" panose="020F0502020204030204"/>
            </a:endParaRPr>
          </a:p>
          <a:p>
            <a:pPr algn="ctr">
              <a:lnSpc>
                <a:spcPct val="95000"/>
              </a:lnSpc>
              <a:buNone/>
            </a:pPr>
            <a:r>
              <a:rPr lang="en-IN" sz="800" b="0" dirty="0">
                <a:solidFill>
                  <a:srgbClr val="1B5E8A"/>
                </a:solidFill>
                <a:latin typeface="Calibri" panose="020F0502020204030204"/>
              </a:rPr>
              <a:t>180 days of profit, scored on 30 held-out seeds</a:t>
            </a:r>
            <a:endParaRPr lang="en-IN" sz="800" b="0" dirty="0">
              <a:solidFill>
                <a:srgbClr val="1B5E8A"/>
              </a:solidFill>
              <a:latin typeface="Calibri" panose="020F0502020204030204"/>
            </a:endParaRPr>
          </a:p>
          <a:p>
            <a:pPr algn="ctr">
              <a:lnSpc>
                <a:spcPct val="95000"/>
              </a:lnSpc>
              <a:buNone/>
            </a:pPr>
            <a:r>
              <a:rPr lang="en-IN" sz="800" b="0" dirty="0">
                <a:solidFill>
                  <a:srgbClr val="1B5E8A"/>
                </a:solidFill>
                <a:latin typeface="Calibri" panose="020F0502020204030204"/>
              </a:rPr>
              <a:t>against four grid-search tuned classical policies</a:t>
            </a:r>
            <a:endParaRPr lang="en-IN" sz="800" b="0" dirty="0">
              <a:solidFill>
                <a:srgbClr val="1B5E8A"/>
              </a:solidFill>
              <a:latin typeface="Calibri" panose="020F0502020204030204"/>
            </a:endParaRPr>
          </a:p>
        </p:txBody>
      </p:sp>
      <p:sp>
        <p:nvSpPr>
          <p:cNvPr id="390" name="Box 390"/>
          <p:cNvSpPr/>
          <p:nvPr/>
        </p:nvSpPr>
        <p:spPr>
          <a:xfrm>
            <a:off x="838198" y="4750000"/>
            <a:ext cx="6411802" cy="1450000"/>
          </a:xfrm>
          <a:prstGeom prst="roundRect">
            <a:avLst>
              <a:gd name="adj" fmla="val 10000"/>
            </a:avLst>
          </a:prstGeom>
          <a:solidFill>
            <a:srgbClr val="FAFAFC"/>
          </a:solidFill>
          <a:ln w="12700">
            <a:solidFill>
              <a:srgbClr val="E0E0E8"/>
            </a:solidFill>
          </a:ln>
        </p:spPr>
        <p:txBody>
          <a:bodyPr lIns="91440" tIns="45720" rIns="91440" bIns="45720" anchor="ctr">
            <a:normAutofit/>
          </a:bodyPr>
          <a:lstStyle/>
          <a:p/>
        </p:txBody>
      </p:sp>
      <p:sp>
        <p:nvSpPr>
          <p:cNvPr id="391" name="Text 391"/>
          <p:cNvSpPr txBox="1"/>
          <p:nvPr/>
        </p:nvSpPr>
        <p:spPr>
          <a:xfrm>
            <a:off x="998198" y="4870000"/>
            <a:ext cx="6091802" cy="1220000"/>
          </a:xfrm>
          <a:prstGeom prst="rect">
            <a:avLst/>
          </a:prstGeom>
        </p:spPr>
        <p:txBody>
          <a:bodyPr wrap="square" lIns="0" rIns="0">
            <a:normAutofit/>
          </a:bodyPr>
          <a:lstStyle/>
          <a:p>
            <a:pPr lvl="0">
              <a:lnSpc>
                <a:spcPct val="100000"/>
              </a:lnSpc>
              <a:spcBef>
                <a:spcPts val="600"/>
              </a:spcBef>
              <a:buNone/>
            </a:pPr>
            <a:r>
              <a:rPr lang="en-IN" sz="900" b="1" dirty="0">
                <a:solidFill>
                  <a:srgbClr val="3A3A44"/>
                </a:solidFill>
              </a:rPr>
              <a:t>HOW IT WORKS</a:t>
            </a:r>
            <a:endParaRPr lang="en-IN" sz="900" b="1" dirty="0">
              <a:solidFill>
                <a:srgbClr val="3A3A44"/>
              </a:solidFill>
            </a:endParaRPr>
          </a:p>
          <a:p>
            <a:pPr lvl="0">
              <a:lnSpc>
                <a:spcPct val="100000"/>
              </a:lnSpc>
              <a:spcBef>
                <a:spcPts val="600"/>
              </a:spcBef>
              <a:buNone/>
            </a:pPr>
            <a:r>
              <a:rPr lang="en-IN" sz="800" b="0" dirty="0">
                <a:solidFill>
                  <a:srgbClr val="44484F"/>
                </a:solidFill>
              </a:rPr>
              <a:t>Real sales history is reduced to demand statistics, which drive the simulator. Each simulated day the simulator hands the agent 88 numbers describing stock, demand and supplier health.</a:t>
            </a:r>
            <a:endParaRPr lang="en-IN" sz="800" b="0" dirty="0">
              <a:solidFill>
                <a:srgbClr val="44484F"/>
              </a:solidFill>
            </a:endParaRPr>
          </a:p>
          <a:p>
            <a:pPr lvl="0">
              <a:lnSpc>
                <a:spcPct val="100000"/>
              </a:lnSpc>
              <a:spcBef>
                <a:spcPts val="600"/>
              </a:spcBef>
              <a:buNone/>
            </a:pPr>
            <a:r>
              <a:rPr lang="en-IN" sz="800" b="0" dirty="0">
                <a:solidFill>
                  <a:srgbClr val="44484F"/>
                </a:solidFill>
              </a:rPr>
              <a:t>The agent picks a quantity and a supplier for all 10 products at once; illegal choices are blocked before it chooses. The simulator applies the order, returns that day's profit, and the loop repeats for 180 days.</a:t>
            </a:r>
            <a:endParaRPr lang="en-IN" sz="800" b="0" dirty="0">
              <a:solidFill>
                <a:srgbClr val="44484F"/>
              </a:solidFill>
            </a:endParaRPr>
          </a:p>
          <a:p>
            <a:pPr lvl="0">
              <a:lnSpc>
                <a:spcPct val="100000"/>
              </a:lnSpc>
              <a:spcBef>
                <a:spcPts val="600"/>
              </a:spcBef>
              <a:buNone/>
            </a:pPr>
            <a:r>
              <a:rPr lang="en-IN" sz="800" b="1" dirty="0">
                <a:solidFill>
                  <a:srgbClr val="7A5210"/>
                </a:solidFill>
              </a:rPr>
              <a:t>Next phase: an LLM turns each decision into a business-language explanation, and generates the disruption scenarios used to stress test it.</a:t>
            </a:r>
            <a:endParaRPr lang="en-IN" sz="800" b="1" dirty="0">
              <a:solidFill>
                <a:srgbClr val="7A5210"/>
              </a:solidFill>
            </a:endParaRPr>
          </a:p>
        </p:txBody>
      </p:sp>
      <p:pic>
        <p:nvPicPr>
          <p:cNvPr id="3" name="Picture 2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905500" y="3238500"/>
            <a:ext cx="381000" cy="381000"/>
          </a:xfrm>
          <a:prstGeom prst="rect">
            <a:avLst/>
          </a:prstGeom>
        </p:spPr>
      </p:pic>
      <p:pic>
        <p:nvPicPr>
          <p:cNvPr id="219" name="Picture 21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635" y="0"/>
            <a:ext cx="12192635" cy="6416675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/>
          <p:cNvSpPr/>
          <p:nvPr/>
        </p:nvSpPr>
        <p:spPr>
          <a:xfrm>
            <a:off x="-1" y="0"/>
            <a:ext cx="12191998" cy="1262131"/>
          </a:xfrm>
          <a:prstGeom prst="rect">
            <a:avLst/>
          </a:prstGeom>
          <a:gradFill flip="none" rotWithShape="1">
            <a:gsLst>
              <a:gs pos="0">
                <a:srgbClr val="1A9B46">
                  <a:tint val="66000"/>
                  <a:satMod val="160000"/>
                </a:srgbClr>
              </a:gs>
              <a:gs pos="50000">
                <a:srgbClr val="1A9B46">
                  <a:tint val="44500"/>
                  <a:satMod val="160000"/>
                </a:srgbClr>
              </a:gs>
              <a:gs pos="100000">
                <a:srgbClr val="1A9B46">
                  <a:tint val="23500"/>
                  <a:satMod val="160000"/>
                </a:srgb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sz="4400" dirty="0">
              <a:solidFill>
                <a:schemeClr val="accent1">
                  <a:lumMod val="50000"/>
                </a:schemeClr>
              </a:solidFill>
            </a:endParaRPr>
          </a:p>
        </p:txBody>
      </p:sp>
      <p:sp>
        <p:nvSpPr>
          <p:cNvPr id="10" name="Google Shape;91;p1"/>
          <p:cNvSpPr txBox="1"/>
          <p:nvPr/>
        </p:nvSpPr>
        <p:spPr>
          <a:xfrm>
            <a:off x="-1" y="6416040"/>
            <a:ext cx="12191998" cy="441960"/>
          </a:xfrm>
          <a:prstGeom prst="rect">
            <a:avLst/>
          </a:prstGeom>
          <a:gradFill flip="none" rotWithShape="1">
            <a:gsLst>
              <a:gs pos="0">
                <a:srgbClr val="1A9B46">
                  <a:tint val="66000"/>
                  <a:satMod val="160000"/>
                </a:srgbClr>
              </a:gs>
              <a:gs pos="50000">
                <a:srgbClr val="1A9B46">
                  <a:tint val="44500"/>
                  <a:satMod val="160000"/>
                </a:srgbClr>
              </a:gs>
              <a:gs pos="100000">
                <a:srgbClr val="1A9B46">
                  <a:tint val="23500"/>
                  <a:satMod val="160000"/>
                </a:srgb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600" b="1" i="0" u="none" strike="noStrike" cap="none" dirty="0">
                <a:solidFill>
                  <a:srgbClr val="08127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[</a:t>
            </a:r>
            <a:r>
              <a:rPr lang="en-IN" sz="1600" b="1" dirty="0">
                <a:solidFill>
                  <a:srgbClr val="08127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Mid Project Review]</a:t>
            </a:r>
            <a:r>
              <a:rPr lang="en-IN" sz="1600" b="1" i="0" u="none" strike="noStrike" cap="none" dirty="0">
                <a:solidFill>
                  <a:srgbClr val="08127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     </a:t>
            </a:r>
            <a:endParaRPr sz="1600" b="1" i="0" u="none" strike="noStrike" cap="none" dirty="0">
              <a:solidFill>
                <a:srgbClr val="081271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  <a:sym typeface="Times New Roman" panose="02020603050405020304"/>
            </a:endParaRPr>
          </a:p>
        </p:txBody>
      </p:sp>
      <p:cxnSp>
        <p:nvCxnSpPr>
          <p:cNvPr id="16" name="Straight Connector 15"/>
          <p:cNvCxnSpPr/>
          <p:nvPr/>
        </p:nvCxnSpPr>
        <p:spPr>
          <a:xfrm>
            <a:off x="0" y="1260899"/>
            <a:ext cx="12192000" cy="0"/>
          </a:xfrm>
          <a:prstGeom prst="line">
            <a:avLst/>
          </a:prstGeom>
          <a:ln w="28575">
            <a:solidFill>
              <a:srgbClr val="1A9B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198" y="171711"/>
            <a:ext cx="10515600" cy="1325563"/>
          </a:xfrm>
        </p:spPr>
        <p:txBody>
          <a:bodyPr/>
          <a:lstStyle/>
          <a:p>
            <a:r>
              <a:rPr lang="en-IN" dirty="0">
                <a:solidFill>
                  <a:schemeClr val="accent1">
                    <a:lumMod val="50000"/>
                  </a:schemeClr>
                </a:solidFill>
              </a:rPr>
              <a:t>Dataset Description</a:t>
            </a:r>
            <a:endParaRPr lang="en-IN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198" y="1594415"/>
            <a:ext cx="5750000" cy="4351338"/>
          </a:xfrm>
        </p:spPr>
        <p:txBody>
          <a:bodyPr>
            <a:normAutofit/>
          </a:bodyPr>
          <a:lstStyle/>
          <a:p>
            <a:pPr lvl="0">
              <a:lnSpc>
                <a:spcPct val="100000"/>
              </a:lnSpc>
              <a:spcBef>
                <a:spcPts val="600"/>
              </a:spcBef>
            </a:pPr>
            <a:r>
              <a:rPr lang="en-IN" sz="1450" b="0" dirty="0"/>
              <a:t>UCI Online Retail II: about 1 million transaction lines from a UK gift retailer, Dec 2009 - Dec 2011.</a:t>
            </a:r>
            <a:endParaRPr lang="en-IN" sz="1450" b="0" dirty="0"/>
          </a:p>
          <a:p>
            <a:pPr lvl="0">
              <a:lnSpc>
                <a:spcPct val="100000"/>
              </a:lnSpc>
              <a:spcBef>
                <a:spcPts val="600"/>
              </a:spcBef>
            </a:pPr>
            <a:r>
              <a:rPr lang="en-IN" sz="1450" b="0" dirty="0"/>
              <a:t>Cleaning: cancellations, returns, negative quantities and missing product codes removed. Saturdays dropped entirely, as the retailer never traded then; zero-filling would teach a false weekly collapse.</a:t>
            </a:r>
            <a:endParaRPr lang="en-IN" sz="1450" b="0" dirty="0"/>
          </a:p>
          <a:p>
            <a:pPr lvl="0">
              <a:lnSpc>
                <a:spcPct val="100000"/>
              </a:lnSpc>
              <a:spcBef>
                <a:spcPts val="600"/>
              </a:spcBef>
            </a:pPr>
            <a:r>
              <a:rPr lang="en-IN" sz="1450" b="0" dirty="0"/>
              <a:t>10 SKUs selected to span three demand regimes, so that no single fixed rule can serve them all.</a:t>
            </a:r>
            <a:endParaRPr lang="en-IN" sz="1450" b="0" dirty="0"/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en-IN" sz="1300" b="0" dirty="0"/>
              <a:t>steady (CV 1.02-1.20), moderate (1.29-1.65), bursty (2.09-2.34)</a:t>
            </a:r>
            <a:endParaRPr lang="en-IN" sz="1300" b="0" dirty="0"/>
          </a:p>
          <a:p>
            <a:pPr lvl="0">
              <a:lnSpc>
                <a:spcPct val="100000"/>
              </a:lnSpc>
              <a:spcBef>
                <a:spcPts val="600"/>
              </a:spcBef>
            </a:pPr>
            <a:r>
              <a:rPr lang="en-IN" sz="1450" b="0" dirty="0"/>
              <a:t>Calibrated only on data before 1 June 2011; later data is held back.</a:t>
            </a:r>
            <a:endParaRPr lang="en-IN" sz="1450" b="0" dirty="0"/>
          </a:p>
          <a:p>
            <a:pPr lvl="0">
              <a:lnSpc>
                <a:spcPct val="100000"/>
              </a:lnSpc>
              <a:spcBef>
                <a:spcPts val="600"/>
              </a:spcBef>
            </a:pPr>
            <a:r>
              <a:rPr lang="en-IN" sz="1450" b="0" dirty="0"/>
              <a:t>Demand model: Gamma-Poisson (negative binomial), because variance is about 216x the mean.</a:t>
            </a:r>
            <a:endParaRPr lang="en-IN" sz="1450" b="0" dirty="0"/>
          </a:p>
          <a:p>
            <a:pPr marL="0" lvl="0" indent="0">
              <a:lnSpc>
                <a:spcPct val="100000"/>
              </a:lnSpc>
              <a:spcBef>
                <a:spcPts val="600"/>
              </a:spcBef>
              <a:buNone/>
            </a:pPr>
            <a:endParaRPr lang="en-IN" sz="1450" b="1" dirty="0"/>
          </a:p>
        </p:txBody>
      </p:sp>
      <p:sp>
        <p:nvSpPr>
          <p:cNvPr id="19" name="Slide Number Placeholder 1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216105-7B7A-4C42-B2A1-5E9A2FA4F8FD}" type="slidenum">
              <a:rPr lang="en-IN" smtClean="0"/>
            </a:fld>
            <a:endParaRPr lang="en-IN" dirty="0"/>
          </a:p>
        </p:txBody>
      </p:sp>
      <p:pic>
        <p:nvPicPr>
          <p:cNvPr id="50" name="Picture 50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50000" y="1900000"/>
            <a:ext cx="4600000" cy="3019000"/>
          </a:xfrm>
          <a:prstGeom prst="rect">
            <a:avLst/>
          </a:prstGeom>
          <a:ln w="9525">
            <a:solidFill>
              <a:srgbClr val="C8D8CC"/>
            </a:solidFill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p>
            <a:endParaRPr lang="en-US"/>
          </a:p>
        </p:txBody>
      </p:sp>
      <p:pic>
        <p:nvPicPr>
          <p:cNvPr id="6" name="Content Placeholder 5"/>
          <p:cNvPicPr>
            <a:picLocks noChangeAspect="1"/>
          </p:cNvPicPr>
          <p:nvPr>
            <p:ph idx="1"/>
          </p:nvPr>
        </p:nvPicPr>
        <p:blipFill>
          <a:blip r:embed="rId1"/>
          <a:stretch>
            <a:fillRect/>
          </a:stretch>
        </p:blipFill>
        <p:spPr>
          <a:xfrm>
            <a:off x="17780" y="236220"/>
            <a:ext cx="12138025" cy="6226175"/>
          </a:xfrm>
          <a:prstGeom prst="rect">
            <a:avLst/>
          </a:prstGeom>
        </p:spPr>
      </p:pic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C2216105-7B7A-4C42-B2A1-5E9A2FA4F8FD}" type="slidenum">
              <a:rPr lang="en-IN" smtClean="0"/>
            </a:fld>
            <a:endParaRPr lang="en-IN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/>
          <p:cNvSpPr/>
          <p:nvPr/>
        </p:nvSpPr>
        <p:spPr>
          <a:xfrm>
            <a:off x="-1" y="0"/>
            <a:ext cx="12191998" cy="1262131"/>
          </a:xfrm>
          <a:prstGeom prst="rect">
            <a:avLst/>
          </a:prstGeom>
          <a:gradFill flip="none" rotWithShape="1">
            <a:gsLst>
              <a:gs pos="0">
                <a:srgbClr val="1A9B46">
                  <a:tint val="66000"/>
                  <a:satMod val="160000"/>
                </a:srgbClr>
              </a:gs>
              <a:gs pos="50000">
                <a:srgbClr val="1A9B46">
                  <a:tint val="44500"/>
                  <a:satMod val="160000"/>
                </a:srgbClr>
              </a:gs>
              <a:gs pos="100000">
                <a:srgbClr val="1A9B46">
                  <a:tint val="23500"/>
                  <a:satMod val="160000"/>
                </a:srgb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sz="4400" dirty="0">
              <a:solidFill>
                <a:schemeClr val="accent1">
                  <a:lumMod val="50000"/>
                </a:schemeClr>
              </a:solidFill>
            </a:endParaRPr>
          </a:p>
        </p:txBody>
      </p:sp>
      <p:sp>
        <p:nvSpPr>
          <p:cNvPr id="10" name="Google Shape;91;p1"/>
          <p:cNvSpPr txBox="1"/>
          <p:nvPr/>
        </p:nvSpPr>
        <p:spPr>
          <a:xfrm>
            <a:off x="-1" y="6416040"/>
            <a:ext cx="12191998" cy="441960"/>
          </a:xfrm>
          <a:prstGeom prst="rect">
            <a:avLst/>
          </a:prstGeom>
          <a:gradFill flip="none" rotWithShape="1">
            <a:gsLst>
              <a:gs pos="0">
                <a:srgbClr val="1A9B46">
                  <a:tint val="66000"/>
                  <a:satMod val="160000"/>
                </a:srgbClr>
              </a:gs>
              <a:gs pos="50000">
                <a:srgbClr val="1A9B46">
                  <a:tint val="44500"/>
                  <a:satMod val="160000"/>
                </a:srgbClr>
              </a:gs>
              <a:gs pos="100000">
                <a:srgbClr val="1A9B46">
                  <a:tint val="23500"/>
                  <a:satMod val="160000"/>
                </a:srgb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600" b="1" i="0" u="none" strike="noStrike" cap="none" dirty="0">
                <a:solidFill>
                  <a:srgbClr val="08127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[</a:t>
            </a:r>
            <a:r>
              <a:rPr lang="en-IN" sz="1600" b="1" dirty="0">
                <a:solidFill>
                  <a:srgbClr val="08127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Mid Project Review]</a:t>
            </a:r>
            <a:r>
              <a:rPr lang="en-IN" sz="1600" b="1" i="0" u="none" strike="noStrike" cap="none" dirty="0">
                <a:solidFill>
                  <a:srgbClr val="08127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     </a:t>
            </a:r>
            <a:endParaRPr sz="1600" b="1" i="0" u="none" strike="noStrike" cap="none" dirty="0">
              <a:solidFill>
                <a:srgbClr val="081271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  <a:sym typeface="Times New Roman" panose="02020603050405020304"/>
            </a:endParaRPr>
          </a:p>
        </p:txBody>
      </p:sp>
      <p:cxnSp>
        <p:nvCxnSpPr>
          <p:cNvPr id="16" name="Straight Connector 15"/>
          <p:cNvCxnSpPr/>
          <p:nvPr/>
        </p:nvCxnSpPr>
        <p:spPr>
          <a:xfrm>
            <a:off x="0" y="1260899"/>
            <a:ext cx="12192000" cy="0"/>
          </a:xfrm>
          <a:prstGeom prst="line">
            <a:avLst/>
          </a:prstGeom>
          <a:ln w="28575">
            <a:solidFill>
              <a:srgbClr val="1A9B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198" y="-201435"/>
            <a:ext cx="10515600" cy="1325563"/>
          </a:xfrm>
        </p:spPr>
        <p:txBody>
          <a:bodyPr>
            <a:normAutofit/>
          </a:bodyPr>
          <a:lstStyle/>
          <a:p>
            <a:br>
              <a:rPr lang="en-IN" dirty="0">
                <a:solidFill>
                  <a:schemeClr val="accent1">
                    <a:lumMod val="50000"/>
                  </a:schemeClr>
                </a:solidFill>
              </a:rPr>
            </a:br>
            <a:r>
              <a:rPr lang="en-IN" dirty="0">
                <a:solidFill>
                  <a:schemeClr val="accent1">
                    <a:lumMod val="50000"/>
                  </a:schemeClr>
                </a:solidFill>
              </a:rPr>
              <a:t>Preliminary Results and Discussion</a:t>
            </a:r>
            <a:endParaRPr lang="en-IN" dirty="0">
              <a:solidFill>
                <a:schemeClr val="accent1">
                  <a:lumMod val="50000"/>
                </a:schemeClr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198" y="1594415"/>
            <a:ext cx="10515600" cy="620000"/>
          </a:xfrm>
        </p:spPr>
        <p:txBody>
          <a:bodyPr>
            <a:normAutofit/>
          </a:bodyPr>
          <a:lstStyle/>
          <a:p>
            <a:pPr lvl="0">
              <a:lnSpc>
                <a:spcPct val="100000"/>
              </a:lnSpc>
              <a:spcBef>
                <a:spcPts val="600"/>
              </a:spcBef>
              <a:buNone/>
            </a:pPr>
            <a:r>
              <a:rPr lang="en-IN" sz="1400" b="0" dirty="0"/>
              <a:t>All five classical policies were tuned by grid search on 12 separate seeds, then scored on 30 held-out seeds. Profit is per 180-day episode, in GBP.</a:t>
            </a:r>
            <a:endParaRPr lang="en-IN" sz="1400" b="0" dirty="0"/>
          </a:p>
        </p:txBody>
      </p:sp>
      <p:sp>
        <p:nvSpPr>
          <p:cNvPr id="19" name="Slide Number Placeholder 1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216105-7B7A-4C42-B2A1-5E9A2FA4F8FD}" type="slidenum">
              <a:rPr lang="en-IN" smtClean="0"/>
            </a:fld>
            <a:endParaRPr lang="en-IN" dirty="0"/>
          </a:p>
        </p:txBody>
      </p:sp>
      <p:graphicFrame>
        <p:nvGraphicFramePr>
          <p:cNvPr id="41" name="Table 41"/>
          <p:cNvGraphicFramePr>
            <a:graphicFrameLocks noGrp="1"/>
          </p:cNvGraphicFramePr>
          <p:nvPr/>
        </p:nvGraphicFramePr>
        <p:xfrm>
          <a:off x="838198" y="2300000"/>
          <a:ext cx="10500000" cy="301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00000"/>
                <a:gridCol w="1500000"/>
                <a:gridCol w="1350000"/>
                <a:gridCol w="1400000"/>
                <a:gridCol w="1750000"/>
                <a:gridCol w="1600000"/>
              </a:tblGrid>
              <a:tr h="430000">
                <a:tc>
                  <a:txBody>
                    <a:bodyPr/>
                    <a:lstStyle/>
                    <a:p>
                      <a:pPr algn="l"/>
                      <a:r>
                        <a:rPr lang="en-IN" sz="1200" b="1" dirty="0">
                          <a:solidFill>
                            <a:srgbClr val="FFFFFF"/>
                          </a:solidFill>
                        </a:rPr>
                        <a:t>Policy</a:t>
                      </a:r>
                      <a:endParaRPr lang="en-IN" sz="1200" b="1" dirty="0">
                        <a:solidFill>
                          <a:srgbClr val="FFFFFF"/>
                        </a:solidFill>
                      </a:endParaRPr>
                    </a:p>
                  </a:txBody>
                  <a:tcPr marL="68580" marR="68580" marT="34290" marB="34290" anchor="ctr">
                    <a:solidFill>
                      <a:srgbClr val="1A9B4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1200" b="1" dirty="0">
                          <a:solidFill>
                            <a:srgbClr val="FFFFFF"/>
                          </a:solidFill>
                        </a:rPr>
                        <a:t>Profit</a:t>
                      </a:r>
                      <a:endParaRPr lang="en-IN" sz="1200" b="1" dirty="0">
                        <a:solidFill>
                          <a:srgbClr val="FFFFFF"/>
                        </a:solidFill>
                      </a:endParaRPr>
                    </a:p>
                  </a:txBody>
                  <a:tcPr marL="68580" marR="68580" marT="34290" marB="34290" anchor="ctr">
                    <a:solidFill>
                      <a:srgbClr val="1A9B4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1200" b="1" dirty="0">
                          <a:solidFill>
                            <a:srgbClr val="FFFFFF"/>
                          </a:solidFill>
                        </a:rPr>
                        <a:t>Std dev</a:t>
                      </a:r>
                      <a:endParaRPr lang="en-IN" sz="1200" b="1" dirty="0">
                        <a:solidFill>
                          <a:srgbClr val="FFFFFF"/>
                        </a:solidFill>
                      </a:endParaRPr>
                    </a:p>
                  </a:txBody>
                  <a:tcPr marL="68580" marR="68580" marT="34290" marB="34290" anchor="ctr">
                    <a:solidFill>
                      <a:srgbClr val="1A9B4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1200" b="1" dirty="0">
                          <a:solidFill>
                            <a:srgbClr val="FFFFFF"/>
                          </a:solidFill>
                        </a:rPr>
                        <a:t>Fill rate</a:t>
                      </a:r>
                      <a:endParaRPr lang="en-IN" sz="1200" b="1" dirty="0">
                        <a:solidFill>
                          <a:srgbClr val="FFFFFF"/>
                        </a:solidFill>
                      </a:endParaRPr>
                    </a:p>
                  </a:txBody>
                  <a:tcPr marL="68580" marR="68580" marT="34290" marB="34290" anchor="ctr">
                    <a:solidFill>
                      <a:srgbClr val="1A9B4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1200" b="1" dirty="0">
                          <a:solidFill>
                            <a:srgbClr val="FFFFFF"/>
                          </a:solidFill>
                        </a:rPr>
                        <a:t>Stockout cost</a:t>
                      </a:r>
                      <a:endParaRPr lang="en-IN" sz="1200" b="1" dirty="0">
                        <a:solidFill>
                          <a:srgbClr val="FFFFFF"/>
                        </a:solidFill>
                      </a:endParaRPr>
                    </a:p>
                  </a:txBody>
                  <a:tcPr marL="68580" marR="68580" marT="34290" marB="34290" anchor="ctr">
                    <a:solidFill>
                      <a:srgbClr val="1A9B4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1200" b="1" dirty="0">
                          <a:solidFill>
                            <a:srgbClr val="FFFFFF"/>
                          </a:solidFill>
                        </a:rPr>
                        <a:t>Ordering cost</a:t>
                      </a:r>
                      <a:endParaRPr lang="en-IN" sz="1200" b="1" dirty="0">
                        <a:solidFill>
                          <a:srgbClr val="FFFFFF"/>
                        </a:solidFill>
                      </a:endParaRPr>
                    </a:p>
                  </a:txBody>
                  <a:tcPr marL="68580" marR="68580" marT="34290" marB="34290" anchor="ctr">
                    <a:solidFill>
                      <a:srgbClr val="1A9B46"/>
                    </a:solidFill>
                  </a:tcPr>
                </a:tc>
              </a:tr>
              <a:tr h="430000">
                <a:tc>
                  <a:txBody>
                    <a:bodyPr/>
                    <a:lstStyle/>
                    <a:p>
                      <a:pPr algn="l"/>
                      <a:r>
                        <a:rPr lang="en-IN" sz="1200" b="0" dirty="0">
                          <a:solidFill>
                            <a:srgbClr val="202020"/>
                          </a:solidFill>
                        </a:rPr>
                        <a:t>forecast + safety stock</a:t>
                      </a:r>
                      <a:endParaRPr lang="en-IN" sz="1200" b="0" dirty="0">
                        <a:solidFill>
                          <a:srgbClr val="202020"/>
                        </a:solidFill>
                      </a:endParaRPr>
                    </a:p>
                  </a:txBody>
                  <a:tcPr marL="68580" marR="68580" marT="34290" marB="34290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1200" b="0" dirty="0">
                          <a:solidFill>
                            <a:srgbClr val="202020"/>
                          </a:solidFill>
                        </a:rPr>
                        <a:t>83,624</a:t>
                      </a:r>
                      <a:endParaRPr lang="en-IN" sz="1200" b="0" dirty="0">
                        <a:solidFill>
                          <a:srgbClr val="202020"/>
                        </a:solidFill>
                      </a:endParaRPr>
                    </a:p>
                  </a:txBody>
                  <a:tcPr marL="68580" marR="68580" marT="34290" marB="34290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1200" b="0" dirty="0">
                          <a:solidFill>
                            <a:srgbClr val="202020"/>
                          </a:solidFill>
                        </a:rPr>
                        <a:t>4,389</a:t>
                      </a:r>
                      <a:endParaRPr lang="en-IN" sz="1200" b="0" dirty="0">
                        <a:solidFill>
                          <a:srgbClr val="202020"/>
                        </a:solidFill>
                      </a:endParaRPr>
                    </a:p>
                  </a:txBody>
                  <a:tcPr marL="68580" marR="68580" marT="34290" marB="34290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1200" b="0" dirty="0">
                          <a:solidFill>
                            <a:srgbClr val="202020"/>
                          </a:solidFill>
                        </a:rPr>
                        <a:t>97.9%</a:t>
                      </a:r>
                      <a:endParaRPr lang="en-IN" sz="1200" b="0" dirty="0">
                        <a:solidFill>
                          <a:srgbClr val="202020"/>
                        </a:solidFill>
                      </a:endParaRPr>
                    </a:p>
                  </a:txBody>
                  <a:tcPr marL="68580" marR="68580" marT="34290" marB="34290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1200" b="0" dirty="0">
                          <a:solidFill>
                            <a:srgbClr val="202020"/>
                          </a:solidFill>
                        </a:rPr>
                        <a:t>5,821</a:t>
                      </a:r>
                      <a:endParaRPr lang="en-IN" sz="1200" b="0" dirty="0">
                        <a:solidFill>
                          <a:srgbClr val="202020"/>
                        </a:solidFill>
                      </a:endParaRPr>
                    </a:p>
                  </a:txBody>
                  <a:tcPr marL="68580" marR="68580" marT="34290" marB="34290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1200" b="0" dirty="0">
                          <a:solidFill>
                            <a:srgbClr val="202020"/>
                          </a:solidFill>
                        </a:rPr>
                        <a:t>2,729</a:t>
                      </a:r>
                      <a:endParaRPr lang="en-IN" sz="1200" b="0" dirty="0">
                        <a:solidFill>
                          <a:srgbClr val="202020"/>
                        </a:solidFill>
                      </a:endParaRPr>
                    </a:p>
                  </a:txBody>
                  <a:tcPr marL="68580" marR="68580" marT="34290" marB="34290" anchor="ctr"/>
                </a:tc>
              </a:tr>
              <a:tr h="430000">
                <a:tc>
                  <a:txBody>
                    <a:bodyPr/>
                    <a:lstStyle/>
                    <a:p>
                      <a:pPr algn="l"/>
                      <a:r>
                        <a:rPr lang="en-IN" sz="1200" b="0" dirty="0">
                          <a:solidFill>
                            <a:srgbClr val="202020"/>
                          </a:solidFill>
                        </a:rPr>
                        <a:t>newsvendor</a:t>
                      </a:r>
                      <a:endParaRPr lang="en-IN" sz="1200" b="0" dirty="0">
                        <a:solidFill>
                          <a:srgbClr val="202020"/>
                        </a:solidFill>
                      </a:endParaRPr>
                    </a:p>
                  </a:txBody>
                  <a:tcPr marL="68580" marR="68580" marT="34290" marB="34290" anchor="ctr">
                    <a:solidFill>
                      <a:srgbClr val="F2F7F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1200" b="0" dirty="0">
                          <a:solidFill>
                            <a:srgbClr val="202020"/>
                          </a:solidFill>
                        </a:rPr>
                        <a:t>82,049</a:t>
                      </a:r>
                      <a:endParaRPr lang="en-IN" sz="1200" b="0" dirty="0">
                        <a:solidFill>
                          <a:srgbClr val="202020"/>
                        </a:solidFill>
                      </a:endParaRPr>
                    </a:p>
                  </a:txBody>
                  <a:tcPr marL="68580" marR="68580" marT="34290" marB="34290" anchor="ctr">
                    <a:solidFill>
                      <a:srgbClr val="F2F7F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1200" b="0" dirty="0">
                          <a:solidFill>
                            <a:srgbClr val="202020"/>
                          </a:solidFill>
                        </a:rPr>
                        <a:t>4,222</a:t>
                      </a:r>
                      <a:endParaRPr lang="en-IN" sz="1200" b="0" dirty="0">
                        <a:solidFill>
                          <a:srgbClr val="202020"/>
                        </a:solidFill>
                      </a:endParaRPr>
                    </a:p>
                  </a:txBody>
                  <a:tcPr marL="68580" marR="68580" marT="34290" marB="34290" anchor="ctr">
                    <a:solidFill>
                      <a:srgbClr val="F2F7F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1200" b="0" dirty="0">
                          <a:solidFill>
                            <a:srgbClr val="202020"/>
                          </a:solidFill>
                        </a:rPr>
                        <a:t>98.0%</a:t>
                      </a:r>
                      <a:endParaRPr lang="en-IN" sz="1200" b="0" dirty="0">
                        <a:solidFill>
                          <a:srgbClr val="202020"/>
                        </a:solidFill>
                      </a:endParaRPr>
                    </a:p>
                  </a:txBody>
                  <a:tcPr marL="68580" marR="68580" marT="34290" marB="34290" anchor="ctr">
                    <a:solidFill>
                      <a:srgbClr val="F2F7F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1200" b="0" dirty="0">
                          <a:solidFill>
                            <a:srgbClr val="202020"/>
                          </a:solidFill>
                        </a:rPr>
                        <a:t>7,057</a:t>
                      </a:r>
                      <a:endParaRPr lang="en-IN" sz="1200" b="0" dirty="0">
                        <a:solidFill>
                          <a:srgbClr val="202020"/>
                        </a:solidFill>
                      </a:endParaRPr>
                    </a:p>
                  </a:txBody>
                  <a:tcPr marL="68580" marR="68580" marT="34290" marB="34290" anchor="ctr">
                    <a:solidFill>
                      <a:srgbClr val="F2F7F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1200" b="0" dirty="0">
                          <a:solidFill>
                            <a:srgbClr val="202020"/>
                          </a:solidFill>
                        </a:rPr>
                        <a:t>3,275</a:t>
                      </a:r>
                      <a:endParaRPr lang="en-IN" sz="1200" b="0" dirty="0">
                        <a:solidFill>
                          <a:srgbClr val="202020"/>
                        </a:solidFill>
                      </a:endParaRPr>
                    </a:p>
                  </a:txBody>
                  <a:tcPr marL="68580" marR="68580" marT="34290" marB="34290" anchor="ctr">
                    <a:solidFill>
                      <a:srgbClr val="F2F7F3"/>
                    </a:solidFill>
                  </a:tcPr>
                </a:tc>
              </a:tr>
              <a:tr h="430000">
                <a:tc>
                  <a:txBody>
                    <a:bodyPr/>
                    <a:lstStyle/>
                    <a:p>
                      <a:pPr algn="l"/>
                      <a:r>
                        <a:rPr lang="en-IN" sz="1200" b="0" dirty="0">
                          <a:solidFill>
                            <a:srgbClr val="202020"/>
                          </a:solidFill>
                        </a:rPr>
                        <a:t>EOQ + reorder point</a:t>
                      </a:r>
                      <a:endParaRPr lang="en-IN" sz="1200" b="0" dirty="0">
                        <a:solidFill>
                          <a:srgbClr val="202020"/>
                        </a:solidFill>
                      </a:endParaRPr>
                    </a:p>
                  </a:txBody>
                  <a:tcPr marL="68580" marR="68580" marT="34290" marB="34290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1200" b="0" dirty="0">
                          <a:solidFill>
                            <a:srgbClr val="202020"/>
                          </a:solidFill>
                        </a:rPr>
                        <a:t>72,302</a:t>
                      </a:r>
                      <a:endParaRPr lang="en-IN" sz="1200" b="0" dirty="0">
                        <a:solidFill>
                          <a:srgbClr val="202020"/>
                        </a:solidFill>
                      </a:endParaRPr>
                    </a:p>
                  </a:txBody>
                  <a:tcPr marL="68580" marR="68580" marT="34290" marB="34290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1200" b="0" dirty="0">
                          <a:solidFill>
                            <a:srgbClr val="202020"/>
                          </a:solidFill>
                        </a:rPr>
                        <a:t>7,028</a:t>
                      </a:r>
                      <a:endParaRPr lang="en-IN" sz="1200" b="0" dirty="0">
                        <a:solidFill>
                          <a:srgbClr val="202020"/>
                        </a:solidFill>
                      </a:endParaRPr>
                    </a:p>
                  </a:txBody>
                  <a:tcPr marL="68580" marR="68580" marT="34290" marB="34290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1200" b="0" dirty="0">
                          <a:solidFill>
                            <a:srgbClr val="202020"/>
                          </a:solidFill>
                        </a:rPr>
                        <a:t>96.8%</a:t>
                      </a:r>
                      <a:endParaRPr lang="en-IN" sz="1200" b="0" dirty="0">
                        <a:solidFill>
                          <a:srgbClr val="202020"/>
                        </a:solidFill>
                      </a:endParaRPr>
                    </a:p>
                  </a:txBody>
                  <a:tcPr marL="68580" marR="68580" marT="34290" marB="34290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1200" b="0" dirty="0">
                          <a:solidFill>
                            <a:srgbClr val="202020"/>
                          </a:solidFill>
                        </a:rPr>
                        <a:t>9,988</a:t>
                      </a:r>
                      <a:endParaRPr lang="en-IN" sz="1200" b="0" dirty="0">
                        <a:solidFill>
                          <a:srgbClr val="202020"/>
                        </a:solidFill>
                      </a:endParaRPr>
                    </a:p>
                  </a:txBody>
                  <a:tcPr marL="68580" marR="68580" marT="34290" marB="34290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1200" b="0" dirty="0">
                          <a:solidFill>
                            <a:srgbClr val="202020"/>
                          </a:solidFill>
                        </a:rPr>
                        <a:t>2,626</a:t>
                      </a:r>
                      <a:endParaRPr lang="en-IN" sz="1200" b="0" dirty="0">
                        <a:solidFill>
                          <a:srgbClr val="202020"/>
                        </a:solidFill>
                      </a:endParaRPr>
                    </a:p>
                  </a:txBody>
                  <a:tcPr marL="68580" marR="68580" marT="34290" marB="34290" anchor="ctr"/>
                </a:tc>
              </a:tr>
              <a:tr h="430000">
                <a:tc>
                  <a:txBody>
                    <a:bodyPr/>
                    <a:lstStyle/>
                    <a:p>
                      <a:pPr algn="l"/>
                      <a:r>
                        <a:rPr lang="en-IN" sz="1200" b="0" dirty="0">
                          <a:solidFill>
                            <a:srgbClr val="202020"/>
                          </a:solidFill>
                        </a:rPr>
                        <a:t>(s, S) policy</a:t>
                      </a:r>
                      <a:endParaRPr lang="en-IN" sz="1200" b="0" dirty="0">
                        <a:solidFill>
                          <a:srgbClr val="202020"/>
                        </a:solidFill>
                      </a:endParaRPr>
                    </a:p>
                  </a:txBody>
                  <a:tcPr marL="68580" marR="68580" marT="34290" marB="34290" anchor="ctr">
                    <a:solidFill>
                      <a:srgbClr val="F2F7F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1200" b="0" dirty="0">
                          <a:solidFill>
                            <a:srgbClr val="202020"/>
                          </a:solidFill>
                        </a:rPr>
                        <a:t>70,365</a:t>
                      </a:r>
                      <a:endParaRPr lang="en-IN" sz="1200" b="0" dirty="0">
                        <a:solidFill>
                          <a:srgbClr val="202020"/>
                        </a:solidFill>
                      </a:endParaRPr>
                    </a:p>
                  </a:txBody>
                  <a:tcPr marL="68580" marR="68580" marT="34290" marB="34290" anchor="ctr">
                    <a:solidFill>
                      <a:srgbClr val="F2F7F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1200" b="0" dirty="0">
                          <a:solidFill>
                            <a:srgbClr val="202020"/>
                          </a:solidFill>
                        </a:rPr>
                        <a:t>6,782</a:t>
                      </a:r>
                      <a:endParaRPr lang="en-IN" sz="1200" b="0" dirty="0">
                        <a:solidFill>
                          <a:srgbClr val="202020"/>
                        </a:solidFill>
                      </a:endParaRPr>
                    </a:p>
                  </a:txBody>
                  <a:tcPr marL="68580" marR="68580" marT="34290" marB="34290" anchor="ctr">
                    <a:solidFill>
                      <a:srgbClr val="F2F7F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1200" b="0" dirty="0">
                          <a:solidFill>
                            <a:srgbClr val="202020"/>
                          </a:solidFill>
                        </a:rPr>
                        <a:t>94.9%</a:t>
                      </a:r>
                      <a:endParaRPr lang="en-IN" sz="1200" b="0" dirty="0">
                        <a:solidFill>
                          <a:srgbClr val="202020"/>
                        </a:solidFill>
                      </a:endParaRPr>
                    </a:p>
                  </a:txBody>
                  <a:tcPr marL="68580" marR="68580" marT="34290" marB="34290" anchor="ctr">
                    <a:solidFill>
                      <a:srgbClr val="F2F7F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1200" b="0" dirty="0">
                          <a:solidFill>
                            <a:srgbClr val="202020"/>
                          </a:solidFill>
                        </a:rPr>
                        <a:t>15,677</a:t>
                      </a:r>
                      <a:endParaRPr lang="en-IN" sz="1200" b="0" dirty="0">
                        <a:solidFill>
                          <a:srgbClr val="202020"/>
                        </a:solidFill>
                      </a:endParaRPr>
                    </a:p>
                  </a:txBody>
                  <a:tcPr marL="68580" marR="68580" marT="34290" marB="34290" anchor="ctr">
                    <a:solidFill>
                      <a:srgbClr val="F2F7F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1200" b="0" dirty="0">
                          <a:solidFill>
                            <a:srgbClr val="202020"/>
                          </a:solidFill>
                        </a:rPr>
                        <a:t>2,905</a:t>
                      </a:r>
                      <a:endParaRPr lang="en-IN" sz="1200" b="0" dirty="0">
                        <a:solidFill>
                          <a:srgbClr val="202020"/>
                        </a:solidFill>
                      </a:endParaRPr>
                    </a:p>
                  </a:txBody>
                  <a:tcPr marL="68580" marR="68580" marT="34290" marB="34290" anchor="ctr">
                    <a:solidFill>
                      <a:srgbClr val="F2F7F3"/>
                    </a:solidFill>
                  </a:tcPr>
                </a:tc>
              </a:tr>
              <a:tr h="430000">
                <a:tc>
                  <a:txBody>
                    <a:bodyPr/>
                    <a:lstStyle/>
                    <a:p>
                      <a:pPr algn="l"/>
                      <a:r>
                        <a:rPr lang="en-IN" sz="1200" b="0" dirty="0">
                          <a:solidFill>
                            <a:srgbClr val="202020"/>
                          </a:solidFill>
                        </a:rPr>
                        <a:t>constant order (control)</a:t>
                      </a:r>
                      <a:endParaRPr lang="en-IN" sz="1200" b="0" dirty="0">
                        <a:solidFill>
                          <a:srgbClr val="202020"/>
                        </a:solidFill>
                      </a:endParaRPr>
                    </a:p>
                  </a:txBody>
                  <a:tcPr marL="68580" marR="68580" marT="34290" marB="34290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1200" b="0" dirty="0">
                          <a:solidFill>
                            <a:srgbClr val="202020"/>
                          </a:solidFill>
                        </a:rPr>
                        <a:t>50,751</a:t>
                      </a:r>
                      <a:endParaRPr lang="en-IN" sz="1200" b="0" dirty="0">
                        <a:solidFill>
                          <a:srgbClr val="202020"/>
                        </a:solidFill>
                      </a:endParaRPr>
                    </a:p>
                  </a:txBody>
                  <a:tcPr marL="68580" marR="68580" marT="34290" marB="34290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1200" b="0" dirty="0">
                          <a:solidFill>
                            <a:srgbClr val="202020"/>
                          </a:solidFill>
                        </a:rPr>
                        <a:t>12,723</a:t>
                      </a:r>
                      <a:endParaRPr lang="en-IN" sz="1200" b="0" dirty="0">
                        <a:solidFill>
                          <a:srgbClr val="202020"/>
                        </a:solidFill>
                      </a:endParaRPr>
                    </a:p>
                  </a:txBody>
                  <a:tcPr marL="68580" marR="68580" marT="34290" marB="34290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1200" b="0" dirty="0">
                          <a:solidFill>
                            <a:srgbClr val="202020"/>
                          </a:solidFill>
                        </a:rPr>
                        <a:t>92.3%</a:t>
                      </a:r>
                      <a:endParaRPr lang="en-IN" sz="1200" b="0" dirty="0">
                        <a:solidFill>
                          <a:srgbClr val="202020"/>
                        </a:solidFill>
                      </a:endParaRPr>
                    </a:p>
                  </a:txBody>
                  <a:tcPr marL="68580" marR="68580" marT="34290" marB="34290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1200" b="0" dirty="0">
                          <a:solidFill>
                            <a:srgbClr val="202020"/>
                          </a:solidFill>
                        </a:rPr>
                        <a:t>27,644</a:t>
                      </a:r>
                      <a:endParaRPr lang="en-IN" sz="1200" b="0" dirty="0">
                        <a:solidFill>
                          <a:srgbClr val="202020"/>
                        </a:solidFill>
                      </a:endParaRPr>
                    </a:p>
                  </a:txBody>
                  <a:tcPr marL="68580" marR="68580" marT="34290" marB="34290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1200" b="0" dirty="0">
                          <a:solidFill>
                            <a:srgbClr val="202020"/>
                          </a:solidFill>
                        </a:rPr>
                        <a:t>3,334</a:t>
                      </a:r>
                      <a:endParaRPr lang="en-IN" sz="1200" b="0" dirty="0">
                        <a:solidFill>
                          <a:srgbClr val="202020"/>
                        </a:solidFill>
                      </a:endParaRPr>
                    </a:p>
                  </a:txBody>
                  <a:tcPr marL="68580" marR="68580" marT="34290" marB="34290" anchor="ctr"/>
                </a:tc>
              </a:tr>
              <a:tr h="430000">
                <a:tc>
                  <a:txBody>
                    <a:bodyPr/>
                    <a:lstStyle/>
                    <a:p>
                      <a:pPr algn="l"/>
                      <a:r>
                        <a:rPr lang="en-IN" sz="1200" b="0" dirty="0">
                          <a:solidFill>
                            <a:srgbClr val="202020"/>
                          </a:solidFill>
                        </a:rPr>
                        <a:t>random (sanity check)</a:t>
                      </a:r>
                      <a:endParaRPr lang="en-IN" sz="1200" b="0" dirty="0">
                        <a:solidFill>
                          <a:srgbClr val="202020"/>
                        </a:solidFill>
                      </a:endParaRPr>
                    </a:p>
                  </a:txBody>
                  <a:tcPr marL="68580" marR="68580" marT="34290" marB="34290" anchor="ctr">
                    <a:solidFill>
                      <a:srgbClr val="F2F7F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1200" b="0" dirty="0">
                          <a:solidFill>
                            <a:srgbClr val="202020"/>
                          </a:solidFill>
                        </a:rPr>
                        <a:t>-34,144</a:t>
                      </a:r>
                      <a:endParaRPr lang="en-IN" sz="1200" b="0" dirty="0">
                        <a:solidFill>
                          <a:srgbClr val="202020"/>
                        </a:solidFill>
                      </a:endParaRPr>
                    </a:p>
                  </a:txBody>
                  <a:tcPr marL="68580" marR="68580" marT="34290" marB="34290" anchor="ctr">
                    <a:solidFill>
                      <a:srgbClr val="F2F7F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1200" b="0" dirty="0">
                          <a:solidFill>
                            <a:srgbClr val="202020"/>
                          </a:solidFill>
                        </a:rPr>
                        <a:t>12,971</a:t>
                      </a:r>
                      <a:endParaRPr lang="en-IN" sz="1200" b="0" dirty="0">
                        <a:solidFill>
                          <a:srgbClr val="202020"/>
                        </a:solidFill>
                      </a:endParaRPr>
                    </a:p>
                  </a:txBody>
                  <a:tcPr marL="68580" marR="68580" marT="34290" marB="34290" anchor="ctr">
                    <a:solidFill>
                      <a:srgbClr val="F2F7F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1200" b="0" dirty="0">
                          <a:solidFill>
                            <a:srgbClr val="202020"/>
                          </a:solidFill>
                        </a:rPr>
                        <a:t>94.2%</a:t>
                      </a:r>
                      <a:endParaRPr lang="en-IN" sz="1200" b="0" dirty="0">
                        <a:solidFill>
                          <a:srgbClr val="202020"/>
                        </a:solidFill>
                      </a:endParaRPr>
                    </a:p>
                  </a:txBody>
                  <a:tcPr marL="68580" marR="68580" marT="34290" marB="34290" anchor="ctr">
                    <a:solidFill>
                      <a:srgbClr val="F2F7F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1200" b="0" dirty="0">
                          <a:solidFill>
                            <a:srgbClr val="202020"/>
                          </a:solidFill>
                        </a:rPr>
                        <a:t>19,900</a:t>
                      </a:r>
                      <a:endParaRPr lang="en-IN" sz="1200" b="0" dirty="0">
                        <a:solidFill>
                          <a:srgbClr val="202020"/>
                        </a:solidFill>
                      </a:endParaRPr>
                    </a:p>
                  </a:txBody>
                  <a:tcPr marL="68580" marR="68580" marT="34290" marB="34290" anchor="ctr">
                    <a:solidFill>
                      <a:srgbClr val="F2F7F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1200" b="0" dirty="0">
                          <a:solidFill>
                            <a:srgbClr val="202020"/>
                          </a:solidFill>
                        </a:rPr>
                        <a:t>14,869</a:t>
                      </a:r>
                      <a:endParaRPr lang="en-IN" sz="1200" b="0" dirty="0">
                        <a:solidFill>
                          <a:srgbClr val="202020"/>
                        </a:solidFill>
                      </a:endParaRPr>
                    </a:p>
                  </a:txBody>
                  <a:tcPr marL="68580" marR="68580" marT="34290" marB="34290" anchor="ctr">
                    <a:solidFill>
                      <a:srgbClr val="F2F7F3"/>
                    </a:solidFill>
                  </a:tcPr>
                </a:tc>
              </a:tr>
            </a:tbl>
          </a:graphicData>
        </a:graphic>
      </p:graphicFrame>
      <p:sp>
        <p:nvSpPr>
          <p:cNvPr id="42" name="Note"/>
          <p:cNvSpPr txBox="1"/>
          <p:nvPr/>
        </p:nvSpPr>
        <p:spPr>
          <a:xfrm>
            <a:off x="838198" y="5450000"/>
            <a:ext cx="10515600" cy="700000"/>
          </a:xfrm>
          <a:prstGeom prst="rect">
            <a:avLst/>
          </a:prstGeom>
        </p:spPr>
        <p:txBody>
          <a:bodyPr wrap="square" lIns="0" rIns="0">
            <a:normAutofit/>
          </a:bodyPr>
          <a:lstStyle/>
          <a:p>
            <a:pPr lvl="0">
              <a:lnSpc>
                <a:spcPct val="100000"/>
              </a:lnSpc>
              <a:spcBef>
                <a:spcPts val="600"/>
              </a:spcBef>
              <a:buNone/>
            </a:pPr>
            <a:r>
              <a:rPr lang="en-IN" sz="1300" b="0" dirty="0">
                <a:solidFill>
                  <a:srgbClr val="0D5A28"/>
                </a:solidFill>
              </a:rPr>
              <a:t>Tuning mattered: widening the search grid lifted the best policy from 66,395 to 84,920 during tuning. Beating an untuned baseline would have proved nothing.</a:t>
            </a:r>
            <a:endParaRPr lang="en-IN" sz="1300" b="0" dirty="0">
              <a:solidFill>
                <a:srgbClr val="0D5A28"/>
              </a:solidFill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/>
          <p:cNvSpPr/>
          <p:nvPr/>
        </p:nvSpPr>
        <p:spPr>
          <a:xfrm>
            <a:off x="-1" y="0"/>
            <a:ext cx="12191998" cy="1262131"/>
          </a:xfrm>
          <a:prstGeom prst="rect">
            <a:avLst/>
          </a:prstGeom>
          <a:gradFill flip="none" rotWithShape="1">
            <a:gsLst>
              <a:gs pos="0">
                <a:srgbClr val="1A9B46">
                  <a:tint val="66000"/>
                  <a:satMod val="160000"/>
                </a:srgbClr>
              </a:gs>
              <a:gs pos="50000">
                <a:srgbClr val="1A9B46">
                  <a:tint val="44500"/>
                  <a:satMod val="160000"/>
                </a:srgbClr>
              </a:gs>
              <a:gs pos="100000">
                <a:srgbClr val="1A9B46">
                  <a:tint val="23500"/>
                  <a:satMod val="160000"/>
                </a:srgb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sz="4400" dirty="0">
              <a:solidFill>
                <a:schemeClr val="accent1">
                  <a:lumMod val="50000"/>
                </a:schemeClr>
              </a:solidFill>
            </a:endParaRPr>
          </a:p>
        </p:txBody>
      </p:sp>
      <p:sp>
        <p:nvSpPr>
          <p:cNvPr id="10" name="Google Shape;91;p1"/>
          <p:cNvSpPr txBox="1"/>
          <p:nvPr/>
        </p:nvSpPr>
        <p:spPr>
          <a:xfrm>
            <a:off x="-1" y="6416040"/>
            <a:ext cx="12191998" cy="441960"/>
          </a:xfrm>
          <a:prstGeom prst="rect">
            <a:avLst/>
          </a:prstGeom>
          <a:gradFill flip="none" rotWithShape="1">
            <a:gsLst>
              <a:gs pos="0">
                <a:srgbClr val="1A9B46">
                  <a:tint val="66000"/>
                  <a:satMod val="160000"/>
                </a:srgbClr>
              </a:gs>
              <a:gs pos="50000">
                <a:srgbClr val="1A9B46">
                  <a:tint val="44500"/>
                  <a:satMod val="160000"/>
                </a:srgbClr>
              </a:gs>
              <a:gs pos="100000">
                <a:srgbClr val="1A9B46">
                  <a:tint val="23500"/>
                  <a:satMod val="160000"/>
                </a:srgb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600" b="1" i="0" u="none" strike="noStrike" cap="none" dirty="0">
                <a:solidFill>
                  <a:srgbClr val="08127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[</a:t>
            </a:r>
            <a:r>
              <a:rPr lang="en-IN" sz="1600" b="1" dirty="0">
                <a:solidFill>
                  <a:srgbClr val="08127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Mid Project Review]</a:t>
            </a:r>
            <a:r>
              <a:rPr lang="en-IN" sz="1600" b="1" i="0" u="none" strike="noStrike" cap="none" dirty="0">
                <a:solidFill>
                  <a:srgbClr val="08127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     </a:t>
            </a:r>
            <a:endParaRPr sz="1600" b="1" i="0" u="none" strike="noStrike" cap="none" dirty="0">
              <a:solidFill>
                <a:srgbClr val="081271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  <a:sym typeface="Times New Roman" panose="02020603050405020304"/>
            </a:endParaRPr>
          </a:p>
        </p:txBody>
      </p:sp>
      <p:cxnSp>
        <p:nvCxnSpPr>
          <p:cNvPr id="16" name="Straight Connector 15"/>
          <p:cNvCxnSpPr/>
          <p:nvPr/>
        </p:nvCxnSpPr>
        <p:spPr>
          <a:xfrm>
            <a:off x="0" y="1260899"/>
            <a:ext cx="12192000" cy="0"/>
          </a:xfrm>
          <a:prstGeom prst="line">
            <a:avLst/>
          </a:prstGeom>
          <a:ln w="28575">
            <a:solidFill>
              <a:srgbClr val="1A9B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198" y="-201435"/>
            <a:ext cx="10515600" cy="1325563"/>
          </a:xfrm>
        </p:spPr>
        <p:txBody>
          <a:bodyPr>
            <a:normAutofit/>
          </a:bodyPr>
          <a:lstStyle/>
          <a:p>
            <a:br>
              <a:rPr lang="en-IN" dirty="0">
                <a:solidFill>
                  <a:schemeClr val="accent1">
                    <a:lumMod val="50000"/>
                  </a:schemeClr>
                </a:solidFill>
              </a:rPr>
            </a:br>
            <a:r>
              <a:rPr lang="en-IN" dirty="0">
                <a:solidFill>
                  <a:schemeClr val="accent1">
                    <a:lumMod val="50000"/>
                  </a:schemeClr>
                </a:solidFill>
              </a:rPr>
              <a:t>Preliminary Results and Discussion</a:t>
            </a:r>
            <a:endParaRPr lang="en-IN" dirty="0">
              <a:solidFill>
                <a:schemeClr val="accent1">
                  <a:lumMod val="50000"/>
                </a:schemeClr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198" y="1594415"/>
            <a:ext cx="10515600" cy="620000"/>
          </a:xfrm>
        </p:spPr>
        <p:txBody>
          <a:bodyPr>
            <a:normAutofit/>
          </a:bodyPr>
          <a:lstStyle/>
          <a:p>
            <a:pPr lvl="0">
              <a:lnSpc>
                <a:spcPct val="100000"/>
              </a:lnSpc>
              <a:spcBef>
                <a:spcPts val="600"/>
              </a:spcBef>
              <a:buNone/>
            </a:pPr>
            <a:r>
              <a:rPr lang="en-IN" sz="1400" b="0" dirty="0"/>
              <a:t>Same 30 held-out seeds, same action granularity, identical customers per seed, so the difference is skill and not luck.</a:t>
            </a:r>
            <a:endParaRPr lang="en-IN" sz="1400" b="0" dirty="0"/>
          </a:p>
        </p:txBody>
      </p:sp>
      <p:sp>
        <p:nvSpPr>
          <p:cNvPr id="19" name="Slide Number Placeholder 1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216105-7B7A-4C42-B2A1-5E9A2FA4F8FD}" type="slidenum">
              <a:rPr lang="en-IN" smtClean="0"/>
            </a:fld>
            <a:endParaRPr lang="en-IN" dirty="0"/>
          </a:p>
        </p:txBody>
      </p:sp>
      <p:graphicFrame>
        <p:nvGraphicFramePr>
          <p:cNvPr id="43" name="Table 43"/>
          <p:cNvGraphicFramePr>
            <a:graphicFrameLocks noGrp="1"/>
          </p:cNvGraphicFramePr>
          <p:nvPr/>
        </p:nvGraphicFramePr>
        <p:xfrm>
          <a:off x="838198" y="2250000"/>
          <a:ext cx="10500000" cy="18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600000"/>
                <a:gridCol w="1900000"/>
                <a:gridCol w="1900000"/>
                <a:gridCol w="2100000"/>
              </a:tblGrid>
              <a:tr h="450000">
                <a:tc>
                  <a:txBody>
                    <a:bodyPr/>
                    <a:lstStyle/>
                    <a:p>
                      <a:pPr algn="l"/>
                      <a:r>
                        <a:rPr lang="en-IN" sz="1250" b="1" dirty="0">
                          <a:solidFill>
                            <a:srgbClr val="FFFFFF"/>
                          </a:solidFill>
                        </a:rPr>
                        <a:t>Policy</a:t>
                      </a:r>
                      <a:endParaRPr lang="en-IN" sz="1250" b="1" dirty="0">
                        <a:solidFill>
                          <a:srgbClr val="FFFFFF"/>
                        </a:solidFill>
                      </a:endParaRPr>
                    </a:p>
                  </a:txBody>
                  <a:tcPr marL="68580" marR="68580" marT="34290" marB="34290" anchor="ctr">
                    <a:solidFill>
                      <a:srgbClr val="1A9B4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1250" b="1" dirty="0">
                          <a:solidFill>
                            <a:srgbClr val="FFFFFF"/>
                          </a:solidFill>
                        </a:rPr>
                        <a:t>Profit</a:t>
                      </a:r>
                      <a:endParaRPr lang="en-IN" sz="1250" b="1" dirty="0">
                        <a:solidFill>
                          <a:srgbClr val="FFFFFF"/>
                        </a:solidFill>
                      </a:endParaRPr>
                    </a:p>
                  </a:txBody>
                  <a:tcPr marL="68580" marR="68580" marT="34290" marB="34290" anchor="ctr">
                    <a:solidFill>
                      <a:srgbClr val="1A9B4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1250" b="1" dirty="0">
                          <a:solidFill>
                            <a:srgbClr val="FFFFFF"/>
                          </a:solidFill>
                        </a:rPr>
                        <a:t>Fill rate</a:t>
                      </a:r>
                      <a:endParaRPr lang="en-IN" sz="1250" b="1" dirty="0">
                        <a:solidFill>
                          <a:srgbClr val="FFFFFF"/>
                        </a:solidFill>
                      </a:endParaRPr>
                    </a:p>
                  </a:txBody>
                  <a:tcPr marL="68580" marR="68580" marT="34290" marB="34290" anchor="ctr">
                    <a:solidFill>
                      <a:srgbClr val="1A9B4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1250" b="1" dirty="0">
                          <a:solidFill>
                            <a:srgbClr val="FFFFFF"/>
                          </a:solidFill>
                        </a:rPr>
                        <a:t>Ordering cost</a:t>
                      </a:r>
                      <a:endParaRPr lang="en-IN" sz="1250" b="1" dirty="0">
                        <a:solidFill>
                          <a:srgbClr val="FFFFFF"/>
                        </a:solidFill>
                      </a:endParaRPr>
                    </a:p>
                  </a:txBody>
                  <a:tcPr marL="68580" marR="68580" marT="34290" marB="34290" anchor="ctr">
                    <a:solidFill>
                      <a:srgbClr val="1A9B46"/>
                    </a:solidFill>
                  </a:tcPr>
                </a:tc>
              </a:tr>
              <a:tr h="450000">
                <a:tc>
                  <a:txBody>
                    <a:bodyPr/>
                    <a:lstStyle/>
                    <a:p>
                      <a:pPr algn="l"/>
                      <a:r>
                        <a:rPr lang="en-IN" sz="1250" b="0" dirty="0">
                          <a:solidFill>
                            <a:srgbClr val="202020"/>
                          </a:solidFill>
                        </a:rPr>
                        <a:t>forecast + safety stock (best classical)</a:t>
                      </a:r>
                      <a:endParaRPr lang="en-IN" sz="1250" b="0" dirty="0">
                        <a:solidFill>
                          <a:srgbClr val="202020"/>
                        </a:solidFill>
                      </a:endParaRPr>
                    </a:p>
                  </a:txBody>
                  <a:tcPr marL="68580" marR="68580" marT="34290" marB="34290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1250" b="0" dirty="0">
                          <a:solidFill>
                            <a:srgbClr val="202020"/>
                          </a:solidFill>
                        </a:rPr>
                        <a:t>83,624</a:t>
                      </a:r>
                      <a:endParaRPr lang="en-IN" sz="1250" b="0" dirty="0">
                        <a:solidFill>
                          <a:srgbClr val="202020"/>
                        </a:solidFill>
                      </a:endParaRPr>
                    </a:p>
                  </a:txBody>
                  <a:tcPr marL="68580" marR="68580" marT="34290" marB="34290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1250" b="0" dirty="0">
                          <a:solidFill>
                            <a:srgbClr val="202020"/>
                          </a:solidFill>
                        </a:rPr>
                        <a:t>97.9%</a:t>
                      </a:r>
                      <a:endParaRPr lang="en-IN" sz="1250" b="0" dirty="0">
                        <a:solidFill>
                          <a:srgbClr val="202020"/>
                        </a:solidFill>
                      </a:endParaRPr>
                    </a:p>
                  </a:txBody>
                  <a:tcPr marL="68580" marR="68580" marT="34290" marB="34290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1250" b="0" dirty="0">
                          <a:solidFill>
                            <a:srgbClr val="202020"/>
                          </a:solidFill>
                        </a:rPr>
                        <a:t>2,729</a:t>
                      </a:r>
                      <a:endParaRPr lang="en-IN" sz="1250" b="0" dirty="0">
                        <a:solidFill>
                          <a:srgbClr val="202020"/>
                        </a:solidFill>
                      </a:endParaRPr>
                    </a:p>
                  </a:txBody>
                  <a:tcPr marL="68580" marR="68580" marT="34290" marB="34290" anchor="ctr"/>
                </a:tc>
              </a:tr>
              <a:tr h="450000">
                <a:tc>
                  <a:txBody>
                    <a:bodyPr/>
                    <a:lstStyle/>
                    <a:p>
                      <a:pPr algn="l"/>
                      <a:r>
                        <a:rPr lang="en-IN" sz="1250" b="0" dirty="0">
                          <a:solidFill>
                            <a:srgbClr val="202020"/>
                          </a:solidFill>
                        </a:rPr>
                        <a:t>MaskablePPO agent, 1M steps</a:t>
                      </a:r>
                      <a:endParaRPr lang="en-IN" sz="1250" b="0" dirty="0">
                        <a:solidFill>
                          <a:srgbClr val="202020"/>
                        </a:solidFill>
                      </a:endParaRPr>
                    </a:p>
                  </a:txBody>
                  <a:tcPr marL="68580" marR="68580" marT="34290" marB="34290" anchor="ctr">
                    <a:solidFill>
                      <a:srgbClr val="F2F7F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1250" b="0" dirty="0">
                          <a:solidFill>
                            <a:srgbClr val="202020"/>
                          </a:solidFill>
                        </a:rPr>
                        <a:t>71,227</a:t>
                      </a:r>
                      <a:endParaRPr lang="en-IN" sz="1250" b="0" dirty="0">
                        <a:solidFill>
                          <a:srgbClr val="202020"/>
                        </a:solidFill>
                      </a:endParaRPr>
                    </a:p>
                  </a:txBody>
                  <a:tcPr marL="68580" marR="68580" marT="34290" marB="34290" anchor="ctr">
                    <a:solidFill>
                      <a:srgbClr val="F2F7F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1250" b="0" dirty="0">
                          <a:solidFill>
                            <a:srgbClr val="202020"/>
                          </a:solidFill>
                        </a:rPr>
                        <a:t>94.3%</a:t>
                      </a:r>
                      <a:endParaRPr lang="en-IN" sz="1250" b="0" dirty="0">
                        <a:solidFill>
                          <a:srgbClr val="202020"/>
                        </a:solidFill>
                      </a:endParaRPr>
                    </a:p>
                  </a:txBody>
                  <a:tcPr marL="68580" marR="68580" marT="34290" marB="34290" anchor="ctr">
                    <a:solidFill>
                      <a:srgbClr val="F2F7F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1250" b="0" dirty="0">
                          <a:solidFill>
                            <a:srgbClr val="202020"/>
                          </a:solidFill>
                        </a:rPr>
                        <a:t>7,068</a:t>
                      </a:r>
                      <a:endParaRPr lang="en-IN" sz="1250" b="0" dirty="0">
                        <a:solidFill>
                          <a:srgbClr val="202020"/>
                        </a:solidFill>
                      </a:endParaRPr>
                    </a:p>
                  </a:txBody>
                  <a:tcPr marL="68580" marR="68580" marT="34290" marB="34290" anchor="ctr">
                    <a:solidFill>
                      <a:srgbClr val="F2F7F3"/>
                    </a:solidFill>
                  </a:tcPr>
                </a:tc>
              </a:tr>
              <a:tr h="450000">
                <a:tc>
                  <a:txBody>
                    <a:bodyPr/>
                    <a:lstStyle/>
                    <a:p>
                      <a:pPr algn="l"/>
                      <a:r>
                        <a:rPr lang="en-IN" sz="1250" b="0" dirty="0">
                          <a:solidFill>
                            <a:srgbClr val="202020"/>
                          </a:solidFill>
                        </a:rPr>
                        <a:t>PPO without action masking, 1M steps</a:t>
                      </a:r>
                      <a:endParaRPr lang="en-IN" sz="1250" b="0" dirty="0">
                        <a:solidFill>
                          <a:srgbClr val="202020"/>
                        </a:solidFill>
                      </a:endParaRPr>
                    </a:p>
                  </a:txBody>
                  <a:tcPr marL="68580" marR="68580" marT="34290" marB="34290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1250" b="0" dirty="0">
                          <a:solidFill>
                            <a:srgbClr val="202020"/>
                          </a:solidFill>
                        </a:rPr>
                        <a:t>22,566</a:t>
                      </a:r>
                      <a:endParaRPr lang="en-IN" sz="1250" b="0" dirty="0">
                        <a:solidFill>
                          <a:srgbClr val="202020"/>
                        </a:solidFill>
                      </a:endParaRPr>
                    </a:p>
                  </a:txBody>
                  <a:tcPr marL="68580" marR="68580" marT="34290" marB="34290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1250" b="0" dirty="0">
                          <a:solidFill>
                            <a:srgbClr val="202020"/>
                          </a:solidFill>
                        </a:rPr>
                        <a:t>94.8%</a:t>
                      </a:r>
                      <a:endParaRPr lang="en-IN" sz="1250" b="0" dirty="0">
                        <a:solidFill>
                          <a:srgbClr val="202020"/>
                        </a:solidFill>
                      </a:endParaRPr>
                    </a:p>
                  </a:txBody>
                  <a:tcPr marL="68580" marR="68580" marT="34290" marB="34290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1250" b="0" dirty="0">
                          <a:solidFill>
                            <a:srgbClr val="202020"/>
                          </a:solidFill>
                        </a:rPr>
                        <a:t>13,988</a:t>
                      </a:r>
                      <a:endParaRPr lang="en-IN" sz="1250" b="0" dirty="0">
                        <a:solidFill>
                          <a:srgbClr val="202020"/>
                        </a:solidFill>
                      </a:endParaRPr>
                    </a:p>
                  </a:txBody>
                  <a:tcPr marL="68580" marR="68580" marT="34290" marB="34290" anchor="ctr"/>
                </a:tc>
              </a:tr>
            </a:tbl>
          </a:graphicData>
        </a:graphic>
      </p:graphicFrame>
      <p:sp>
        <p:nvSpPr>
          <p:cNvPr id="44" name="Findings"/>
          <p:cNvSpPr txBox="1"/>
          <p:nvPr/>
        </p:nvSpPr>
        <p:spPr>
          <a:xfrm>
            <a:off x="838198" y="4200000"/>
            <a:ext cx="10515600" cy="1900000"/>
          </a:xfrm>
          <a:prstGeom prst="rect">
            <a:avLst/>
          </a:prstGeom>
        </p:spPr>
        <p:txBody>
          <a:bodyPr wrap="square" lIns="0" rIns="0">
            <a:normAutofit/>
          </a:bodyPr>
          <a:lstStyle/>
          <a:p>
            <a:pPr lvl="0">
              <a:lnSpc>
                <a:spcPct val="100000"/>
              </a:lnSpc>
              <a:spcBef>
                <a:spcPts val="600"/>
              </a:spcBef>
              <a:buNone/>
            </a:pPr>
            <a:r>
              <a:rPr lang="en-IN" sz="1500" b="1" dirty="0">
                <a:solidFill>
                  <a:srgbClr val="0D5A28"/>
                </a:solidFill>
              </a:rPr>
              <a:t>The classical policy still wins by 12,397 per episode (paired t = -9.22, n = 30, significant).</a:t>
            </a:r>
            <a:endParaRPr lang="en-IN" sz="1500" b="1" dirty="0">
              <a:solidFill>
                <a:srgbClr val="0D5A28"/>
              </a:solidFill>
            </a:endParaRPr>
          </a:p>
          <a:p>
            <a:pPr lvl="0">
              <a:lnSpc>
                <a:spcPct val="100000"/>
              </a:lnSpc>
              <a:spcBef>
                <a:spcPts val="600"/>
              </a:spcBef>
              <a:buNone/>
            </a:pPr>
            <a:r>
              <a:rPr lang="en-IN" sz="1350" b="0" dirty="0">
                <a:solidFill>
                  <a:srgbClr val="202020"/>
                </a:solidFill>
              </a:rPr>
              <a:t>Where the gap comes from: stockouts about 4,700; fragmented sourcing about 4,300 (the agent pays 2.6x the baseline's ordering fees); lost revenue about 2,900.</a:t>
            </a:r>
            <a:endParaRPr lang="en-IN" sz="1350" b="0" dirty="0">
              <a:solidFill>
                <a:srgbClr val="202020"/>
              </a:solidFill>
            </a:endParaRPr>
          </a:p>
          <a:p>
            <a:pPr lvl="0">
              <a:lnSpc>
                <a:spcPct val="100000"/>
              </a:lnSpc>
              <a:spcBef>
                <a:spcPts val="600"/>
              </a:spcBef>
              <a:buNone/>
            </a:pPr>
            <a:r>
              <a:rPr lang="en-IN" sz="1350" b="0" dirty="0">
                <a:solidFill>
                  <a:srgbClr val="202020"/>
                </a:solidFill>
              </a:rPr>
              <a:t>Action masking is the single largest lever found so far, tripling agent profit from 23,717 to 72,740.</a:t>
            </a:r>
            <a:endParaRPr lang="en-IN" sz="1350" b="0" dirty="0">
              <a:solidFill>
                <a:srgbClr val="202020"/>
              </a:solidFill>
            </a:endParaRPr>
          </a:p>
          <a:p>
            <a:pPr lvl="0">
              <a:lnSpc>
                <a:spcPct val="100000"/>
              </a:lnSpc>
              <a:spcBef>
                <a:spcPts val="600"/>
              </a:spcBef>
              <a:buNone/>
            </a:pPr>
            <a:r>
              <a:rPr lang="en-IN" sz="1350" b="0" dirty="0">
                <a:solidFill>
                  <a:srgbClr val="202020"/>
                </a:solidFill>
              </a:rPr>
              <a:t>A hyperparameter sweep of 8 configurations over 6 million steps is running to test whether the remaining gap can be closed.</a:t>
            </a:r>
            <a:endParaRPr lang="en-IN" sz="1350" b="0" dirty="0">
              <a:solidFill>
                <a:srgbClr val="202020"/>
              </a:solidFill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/>
          <p:cNvSpPr/>
          <p:nvPr/>
        </p:nvSpPr>
        <p:spPr>
          <a:xfrm>
            <a:off x="-1" y="0"/>
            <a:ext cx="12191998" cy="1262131"/>
          </a:xfrm>
          <a:prstGeom prst="rect">
            <a:avLst/>
          </a:prstGeom>
          <a:gradFill flip="none" rotWithShape="1">
            <a:gsLst>
              <a:gs pos="0">
                <a:srgbClr val="1A9B46">
                  <a:tint val="66000"/>
                  <a:satMod val="160000"/>
                </a:srgbClr>
              </a:gs>
              <a:gs pos="50000">
                <a:srgbClr val="1A9B46">
                  <a:tint val="44500"/>
                  <a:satMod val="160000"/>
                </a:srgbClr>
              </a:gs>
              <a:gs pos="100000">
                <a:srgbClr val="1A9B46">
                  <a:tint val="23500"/>
                  <a:satMod val="160000"/>
                </a:srgb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sz="4400" dirty="0">
              <a:solidFill>
                <a:schemeClr val="accent1">
                  <a:lumMod val="50000"/>
                </a:schemeClr>
              </a:solidFill>
            </a:endParaRPr>
          </a:p>
        </p:txBody>
      </p:sp>
      <p:sp>
        <p:nvSpPr>
          <p:cNvPr id="10" name="Google Shape;91;p1"/>
          <p:cNvSpPr txBox="1"/>
          <p:nvPr/>
        </p:nvSpPr>
        <p:spPr>
          <a:xfrm>
            <a:off x="-1" y="6416040"/>
            <a:ext cx="12191998" cy="441960"/>
          </a:xfrm>
          <a:prstGeom prst="rect">
            <a:avLst/>
          </a:prstGeom>
          <a:gradFill flip="none" rotWithShape="1">
            <a:gsLst>
              <a:gs pos="0">
                <a:srgbClr val="1A9B46">
                  <a:tint val="66000"/>
                  <a:satMod val="160000"/>
                </a:srgbClr>
              </a:gs>
              <a:gs pos="50000">
                <a:srgbClr val="1A9B46">
                  <a:tint val="44500"/>
                  <a:satMod val="160000"/>
                </a:srgbClr>
              </a:gs>
              <a:gs pos="100000">
                <a:srgbClr val="1A9B46">
                  <a:tint val="23500"/>
                  <a:satMod val="160000"/>
                </a:srgb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600" b="1" i="0" u="none" strike="noStrike" cap="none" dirty="0">
                <a:solidFill>
                  <a:srgbClr val="08127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[</a:t>
            </a:r>
            <a:r>
              <a:rPr lang="en-IN" sz="1600" b="1" dirty="0">
                <a:solidFill>
                  <a:srgbClr val="08127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Mid Project Review]</a:t>
            </a:r>
            <a:r>
              <a:rPr lang="en-IN" sz="1600" b="1" i="0" u="none" strike="noStrike" cap="none" dirty="0">
                <a:solidFill>
                  <a:srgbClr val="08127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     </a:t>
            </a:r>
            <a:endParaRPr sz="1600" b="1" i="0" u="none" strike="noStrike" cap="none" dirty="0">
              <a:solidFill>
                <a:srgbClr val="081271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  <a:sym typeface="Times New Roman" panose="02020603050405020304"/>
            </a:endParaRPr>
          </a:p>
        </p:txBody>
      </p:sp>
      <p:cxnSp>
        <p:nvCxnSpPr>
          <p:cNvPr id="16" name="Straight Connector 15"/>
          <p:cNvCxnSpPr/>
          <p:nvPr/>
        </p:nvCxnSpPr>
        <p:spPr>
          <a:xfrm>
            <a:off x="0" y="1260899"/>
            <a:ext cx="12192000" cy="0"/>
          </a:xfrm>
          <a:prstGeom prst="line">
            <a:avLst/>
          </a:prstGeom>
          <a:ln w="28575">
            <a:solidFill>
              <a:srgbClr val="1A9B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198" y="-201435"/>
            <a:ext cx="10515600" cy="1325563"/>
          </a:xfrm>
        </p:spPr>
        <p:txBody>
          <a:bodyPr>
            <a:normAutofit/>
          </a:bodyPr>
          <a:lstStyle/>
          <a:p>
            <a:br>
              <a:rPr lang="en-IN" dirty="0">
                <a:solidFill>
                  <a:schemeClr val="accent1">
                    <a:lumMod val="50000"/>
                  </a:schemeClr>
                </a:solidFill>
              </a:rPr>
            </a:br>
            <a:r>
              <a:rPr lang="en-IN" dirty="0">
                <a:solidFill>
                  <a:schemeClr val="accent1">
                    <a:lumMod val="50000"/>
                  </a:schemeClr>
                </a:solidFill>
              </a:rPr>
              <a:t>Preliminary Results and Discussion</a:t>
            </a:r>
            <a:endParaRPr lang="en-IN" dirty="0">
              <a:solidFill>
                <a:schemeClr val="accent1">
                  <a:lumMod val="50000"/>
                </a:schemeClr>
              </a:solidFill>
            </a:endParaRPr>
          </a:p>
        </p:txBody>
      </p:sp>
      <p:sp>
        <p:nvSpPr>
          <p:cNvPr id="19" name="Slide Number Placeholder 1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216105-7B7A-4C42-B2A1-5E9A2FA4F8FD}" type="slidenum">
              <a:rPr lang="en-IN" smtClean="0"/>
            </a:fld>
            <a:endParaRPr lang="en-IN" dirty="0"/>
          </a:p>
        </p:txBody>
      </p:sp>
      <p:pic>
        <p:nvPicPr>
          <p:cNvPr id="200" name="Picture 200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8198" y="2050000"/>
            <a:ext cx="5100000" cy="2586187"/>
          </a:xfrm>
          <a:prstGeom prst="rect">
            <a:avLst/>
          </a:prstGeom>
          <a:ln w="9525">
            <a:solidFill>
              <a:srgbClr val="C8D8CC"/>
            </a:solidFill>
          </a:ln>
        </p:spPr>
      </p:pic>
      <p:pic>
        <p:nvPicPr>
          <p:cNvPr id="201" name="Picture 20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53798" y="2050000"/>
            <a:ext cx="5100000" cy="2463068"/>
          </a:xfrm>
          <a:prstGeom prst="rect">
            <a:avLst/>
          </a:prstGeom>
          <a:ln w="9525">
            <a:solidFill>
              <a:srgbClr val="C8D8CC"/>
            </a:solidFill>
          </a:ln>
        </p:spPr>
      </p:pic>
      <p:sp>
        <p:nvSpPr>
          <p:cNvPr id="210" name="Text 210"/>
          <p:cNvSpPr txBox="1"/>
          <p:nvPr/>
        </p:nvSpPr>
        <p:spPr>
          <a:xfrm>
            <a:off x="838198" y="4950000"/>
            <a:ext cx="10515600" cy="1200000"/>
          </a:xfrm>
          <a:prstGeom prst="rect">
            <a:avLst/>
          </a:prstGeom>
        </p:spPr>
        <p:txBody>
          <a:bodyPr wrap="square" lIns="0" rIns="0">
            <a:normAutofit/>
          </a:bodyPr>
          <a:lstStyle/>
          <a:p>
            <a:pPr lvl="0">
              <a:lnSpc>
                <a:spcPct val="100000"/>
              </a:lnSpc>
              <a:spcBef>
                <a:spcPts val="600"/>
              </a:spcBef>
              <a:buNone/>
            </a:pPr>
            <a:r>
              <a:rPr lang="en-IN" sz="1150" b="0" dirty="0">
                <a:solidFill>
                  <a:srgbClr val="202020"/>
                </a:solidFill>
              </a:rPr>
              <a:t>Left: every policy on the 30 held-out reporting seeds. The best classical policy leads the agent, and the spread across seeds is wide enough that only a paired test can settle the difference.</a:t>
            </a:r>
            <a:endParaRPr lang="en-IN" sz="1150" b="0" dirty="0">
              <a:solidFill>
                <a:srgbClr val="202020"/>
              </a:solidFill>
            </a:endParaRPr>
          </a:p>
          <a:p>
            <a:pPr lvl="0">
              <a:lnSpc>
                <a:spcPct val="100000"/>
              </a:lnSpc>
              <a:spcBef>
                <a:spcPts val="600"/>
              </a:spcBef>
              <a:buNone/>
            </a:pPr>
            <a:r>
              <a:rPr lang="en-IN" sz="1150" b="0" dirty="0">
                <a:solidFill>
                  <a:srgbClr val="202020"/>
                </a:solidFill>
              </a:rPr>
              <a:t>Right: learning progress on the training-eval seeds. Action masking lifts the whole curve; both runs flatten below the classical reference line, and the unmasked run was still improving at 1M steps, which is why the sweep trains to 2M.</a:t>
            </a:r>
            <a:endParaRPr lang="en-IN" sz="1150" b="0" dirty="0">
              <a:solidFill>
                <a:srgbClr val="202020"/>
              </a:solidFill>
            </a:endParaRPr>
          </a:p>
        </p:txBody>
      </p:sp>
      <p:sp>
        <p:nvSpPr>
          <p:cNvPr id="211" name="Text 211"/>
          <p:cNvSpPr txBox="1"/>
          <p:nvPr/>
        </p:nvSpPr>
        <p:spPr>
          <a:xfrm>
            <a:off x="838198" y="1594415"/>
            <a:ext cx="10515600" cy="400000"/>
          </a:xfrm>
          <a:prstGeom prst="rect">
            <a:avLst/>
          </a:prstGeom>
        </p:spPr>
        <p:txBody>
          <a:bodyPr wrap="square" lIns="0" rIns="0">
            <a:normAutofit/>
          </a:bodyPr>
          <a:lstStyle/>
          <a:p>
            <a:pPr lvl="0">
              <a:lnSpc>
                <a:spcPct val="100000"/>
              </a:lnSpc>
              <a:spcBef>
                <a:spcPts val="600"/>
              </a:spcBef>
              <a:buNone/>
            </a:pPr>
            <a:r>
              <a:rPr lang="en-IN" sz="1400" b="0" dirty="0">
                <a:solidFill>
                  <a:srgbClr val="0D5A28"/>
                </a:solidFill>
              </a:rPr>
              <a:t>Visual evidence for the numbers on the previous slide, generated directly from the stored result files.</a:t>
            </a:r>
            <a:endParaRPr lang="en-IN" sz="1400" b="0" dirty="0">
              <a:solidFill>
                <a:srgbClr val="0D5A28"/>
              </a:solidFill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/>
          <p:cNvSpPr/>
          <p:nvPr/>
        </p:nvSpPr>
        <p:spPr>
          <a:xfrm>
            <a:off x="-1" y="0"/>
            <a:ext cx="12191998" cy="1262131"/>
          </a:xfrm>
          <a:prstGeom prst="rect">
            <a:avLst/>
          </a:prstGeom>
          <a:gradFill flip="none" rotWithShape="1">
            <a:gsLst>
              <a:gs pos="0">
                <a:srgbClr val="1A9B46">
                  <a:tint val="66000"/>
                  <a:satMod val="160000"/>
                </a:srgbClr>
              </a:gs>
              <a:gs pos="50000">
                <a:srgbClr val="1A9B46">
                  <a:tint val="44500"/>
                  <a:satMod val="160000"/>
                </a:srgbClr>
              </a:gs>
              <a:gs pos="100000">
                <a:srgbClr val="1A9B46">
                  <a:tint val="23500"/>
                  <a:satMod val="160000"/>
                </a:srgb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sz="4400" dirty="0">
              <a:solidFill>
                <a:schemeClr val="accent1">
                  <a:lumMod val="50000"/>
                </a:schemeClr>
              </a:solidFill>
            </a:endParaRPr>
          </a:p>
        </p:txBody>
      </p:sp>
      <p:sp>
        <p:nvSpPr>
          <p:cNvPr id="10" name="Google Shape;91;p1"/>
          <p:cNvSpPr txBox="1"/>
          <p:nvPr/>
        </p:nvSpPr>
        <p:spPr>
          <a:xfrm>
            <a:off x="-1" y="6416040"/>
            <a:ext cx="12191998" cy="441960"/>
          </a:xfrm>
          <a:prstGeom prst="rect">
            <a:avLst/>
          </a:prstGeom>
          <a:gradFill flip="none" rotWithShape="1">
            <a:gsLst>
              <a:gs pos="0">
                <a:srgbClr val="1A9B46">
                  <a:tint val="66000"/>
                  <a:satMod val="160000"/>
                </a:srgbClr>
              </a:gs>
              <a:gs pos="50000">
                <a:srgbClr val="1A9B46">
                  <a:tint val="44500"/>
                  <a:satMod val="160000"/>
                </a:srgbClr>
              </a:gs>
              <a:gs pos="100000">
                <a:srgbClr val="1A9B46">
                  <a:tint val="23500"/>
                  <a:satMod val="160000"/>
                </a:srgb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600" b="1" i="0" u="none" strike="noStrike" cap="none" dirty="0">
                <a:solidFill>
                  <a:srgbClr val="08127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[</a:t>
            </a:r>
            <a:r>
              <a:rPr lang="en-IN" sz="1600" b="1" dirty="0">
                <a:solidFill>
                  <a:srgbClr val="08127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Mid Project Review]</a:t>
            </a:r>
            <a:r>
              <a:rPr lang="en-IN" sz="1600" b="1" i="0" u="none" strike="noStrike" cap="none" dirty="0">
                <a:solidFill>
                  <a:srgbClr val="08127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     </a:t>
            </a:r>
            <a:endParaRPr sz="1600" b="1" i="0" u="none" strike="noStrike" cap="none" dirty="0">
              <a:solidFill>
                <a:srgbClr val="081271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  <a:sym typeface="Times New Roman" panose="02020603050405020304"/>
            </a:endParaRPr>
          </a:p>
        </p:txBody>
      </p:sp>
      <p:cxnSp>
        <p:nvCxnSpPr>
          <p:cNvPr id="16" name="Straight Connector 15"/>
          <p:cNvCxnSpPr/>
          <p:nvPr/>
        </p:nvCxnSpPr>
        <p:spPr>
          <a:xfrm>
            <a:off x="0" y="1260899"/>
            <a:ext cx="12192000" cy="0"/>
          </a:xfrm>
          <a:prstGeom prst="line">
            <a:avLst/>
          </a:prstGeom>
          <a:ln w="28575">
            <a:solidFill>
              <a:srgbClr val="1A9B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198" y="171711"/>
            <a:ext cx="10515600" cy="1325563"/>
          </a:xfrm>
        </p:spPr>
        <p:txBody>
          <a:bodyPr/>
          <a:lstStyle/>
          <a:p>
            <a:r>
              <a:rPr lang="en-IN" dirty="0">
                <a:solidFill>
                  <a:schemeClr val="accent1">
                    <a:lumMod val="50000"/>
                  </a:schemeClr>
                </a:solidFill>
              </a:rPr>
              <a:t>Interim Summary/Conclusion</a:t>
            </a:r>
            <a:endParaRPr lang="en-IN" dirty="0">
              <a:solidFill>
                <a:schemeClr val="accent1">
                  <a:lumMod val="50000"/>
                </a:schemeClr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198" y="1594415"/>
            <a:ext cx="10515600" cy="4500000"/>
          </a:xfrm>
        </p:spPr>
        <p:txBody>
          <a:bodyPr>
            <a:normAutofit/>
          </a:bodyPr>
          <a:lstStyle/>
          <a:p>
            <a:pPr lvl="0">
              <a:lnSpc>
                <a:spcPct val="100000"/>
              </a:lnSpc>
              <a:spcBef>
                <a:spcPts val="600"/>
              </a:spcBef>
            </a:pPr>
            <a:r>
              <a:rPr lang="en-IN" sz="1600" b="0" dirty="0"/>
              <a:t>Built and verified: the simulator, four tuned classical policies, the RL training pipeline, and a held-out evaluation harness. 92 automated tests pass.</a:t>
            </a:r>
            <a:endParaRPr lang="en-IN" sz="1600" b="0" dirty="0"/>
          </a:p>
          <a:p>
            <a:pPr lvl="0">
              <a:lnSpc>
                <a:spcPct val="100000"/>
              </a:lnSpc>
              <a:spcBef>
                <a:spcPts val="600"/>
              </a:spcBef>
            </a:pPr>
            <a:r>
              <a:rPr lang="en-IN" sz="1600" b="0" dirty="0"/>
              <a:t>The dataset decision is evidence-based: one candidate dataset was screened and rejected for having no weekday or seasonal structure.</a:t>
            </a:r>
            <a:endParaRPr lang="en-IN" sz="1600" b="0" dirty="0"/>
          </a:p>
          <a:p>
            <a:pPr lvl="0">
              <a:lnSpc>
                <a:spcPct val="100000"/>
              </a:lnSpc>
              <a:spcBef>
                <a:spcPts val="600"/>
              </a:spcBef>
            </a:pPr>
            <a:r>
              <a:rPr lang="en-IN" sz="1600" b="0" dirty="0"/>
              <a:t>Action masking is the largest single contributor to agent performance so far (3x improvement).</a:t>
            </a:r>
            <a:endParaRPr lang="en-IN" sz="1600" b="0" dirty="0"/>
          </a:p>
          <a:p>
            <a:pPr lvl="0">
              <a:lnSpc>
                <a:spcPct val="100000"/>
              </a:lnSpc>
              <a:spcBef>
                <a:spcPts val="600"/>
              </a:spcBef>
            </a:pPr>
            <a:r>
              <a:rPr lang="en-IN" sz="1600" b="1" dirty="0"/>
              <a:t>Honest current finding: the tuned classical policy still beats the RL agent by 12,397 per episode, and the difference is statistically significant.</a:t>
            </a:r>
            <a:endParaRPr lang="en-IN" sz="1600" b="1" dirty="0"/>
          </a:p>
          <a:p>
            <a:pPr lvl="0">
              <a:lnSpc>
                <a:spcPct val="100000"/>
              </a:lnSpc>
              <a:spcBef>
                <a:spcPts val="600"/>
              </a:spcBef>
            </a:pPr>
            <a:r>
              <a:rPr lang="en-IN" sz="1600" b="0" dirty="0"/>
              <a:t>This is a meaningful result rather than an artefact, because the comparison is fair by construction: same environment, same seeds, same action set.</a:t>
            </a:r>
            <a:endParaRPr lang="en-IN" sz="1600" b="0" dirty="0"/>
          </a:p>
          <a:p>
            <a:pPr lvl="0">
              <a:lnSpc>
                <a:spcPct val="100000"/>
              </a:lnSpc>
              <a:spcBef>
                <a:spcPts val="600"/>
              </a:spcBef>
            </a:pPr>
            <a:r>
              <a:rPr lang="en-IN" sz="1600" b="0" dirty="0"/>
              <a:t>Remaining work is the LLM explanation and scenario layer, which is the novel contribution of the project.</a:t>
            </a:r>
            <a:endParaRPr lang="en-IN" sz="1600" b="0" dirty="0"/>
          </a:p>
        </p:txBody>
      </p:sp>
      <p:sp>
        <p:nvSpPr>
          <p:cNvPr id="19" name="Slide Number Placeholder 1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216105-7B7A-4C42-B2A1-5E9A2FA4F8FD}" type="slidenum">
              <a:rPr lang="en-IN" smtClean="0"/>
            </a:fld>
            <a:endParaRPr lang="en-IN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/>
          <p:cNvSpPr/>
          <p:nvPr/>
        </p:nvSpPr>
        <p:spPr>
          <a:xfrm>
            <a:off x="-1" y="0"/>
            <a:ext cx="12191998" cy="1262131"/>
          </a:xfrm>
          <a:prstGeom prst="rect">
            <a:avLst/>
          </a:prstGeom>
          <a:gradFill flip="none" rotWithShape="1">
            <a:gsLst>
              <a:gs pos="0">
                <a:srgbClr val="1A9B46">
                  <a:tint val="66000"/>
                  <a:satMod val="160000"/>
                </a:srgbClr>
              </a:gs>
              <a:gs pos="50000">
                <a:srgbClr val="1A9B46">
                  <a:tint val="44500"/>
                  <a:satMod val="160000"/>
                </a:srgbClr>
              </a:gs>
              <a:gs pos="100000">
                <a:srgbClr val="1A9B46">
                  <a:tint val="23500"/>
                  <a:satMod val="160000"/>
                </a:srgb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sz="4400" dirty="0">
              <a:solidFill>
                <a:schemeClr val="accent1">
                  <a:lumMod val="50000"/>
                </a:schemeClr>
              </a:solidFill>
            </a:endParaRPr>
          </a:p>
        </p:txBody>
      </p:sp>
      <p:sp>
        <p:nvSpPr>
          <p:cNvPr id="10" name="Google Shape;91;p1"/>
          <p:cNvSpPr txBox="1"/>
          <p:nvPr/>
        </p:nvSpPr>
        <p:spPr>
          <a:xfrm>
            <a:off x="-1" y="6416040"/>
            <a:ext cx="12191998" cy="441960"/>
          </a:xfrm>
          <a:prstGeom prst="rect">
            <a:avLst/>
          </a:prstGeom>
          <a:gradFill flip="none" rotWithShape="1">
            <a:gsLst>
              <a:gs pos="0">
                <a:srgbClr val="1A9B46">
                  <a:tint val="66000"/>
                  <a:satMod val="160000"/>
                </a:srgbClr>
              </a:gs>
              <a:gs pos="50000">
                <a:srgbClr val="1A9B46">
                  <a:tint val="44500"/>
                  <a:satMod val="160000"/>
                </a:srgbClr>
              </a:gs>
              <a:gs pos="100000">
                <a:srgbClr val="1A9B46">
                  <a:tint val="23500"/>
                  <a:satMod val="160000"/>
                </a:srgb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600" b="1" i="0" u="none" strike="noStrike" cap="none" dirty="0">
                <a:solidFill>
                  <a:srgbClr val="08127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[</a:t>
            </a:r>
            <a:r>
              <a:rPr lang="en-IN" sz="1600" b="1" dirty="0">
                <a:solidFill>
                  <a:srgbClr val="08127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Mid Project Review]</a:t>
            </a:r>
            <a:r>
              <a:rPr lang="en-IN" sz="1600" b="1" i="0" u="none" strike="noStrike" cap="none" dirty="0">
                <a:solidFill>
                  <a:srgbClr val="08127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     </a:t>
            </a:r>
            <a:endParaRPr sz="1600" b="1" i="0" u="none" strike="noStrike" cap="none" dirty="0">
              <a:solidFill>
                <a:srgbClr val="081271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  <a:sym typeface="Times New Roman" panose="02020603050405020304"/>
            </a:endParaRPr>
          </a:p>
        </p:txBody>
      </p:sp>
      <p:cxnSp>
        <p:nvCxnSpPr>
          <p:cNvPr id="16" name="Straight Connector 15"/>
          <p:cNvCxnSpPr/>
          <p:nvPr/>
        </p:nvCxnSpPr>
        <p:spPr>
          <a:xfrm>
            <a:off x="0" y="1260899"/>
            <a:ext cx="12192000" cy="0"/>
          </a:xfrm>
          <a:prstGeom prst="line">
            <a:avLst/>
          </a:prstGeom>
          <a:ln w="28575">
            <a:solidFill>
              <a:srgbClr val="1A9B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198" y="171711"/>
            <a:ext cx="10515600" cy="1325563"/>
          </a:xfrm>
        </p:spPr>
        <p:txBody>
          <a:bodyPr/>
          <a:lstStyle/>
          <a:p>
            <a:r>
              <a:rPr lang="en-IN" dirty="0">
                <a:solidFill>
                  <a:schemeClr val="accent1">
                    <a:lumMod val="50000"/>
                  </a:schemeClr>
                </a:solidFill>
              </a:rPr>
              <a:t>Completion plan for the next phase</a:t>
            </a:r>
            <a:endParaRPr lang="en-IN" dirty="0">
              <a:solidFill>
                <a:schemeClr val="accent1">
                  <a:lumMod val="50000"/>
                </a:schemeClr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198" y="1594415"/>
            <a:ext cx="10515600" cy="560000"/>
          </a:xfrm>
        </p:spPr>
        <p:txBody>
          <a:bodyPr>
            <a:normAutofit/>
          </a:bodyPr>
          <a:lstStyle/>
          <a:p>
            <a:pPr lvl="0">
              <a:lnSpc>
                <a:spcPct val="100000"/>
              </a:lnSpc>
              <a:spcBef>
                <a:spcPts val="600"/>
              </a:spcBef>
              <a:buNone/>
            </a:pPr>
            <a:r>
              <a:rPr lang="en-IN" sz="1400" b="0" dirty="0"/>
              <a:t>Engineering is complete; the remaining phases deliver the explainability contribution and the report.</a:t>
            </a:r>
            <a:endParaRPr lang="en-IN" sz="1400" b="0" dirty="0"/>
          </a:p>
        </p:txBody>
      </p:sp>
      <p:sp>
        <p:nvSpPr>
          <p:cNvPr id="19" name="Slide Number Placeholder 1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216105-7B7A-4C42-B2A1-5E9A2FA4F8FD}" type="slidenum">
              <a:rPr lang="en-IN" smtClean="0"/>
            </a:fld>
            <a:endParaRPr lang="en-IN" dirty="0"/>
          </a:p>
        </p:txBody>
      </p:sp>
      <p:graphicFrame>
        <p:nvGraphicFramePr>
          <p:cNvPr id="45" name="Table 45"/>
          <p:cNvGraphicFramePr>
            <a:graphicFrameLocks noGrp="1"/>
          </p:cNvGraphicFramePr>
          <p:nvPr/>
        </p:nvGraphicFramePr>
        <p:xfrm>
          <a:off x="838198" y="2200000"/>
          <a:ext cx="10200000" cy="364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00000"/>
                <a:gridCol w="3600000"/>
                <a:gridCol w="3900000"/>
                <a:gridCol w="1800000"/>
              </a:tblGrid>
              <a:tr h="520000">
                <a:tc>
                  <a:txBody>
                    <a:bodyPr/>
                    <a:lstStyle/>
                    <a:p>
                      <a:pPr algn="l"/>
                      <a:r>
                        <a:rPr lang="en-IN" sz="1150" b="1" dirty="0">
                          <a:solidFill>
                            <a:srgbClr val="FFFFFF"/>
                          </a:solidFill>
                        </a:rPr>
                        <a:t>Phase</a:t>
                      </a:r>
                      <a:endParaRPr lang="en-IN" sz="1150" b="1" dirty="0">
                        <a:solidFill>
                          <a:srgbClr val="FFFFFF"/>
                        </a:solidFill>
                      </a:endParaRPr>
                    </a:p>
                  </a:txBody>
                  <a:tcPr marL="68580" marR="68580" marT="34290" marB="34290" anchor="ctr">
                    <a:solidFill>
                      <a:srgbClr val="1A9B4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1150" b="1" dirty="0">
                          <a:solidFill>
                            <a:srgbClr val="FFFFFF"/>
                          </a:solidFill>
                        </a:rPr>
                        <a:t>Work item</a:t>
                      </a:r>
                      <a:endParaRPr lang="en-IN" sz="1150" b="1" dirty="0">
                        <a:solidFill>
                          <a:srgbClr val="FFFFFF"/>
                        </a:solidFill>
                      </a:endParaRPr>
                    </a:p>
                  </a:txBody>
                  <a:tcPr marL="68580" marR="68580" marT="34290" marB="34290" anchor="ctr">
                    <a:solidFill>
                      <a:srgbClr val="1A9B4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1150" b="1" dirty="0">
                          <a:solidFill>
                            <a:srgbClr val="FFFFFF"/>
                          </a:solidFill>
                        </a:rPr>
                        <a:t>Deliverable</a:t>
                      </a:r>
                      <a:endParaRPr lang="en-IN" sz="1150" b="1" dirty="0">
                        <a:solidFill>
                          <a:srgbClr val="FFFFFF"/>
                        </a:solidFill>
                      </a:endParaRPr>
                    </a:p>
                  </a:txBody>
                  <a:tcPr marL="68580" marR="68580" marT="34290" marB="34290" anchor="ctr">
                    <a:solidFill>
                      <a:srgbClr val="1A9B4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1150" b="1" dirty="0">
                          <a:solidFill>
                            <a:srgbClr val="FFFFFF"/>
                          </a:solidFill>
                        </a:rPr>
                        <a:t>Status</a:t>
                      </a:r>
                      <a:endParaRPr lang="en-IN" sz="1150" b="1" dirty="0">
                        <a:solidFill>
                          <a:srgbClr val="FFFFFF"/>
                        </a:solidFill>
                      </a:endParaRPr>
                    </a:p>
                  </a:txBody>
                  <a:tcPr marL="68580" marR="68580" marT="34290" marB="34290" anchor="ctr">
                    <a:solidFill>
                      <a:srgbClr val="1A9B46"/>
                    </a:solidFill>
                  </a:tcPr>
                </a:tc>
              </a:tr>
              <a:tr h="520000">
                <a:tc>
                  <a:txBody>
                    <a:bodyPr/>
                    <a:lstStyle/>
                    <a:p>
                      <a:pPr algn="l"/>
                      <a:r>
                        <a:rPr lang="en-IN" sz="1150" b="0" dirty="0">
                          <a:solidFill>
                            <a:srgbClr val="202020"/>
                          </a:solidFill>
                        </a:rPr>
                        <a:t>5</a:t>
                      </a:r>
                      <a:endParaRPr lang="en-IN" sz="1150" b="0" dirty="0">
                        <a:solidFill>
                          <a:srgbClr val="202020"/>
                        </a:solidFill>
                      </a:endParaRPr>
                    </a:p>
                  </a:txBody>
                  <a:tcPr marL="68580" marR="68580" marT="34290" marB="34290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1150" b="0" dirty="0">
                          <a:solidFill>
                            <a:srgbClr val="202020"/>
                          </a:solidFill>
                        </a:rPr>
                        <a:t>Finalise held-out evaluation and hyperparameter sweep</a:t>
                      </a:r>
                      <a:endParaRPr lang="en-IN" sz="1150" b="0" dirty="0">
                        <a:solidFill>
                          <a:srgbClr val="202020"/>
                        </a:solidFill>
                      </a:endParaRPr>
                    </a:p>
                  </a:txBody>
                  <a:tcPr marL="68580" marR="68580" marT="34290" marB="34290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1150" b="0" dirty="0">
                          <a:solidFill>
                            <a:srgbClr val="202020"/>
                          </a:solidFill>
                        </a:rPr>
                        <a:t>Final RL vs classical comparison table</a:t>
                      </a:r>
                      <a:endParaRPr lang="en-IN" sz="1150" b="0" dirty="0">
                        <a:solidFill>
                          <a:srgbClr val="202020"/>
                        </a:solidFill>
                      </a:endParaRPr>
                    </a:p>
                  </a:txBody>
                  <a:tcPr marL="68580" marR="68580" marT="34290" marB="34290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1150" b="0" dirty="0">
                          <a:solidFill>
                            <a:srgbClr val="202020"/>
                          </a:solidFill>
                        </a:rPr>
                        <a:t>In progress</a:t>
                      </a:r>
                      <a:endParaRPr lang="en-IN" sz="1150" b="0" dirty="0">
                        <a:solidFill>
                          <a:srgbClr val="202020"/>
                        </a:solidFill>
                      </a:endParaRPr>
                    </a:p>
                  </a:txBody>
                  <a:tcPr marL="68580" marR="68580" marT="34290" marB="34290" anchor="ctr"/>
                </a:tc>
              </a:tr>
              <a:tr h="520000">
                <a:tc>
                  <a:txBody>
                    <a:bodyPr/>
                    <a:lstStyle/>
                    <a:p>
                      <a:pPr algn="l"/>
                      <a:r>
                        <a:rPr lang="en-IN" sz="1150" b="0" dirty="0">
                          <a:solidFill>
                            <a:srgbClr val="202020"/>
                          </a:solidFill>
                        </a:rPr>
                        <a:t>6</a:t>
                      </a:r>
                      <a:endParaRPr lang="en-IN" sz="1150" b="0" dirty="0">
                        <a:solidFill>
                          <a:srgbClr val="202020"/>
                        </a:solidFill>
                      </a:endParaRPr>
                    </a:p>
                  </a:txBody>
                  <a:tcPr marL="68580" marR="68580" marT="34290" marB="34290" anchor="ctr">
                    <a:solidFill>
                      <a:srgbClr val="F2F7F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1150" b="0" dirty="0">
                          <a:solidFill>
                            <a:srgbClr val="202020"/>
                          </a:solidFill>
                        </a:rPr>
                        <a:t>LLM explanation module via OpenRouter</a:t>
                      </a:r>
                      <a:endParaRPr lang="en-IN" sz="1150" b="0" dirty="0">
                        <a:solidFill>
                          <a:srgbClr val="202020"/>
                        </a:solidFill>
                      </a:endParaRPr>
                    </a:p>
                  </a:txBody>
                  <a:tcPr marL="68580" marR="68580" marT="34290" marB="34290" anchor="ctr">
                    <a:solidFill>
                      <a:srgbClr val="F2F7F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1150" b="0" dirty="0">
                          <a:solidFill>
                            <a:srgbClr val="202020"/>
                          </a:solidFill>
                        </a:rPr>
                        <a:t>Plain-English reason for every order decision</a:t>
                      </a:r>
                      <a:endParaRPr lang="en-IN" sz="1150" b="0" dirty="0">
                        <a:solidFill>
                          <a:srgbClr val="202020"/>
                        </a:solidFill>
                      </a:endParaRPr>
                    </a:p>
                  </a:txBody>
                  <a:tcPr marL="68580" marR="68580" marT="34290" marB="34290" anchor="ctr">
                    <a:solidFill>
                      <a:srgbClr val="F2F7F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1150" b="0" dirty="0">
                          <a:solidFill>
                            <a:srgbClr val="202020"/>
                          </a:solidFill>
                        </a:rPr>
                        <a:t>Next</a:t>
                      </a:r>
                      <a:endParaRPr lang="en-IN" sz="1150" b="0" dirty="0">
                        <a:solidFill>
                          <a:srgbClr val="202020"/>
                        </a:solidFill>
                      </a:endParaRPr>
                    </a:p>
                  </a:txBody>
                  <a:tcPr marL="68580" marR="68580" marT="34290" marB="34290" anchor="ctr">
                    <a:solidFill>
                      <a:srgbClr val="F2F7F3"/>
                    </a:solidFill>
                  </a:tcPr>
                </a:tc>
              </a:tr>
              <a:tr h="520000">
                <a:tc>
                  <a:txBody>
                    <a:bodyPr/>
                    <a:lstStyle/>
                    <a:p>
                      <a:pPr algn="l"/>
                      <a:r>
                        <a:rPr lang="en-IN" sz="1150" b="0" dirty="0">
                          <a:solidFill>
                            <a:srgbClr val="202020"/>
                          </a:solidFill>
                        </a:rPr>
                        <a:t>7</a:t>
                      </a:r>
                      <a:endParaRPr lang="en-IN" sz="1150" b="0" dirty="0">
                        <a:solidFill>
                          <a:srgbClr val="202020"/>
                        </a:solidFill>
                      </a:endParaRPr>
                    </a:p>
                  </a:txBody>
                  <a:tcPr marL="68580" marR="68580" marT="34290" marB="34290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1150" b="0" dirty="0">
                          <a:solidFill>
                            <a:srgbClr val="202020"/>
                          </a:solidFill>
                        </a:rPr>
                        <a:t>LLM scenario generator</a:t>
                      </a:r>
                      <a:endParaRPr lang="en-IN" sz="1150" b="0" dirty="0">
                        <a:solidFill>
                          <a:srgbClr val="202020"/>
                        </a:solidFill>
                      </a:endParaRPr>
                    </a:p>
                  </a:txBody>
                  <a:tcPr marL="68580" marR="68580" marT="34290" marB="34290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1150" b="0" dirty="0">
                          <a:solidFill>
                            <a:srgbClr val="202020"/>
                          </a:solidFill>
                        </a:rPr>
                        <a:t>Demand-spike and supplier-failure stress tests</a:t>
                      </a:r>
                      <a:endParaRPr lang="en-IN" sz="1150" b="0" dirty="0">
                        <a:solidFill>
                          <a:srgbClr val="202020"/>
                        </a:solidFill>
                      </a:endParaRPr>
                    </a:p>
                  </a:txBody>
                  <a:tcPr marL="68580" marR="68580" marT="34290" marB="34290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1150" b="0" dirty="0">
                          <a:solidFill>
                            <a:srgbClr val="202020"/>
                          </a:solidFill>
                        </a:rPr>
                        <a:t>Planned</a:t>
                      </a:r>
                      <a:endParaRPr lang="en-IN" sz="1150" b="0" dirty="0">
                        <a:solidFill>
                          <a:srgbClr val="202020"/>
                        </a:solidFill>
                      </a:endParaRPr>
                    </a:p>
                  </a:txBody>
                  <a:tcPr marL="68580" marR="68580" marT="34290" marB="34290" anchor="ctr"/>
                </a:tc>
              </a:tr>
              <a:tr h="520000">
                <a:tc>
                  <a:txBody>
                    <a:bodyPr/>
                    <a:lstStyle/>
                    <a:p>
                      <a:pPr algn="l"/>
                      <a:r>
                        <a:rPr lang="en-IN" sz="1150" b="0" dirty="0">
                          <a:solidFill>
                            <a:srgbClr val="202020"/>
                          </a:solidFill>
                        </a:rPr>
                        <a:t>8</a:t>
                      </a:r>
                      <a:endParaRPr lang="en-IN" sz="1150" b="0" dirty="0">
                        <a:solidFill>
                          <a:srgbClr val="202020"/>
                        </a:solidFill>
                      </a:endParaRPr>
                    </a:p>
                  </a:txBody>
                  <a:tcPr marL="68580" marR="68580" marT="34290" marB="34290" anchor="ctr">
                    <a:solidFill>
                      <a:srgbClr val="F2F7F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1150" b="0" dirty="0">
                          <a:solidFill>
                            <a:srgbClr val="202020"/>
                          </a:solidFill>
                        </a:rPr>
                        <a:t>Streamlit decision-support dashboard</a:t>
                      </a:r>
                      <a:endParaRPr lang="en-IN" sz="1150" b="0" dirty="0">
                        <a:solidFill>
                          <a:srgbClr val="202020"/>
                        </a:solidFill>
                      </a:endParaRPr>
                    </a:p>
                  </a:txBody>
                  <a:tcPr marL="68580" marR="68580" marT="34290" marB="34290" anchor="ctr">
                    <a:solidFill>
                      <a:srgbClr val="F2F7F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1150" b="0" dirty="0">
                          <a:solidFill>
                            <a:srgbClr val="202020"/>
                          </a:solidFill>
                        </a:rPr>
                        <a:t>Interactive interface for a manager</a:t>
                      </a:r>
                      <a:endParaRPr lang="en-IN" sz="1150" b="0" dirty="0">
                        <a:solidFill>
                          <a:srgbClr val="202020"/>
                        </a:solidFill>
                      </a:endParaRPr>
                    </a:p>
                  </a:txBody>
                  <a:tcPr marL="68580" marR="68580" marT="34290" marB="34290" anchor="ctr">
                    <a:solidFill>
                      <a:srgbClr val="F2F7F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1150" b="0" dirty="0">
                          <a:solidFill>
                            <a:srgbClr val="202020"/>
                          </a:solidFill>
                        </a:rPr>
                        <a:t>Planned</a:t>
                      </a:r>
                      <a:endParaRPr lang="en-IN" sz="1150" b="0" dirty="0">
                        <a:solidFill>
                          <a:srgbClr val="202020"/>
                        </a:solidFill>
                      </a:endParaRPr>
                    </a:p>
                  </a:txBody>
                  <a:tcPr marL="68580" marR="68580" marT="34290" marB="34290" anchor="ctr">
                    <a:solidFill>
                      <a:srgbClr val="F2F7F3"/>
                    </a:solidFill>
                  </a:tcPr>
                </a:tc>
              </a:tr>
              <a:tr h="520000">
                <a:tc>
                  <a:txBody>
                    <a:bodyPr/>
                    <a:lstStyle/>
                    <a:p>
                      <a:pPr algn="l"/>
                      <a:r>
                        <a:rPr lang="en-IN" sz="1150" b="0" dirty="0">
                          <a:solidFill>
                            <a:srgbClr val="202020"/>
                          </a:solidFill>
                        </a:rPr>
                        <a:t>9</a:t>
                      </a:r>
                      <a:endParaRPr lang="en-IN" sz="1150" b="0" dirty="0">
                        <a:solidFill>
                          <a:srgbClr val="202020"/>
                        </a:solidFill>
                      </a:endParaRPr>
                    </a:p>
                  </a:txBody>
                  <a:tcPr marL="68580" marR="68580" marT="34290" marB="34290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1150" b="0" dirty="0">
                          <a:solidFill>
                            <a:srgbClr val="202020"/>
                          </a:solidFill>
                        </a:rPr>
                        <a:t>LLM-guided curriculum training</a:t>
                      </a:r>
                      <a:endParaRPr lang="en-IN" sz="1150" b="0" dirty="0">
                        <a:solidFill>
                          <a:srgbClr val="202020"/>
                        </a:solidFill>
                      </a:endParaRPr>
                    </a:p>
                  </a:txBody>
                  <a:tcPr marL="68580" marR="68580" marT="34290" marB="34290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1150" b="0" dirty="0">
                          <a:solidFill>
                            <a:srgbClr val="202020"/>
                          </a:solidFill>
                        </a:rPr>
                        <a:t>Agent trained on generated hard scenarios</a:t>
                      </a:r>
                      <a:endParaRPr lang="en-IN" sz="1150" b="0" dirty="0">
                        <a:solidFill>
                          <a:srgbClr val="202020"/>
                        </a:solidFill>
                      </a:endParaRPr>
                    </a:p>
                  </a:txBody>
                  <a:tcPr marL="68580" marR="68580" marT="34290" marB="34290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1150" b="0" dirty="0">
                          <a:solidFill>
                            <a:srgbClr val="202020"/>
                          </a:solidFill>
                        </a:rPr>
                        <a:t>Planned</a:t>
                      </a:r>
                      <a:endParaRPr lang="en-IN" sz="1150" b="0" dirty="0">
                        <a:solidFill>
                          <a:srgbClr val="202020"/>
                        </a:solidFill>
                      </a:endParaRPr>
                    </a:p>
                  </a:txBody>
                  <a:tcPr marL="68580" marR="68580" marT="34290" marB="34290" anchor="ctr"/>
                </a:tc>
              </a:tr>
              <a:tr h="520000">
                <a:tc>
                  <a:txBody>
                    <a:bodyPr/>
                    <a:lstStyle/>
                    <a:p>
                      <a:pPr algn="l"/>
                      <a:r>
                        <a:rPr lang="en-IN" sz="1150" b="0" dirty="0">
                          <a:solidFill>
                            <a:srgbClr val="202020"/>
                          </a:solidFill>
                        </a:rPr>
                        <a:t>10</a:t>
                      </a:r>
                      <a:endParaRPr lang="en-IN" sz="1150" b="0" dirty="0">
                        <a:solidFill>
                          <a:srgbClr val="202020"/>
                        </a:solidFill>
                      </a:endParaRPr>
                    </a:p>
                  </a:txBody>
                  <a:tcPr marL="68580" marR="68580" marT="34290" marB="34290" anchor="ctr">
                    <a:solidFill>
                      <a:srgbClr val="F2F7F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1150" b="0" dirty="0">
                          <a:solidFill>
                            <a:srgbClr val="202020"/>
                          </a:solidFill>
                        </a:rPr>
                        <a:t>Final report and documentation</a:t>
                      </a:r>
                      <a:endParaRPr lang="en-IN" sz="1150" b="0" dirty="0">
                        <a:solidFill>
                          <a:srgbClr val="202020"/>
                        </a:solidFill>
                      </a:endParaRPr>
                    </a:p>
                  </a:txBody>
                  <a:tcPr marL="68580" marR="68580" marT="34290" marB="34290" anchor="ctr">
                    <a:solidFill>
                      <a:srgbClr val="F2F7F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1150" b="0" dirty="0">
                          <a:solidFill>
                            <a:srgbClr val="202020"/>
                          </a:solidFill>
                        </a:rPr>
                        <a:t>Written report, figures, reproducible code</a:t>
                      </a:r>
                      <a:endParaRPr lang="en-IN" sz="1150" b="0" dirty="0">
                        <a:solidFill>
                          <a:srgbClr val="202020"/>
                        </a:solidFill>
                      </a:endParaRPr>
                    </a:p>
                  </a:txBody>
                  <a:tcPr marL="68580" marR="68580" marT="34290" marB="34290" anchor="ctr">
                    <a:solidFill>
                      <a:srgbClr val="F2F7F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1150" b="0" dirty="0">
                          <a:solidFill>
                            <a:srgbClr val="202020"/>
                          </a:solidFill>
                        </a:rPr>
                        <a:t>Planned</a:t>
                      </a:r>
                      <a:endParaRPr lang="en-IN" sz="1150" b="0" dirty="0">
                        <a:solidFill>
                          <a:srgbClr val="202020"/>
                        </a:solidFill>
                      </a:endParaRPr>
                    </a:p>
                  </a:txBody>
                  <a:tcPr marL="68580" marR="68580" marT="34290" marB="34290" anchor="ctr">
                    <a:solidFill>
                      <a:srgbClr val="F2F7F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/>
          <p:cNvSpPr/>
          <p:nvPr/>
        </p:nvSpPr>
        <p:spPr>
          <a:xfrm>
            <a:off x="-1" y="0"/>
            <a:ext cx="12191998" cy="1262131"/>
          </a:xfrm>
          <a:prstGeom prst="rect">
            <a:avLst/>
          </a:prstGeom>
          <a:gradFill flip="none" rotWithShape="1">
            <a:gsLst>
              <a:gs pos="0">
                <a:srgbClr val="1A9B46">
                  <a:tint val="66000"/>
                  <a:satMod val="160000"/>
                </a:srgbClr>
              </a:gs>
              <a:gs pos="50000">
                <a:srgbClr val="1A9B46">
                  <a:tint val="44500"/>
                  <a:satMod val="160000"/>
                </a:srgbClr>
              </a:gs>
              <a:gs pos="100000">
                <a:srgbClr val="1A9B46">
                  <a:tint val="23500"/>
                  <a:satMod val="160000"/>
                </a:srgb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sz="4400" dirty="0">
              <a:solidFill>
                <a:schemeClr val="accent1">
                  <a:lumMod val="50000"/>
                </a:schemeClr>
              </a:solidFill>
            </a:endParaRPr>
          </a:p>
        </p:txBody>
      </p:sp>
      <p:sp>
        <p:nvSpPr>
          <p:cNvPr id="10" name="Google Shape;91;p1"/>
          <p:cNvSpPr txBox="1"/>
          <p:nvPr/>
        </p:nvSpPr>
        <p:spPr>
          <a:xfrm>
            <a:off x="-1" y="6416040"/>
            <a:ext cx="12191998" cy="441960"/>
          </a:xfrm>
          <a:prstGeom prst="rect">
            <a:avLst/>
          </a:prstGeom>
          <a:gradFill flip="none" rotWithShape="1">
            <a:gsLst>
              <a:gs pos="0">
                <a:srgbClr val="1A9B46">
                  <a:tint val="66000"/>
                  <a:satMod val="160000"/>
                </a:srgbClr>
              </a:gs>
              <a:gs pos="50000">
                <a:srgbClr val="1A9B46">
                  <a:tint val="44500"/>
                  <a:satMod val="160000"/>
                </a:srgbClr>
              </a:gs>
              <a:gs pos="100000">
                <a:srgbClr val="1A9B46">
                  <a:tint val="23500"/>
                  <a:satMod val="160000"/>
                </a:srgb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600" b="1" i="0" u="none" strike="noStrike" cap="none" dirty="0">
                <a:solidFill>
                  <a:srgbClr val="08127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[</a:t>
            </a:r>
            <a:r>
              <a:rPr lang="en-IN" sz="1600" b="1" dirty="0">
                <a:solidFill>
                  <a:srgbClr val="08127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Mid Project Review]</a:t>
            </a:r>
            <a:r>
              <a:rPr lang="en-IN" sz="1600" b="1" i="0" u="none" strike="noStrike" cap="none" dirty="0">
                <a:solidFill>
                  <a:srgbClr val="08127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     </a:t>
            </a:r>
            <a:endParaRPr sz="1600" b="1" i="0" u="none" strike="noStrike" cap="none" dirty="0">
              <a:solidFill>
                <a:srgbClr val="081271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  <a:sym typeface="Times New Roman" panose="02020603050405020304"/>
            </a:endParaRPr>
          </a:p>
        </p:txBody>
      </p:sp>
      <p:cxnSp>
        <p:nvCxnSpPr>
          <p:cNvPr id="16" name="Straight Connector 15"/>
          <p:cNvCxnSpPr/>
          <p:nvPr/>
        </p:nvCxnSpPr>
        <p:spPr>
          <a:xfrm>
            <a:off x="0" y="1260899"/>
            <a:ext cx="12192000" cy="0"/>
          </a:xfrm>
          <a:prstGeom prst="line">
            <a:avLst/>
          </a:prstGeom>
          <a:ln w="28575">
            <a:solidFill>
              <a:srgbClr val="1A9B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198" y="171711"/>
            <a:ext cx="10515600" cy="1325563"/>
          </a:xfrm>
        </p:spPr>
        <p:txBody>
          <a:bodyPr/>
          <a:lstStyle/>
          <a:p>
            <a:r>
              <a:rPr lang="en-IN" dirty="0">
                <a:solidFill>
                  <a:schemeClr val="accent1">
                    <a:lumMod val="50000"/>
                  </a:schemeClr>
                </a:solidFill>
              </a:rPr>
              <a:t>References</a:t>
            </a:r>
            <a:endParaRPr lang="en-IN" dirty="0">
              <a:solidFill>
                <a:schemeClr val="accent1">
                  <a:lumMod val="50000"/>
                </a:schemeClr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198" y="1594415"/>
            <a:ext cx="10515600" cy="4600000"/>
          </a:xfrm>
        </p:spPr>
        <p:txBody>
          <a:bodyPr>
            <a:normAutofit/>
          </a:bodyPr>
          <a:lstStyle/>
          <a:p>
            <a:pPr lvl="0">
              <a:lnSpc>
                <a:spcPct val="100000"/>
              </a:lnSpc>
              <a:spcBef>
                <a:spcPts val="600"/>
              </a:spcBef>
            </a:pPr>
            <a:r>
              <a:rPr lang="en-IN" sz="1250" b="0" dirty="0"/>
              <a:t>Schulman, J., Wolski, F., Dhariwal, P., Radford, A., Klimov, O. (2017). Proximal Policy Optimization Algorithms. arXiv:1707.06347.</a:t>
            </a:r>
            <a:endParaRPr lang="en-IN" sz="1250" b="0" dirty="0"/>
          </a:p>
          <a:p>
            <a:pPr lvl="0">
              <a:lnSpc>
                <a:spcPct val="100000"/>
              </a:lnSpc>
              <a:spcBef>
                <a:spcPts val="600"/>
              </a:spcBef>
            </a:pPr>
            <a:r>
              <a:rPr lang="en-IN" sz="1250" b="0" dirty="0"/>
              <a:t>Oroojlooyjadid, A., Nazari, M., Snyder, L. V., Takac, M. (2022). A Deep Q-Network for the Beer Game. Manufacturing &amp; Service Operations Management.</a:t>
            </a:r>
            <a:endParaRPr lang="en-IN" sz="1250" b="0" dirty="0"/>
          </a:p>
          <a:p>
            <a:pPr lvl="0">
              <a:lnSpc>
                <a:spcPct val="100000"/>
              </a:lnSpc>
              <a:spcBef>
                <a:spcPts val="600"/>
              </a:spcBef>
            </a:pPr>
            <a:r>
              <a:rPr lang="en-IN" sz="1250" b="0" dirty="0"/>
              <a:t>Gijsbrechts, J., Boute, R. N., Van Mieghem, J. A., Zhang, D. (2022). Can Deep Reinforcement Learning Improve Inventory Management? Manufacturing &amp; Service Operations Management.</a:t>
            </a:r>
            <a:endParaRPr lang="en-IN" sz="1250" b="0" dirty="0"/>
          </a:p>
          <a:p>
            <a:pPr lvl="0">
              <a:lnSpc>
                <a:spcPct val="100000"/>
              </a:lnSpc>
              <a:spcBef>
                <a:spcPts val="600"/>
              </a:spcBef>
            </a:pPr>
            <a:r>
              <a:rPr lang="en-IN" sz="1250" b="0" dirty="0"/>
              <a:t>Boute, R. N., Gijsbrechts, J., van Jaarsveld, W., Vanvuchelen, N. (2022). Deep Reinforcement Learning for Inventory Control: A Roadmap. European Journal of Operational Research.</a:t>
            </a:r>
            <a:endParaRPr lang="en-IN" sz="1250" b="0" dirty="0"/>
          </a:p>
          <a:p>
            <a:pPr lvl="0">
              <a:lnSpc>
                <a:spcPct val="100000"/>
              </a:lnSpc>
              <a:spcBef>
                <a:spcPts val="600"/>
              </a:spcBef>
            </a:pPr>
            <a:r>
              <a:rPr lang="en-IN" sz="1250" b="0" dirty="0"/>
              <a:t>Huang, S., Ontanon, S. (2022). A Closer Look at Invalid Action Masking in Policy Gradient Algorithms. FLAIRS-35.</a:t>
            </a:r>
            <a:endParaRPr lang="en-IN" sz="1250" b="0" dirty="0"/>
          </a:p>
          <a:p>
            <a:pPr lvl="0">
              <a:lnSpc>
                <a:spcPct val="100000"/>
              </a:lnSpc>
              <a:spcBef>
                <a:spcPts val="600"/>
              </a:spcBef>
            </a:pPr>
            <a:r>
              <a:rPr lang="en-IN" sz="1250" b="0" dirty="0"/>
              <a:t>Chen, D., Sain, S. L., Guo, K. (2012). Data mining for the online retail industry. Journal of Database Marketing &amp; Customer Strategy Management.</a:t>
            </a:r>
            <a:endParaRPr lang="en-IN" sz="1250" b="0" dirty="0"/>
          </a:p>
          <a:p>
            <a:pPr lvl="0">
              <a:lnSpc>
                <a:spcPct val="100000"/>
              </a:lnSpc>
              <a:spcBef>
                <a:spcPts val="600"/>
              </a:spcBef>
            </a:pPr>
            <a:r>
              <a:rPr lang="en-IN" sz="1250" b="0" dirty="0"/>
              <a:t>Dua, D., Graff, C. Online Retail II Data Set. UCI Machine Learning Repository. https://archive.ics.uci.edu/dataset/502</a:t>
            </a:r>
            <a:endParaRPr lang="en-IN" sz="1250" b="0" dirty="0"/>
          </a:p>
          <a:p>
            <a:pPr lvl="0">
              <a:lnSpc>
                <a:spcPct val="100000"/>
              </a:lnSpc>
              <a:spcBef>
                <a:spcPts val="600"/>
              </a:spcBef>
            </a:pPr>
            <a:r>
              <a:rPr lang="en-IN" sz="1250" b="0" dirty="0"/>
              <a:t>Raffin, A. et al. (2021). Stable-Baselines3: Reliable Reinforcement Learning Implementations. Journal of Machine Learning Research 22(268).</a:t>
            </a:r>
            <a:endParaRPr lang="en-IN" sz="1250" b="0" dirty="0"/>
          </a:p>
        </p:txBody>
      </p:sp>
      <p:sp>
        <p:nvSpPr>
          <p:cNvPr id="19" name="Slide Number Placeholder 1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216105-7B7A-4C42-B2A1-5E9A2FA4F8FD}" type="slidenum">
              <a:rPr lang="en-IN" smtClean="0"/>
            </a:fld>
            <a:endParaRPr lang="en-IN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/>
          <p:cNvSpPr/>
          <p:nvPr/>
        </p:nvSpPr>
        <p:spPr>
          <a:xfrm>
            <a:off x="-1" y="0"/>
            <a:ext cx="12191998" cy="1262131"/>
          </a:xfrm>
          <a:prstGeom prst="rect">
            <a:avLst/>
          </a:prstGeom>
          <a:gradFill flip="none" rotWithShape="1">
            <a:gsLst>
              <a:gs pos="0">
                <a:srgbClr val="1A9B46">
                  <a:tint val="66000"/>
                  <a:satMod val="160000"/>
                </a:srgbClr>
              </a:gs>
              <a:gs pos="50000">
                <a:srgbClr val="1A9B46">
                  <a:tint val="44500"/>
                  <a:satMod val="160000"/>
                </a:srgbClr>
              </a:gs>
              <a:gs pos="100000">
                <a:srgbClr val="1A9B46">
                  <a:tint val="23500"/>
                  <a:satMod val="160000"/>
                </a:srgb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sz="4400" dirty="0">
              <a:solidFill>
                <a:schemeClr val="accent1">
                  <a:lumMod val="50000"/>
                </a:schemeClr>
              </a:solidFill>
            </a:endParaRPr>
          </a:p>
        </p:txBody>
      </p:sp>
      <p:sp>
        <p:nvSpPr>
          <p:cNvPr id="10" name="Google Shape;91;p1"/>
          <p:cNvSpPr txBox="1"/>
          <p:nvPr/>
        </p:nvSpPr>
        <p:spPr>
          <a:xfrm>
            <a:off x="-1" y="6416040"/>
            <a:ext cx="12191998" cy="441960"/>
          </a:xfrm>
          <a:prstGeom prst="rect">
            <a:avLst/>
          </a:prstGeom>
          <a:gradFill flip="none" rotWithShape="1">
            <a:gsLst>
              <a:gs pos="0">
                <a:srgbClr val="1A9B46">
                  <a:tint val="66000"/>
                  <a:satMod val="160000"/>
                </a:srgbClr>
              </a:gs>
              <a:gs pos="50000">
                <a:srgbClr val="1A9B46">
                  <a:tint val="44500"/>
                  <a:satMod val="160000"/>
                </a:srgbClr>
              </a:gs>
              <a:gs pos="100000">
                <a:srgbClr val="1A9B46">
                  <a:tint val="23500"/>
                  <a:satMod val="160000"/>
                </a:srgb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600" b="1" i="0" u="none" strike="noStrike" cap="none" dirty="0">
                <a:solidFill>
                  <a:srgbClr val="08127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[</a:t>
            </a:r>
            <a:r>
              <a:rPr lang="en-IN" sz="1600" b="1" dirty="0">
                <a:solidFill>
                  <a:srgbClr val="08127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Mid Project Review]</a:t>
            </a:r>
            <a:r>
              <a:rPr lang="en-IN" sz="1600" b="1" i="0" u="none" strike="noStrike" cap="none" dirty="0">
                <a:solidFill>
                  <a:srgbClr val="08127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     </a:t>
            </a:r>
            <a:endParaRPr sz="1600" b="1" i="0" u="none" strike="noStrike" cap="none" dirty="0">
              <a:solidFill>
                <a:srgbClr val="081271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  <a:sym typeface="Times New Roman" panose="02020603050405020304"/>
            </a:endParaRPr>
          </a:p>
        </p:txBody>
      </p:sp>
      <p:cxnSp>
        <p:nvCxnSpPr>
          <p:cNvPr id="16" name="Straight Connector 15"/>
          <p:cNvCxnSpPr/>
          <p:nvPr/>
        </p:nvCxnSpPr>
        <p:spPr>
          <a:xfrm>
            <a:off x="0" y="1260899"/>
            <a:ext cx="12192000" cy="0"/>
          </a:xfrm>
          <a:prstGeom prst="line">
            <a:avLst/>
          </a:prstGeom>
          <a:ln w="28575">
            <a:solidFill>
              <a:srgbClr val="1A9B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198" y="1594415"/>
            <a:ext cx="10515600" cy="4351338"/>
          </a:xfrm>
        </p:spPr>
        <p:txBody>
          <a:bodyPr/>
          <a:lstStyle/>
          <a:p>
            <a:endParaRPr lang="en-IN" dirty="0"/>
          </a:p>
          <a:p>
            <a:endParaRPr lang="en-IN" dirty="0"/>
          </a:p>
          <a:p>
            <a:endParaRPr lang="en-IN" dirty="0"/>
          </a:p>
          <a:p>
            <a:pPr marL="3657600" lvl="8" indent="0">
              <a:buNone/>
            </a:pPr>
            <a:r>
              <a:rPr lang="en-IN" sz="5400" dirty="0"/>
              <a:t>Thank you</a:t>
            </a:r>
            <a:endParaRPr lang="en-IN" sz="5400" dirty="0"/>
          </a:p>
        </p:txBody>
      </p:sp>
      <p:sp>
        <p:nvSpPr>
          <p:cNvPr id="19" name="Slide Number Placeholder 1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216105-7B7A-4C42-B2A1-5E9A2FA4F8FD}" type="slidenum">
              <a:rPr lang="en-IN" smtClean="0"/>
            </a:fld>
            <a:endParaRPr lang="en-IN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12766</Words>
  <Application>WPS Presentation</Application>
  <PresentationFormat>Widescreen</PresentationFormat>
  <Paragraphs>519</Paragraphs>
  <Slides>18</Slides>
  <Notes>15</Notes>
  <HiddenSlides>0</HiddenSlides>
  <MMClips>0</MMClips>
  <ScaleCrop>false</ScaleCrop>
  <HeadingPairs>
    <vt:vector size="6" baseType="variant">
      <vt:variant>
        <vt:lpstr>已用的字体</vt:lpstr>
      </vt:variant>
      <vt:variant>
        <vt:i4>12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18</vt:i4>
      </vt:variant>
    </vt:vector>
  </HeadingPairs>
  <TitlesOfParts>
    <vt:vector size="31" baseType="lpstr">
      <vt:lpstr>Arial</vt:lpstr>
      <vt:lpstr>SimSun</vt:lpstr>
      <vt:lpstr>Wingdings</vt:lpstr>
      <vt:lpstr>Times New Roman</vt:lpstr>
      <vt:lpstr>Times New Roman</vt:lpstr>
      <vt:lpstr>Calibri</vt:lpstr>
      <vt:lpstr>Microsoft YaHei</vt:lpstr>
      <vt:lpstr>Arial Unicode MS</vt:lpstr>
      <vt:lpstr>Calibri Light</vt:lpstr>
      <vt:lpstr>Aptos</vt:lpstr>
      <vt:lpstr>Segoe UI</vt:lpstr>
      <vt:lpstr>Calibri</vt:lpstr>
      <vt:lpstr>Office Theme</vt:lpstr>
      <vt:lpstr>PowerPoint 演示文稿</vt:lpstr>
      <vt:lpstr>Outline </vt:lpstr>
      <vt:lpstr>Introduction and Motivation </vt:lpstr>
      <vt:lpstr>Problem Definition </vt:lpstr>
      <vt:lpstr>Literature Review </vt:lpstr>
      <vt:lpstr>Gaps Identified </vt:lpstr>
      <vt:lpstr>Objectives </vt:lpstr>
      <vt:lpstr>Methodology </vt:lpstr>
      <vt:lpstr>System Architecture </vt:lpstr>
      <vt:lpstr>Dataset Description</vt:lpstr>
      <vt:lpstr>PowerPoint 演示文稿</vt:lpstr>
      <vt:lpstr> Preliminary Results and Discussion</vt:lpstr>
      <vt:lpstr> Preliminary Results and Discussion</vt:lpstr>
      <vt:lpstr> Preliminary Results and Discussion</vt:lpstr>
      <vt:lpstr>Interim Summary/Conclusion</vt:lpstr>
      <vt:lpstr>Completion plan for the next phase</vt:lpstr>
      <vt:lpstr>References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Admin</dc:creator>
  <cp:lastModifiedBy>WPS_1695456806</cp:lastModifiedBy>
  <cp:revision>50</cp:revision>
  <dcterms:created xsi:type="dcterms:W3CDTF">2023-07-03T07:55:00Z</dcterms:created>
  <dcterms:modified xsi:type="dcterms:W3CDTF">2026-08-19T18:01:41Z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C218FF7D027A41CCBDC50CBFDF7CE651_12</vt:lpwstr>
  </property>
  <property fmtid="{D5CDD505-2E9C-101B-9397-08002B2CF9AE}" pid="3" name="KSOProductBuildVer">
    <vt:lpwstr>1033-12.1.0.28032</vt:lpwstr>
  </property>
</Properties>
</file>