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2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41F"/>
          </a:solidFill>
          <a:ln/>
        </p:spPr>
      </p:sp>
      <p:sp>
        <p:nvSpPr>
          <p:cNvPr id="3" name="Shape 1"/>
          <p:cNvSpPr/>
          <p:nvPr/>
        </p:nvSpPr>
        <p:spPr>
          <a:xfrm>
            <a:off x="9235440" y="1554480"/>
            <a:ext cx="2148840" cy="868680"/>
          </a:xfrm>
          <a:prstGeom prst="rect">
            <a:avLst/>
          </a:prstGeom>
          <a:solidFill>
            <a:srgbClr val="1F332C"/>
          </a:solidFill>
          <a:ln w="9525">
            <a:solidFill>
              <a:srgbClr val="0E6B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2788920"/>
            <a:ext cx="2148840" cy="868680"/>
          </a:xfrm>
          <a:prstGeom prst="rect">
            <a:avLst/>
          </a:prstGeom>
          <a:solidFill>
            <a:srgbClr val="233A32"/>
          </a:solidFill>
          <a:ln w="9525">
            <a:solidFill>
              <a:srgbClr val="0E6B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4023360"/>
            <a:ext cx="2148840" cy="868680"/>
          </a:xfrm>
          <a:prstGeom prst="rect">
            <a:avLst/>
          </a:prstGeom>
          <a:solidFill>
            <a:srgbClr val="1F332C"/>
          </a:solidFill>
          <a:ln w="9525">
            <a:solidFill>
              <a:srgbClr val="0E6B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5257800"/>
            <a:ext cx="2148840" cy="868680"/>
          </a:xfrm>
          <a:prstGeom prst="rect">
            <a:avLst/>
          </a:prstGeom>
          <a:solidFill>
            <a:srgbClr val="233A32"/>
          </a:solidFill>
          <a:ln w="9525">
            <a:solidFill>
              <a:srgbClr val="0E6B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91472" y="1810512"/>
            <a:ext cx="502920" cy="365760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8" name="Shape 6"/>
          <p:cNvSpPr/>
          <p:nvPr/>
        </p:nvSpPr>
        <p:spPr>
          <a:xfrm>
            <a:off x="10149840" y="1920240"/>
            <a:ext cx="365760" cy="256032"/>
          </a:xfrm>
          <a:prstGeom prst="rect">
            <a:avLst/>
          </a:prstGeom>
          <a:solidFill>
            <a:srgbClr val="C6821F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0" y="3063240"/>
            <a:ext cx="384048" cy="320040"/>
          </a:xfrm>
          <a:prstGeom prst="rect">
            <a:avLst/>
          </a:prstGeom>
          <a:solidFill>
            <a:srgbClr val="C6821F"/>
          </a:solidFill>
          <a:ln/>
        </p:spPr>
      </p:sp>
      <p:sp>
        <p:nvSpPr>
          <p:cNvPr id="10" name="Shape 8"/>
          <p:cNvSpPr/>
          <p:nvPr/>
        </p:nvSpPr>
        <p:spPr>
          <a:xfrm>
            <a:off x="10195560" y="3108960"/>
            <a:ext cx="457200" cy="274320"/>
          </a:xfrm>
          <a:prstGeom prst="rect">
            <a:avLst/>
          </a:prstGeom>
          <a:solidFill>
            <a:srgbClr val="3D5B50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0" y="4343400"/>
            <a:ext cx="548640" cy="274320"/>
          </a:xfrm>
          <a:prstGeom prst="rect">
            <a:avLst/>
          </a:prstGeom>
          <a:solidFill>
            <a:srgbClr val="3D5B5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4297680"/>
            <a:ext cx="320040" cy="320040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5532120"/>
            <a:ext cx="502920" cy="292608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MID-SEMESTER PROJECT REVIEW  ·  AUGUST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" y="1874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SupplyAI-RL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9D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Supply Chain Optimization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reinforcement learning agent decides what to reorder and from which supplier; a large language model will explain those decisions and stress-test them.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434840"/>
            <a:ext cx="7589520" cy="1783080"/>
          </a:xfrm>
          <a:prstGeom prst="roundRect">
            <a:avLst>
              <a:gd name="adj" fmla="val 4103"/>
            </a:avLst>
          </a:prstGeom>
          <a:solidFill>
            <a:srgbClr val="1B2C2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SANTOSH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" y="4892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CB.SC.U4AIE23310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17720" y="46177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KOUSHIK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17720" y="48920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CB.SC.U4AIE23312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5330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DHARANI PRATHAP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5605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CB.SC.U4AIE23330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617720" y="53309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SRINITH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17720" y="560527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CB.SC.U4AIE23357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68680" y="5943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Group D-06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7720" y="59436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8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700784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60020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2487168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38658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4944" y="3273552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17296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4059936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395935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74573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" y="4846320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474573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" y="5632704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5623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98448" y="553212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1600200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64224" y="1700784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30" name="Text 28"/>
          <p:cNvSpPr/>
          <p:nvPr/>
        </p:nvSpPr>
        <p:spPr>
          <a:xfrm>
            <a:off x="6364224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967728" y="1600200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217920" y="2386584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4224" y="2487168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34" name="Text 32"/>
          <p:cNvSpPr/>
          <p:nvPr/>
        </p:nvSpPr>
        <p:spPr>
          <a:xfrm>
            <a:off x="6364224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967728" y="2386584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217920" y="3172968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4224" y="3273552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38" name="Text 36"/>
          <p:cNvSpPr/>
          <p:nvPr/>
        </p:nvSpPr>
        <p:spPr>
          <a:xfrm>
            <a:off x="6364224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967728" y="3172968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217920" y="3959352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64224" y="4059936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42" name="Text 40"/>
          <p:cNvSpPr/>
          <p:nvPr/>
        </p:nvSpPr>
        <p:spPr>
          <a:xfrm>
            <a:off x="6364224" y="4050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67728" y="3959352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next phases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217920" y="4745736"/>
            <a:ext cx="5349240" cy="658368"/>
          </a:xfrm>
          <a:prstGeom prst="roundRect">
            <a:avLst>
              <a:gd name="adj" fmla="val 833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64224" y="4846320"/>
            <a:ext cx="457200" cy="45720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46" name="Text 44"/>
          <p:cNvSpPr/>
          <p:nvPr/>
        </p:nvSpPr>
        <p:spPr>
          <a:xfrm>
            <a:off x="6364224" y="4837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6967728" y="4745736"/>
            <a:ext cx="4434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daily decision, made expensive by uncertainty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020824"/>
            <a:ext cx="91440" cy="9144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64792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retailer decides, every day, per product: how much to reorder and from which supplier.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3072384"/>
            <a:ext cx="91440" cy="9144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16352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too much — capital is frozen, storage is paid for, unsold stock is written off.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4123944"/>
            <a:ext cx="91440" cy="91440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867912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too little — the sale is lost for good; the customer buys elsewhere.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66560" y="1691640"/>
            <a:ext cx="4892040" cy="1920240"/>
          </a:xfrm>
          <a:prstGeom prst="roundRect">
            <a:avLst>
              <a:gd name="adj" fmla="val 3810"/>
            </a:avLst>
          </a:prstGeom>
          <a:solidFill>
            <a:srgbClr val="16241F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874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CLASSICAL RULES BREAK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95160" y="21945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6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216×</a:t>
            </a:r>
            <a:pPr indent="0" marL="0">
              <a:buNone/>
            </a:pPr>
            <a:r>
              <a:rPr lang="en-US" sz="1400" dirty="0">
                <a:solidFill>
                  <a:srgbClr val="D7E6E2"/>
                </a:solidFill>
              </a:rPr>
              <a:t>  the variance of daily demand, relative to its mean, in our data.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9516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Poisson assumption — variance equal to the mean — fails badly here. Classical rules also treat every product in isolation.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3794760"/>
            <a:ext cx="4892040" cy="2148840"/>
          </a:xfrm>
          <a:prstGeom prst="roundRect">
            <a:avLst>
              <a:gd name="adj" fmla="val 3404"/>
            </a:avLst>
          </a:prstGeom>
          <a:solidFill>
            <a:srgbClr val="E1EFEC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95160" y="4279392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can express what a formula cannot: a joint ordering-and-sourcing policy that adapts to season, volatility and supplier state.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50749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manager will not act on a number they cannot interpret — so we pair the agent with an LLM that states the reason for every order.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products, three suppliers, one shared warehouse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× 3 suppliers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64592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737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planning horizon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64592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737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shared warehouse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64592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FBF1E1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737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91540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per product, per day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6766560" cy="3063240"/>
          </a:xfrm>
          <a:prstGeom prst="roundRect">
            <a:avLst>
              <a:gd name="adj" fmla="val 209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2004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JOINT DECISION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56616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day, for every product: decide quantity AND supplier together — not two separate calls.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differ in unit cost, lead time (1–8 days), fill reliability (80–98%), MOQ and outage risk.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maximise total profit = revenue − purchase − holding − ordering fees − lost-sale penalty.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are coupled in time (today’s order is next week’s stock) and across products (shared capacity).</a:t>
            </a:r>
            <a:endParaRPr lang="en-US" sz="13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must also come with a business-readable justification.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43800" y="3017520"/>
            <a:ext cx="4114800" cy="3063240"/>
          </a:xfrm>
          <a:prstGeom prst="roundRect">
            <a:avLst>
              <a:gd name="adj" fmla="val 2388"/>
            </a:avLst>
          </a:prstGeom>
          <a:solidFill>
            <a:srgbClr val="16241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34747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68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77724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per product (7 quantities × 3 suppliers)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4709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1.7 × 10¹³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7772400" y="521208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 per day across all 10 products — enumeration is impossible.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 — three complete, two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9584" cy="1874520"/>
          </a:xfrm>
          <a:prstGeom prst="roundRect">
            <a:avLst>
              <a:gd name="adj" fmla="val 3902"/>
            </a:avLst>
          </a:prstGeom>
          <a:solidFill>
            <a:srgbClr val="E9F4EE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38912" cy="438912"/>
          </a:xfrm>
          <a:prstGeom prst="ellipse">
            <a:avLst/>
          </a:prstGeom>
          <a:solidFill>
            <a:srgbClr val="3A8A5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43784" y="19110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A8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68096" y="246888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supply chain simulator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68096" y="295351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from real retail transaction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4256" y="1691640"/>
            <a:ext cx="3529584" cy="1874520"/>
          </a:xfrm>
          <a:prstGeom prst="roundRect">
            <a:avLst>
              <a:gd name="adj" fmla="val 3902"/>
            </a:avLst>
          </a:prstGeom>
          <a:solidFill>
            <a:srgbClr val="E9F4EE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892808"/>
            <a:ext cx="438912" cy="438912"/>
          </a:xfrm>
          <a:prstGeom prst="ellipse">
            <a:avLst/>
          </a:prstGeom>
          <a:solidFill>
            <a:srgbClr val="3A8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19110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A8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53712" y="246888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RL agent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53712" y="295351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choose reorder quantity and supplier jointly.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19872" y="1691640"/>
            <a:ext cx="3529584" cy="1874520"/>
          </a:xfrm>
          <a:prstGeom prst="roundRect">
            <a:avLst>
              <a:gd name="adj" fmla="val 3902"/>
            </a:avLst>
          </a:prstGeom>
          <a:solidFill>
            <a:srgbClr val="E9F4EE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892808"/>
            <a:ext cx="438912" cy="438912"/>
          </a:xfrm>
          <a:prstGeom prst="ellipse">
            <a:avLst/>
          </a:prstGeom>
          <a:solidFill>
            <a:srgbClr val="3A8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883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415016" y="19110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A8A5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339328" y="246888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fairly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295351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properly tuned classical inventory policies.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3529584" cy="1874520"/>
          </a:xfrm>
          <a:prstGeom prst="roundRect">
            <a:avLst>
              <a:gd name="adj" fmla="val 3902"/>
            </a:avLst>
          </a:prstGeom>
          <a:solidFill>
            <a:srgbClr val="FBF1E1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995928"/>
            <a:ext cx="438912" cy="438912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986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843784" y="40142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682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68096" y="457200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decision explainer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68096" y="505663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reason for each order in business language.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34256" y="3794760"/>
            <a:ext cx="3529584" cy="1874520"/>
          </a:xfrm>
          <a:prstGeom prst="roundRect">
            <a:avLst>
              <a:gd name="adj" fmla="val 3902"/>
            </a:avLst>
          </a:prstGeom>
          <a:solidFill>
            <a:srgbClr val="FBF1E1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3995928"/>
            <a:ext cx="438912" cy="438912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30" name="Text 28"/>
          <p:cNvSpPr/>
          <p:nvPr/>
        </p:nvSpPr>
        <p:spPr>
          <a:xfrm>
            <a:off x="4535424" y="39867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29400" y="40142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6821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53712" y="457200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scenario generator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553712" y="5056632"/>
            <a:ext cx="30723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demand-spike and supplier-delay stress tests.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1, 2 and 3 are complete and evaluated. Objectives 4 and 5 are the immediate next phase.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papers that frame this project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384048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600200"/>
            <a:ext cx="310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600200"/>
            <a:ext cx="5120640" cy="384048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1600200"/>
            <a:ext cx="4974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&amp; Year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600200"/>
            <a:ext cx="2834640" cy="384048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9" name="Text 7"/>
          <p:cNvSpPr/>
          <p:nvPr/>
        </p:nvSpPr>
        <p:spPr>
          <a:xfrm>
            <a:off x="6199632" y="1600200"/>
            <a:ext cx="26883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961120" y="1600200"/>
            <a:ext cx="2926080" cy="384048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1" name="Text 9"/>
          <p:cNvSpPr/>
          <p:nvPr/>
        </p:nvSpPr>
        <p:spPr>
          <a:xfrm>
            <a:off x="9034272" y="160020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/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984248"/>
            <a:ext cx="457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020824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1984248"/>
            <a:ext cx="5120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2020824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Schulman et al., “Proximal Policy Optimization Algorithms,” arXiv:1707.06347, 2017.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984248"/>
            <a:ext cx="2834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2020824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Clipped surrogate policy gradient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1984248"/>
            <a:ext cx="2926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2020824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modern on-policy RL baseline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734056"/>
            <a:ext cx="45720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770632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05840" y="2734056"/>
            <a:ext cx="5120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8992" y="2770632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Oroojlooyjadid et al., “A Deep Q-Network for the Beer Game,” M&amp;SOM, 2022.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734056"/>
            <a:ext cx="2834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770632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on a serial beer-game chain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961120" y="2734056"/>
            <a:ext cx="292608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34272" y="2770632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product, no sourcing choice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457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520440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" y="3483864"/>
            <a:ext cx="5120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78992" y="3520440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Gijsbrechts et al., “Can Deep RL Improve Inventory Management?,” M&amp;SOM, 2022.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3483864"/>
            <a:ext cx="2834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3520440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A3C, lost-sales &amp; dual-sourcing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961120" y="3483864"/>
            <a:ext cx="2926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34272" y="3520440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Competitive, not clearly superior; no explanation layer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4233672"/>
            <a:ext cx="45720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270248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05840" y="4233672"/>
            <a:ext cx="5120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4270248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Boute et al., “Deep RL for Inventory Control: A Roadmap,” EJOR, 2022.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26480" y="4233672"/>
            <a:ext cx="2834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9632" y="4270248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and research roadmap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961120" y="4233672"/>
            <a:ext cx="292608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34272" y="4270248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fair benchmarking &amp; interpretability as open problems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48640" y="4983480"/>
            <a:ext cx="4572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5020056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05840" y="4983480"/>
            <a:ext cx="5120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8992" y="5020056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Huang and S. Ontanón, “A Closer Look at Invalid Action Masking in Policy Gradient Algorithms,” FLAIRS-35, 2022.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126480" y="4983480"/>
            <a:ext cx="2834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9632" y="5020056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inside policy gradients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961120" y="4983480"/>
            <a:ext cx="29260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34272" y="5020056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demonstrated on inventory or sourcing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48640" y="5733288"/>
            <a:ext cx="45720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5769864"/>
            <a:ext cx="31089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1005840" y="5733288"/>
            <a:ext cx="5120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78992" y="5769864"/>
            <a:ext cx="4974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 et al., “Large Language Models for Supply Chain Optimization,” arXiv:2307.03875, 2023.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126480" y="5733288"/>
            <a:ext cx="283464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9632" y="5769864"/>
            <a:ext cx="268833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narrates optimizer output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961120" y="5733288"/>
            <a:ext cx="2926080" cy="74980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034272" y="5769864"/>
            <a:ext cx="27797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a solver, not a learned RL policy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existing literature does not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92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E3B3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562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benchmarks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2199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compare against textbook-default heuristics, not properly tuned ones — inflating the reported gain.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73368" y="18928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E3B3B"/>
          </a:solidFill>
          <a:ln/>
        </p:spPr>
      </p:sp>
      <p:sp>
        <p:nvSpPr>
          <p:cNvPr id="11" name="Text 9"/>
          <p:cNvSpPr/>
          <p:nvPr/>
        </p:nvSpPr>
        <p:spPr>
          <a:xfrm>
            <a:off x="6373368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995160" y="185623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settings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222199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Single-product or serial chains dominate; joint quantity + supplier choice under shared capacity is rarely modelled.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584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E3B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5478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deferred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91363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policies output a number, not a reason, so they stay in simulation and never reach a decision-maker.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5349240" cy="1463040"/>
          </a:xfrm>
          <a:prstGeom prst="roundRect">
            <a:avLst>
              <a:gd name="adj" fmla="val 4375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3368" y="35844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E3B3B"/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95160" y="354787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Hand-built stress tests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3913632"/>
            <a:ext cx="4343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spikes and supplier failures are coded case by case — narrow coverage, hard to extend.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6241F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51663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i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work couples an RL inventory agent with an LLM that both explains its decisions AND generates the scenarios used to test it.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8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adds beyond the literature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C26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2002536"/>
            <a:ext cx="457200" cy="457200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explanation, not narration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68096" y="262432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 a reason. It receives facts the simulator already computed and is checked back against them before display — not asked to reason about a black box.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C26"/>
          </a:solidFill>
          <a:ln/>
        </p:spPr>
      </p:sp>
      <p:sp>
        <p:nvSpPr>
          <p:cNvPr id="10" name="Shape 8"/>
          <p:cNvSpPr/>
          <p:nvPr/>
        </p:nvSpPr>
        <p:spPr>
          <a:xfrm>
            <a:off x="6391656" y="2002536"/>
            <a:ext cx="457200" cy="457200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9933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LLM-generated, schema-validated stress tests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91656" y="262432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scenarios are strict JSON, clamped to safe ranges, executed by the same simulator — not hand-coded edge cases.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C26"/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" y="4151376"/>
            <a:ext cx="457200" cy="457200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scenarios feed back into training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68096" y="47731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crises become curriculum data for a second agent, then both are tested on unseen crises — closing the loop from explanation to improvement.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1B2C2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1656" y="4151376"/>
            <a:ext cx="457200" cy="457200"/>
          </a:xfrm>
          <a:prstGeom prst="ellipse">
            <a:avLst/>
          </a:prstGeom>
          <a:solidFill>
            <a:srgbClr val="C6821F"/>
          </a:solidFill>
          <a:ln/>
        </p:spPr>
      </p:sp>
      <p:sp>
        <p:nvSpPr>
          <p:cNvPr id="21" name="Text 19"/>
          <p:cNvSpPr/>
          <p:nvPr/>
        </p:nvSpPr>
        <p:spPr>
          <a:xfrm>
            <a:off x="6391656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4088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fairness-first benchmark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391656" y="4773168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7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 grid-search tuned, not left at textbook defaults; every policy meets identical seeds — so any RL claim means something.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transactions, honestly screened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0" y="1691640"/>
            <a:ext cx="5303520" cy="3894773"/>
          </a:xfrm>
          <a:prstGeom prst="roundRect">
            <a:avLst>
              <a:gd name="adj" fmla="val 1409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pic>
        <p:nvPicPr>
          <p:cNvPr id="5" name="Image 0" descr="D:\SEM-7\Reinforcement leaning\SupplyAI-RL Explainable Supply Chain Optimization\results\figures\04_demand_regi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828800"/>
            <a:ext cx="5029200" cy="33004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720840" y="5202365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demand regimes — a single fixed rule cannot serve all three well.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00584" cy="100584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61848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Online Retail II  </a:t>
            </a:r>
            <a:pPr indent="0" marL="0">
              <a:buNone/>
            </a:pPr>
            <a:r>
              <a:rPr lang="en-US" sz="12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~1,067,371 transaction lines, UK gift retailer, Dec 2009 – Dec 2011.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60320"/>
            <a:ext cx="100584" cy="100584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44144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reshaped  </a:t>
            </a:r>
            <a:pPr indent="0" marL="0">
              <a:buNone/>
            </a:pPr>
            <a:r>
              <a:rPr lang="en-US" sz="12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Cancellations, returns, negatives removed; Saturdays dropped (retailer never traded then).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383280"/>
            <a:ext cx="100584" cy="100584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326440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SKUs, 3 regimes  </a:t>
            </a:r>
            <a:pPr indent="0" marL="0">
              <a:buNone/>
            </a:pPr>
            <a:r>
              <a:rPr lang="en-US" sz="12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(CV 1.02–1.20) · moderate (1.29–1.65) · bursty (2.09–2.34).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206240"/>
            <a:ext cx="100584" cy="100584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408736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pre-split  </a:t>
            </a:r>
            <a:pPr indent="0" marL="0">
              <a:buNone/>
            </a:pPr>
            <a:r>
              <a:rPr lang="en-US" sz="12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Fitted only on data before 1 June 2011; later data held back for testing.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5029200"/>
            <a:ext cx="100584" cy="100584"/>
          </a:xfrm>
          <a:prstGeom prst="ellipse">
            <a:avLst/>
          </a:prstGeom>
          <a:solidFill>
            <a:srgbClr val="0E6B61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4910328"/>
            <a:ext cx="5623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model  </a:t>
            </a:r>
            <a:pPr indent="0" marL="0">
              <a:buNone/>
            </a:pPr>
            <a:r>
              <a:rPr lang="en-US" sz="12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Gamma-Poisson (negative binomial) — variance is ~216× the mean; Poisson cannot express this.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806440"/>
            <a:ext cx="5623560" cy="594360"/>
          </a:xfrm>
          <a:prstGeom prst="roundRect">
            <a:avLst>
              <a:gd name="adj" fmla="val 9231"/>
            </a:avLst>
          </a:prstGeom>
          <a:solidFill>
            <a:srgbClr val="FBEDED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5806440"/>
            <a:ext cx="5257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candidate (Kaggle retail inventory) was screened and rejected: no weekday or seasonal effect — synthetic noise.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real transactions to a masked RL decision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760710" y="1389888"/>
            <a:ext cx="8670275" cy="5074920"/>
          </a:xfrm>
          <a:prstGeom prst="roundRect">
            <a:avLst>
              <a:gd name="adj" fmla="val 901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  <a:effectLst>
            <a:outerShdw sx="100000" sy="100000" kx="0" ky="0" algn="bl" rotWithShape="0" blurRad="101600" dist="25400" dir="5400000">
              <a:srgbClr val="1B2A27">
                <a:alpha val="14000"/>
              </a:srgbClr>
            </a:outerShdw>
          </a:effectLst>
        </p:spPr>
      </p:sp>
      <p:pic>
        <p:nvPicPr>
          <p:cNvPr id="5" name="Image 0" descr="D:\SEM-7\Reinforcement leaning\SupplyAI-RL Explainable Supply Chain Optimization\reports\SupplyAI-RL_System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2150" y="1481328"/>
            <a:ext cx="8487395" cy="4892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policies, tuned fairly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classical policies were grid-search tuned on 12 separate seeds, then scored on 30 held-out seeds. Profit is per 180-day episode, GBP.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38328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931920" y="1920240"/>
            <a:ext cx="155448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8" name="Text 6"/>
          <p:cNvSpPr/>
          <p:nvPr/>
        </p:nvSpPr>
        <p:spPr>
          <a:xfrm>
            <a:off x="4023360" y="1920240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920240"/>
            <a:ext cx="141732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9202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903720" y="1920240"/>
            <a:ext cx="141732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2" name="Text 10"/>
          <p:cNvSpPr/>
          <p:nvPr/>
        </p:nvSpPr>
        <p:spPr>
          <a:xfrm>
            <a:off x="6995160" y="1920240"/>
            <a:ext cx="1234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169164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20240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Cost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012680" y="1920240"/>
            <a:ext cx="160020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104120" y="192024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Cost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340864"/>
            <a:ext cx="338328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4086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safety stock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31920" y="2340864"/>
            <a:ext cx="155448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34086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83,624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0" y="2340864"/>
            <a:ext cx="141732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34086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4,389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2340864"/>
            <a:ext cx="141732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234086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97.9%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321040" y="2340864"/>
            <a:ext cx="169164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234086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5,821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012680" y="2340864"/>
            <a:ext cx="1600200" cy="530352"/>
          </a:xfrm>
          <a:prstGeom prst="rect">
            <a:avLst/>
          </a:prstGeom>
          <a:solidFill>
            <a:srgbClr val="E1EFEC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04120" y="2340864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A4B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2,729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2871216"/>
            <a:ext cx="33832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71216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newsvendor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931920" y="2871216"/>
            <a:ext cx="15544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287121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82,049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0" y="2871216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2871216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4,222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03720" y="2871216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871216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98.0%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321040" y="2871216"/>
            <a:ext cx="169164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2871216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7,057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012680" y="2871216"/>
            <a:ext cx="160020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04120" y="2871216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3,275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48640" y="3401568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3401568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+ reorder point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931920" y="3401568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23360" y="340156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72,302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0" y="3401568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3401568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7,028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903720" y="3401568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3401568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96.8%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321040" y="3401568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0" y="340156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9,988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012680" y="3401568"/>
            <a:ext cx="1600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04120" y="34015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2,626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548640" y="3931920"/>
            <a:ext cx="33832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3931920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(s, S) policy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3931920" y="3931920"/>
            <a:ext cx="15544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023360" y="39319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70,365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5486400" y="3931920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77840" y="393192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6,782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903720" y="3931920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95160" y="3931920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94.9%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8321040" y="3931920"/>
            <a:ext cx="169164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12480" y="393192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15,677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10012680" y="3931920"/>
            <a:ext cx="160020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104120" y="393192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2,905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548640" y="4462272"/>
            <a:ext cx="33832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4462272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order (control)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3931920" y="4462272"/>
            <a:ext cx="1554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23360" y="446227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50,751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486400" y="4462272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77840" y="4462272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12,723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6903720" y="4462272"/>
            <a:ext cx="141732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95160" y="4462272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92.3%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8321040" y="4462272"/>
            <a:ext cx="16916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412480" y="44622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27,644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10012680" y="4462272"/>
            <a:ext cx="160020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104120" y="44622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3,334</a:t>
            </a: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548640" y="4992624"/>
            <a:ext cx="33832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0080" y="4992624"/>
            <a:ext cx="3200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(sanity check)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>
            <a:off x="3931920" y="4992624"/>
            <a:ext cx="155448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23360" y="49926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−34,144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5486400" y="4992624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77840" y="499262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12,971</a:t>
            </a:r>
            <a:endParaRPr lang="en-US" sz="1150" dirty="0"/>
          </a:p>
        </p:txBody>
      </p:sp>
      <p:sp>
        <p:nvSpPr>
          <p:cNvPr id="83" name="Shape 81"/>
          <p:cNvSpPr/>
          <p:nvPr/>
        </p:nvSpPr>
        <p:spPr>
          <a:xfrm>
            <a:off x="6903720" y="4992624"/>
            <a:ext cx="141732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95160" y="4992624"/>
            <a:ext cx="1234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94.2%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8321040" y="4992624"/>
            <a:ext cx="169164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412480" y="499262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19,900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10012680" y="4992624"/>
            <a:ext cx="1600200" cy="53035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04120" y="4992624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1B2A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14,869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F1E1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68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mattered.  </a:t>
            </a:r>
            <a:pPr indent="0" marL="0">
              <a:buNone/>
            </a:pPr>
            <a:r>
              <a:rPr lang="en-US" sz="12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Widening the search grid lifted the best policy from 66,395 to 84,920 during tuning. Beating an untuned baseline would have proved nothing.</a:t>
            </a:r>
            <a:endParaRPr lang="en-US" sz="1250" dirty="0"/>
          </a:p>
        </p:txBody>
      </p:sp>
      <p:sp>
        <p:nvSpPr>
          <p:cNvPr id="91" name="Text 8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RL agent, against the strongest baseline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30 held-out seeds, same action granularity, identical customers per seed — the difference is skill, not luck.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828800"/>
            <a:ext cx="490118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828800"/>
            <a:ext cx="182880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8" name="Text 6"/>
          <p:cNvSpPr/>
          <p:nvPr/>
        </p:nvSpPr>
        <p:spPr>
          <a:xfrm>
            <a:off x="5779008" y="182880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828800"/>
            <a:ext cx="173736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0" name="Text 8"/>
          <p:cNvSpPr/>
          <p:nvPr/>
        </p:nvSpPr>
        <p:spPr>
          <a:xfrm>
            <a:off x="7607808" y="1828800"/>
            <a:ext cx="151790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35440" y="1828800"/>
            <a:ext cx="1828800" cy="420624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2" name="Text 10"/>
          <p:cNvSpPr/>
          <p:nvPr/>
        </p:nvSpPr>
        <p:spPr>
          <a:xfrm>
            <a:off x="9345168" y="1828800"/>
            <a:ext cx="160934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Ordering Cost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49424"/>
            <a:ext cx="5120640" cy="566928"/>
          </a:xfrm>
          <a:prstGeom prst="rect">
            <a:avLst/>
          </a:prstGeom>
          <a:solidFill>
            <a:srgbClr val="E9F4EE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249424"/>
            <a:ext cx="4901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3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safety stock  (best classical)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0" y="2249424"/>
            <a:ext cx="1828800" cy="566928"/>
          </a:xfrm>
          <a:prstGeom prst="rect">
            <a:avLst/>
          </a:prstGeom>
          <a:solidFill>
            <a:srgbClr val="E9F4EE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79008" y="2249424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83,624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498080" y="2249424"/>
            <a:ext cx="1737360" cy="566928"/>
          </a:xfrm>
          <a:prstGeom prst="rect">
            <a:avLst/>
          </a:prstGeom>
          <a:solidFill>
            <a:srgbClr val="E9F4EE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07808" y="2249424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97.9%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235440" y="2249424"/>
            <a:ext cx="1828800" cy="566928"/>
          </a:xfrm>
          <a:prstGeom prst="rect">
            <a:avLst/>
          </a:prstGeom>
          <a:solidFill>
            <a:srgbClr val="E9F4EE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45168" y="2249424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A8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2,729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2816352"/>
            <a:ext cx="5120640" cy="566928"/>
          </a:xfrm>
          <a:prstGeom prst="rect">
            <a:avLst/>
          </a:prstGeom>
          <a:solidFill>
            <a:srgbClr val="FBEDED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816352"/>
            <a:ext cx="4901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MaskablePPO agent, 1M steps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0" y="2816352"/>
            <a:ext cx="1828800" cy="566928"/>
          </a:xfrm>
          <a:prstGeom prst="rect">
            <a:avLst/>
          </a:prstGeom>
          <a:solidFill>
            <a:srgbClr val="FBEDED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79008" y="2816352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71,227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498080" y="2816352"/>
            <a:ext cx="1737360" cy="566928"/>
          </a:xfrm>
          <a:prstGeom prst="rect">
            <a:avLst/>
          </a:prstGeom>
          <a:solidFill>
            <a:srgbClr val="FBEDED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07808" y="2816352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94.3%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235440" y="2816352"/>
            <a:ext cx="1828800" cy="566928"/>
          </a:xfrm>
          <a:prstGeom prst="rect">
            <a:avLst/>
          </a:prstGeom>
          <a:solidFill>
            <a:srgbClr val="FBEDED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45168" y="2816352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9E3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7,068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5120640" cy="56692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" y="3383280"/>
            <a:ext cx="490118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without action masking, 1M steps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0" y="3383280"/>
            <a:ext cx="1828800" cy="56692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79008" y="3383280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22,566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498080" y="3383280"/>
            <a:ext cx="1737360" cy="56692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07808" y="3383280"/>
            <a:ext cx="15179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94.8%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235440" y="3383280"/>
            <a:ext cx="1828800" cy="566928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45168" y="3383280"/>
            <a:ext cx="16093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5B6E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13,988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379476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6241F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3794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current finding.  </a:t>
            </a:r>
            <a:pPr indent="0" marL="0">
              <a:buNone/>
            </a:pPr>
            <a:r>
              <a:rPr lang="en-US" sz="1450" dirty="0">
                <a:solidFill>
                  <a:srgbClr val="D7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classical policy still beats the RL agent by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12,397 GBP</a:t>
            </a:r>
            <a:pPr indent="0" marL="0">
              <a:buNone/>
            </a:pPr>
            <a:r>
              <a:rPr lang="en-US" sz="1450" dirty="0">
                <a:solidFill>
                  <a:srgbClr val="D7E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episode (paired t = −9.22, n = 30, statistically significant).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48640" y="498348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~4,700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31520" y="5486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251960" y="498348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~4,300  (2.6× baseline fees)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434840" y="5486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955280" y="4983480"/>
            <a:ext cx="3474720" cy="914400"/>
          </a:xfrm>
          <a:prstGeom prst="roundRect">
            <a:avLst>
              <a:gd name="adj" fmla="val 7000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38160" y="5074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E3B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~2,900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8138160" y="5486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revenue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</a:t>
            </a:r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single largest lever so far — tripling agent profit (23,717 → 72,740). A hyperparameter sweep (8 configs, 6M steps) is testing whether the remaining gap can close.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evidence, in figures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532120" cy="2895456"/>
          </a:xfrm>
          <a:prstGeom prst="roundRect">
            <a:avLst>
              <a:gd name="adj" fmla="val 1579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pic>
        <p:nvPicPr>
          <p:cNvPr id="5" name="Image 0" descr="D:\SEM-7\Reinforcement leaning\SupplyAI-RL Explainable Supply Chain Optimization\results\figures\05_polic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0200"/>
            <a:ext cx="5349240" cy="27125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508760"/>
            <a:ext cx="5532120" cy="2766320"/>
          </a:xfrm>
          <a:prstGeom prst="roundRect">
            <a:avLst>
              <a:gd name="adj" fmla="val 1653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pic>
        <p:nvPicPr>
          <p:cNvPr id="7" name="Image 1" descr="D:\SEM-7\Reinforcement leaning\SupplyAI-RL Explainable Supply Chain Optimization\results\figures\06_training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00200"/>
            <a:ext cx="5349240" cy="2583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02920" y="4632816"/>
            <a:ext cx="5532120" cy="1051560"/>
          </a:xfrm>
          <a:prstGeom prst="roundRect">
            <a:avLst>
              <a:gd name="adj" fmla="val 5217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13232" y="463281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Left.  </a:t>
            </a:r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on the 30 held-out reporting seeds. The best classical policy leads; the spread across seeds is wide enough that only a paired test settles the difference.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72200" y="4632816"/>
            <a:ext cx="5532120" cy="1051560"/>
          </a:xfrm>
          <a:prstGeom prst="roundRect">
            <a:avLst>
              <a:gd name="adj" fmla="val 5217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382512" y="4632816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Right.  </a:t>
            </a:r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 on the training-eval seeds. Masking lifts the whole curve; both runs flatten below the classical reference — the unmasked run was still improving at 1M steps.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phases complete, evidence-based throughout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complete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3756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12648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evaluation seeds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554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1EFEC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627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4B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1,067,371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915400" y="212140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transactions calibrated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78892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788920"/>
            <a:ext cx="82296" cy="841248"/>
          </a:xfrm>
          <a:prstGeom prst="rect">
            <a:avLst/>
          </a:prstGeom>
          <a:solidFill>
            <a:srgbClr val="3A8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286207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verified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317296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Simulator, four tuned classical policies, RL training pipeline, held-out evaluation harness.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3749040"/>
            <a:ext cx="82296" cy="841248"/>
          </a:xfrm>
          <a:prstGeom prst="rect">
            <a:avLst/>
          </a:prstGeom>
          <a:solidFill>
            <a:srgbClr val="3A8A5F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382219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decision is evidence-based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413308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candidate dataset was screened and rejected for having no weekday or seasonal structure.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709160"/>
            <a:ext cx="82296" cy="841248"/>
          </a:xfrm>
          <a:prstGeom prst="rect">
            <a:avLst/>
          </a:prstGeom>
          <a:solidFill>
            <a:srgbClr val="3A8A5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478231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masking is the largest single lever so far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68680" y="509320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improvement in agent profit — the strongest result of the engineering phase.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11064240" cy="841248"/>
          </a:xfrm>
          <a:prstGeom prst="roundRect">
            <a:avLst>
              <a:gd name="adj" fmla="val 6522"/>
            </a:avLst>
          </a:prstGeom>
          <a:solidFill>
            <a:srgbClr val="F1F5F4"/>
          </a:solidFill>
          <a:ln w="12700">
            <a:solidFill>
              <a:srgbClr val="D8E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5669280"/>
            <a:ext cx="82296" cy="841248"/>
          </a:xfrm>
          <a:prstGeom prst="rect">
            <a:avLst/>
          </a:prstGeom>
          <a:solidFill>
            <a:srgbClr val="9E3B3B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74243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current finding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68680" y="6053328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classical policy still beats the RL agent by 12,397/episode; the difference is significant. Fair by construction: same environment, seeds, action set.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is done; explainability is next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22960" cy="402336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40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4663440" cy="402336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691640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3749040" cy="402336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6916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784080" y="1691640"/>
            <a:ext cx="1828800" cy="402336"/>
          </a:xfrm>
          <a:prstGeom prst="rect">
            <a:avLst/>
          </a:prstGeom>
          <a:solidFill>
            <a:srgbClr val="0E6B61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0" y="169164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093976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093976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2093976"/>
            <a:ext cx="46634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81328" y="2093976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 held-out evaluation &amp; hyperparameter sweep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2093976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209397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RL vs classical comparison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4080" y="2093976"/>
            <a:ext cx="1828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921240" y="2203704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C6821F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220370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715768"/>
            <a:ext cx="82296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2715768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71600" y="2715768"/>
            <a:ext cx="46634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81328" y="2715768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module via OpenRouter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2715768"/>
            <a:ext cx="37490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2715768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reason per order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784080" y="2715768"/>
            <a:ext cx="182880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2825496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0E6B61"/>
          </a:solidFill>
          <a:ln/>
        </p:spPr>
      </p:sp>
      <p:sp>
        <p:nvSpPr>
          <p:cNvPr id="29" name="Text 27"/>
          <p:cNvSpPr/>
          <p:nvPr/>
        </p:nvSpPr>
        <p:spPr>
          <a:xfrm>
            <a:off x="9921240" y="2825496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48640" y="3337560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337560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371600" y="3337560"/>
            <a:ext cx="46634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81328" y="3337560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scenario generator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35040" y="3337560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3337560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Demand-spike &amp; supplier-failure tests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784080" y="3337560"/>
            <a:ext cx="1828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21240" y="3447288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5B6E68"/>
          </a:solidFill>
          <a:ln/>
        </p:spPr>
      </p:sp>
      <p:sp>
        <p:nvSpPr>
          <p:cNvPr id="38" name="Text 36"/>
          <p:cNvSpPr/>
          <p:nvPr/>
        </p:nvSpPr>
        <p:spPr>
          <a:xfrm>
            <a:off x="9921240" y="344728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3959352"/>
            <a:ext cx="82296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3959352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371600" y="3959352"/>
            <a:ext cx="46634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81328" y="3959352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decision-support dashboard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35040" y="3959352"/>
            <a:ext cx="37490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44768" y="3959352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interface for a manager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84080" y="3959352"/>
            <a:ext cx="182880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921240" y="4069080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5B6E68"/>
          </a:solidFill>
          <a:ln/>
        </p:spPr>
      </p:sp>
      <p:sp>
        <p:nvSpPr>
          <p:cNvPr id="47" name="Text 45"/>
          <p:cNvSpPr/>
          <p:nvPr/>
        </p:nvSpPr>
        <p:spPr>
          <a:xfrm>
            <a:off x="9921240" y="40690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48640" y="4581144"/>
            <a:ext cx="8229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581144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1371600" y="4581144"/>
            <a:ext cx="46634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481328" y="4581144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LLM-guided curriculum training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035040" y="4581144"/>
            <a:ext cx="374904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44768" y="4581144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trained on generated hard scenarios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784080" y="4581144"/>
            <a:ext cx="1828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21240" y="4690872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5B6E68"/>
          </a:solidFill>
          <a:ln/>
        </p:spPr>
      </p:sp>
      <p:sp>
        <p:nvSpPr>
          <p:cNvPr id="56" name="Text 54"/>
          <p:cNvSpPr/>
          <p:nvPr/>
        </p:nvSpPr>
        <p:spPr>
          <a:xfrm>
            <a:off x="9921240" y="4690872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48640" y="5202936"/>
            <a:ext cx="82296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8368" y="5202936"/>
            <a:ext cx="6035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4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371600" y="5202936"/>
            <a:ext cx="46634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81328" y="5202936"/>
            <a:ext cx="44439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documentation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035040" y="5202936"/>
            <a:ext cx="374904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44768" y="5202936"/>
            <a:ext cx="352958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report, figures, reproducible code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784080" y="5202936"/>
            <a:ext cx="1828800" cy="621792"/>
          </a:xfrm>
          <a:prstGeom prst="rect">
            <a:avLst/>
          </a:prstGeom>
          <a:solidFill>
            <a:srgbClr val="F1F5F4"/>
          </a:solidFill>
          <a:ln w="9525">
            <a:solidFill>
              <a:srgbClr val="D8E8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21240" y="5312664"/>
            <a:ext cx="1554480" cy="402336"/>
          </a:xfrm>
          <a:prstGeom prst="roundRect">
            <a:avLst>
              <a:gd name="adj" fmla="val 27273"/>
            </a:avLst>
          </a:prstGeom>
          <a:solidFill>
            <a:srgbClr val="5B6E68"/>
          </a:solidFill>
          <a:ln/>
        </p:spPr>
      </p:sp>
      <p:sp>
        <p:nvSpPr>
          <p:cNvPr id="65" name="Text 63"/>
          <p:cNvSpPr/>
          <p:nvPr/>
        </p:nvSpPr>
        <p:spPr>
          <a:xfrm>
            <a:off x="9921240" y="5312664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Phases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0E6B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IEEE format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Schulman, F. Wolski, P. Dhariwal, A. Radford, and O. Klimov, “Proximal Policy Optimization Algorithms,” arXiv:1707.06347, 2017.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A. Oroojlooyjadid, M. Nazari, L. V. Snyder, and M. Takáč, “A Deep Q-Network for the Beer Game,” Manuf. Serv. Oper. Manag., 2022.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Gijsbrechts, R. N. Boute, J. A. Van Mieghem, and D. Zhang, “Can Deep Reinforcement Learning Improve Inventory Management?,” Manuf. Serv. Oper. Manag., 2022.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R. N. Boute, J. Gijsbrechts, W. van Jaarsveld, and N. Vanvuchelen, “Deep Reinforcement Learning for Inventory Control: A Roadmap,” Eur. J. Oper. Res., 2022.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S. Huang and S. Ontanón, “A Closer Look at Invalid Action Masking in Policy Gradient Algorithms,” in Proc. FLAIRS-35, 2022.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B. Li et al., “Large Language Models for Supply Chain Optimization,” arXiv:2307.03875, 2023.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D. Chen, S. L. Sain, and K. Guo, “Data Mining for the Online Retail Industry,” J. Database Mark. Cust. Strategy Manag., 2012.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Dua and C. Graff, “Online Retail II Data Set,” UCI Machine Learning Repository, 2019. [Online]. Available: https://archive.ics.uci.edu/dataset/502</a:t>
            </a:r>
            <a:endParaRPr lang="en-US" sz="1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200" dirty="0">
                <a:solidFill>
                  <a:srgbClr val="1B2A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A. Raffin et al., “Stable-Baselines3: Reliable Reinforcement Learning Implementations,” J. Mach. Learn. Res., vol. 22, no. 268, 2021.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SupplyAI-RL  ·  Mid-Semester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248095" y="64739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4144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F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2026-08-19T17:46:16Z</dcterms:created>
  <dcterms:modified xsi:type="dcterms:W3CDTF">2026-08-19T17:46:16Z</dcterms:modified>
</cp:coreProperties>
</file>