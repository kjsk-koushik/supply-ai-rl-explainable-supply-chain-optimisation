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56" r:id="rId2"/>
    <p:sldId id="307" r:id="rId23"/>
    <p:sldId id="308" r:id="rId24"/>
    <p:sldId id="309" r:id="rId25"/>
    <p:sldId id="310" r:id="rId26"/>
    <p:sldId id="311" r:id="rId27"/>
    <p:sldId id="312" r:id="rId28"/>
    <p:sldId id="313" r:id="rId29"/>
    <p:sldId id="314" r:id="rId30"/>
    <p:sldId id="315" r:id="rId31"/>
    <p:sldId id="316" r:id="rId32"/>
    <p:sldId id="317" r:id="rId33"/>
    <p:sldId id="318" r:id="rId34"/>
    <p:sldId id="319" r:id="rId35"/>
    <p:sldId id="320" r:id="rId36"/>
    <p:sldId id="321" r:id="rId37"/>
    <p:sldId id="322" r:id="rId38"/>
    <p:sldId id="323" r:id="rId39"/>
    <p:sldId id="324" r:id="rId40"/>
    <p:sldId id="325" r:id="rId41"/>
    <p:sldId id="326" r:id="rId42"/>
    <p:sldId id="327" r:id="rId43"/>
    <p:sldId id="328" r:id="rId44"/>
    <p:sldId id="329" r:id="rId45"/>
    <p:sldId id="330" r:id="rId46"/>
    <p:sldId id="331" r:id="rId47"/>
    <p:sldId id="332" r:id="rId48"/>
    <p:sldId id="333" r:id="rId49"/>
    <p:sldId id="334" r:id="rId50"/>
    <p:sldId id="335" r:id="rId51"/>
    <p:sldId id="336" r:id="rId52"/>
    <p:sldId id="337" r:id="rId53"/>
    <p:sldId id="338"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1A9B46"/>
    <a:srgbClr val="18AD4A"/>
    <a:srgbClr val="081271"/>
    <a:srgbClr val="FFFB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6" autoAdjust="0"/>
    <p:restoredTop sz="94660"/>
  </p:normalViewPr>
  <p:slideViewPr>
    <p:cSldViewPr snapToGrid="0">
      <p:cViewPr varScale="1">
        <p:scale>
          <a:sx n="82" d="100"/>
          <a:sy n="82" d="100"/>
        </p:scale>
        <p:origin x="49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007E216-FF70-2B66-D446-8AF6B921A7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2FF8E699-0BFA-7ED0-E036-13061879A38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6333AC-344F-40AF-9E99-79D0BF1BA136}" type="datetimeFigureOut">
              <a:rPr lang="en-IN" smtClean="0"/>
              <a:t>28-07-2026</a:t>
            </a:fld>
            <a:endParaRPr lang="en-IN"/>
          </a:p>
        </p:txBody>
      </p:sp>
      <p:sp>
        <p:nvSpPr>
          <p:cNvPr id="4" name="Footer Placeholder 3">
            <a:extLst>
              <a:ext uri="{FF2B5EF4-FFF2-40B4-BE49-F238E27FC236}">
                <a16:creationId xmlns:a16="http://schemas.microsoft.com/office/drawing/2014/main" id="{18B889DF-AB4B-4A37-9579-FEAE0F1476F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IN"/>
              <a:t>Speech Processing</a:t>
            </a:r>
          </a:p>
        </p:txBody>
      </p:sp>
      <p:sp>
        <p:nvSpPr>
          <p:cNvPr id="5" name="Slide Number Placeholder 4">
            <a:extLst>
              <a:ext uri="{FF2B5EF4-FFF2-40B4-BE49-F238E27FC236}">
                <a16:creationId xmlns:a16="http://schemas.microsoft.com/office/drawing/2014/main" id="{ACDAFFD3-30EC-F4A9-0025-921B610F2CB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AE13A14-01DD-4442-9BD4-9CC7EED32526}" type="slidenum">
              <a:rPr lang="en-IN" smtClean="0"/>
              <a:t>‹#›</a:t>
            </a:fld>
            <a:endParaRPr lang="en-IN"/>
          </a:p>
        </p:txBody>
      </p:sp>
    </p:spTree>
    <p:extLst>
      <p:ext uri="{BB962C8B-B14F-4D97-AF65-F5344CB8AC3E}">
        <p14:creationId xmlns:p14="http://schemas.microsoft.com/office/powerpoint/2010/main" val="357197570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92E8E5-BD41-4FE3-96D2-635440A77753}" type="datetimeFigureOut">
              <a:rPr lang="en-IN" smtClean="0"/>
              <a:t>28-07-2026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IN"/>
              <a:t>Speech Processing</a:t>
            </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69347C-ECC5-466E-9761-F92650021703}" type="slidenum">
              <a:rPr lang="en-IN" smtClean="0"/>
              <a:t>‹#›</a:t>
            </a:fld>
            <a:endParaRPr lang="en-IN"/>
          </a:p>
        </p:txBody>
      </p:sp>
    </p:spTree>
    <p:extLst>
      <p:ext uri="{BB962C8B-B14F-4D97-AF65-F5344CB8AC3E}">
        <p14:creationId xmlns:p14="http://schemas.microsoft.com/office/powerpoint/2010/main" val="21158024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Opening. One sentence: we built a decision-support system that decides how much stock a shop should order and from which supplier, tested an RL agent against tuned classical methods, and added an LLM that explains each decision and writes the crises we test with. Fill in the batch/group number and the presentation date before presenting.</a:t>
            </a:r>
          </a:p>
        </p:txBody>
      </p:sp>
      <p:sp>
        <p:nvSpPr>
          <p:cNvPr id="4" name="Slide Number Placeholder 3"/>
          <p:cNvSpPr>
            <a:spLocks noGrp="1"/>
          </p:cNvSpPr>
          <p:nvPr>
            <p:ph type="sldNum" sz="quarter" idx="10"/>
          </p:nvPr>
        </p:nvSpPr>
        <p:spPr/>
        <p:txBody>
          <a:bodyPr/>
          <a:lstStyle/>
          <a:p>
            <a:fld id="{5669347C-ECC5-466E-9761-F92650021703}" type="slidenum">
              <a:rPr lang="en-IN" smtClean="0"/>
              <a:t>1</a:t>
            </a:fld>
            <a:endParaRPr lang="en-IN"/>
          </a:p>
        </p:txBody>
      </p:sp>
    </p:spTree>
    <p:extLst>
      <p:ext uri="{BB962C8B-B14F-4D97-AF65-F5344CB8AC3E}">
        <p14:creationId xmlns:p14="http://schemas.microsoft.com/office/powerpoint/2010/main" val="3266576888"/>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The first half is what we built; the second half is the evidence that it works and where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Motivation in one minute. Both ways of ordering wrong cost money, and supplier choice adds a second decision. The honest framing: RL is a hypothesis we test, not an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is small to state and huge to search: 21 options per product across 10 products is about 17 trillion combinations a day. No supplier is best, which is what makes it a real trade-off.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anchor papers. The pattern: deep RL has been competitive with tuned heuristics, not clearly better, and masking is what makes large action spaces tractable.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gap on the left has a concrete answer on the right. We claim only what we tested: no claim that nobody has combined these before beyond this single setting.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objectives are met. The fifth is a comparison, and the honest result is that the tuned classical method wins. Say this first, before the examiner asks.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Data builds the simulator. Two decision makers act in it: the tuned classical engine and the RL challenger. The LLM layer explains decisions and writes crises. Evaluation and the dashboard sit on the right. The green strip is the deployment story: shadow mode, nothing places an order.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loop: state in, action out, reward back. Action masking is the biggest single improvement: it stops the agent wasting training on choices that are never legal.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dataset: real and public, with enough variety. Why not the newer one: it is synthetic noise, and newer-but-fake is worse than older-but-real. Money is converted from pounds at 1 GBP = 105 rupees for display only.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the faculty's question that the data is from 2009-2011. We split the two years and measured the demand shape in each. The two features the simulator relies on most hold. We do not claim anything about today's market.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Gymnasium environment. The three cards are three mistakes in earlier versions that we fixed after the simulator itself told us something was wrong. A demo confirms the simulator rewards sensible behaviour: reasonable rules earn about 27 lakh, never ordering loses 3.9 crore.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MaskablePPO is PPO with action masking. The agent's inputs include nothing about its own ordering history, which turns out to be the cause of its main weakness.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a negative result meaningful. Three disjoint seed groups, tuned baselines, identical customers for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design decision: the LLM only presents facts the simulator computed. Then every number in its output is checked against those facts. If it invented one, a fixed template is shown instead. Three free models via OpenRouter, tried in order, with retries.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LLM's value here is imagination, not trust. We validate everything. The curriculum experiment is controlled: same seed, same settings, same steps.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starting point. The dashboard opens on the engine, the policy a buyer would actually run. Everything shown comes from a real episode run on demand; no number on the page is typed 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switch the policy to the challenger and the supplier bars change completely. This is the visual evidence for the error analysis. Right: the crisis switch injects the LLM-written disruption for the whole run.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 the shop orders the same fixed amount every day, tuned as carefully as every other baseline. After = the system's engine. Same 30 unseen runs. The honest reading: forecasting plus safety stock does the heavy lifting; the RL challenger also beats the fixed order but trails the engine.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dot is one test seed, sorted by the before profit. The point of this chart is that the improvement is consistent, not an average hiding losses.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option: flip the crisis switch in the sidebar and watch both charts redraw for all three policies.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explainer in action, live. The explanation is a restatement of computed facts, not an account of the neural network's reasoning, and we say so explicitly.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tabs read the saved result files, so the dashboard cannot disagree with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result plainly: the classical engine wins by about 8 lakh per run, paired t of minus 6.45. The agent reaches 90.8% of its profit and beats EOQ and (s,S). The constant-order row is the 'no system' baseline.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controlled improvements, each measured: masking about 3x, tuning closes 38% of the remaining gap. The curves show learning progress on the checkpoint-selection seeds; reported scores come from separate held-out seeds.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method loses more than a third of its profit in a crisis; RL is not more adaptive than the tuned classical method. Our attempt to fix that with crisis training did not work. We report it as a negative result.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both numbers. 83% is the model by itself; 100% is the system with the check. The finding is that the check is essential, not decoration.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know why it loses. It cannot observe its own ordering history, so it cannot learn to stop fragmenting orders. This is a limit on what it observes, not a tuning problem. We have not yet tested the fix.</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that the work is real and reproducible. 137 tests: 135 run offline; 2 call the live LLM and are skipped without a key. The repository is public on GitHub: KJSK-Koushik/Supply-AI-RL-Explainable-supply-chain-Optimisation.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Listed in descending order of how much they should change a reader's confidence. The first two are the biggest: the data is old and the suppliers are invented.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honest claim: the project works end to end, the comparison is fair, the classical method wins, and we know why. The next experiment is aimed straight at the cause.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eight references as the report. The report has the full paper; this is the short list.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why the classical method wins (fees from supplier fragmentation, no ordering memory); where the accuracy is (no accuracy in RL; relative profit 90.8%, explainer 100% delivered); is the data too old (stability test); what masking 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IN"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07E2F458-B665-432D-ACF1-3C56F813001B}" type="datetime1">
              <a:rPr lang="en-IN" smtClean="0"/>
              <a:t>28-07-2026</a:t>
            </a:fld>
            <a:endParaRPr lang="en-IN"/>
          </a:p>
        </p:txBody>
      </p:sp>
      <p:sp>
        <p:nvSpPr>
          <p:cNvPr id="5" name="Footer Placeholder 4"/>
          <p:cNvSpPr>
            <a:spLocks noGrp="1"/>
          </p:cNvSpPr>
          <p:nvPr>
            <p:ph type="ftr" sz="quarter" idx="11"/>
          </p:nvPr>
        </p:nvSpPr>
        <p:spPr/>
        <p:txBody>
          <a:bodyPr/>
          <a:lstStyle/>
          <a:p>
            <a:r>
              <a:rPr lang="en-IN" dirty="0"/>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5897331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646C15BD-94E4-4067-8A33-3C6EC4BD0B33}"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4020509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F634687-F519-4EB7-A5A2-8F32F570280C}"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17187765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CA9FD66B-7BF9-457E-8F34-7A62FFE4EC1F}" type="datetime1">
              <a:rPr lang="en-IN" smtClean="0"/>
              <a:t>28-07-2026</a:t>
            </a:fld>
            <a:endParaRPr lang="en-IN"/>
          </a:p>
        </p:txBody>
      </p:sp>
      <p:sp>
        <p:nvSpPr>
          <p:cNvPr id="6" name="Footer Placeholder 5"/>
          <p:cNvSpPr>
            <a:spLocks noGrp="1"/>
          </p:cNvSpPr>
          <p:nvPr>
            <p:ph type="ftr" sz="quarter" idx="11"/>
          </p:nvPr>
        </p:nvSpPr>
        <p:spPr/>
        <p:txBody>
          <a:bodyPr/>
          <a:lstStyle/>
          <a:p>
            <a:r>
              <a:rPr lang="en-IN"/>
              <a:t>Speech Processing</a:t>
            </a:r>
          </a:p>
        </p:txBody>
      </p:sp>
      <p:sp>
        <p:nvSpPr>
          <p:cNvPr id="7" name="Slide Number Placeholder 6"/>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5516120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EFAE7592-1B5F-45CD-B707-8D5A5E58EE31}" type="datetime1">
              <a:rPr lang="en-IN" smtClean="0"/>
              <a:t>28-07-2026</a:t>
            </a:fld>
            <a:endParaRPr lang="en-IN"/>
          </a:p>
        </p:txBody>
      </p:sp>
      <p:sp>
        <p:nvSpPr>
          <p:cNvPr id="8" name="Footer Placeholder 7"/>
          <p:cNvSpPr>
            <a:spLocks noGrp="1"/>
          </p:cNvSpPr>
          <p:nvPr>
            <p:ph type="ftr" sz="quarter" idx="11"/>
          </p:nvPr>
        </p:nvSpPr>
        <p:spPr/>
        <p:txBody>
          <a:bodyPr/>
          <a:lstStyle/>
          <a:p>
            <a:r>
              <a:rPr lang="en-IN"/>
              <a:t>Speech Processing</a:t>
            </a:r>
          </a:p>
        </p:txBody>
      </p:sp>
      <p:sp>
        <p:nvSpPr>
          <p:cNvPr id="9" name="Slide Number Placeholder 8"/>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3205863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990ABBB8-8A7F-45A3-83C4-4C9477351CC6}" type="datetime1">
              <a:rPr lang="en-IN" smtClean="0"/>
              <a:t>28-07-2026</a:t>
            </a:fld>
            <a:endParaRPr lang="en-IN"/>
          </a:p>
        </p:txBody>
      </p:sp>
      <p:sp>
        <p:nvSpPr>
          <p:cNvPr id="4" name="Footer Placeholder 3"/>
          <p:cNvSpPr>
            <a:spLocks noGrp="1"/>
          </p:cNvSpPr>
          <p:nvPr>
            <p:ph type="ftr" sz="quarter" idx="11"/>
          </p:nvPr>
        </p:nvSpPr>
        <p:spPr/>
        <p:txBody>
          <a:bodyPr/>
          <a:lstStyle/>
          <a:p>
            <a:r>
              <a:rPr lang="en-IN"/>
              <a:t>Speech Processing</a:t>
            </a:r>
          </a:p>
        </p:txBody>
      </p:sp>
      <p:sp>
        <p:nvSpPr>
          <p:cNvPr id="5" name="Slide Number Placeholder 4"/>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7520773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435D1B-80AA-466C-8316-5AE450E66A39}" type="datetime1">
              <a:rPr lang="en-IN" smtClean="0"/>
              <a:t>28-07-2026</a:t>
            </a:fld>
            <a:endParaRPr lang="en-IN"/>
          </a:p>
        </p:txBody>
      </p:sp>
      <p:sp>
        <p:nvSpPr>
          <p:cNvPr id="3" name="Footer Placeholder 2"/>
          <p:cNvSpPr>
            <a:spLocks noGrp="1"/>
          </p:cNvSpPr>
          <p:nvPr>
            <p:ph type="ftr" sz="quarter" idx="11"/>
          </p:nvPr>
        </p:nvSpPr>
        <p:spPr/>
        <p:txBody>
          <a:bodyPr/>
          <a:lstStyle/>
          <a:p>
            <a:r>
              <a:rPr lang="en-IN"/>
              <a:t>Speech Processing</a:t>
            </a:r>
          </a:p>
        </p:txBody>
      </p:sp>
      <p:sp>
        <p:nvSpPr>
          <p:cNvPr id="4" name="Slide Number Placeholder 3"/>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757563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3447488-929A-4615-A557-C0AD33B297D1}" type="datetime1">
              <a:rPr lang="en-IN" smtClean="0"/>
              <a:t>28-07-2026</a:t>
            </a:fld>
            <a:endParaRPr lang="en-IN"/>
          </a:p>
        </p:txBody>
      </p:sp>
      <p:sp>
        <p:nvSpPr>
          <p:cNvPr id="6" name="Footer Placeholder 5"/>
          <p:cNvSpPr>
            <a:spLocks noGrp="1"/>
          </p:cNvSpPr>
          <p:nvPr>
            <p:ph type="ftr" sz="quarter" idx="11"/>
          </p:nvPr>
        </p:nvSpPr>
        <p:spPr/>
        <p:txBody>
          <a:bodyPr/>
          <a:lstStyle/>
          <a:p>
            <a:r>
              <a:rPr lang="en-IN"/>
              <a:t>Speech Processing</a:t>
            </a:r>
          </a:p>
        </p:txBody>
      </p:sp>
      <p:sp>
        <p:nvSpPr>
          <p:cNvPr id="7" name="Slide Number Placeholder 6"/>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4525248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AABDCACE-EBE9-4116-B81B-E040F2D3F20E}" type="datetime1">
              <a:rPr lang="en-IN" smtClean="0"/>
              <a:t>28-07-2026</a:t>
            </a:fld>
            <a:endParaRPr lang="en-IN"/>
          </a:p>
        </p:txBody>
      </p:sp>
      <p:sp>
        <p:nvSpPr>
          <p:cNvPr id="6" name="Footer Placeholder 5"/>
          <p:cNvSpPr>
            <a:spLocks noGrp="1"/>
          </p:cNvSpPr>
          <p:nvPr>
            <p:ph type="ftr" sz="quarter" idx="11"/>
          </p:nvPr>
        </p:nvSpPr>
        <p:spPr/>
        <p:txBody>
          <a:bodyPr/>
          <a:lstStyle/>
          <a:p>
            <a:r>
              <a:rPr lang="en-IN"/>
              <a:t>Speech Processing</a:t>
            </a:r>
          </a:p>
        </p:txBody>
      </p:sp>
      <p:sp>
        <p:nvSpPr>
          <p:cNvPr id="7" name="Slide Number Placeholder 6"/>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90129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479BF764-0E37-4886-B1E5-DFBF599A6490}"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9300169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E9A9FEB4-F282-4F07-B60D-731E94E7D45B}"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35570455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524EDEC-E80A-4952-9B8F-BFE95EE7B0BE}" type="datetime1">
              <a:rPr lang="en-IN" smtClean="0"/>
              <a:t>28-07-2026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Speech Processing</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216105-7B7A-4C42-B2A1-5E9A2FA4F8FD}" type="slidenum">
              <a:rPr lang="en-IN" smtClean="0"/>
              <a:t>‹#›</a:t>
            </a:fld>
            <a:endParaRPr lang="en-IN"/>
          </a:p>
        </p:txBody>
      </p:sp>
    </p:spTree>
    <p:extLst>
      <p:ext uri="{BB962C8B-B14F-4D97-AF65-F5344CB8AC3E}">
        <p14:creationId xmlns:p14="http://schemas.microsoft.com/office/powerpoint/2010/main" val="38047643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sp>
        <p:nvSpPr>
          <p:cNvPr id="11" name="Title 3"/>
          <p:cNvSpPr txBox="1">
            <a:spLocks/>
          </p:cNvSpPr>
          <p:nvPr/>
        </p:nvSpPr>
        <p:spPr>
          <a:xfrm>
            <a:off x="609598" y="2984500"/>
            <a:ext cx="10972800" cy="104415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IN" sz="3600" dirty="0">
                <a:latin typeface="Times New Roman" panose="02020603050405020304" pitchFamily="18" charset="0"/>
                <a:cs typeface="Times New Roman" panose="02020603050405020304" pitchFamily="18" charset="0"/>
              </a:rPr>
              <a:t>SupplyAI-RL: Explainable Supply Chain Optimization</a:t>
            </a:r>
          </a:p>
        </p:txBody>
      </p:sp>
      <p:sp>
        <p:nvSpPr>
          <p:cNvPr id="3" name="Rectangle 2"/>
          <p:cNvSpPr/>
          <p:nvPr/>
        </p:nvSpPr>
        <p:spPr>
          <a:xfrm>
            <a:off x="1935319" y="236845"/>
            <a:ext cx="7999556" cy="830997"/>
          </a:xfrm>
          <a:prstGeom prst="rect">
            <a:avLst/>
          </a:prstGeom>
        </p:spPr>
        <p:txBody>
          <a:bodyPr wrap="square">
            <a:spAutoFit/>
          </a:bodyPr>
          <a:lstStyle/>
          <a:p>
            <a:pPr algn="ctr"/>
            <a:r>
              <a:rPr lang="en-US" sz="2400" b="1" dirty="0">
                <a:solidFill>
                  <a:srgbClr val="FF0000"/>
                </a:solidFill>
              </a:rPr>
              <a:t> Final semester project review– </a:t>
            </a:r>
            <a:r>
              <a:rPr lang="en-US" sz="2400" b="1" dirty="0">
                <a:solidFill>
                  <a:srgbClr val="7030A0"/>
                </a:solidFill>
              </a:rPr>
              <a:t>October 2026</a:t>
            </a:r>
          </a:p>
          <a:p>
            <a:pPr algn="ctr"/>
            <a:r>
              <a:rPr lang="it-IT" sz="2400" b="1" dirty="0"/>
              <a:t>22AIE450 Reinforcement Learning</a:t>
            </a:r>
            <a:endParaRPr lang="en-IN" sz="2400" b="1" dirty="0">
              <a:solidFill>
                <a:srgbClr val="7030A0"/>
              </a:solidFill>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9077095" y="5597101"/>
            <a:ext cx="2636299" cy="369332"/>
          </a:xfrm>
          <a:prstGeom prst="rect">
            <a:avLst/>
          </a:prstGeom>
        </p:spPr>
        <p:txBody>
          <a:bodyPr wrap="none">
            <a:spAutoFit/>
          </a:bodyPr>
          <a:lstStyle/>
          <a:p>
            <a:r>
              <a:rPr lang="en-US" b="1" dirty="0" sz="1600">
                <a:latin typeface="Times New Roman" panose="02020603050405020304" pitchFamily="18" charset="0"/>
                <a:cs typeface="Times New Roman" panose="02020603050405020304" pitchFamily="18" charset="0"/>
              </a:rPr>
              <a:t>Date: ____________</a:t>
            </a:r>
            <a:endParaRPr lang="en-IN" dirty="0">
              <a:latin typeface="Times New Roman" panose="02020603050405020304" pitchFamily="18" charset="0"/>
              <a:cs typeface="Times New Roman" panose="02020603050405020304" pitchFamily="18" charset="0"/>
            </a:endParaRPr>
          </a:p>
        </p:txBody>
      </p:sp>
      <p:sp>
        <p:nvSpPr>
          <p:cNvPr id="19" name="Slide Number Placeholder 18"/>
          <p:cNvSpPr>
            <a:spLocks noGrp="1"/>
          </p:cNvSpPr>
          <p:nvPr>
            <p:ph type="sldNum" sz="quarter" idx="12"/>
          </p:nvPr>
        </p:nvSpPr>
        <p:spPr>
          <a:xfrm>
            <a:off x="10804848" y="6356350"/>
            <a:ext cx="548951" cy="365125"/>
          </a:xfrm>
        </p:spPr>
        <p:txBody>
          <a:bodyPr/>
          <a:lstStyle/>
          <a:p>
            <a:fld id="{C2216105-7B7A-4C42-B2A1-5E9A2FA4F8FD}" type="slidenum">
              <a:rPr lang="en-IN" smtClean="0"/>
              <a:t>1</a:t>
            </a:fld>
            <a:endParaRPr lang="en-IN" dirty="0"/>
          </a:p>
        </p:txBody>
      </p:sp>
      <p:sp>
        <p:nvSpPr>
          <p:cNvPr id="2" name="Rectangle 1">
            <a:extLst>
              <a:ext uri="{FF2B5EF4-FFF2-40B4-BE49-F238E27FC236}">
                <a16:creationId xmlns:a16="http://schemas.microsoft.com/office/drawing/2014/main" id="{2EE0480C-236D-3A2D-ABFD-ACE4E92B6129}"/>
              </a:ext>
            </a:extLst>
          </p:cNvPr>
          <p:cNvSpPr/>
          <p:nvPr/>
        </p:nvSpPr>
        <p:spPr>
          <a:xfrm>
            <a:off x="150810" y="5675807"/>
            <a:ext cx="2854308" cy="369332"/>
          </a:xfrm>
          <a:prstGeom prst="rect">
            <a:avLst/>
          </a:prstGeom>
        </p:spPr>
        <p:txBody>
          <a:bodyPr wrap="none">
            <a:spAutoFit/>
          </a:bodyPr>
          <a:lstStyle/>
          <a:p>
            <a:r>
              <a:rPr lang="en-US" b="1" dirty="0" sz="1600">
                <a:latin typeface="Times New Roman" panose="02020603050405020304" pitchFamily="18" charset="0"/>
                <a:cs typeface="Times New Roman" panose="02020603050405020304" pitchFamily="18" charset="0"/>
              </a:rPr>
              <a:t>Batch and Group Number: ______</a:t>
            </a:r>
            <a:endParaRPr lang="en-IN" dirty="0">
              <a:latin typeface="Times New Roman" panose="02020603050405020304" pitchFamily="18" charset="0"/>
              <a:cs typeface="Times New Roman" panose="02020603050405020304" pitchFamily="18" charset="0"/>
            </a:endParaRPr>
          </a:p>
        </p:txBody>
      </p:sp>
      <p:graphicFrame>
        <p:nvGraphicFramePr>
          <p:cNvPr id="20" name="Table 19"/>
          <p:cNvGraphicFramePr>
            <a:graphicFrameLocks noGrp="1"/>
          </p:cNvGraphicFramePr>
          <p:nvPr/>
        </p:nvGraphicFramePr>
        <p:xfrm>
          <a:off x="3566160" y="4160520"/>
          <a:ext cx="5029200" cy="1554480"/>
        </p:xfrm>
        <a:graphic>
          <a:graphicData uri="http://schemas.openxmlformats.org/drawingml/2006/table">
            <a:tbl>
              <a:tblPr firstRow="1" bandRow="1">
                <a:tableStyleId>{5C22544A-7EE6-4342-B048-85BDC9FD1C3A}</a:tableStyleId>
              </a:tblPr>
              <a:tblGrid>
                <a:gridCol w="2514600"/>
                <a:gridCol w="2514600"/>
              </a:tblGrid>
              <a:tr h="310896">
                <a:tc>
                  <a:txBody>
                    <a:bodyPr wrap="square"/>
                    <a:lstStyle/>
                    <a:p>
                      <a:pPr algn="l"/>
                      <a:r>
                        <a:rPr sz="1500" b="1" i="0">
                          <a:solidFill>
                            <a:srgbClr val="FFFFFF"/>
                          </a:solidFill>
                          <a:latin typeface="Calibri"/>
                        </a:rPr>
                        <a:t>Name</a:t>
                      </a:r>
                    </a:p>
                  </a:txBody>
                  <a:tcPr marL="54864" marR="54864" marT="18288" marB="18288" anchor="ctr">
                    <a:solidFill>
                      <a:srgbClr val="2E8B57"/>
                    </a:solidFill>
                  </a:tcPr>
                </a:tc>
                <a:tc>
                  <a:txBody>
                    <a:bodyPr wrap="square"/>
                    <a:lstStyle/>
                    <a:p>
                      <a:pPr algn="ctr"/>
                      <a:r>
                        <a:rPr sz="1500" b="1" i="0">
                          <a:solidFill>
                            <a:srgbClr val="FFFFFF"/>
                          </a:solidFill>
                          <a:latin typeface="Calibri"/>
                        </a:rPr>
                        <a:t>Roll number</a:t>
                      </a:r>
                    </a:p>
                  </a:txBody>
                  <a:tcPr marL="54864" marR="54864" marT="18288" marB="18288" anchor="ctr">
                    <a:solidFill>
                      <a:srgbClr val="2E8B57"/>
                    </a:solidFill>
                  </a:tcPr>
                </a:tc>
              </a:tr>
              <a:tr h="310896">
                <a:tc>
                  <a:txBody>
                    <a:bodyPr wrap="square"/>
                    <a:lstStyle/>
                    <a:p>
                      <a:r>
                        <a:rPr sz="1500" b="0" i="0">
                          <a:solidFill>
                            <a:srgbClr val="1F2937"/>
                          </a:solidFill>
                          <a:latin typeface="Calibri"/>
                        </a:rPr>
                        <a:t>Koushik</a:t>
                      </a:r>
                    </a:p>
                  </a:txBody>
                  <a:tcPr marL="54864" marR="54864" marT="18288" marB="18288" anchor="ctr">
                    <a:solidFill>
                      <a:srgbClr val="FFFFFF"/>
                    </a:solidFill>
                  </a:tcPr>
                </a:tc>
                <a:tc>
                  <a:txBody>
                    <a:bodyPr wrap="square"/>
                    <a:lstStyle/>
                    <a:p>
                      <a:pPr algn="ctr"/>
                      <a:r>
                        <a:rPr sz="1500" b="0" i="0">
                          <a:solidFill>
                            <a:srgbClr val="1F2937"/>
                          </a:solidFill>
                          <a:latin typeface="Calibri"/>
                        </a:rPr>
                        <a:t>CB.SC.U4AIE23312</a:t>
                      </a:r>
                    </a:p>
                  </a:txBody>
                  <a:tcPr marL="54864" marR="54864" marT="18288" marB="18288" anchor="ctr">
                    <a:solidFill>
                      <a:srgbClr val="FFFFFF"/>
                    </a:solidFill>
                  </a:tcPr>
                </a:tc>
              </a:tr>
              <a:tr h="310896">
                <a:tc>
                  <a:txBody>
                    <a:bodyPr wrap="square"/>
                    <a:lstStyle/>
                    <a:p>
                      <a:r>
                        <a:rPr sz="1500" b="0" i="0">
                          <a:solidFill>
                            <a:srgbClr val="1F2937"/>
                          </a:solidFill>
                          <a:latin typeface="Calibri"/>
                        </a:rPr>
                        <a:t>Santosh</a:t>
                      </a:r>
                    </a:p>
                  </a:txBody>
                  <a:tcPr marL="54864" marR="54864" marT="18288" marB="18288" anchor="ctr">
                    <a:solidFill>
                      <a:srgbClr val="F1F5F9"/>
                    </a:solidFill>
                  </a:tcPr>
                </a:tc>
                <a:tc>
                  <a:txBody>
                    <a:bodyPr wrap="square"/>
                    <a:lstStyle/>
                    <a:p>
                      <a:pPr algn="ctr"/>
                      <a:r>
                        <a:rPr sz="1500" b="0" i="0">
                          <a:solidFill>
                            <a:srgbClr val="1F2937"/>
                          </a:solidFill>
                          <a:latin typeface="Calibri"/>
                        </a:rPr>
                        <a:t>CB.SC.U4AIE23310</a:t>
                      </a:r>
                    </a:p>
                  </a:txBody>
                  <a:tcPr marL="54864" marR="54864" marT="18288" marB="18288" anchor="ctr">
                    <a:solidFill>
                      <a:srgbClr val="F1F5F9"/>
                    </a:solidFill>
                  </a:tcPr>
                </a:tc>
              </a:tr>
              <a:tr h="310896">
                <a:tc>
                  <a:txBody>
                    <a:bodyPr wrap="square"/>
                    <a:lstStyle/>
                    <a:p>
                      <a:r>
                        <a:rPr sz="1500" b="0" i="0">
                          <a:solidFill>
                            <a:srgbClr val="1F2937"/>
                          </a:solidFill>
                          <a:latin typeface="Calibri"/>
                        </a:rPr>
                        <a:t>Srinith</a:t>
                      </a:r>
                    </a:p>
                  </a:txBody>
                  <a:tcPr marL="54864" marR="54864" marT="18288" marB="18288" anchor="ctr">
                    <a:solidFill>
                      <a:srgbClr val="FFFFFF"/>
                    </a:solidFill>
                  </a:tcPr>
                </a:tc>
                <a:tc>
                  <a:txBody>
                    <a:bodyPr wrap="square"/>
                    <a:lstStyle/>
                    <a:p>
                      <a:pPr algn="ctr"/>
                      <a:r>
                        <a:rPr sz="1500" b="0" i="0">
                          <a:solidFill>
                            <a:srgbClr val="1F2937"/>
                          </a:solidFill>
                          <a:latin typeface="Calibri"/>
                        </a:rPr>
                        <a:t>CB.SC.U4AIE23357</a:t>
                      </a:r>
                    </a:p>
                  </a:txBody>
                  <a:tcPr marL="54864" marR="54864" marT="18288" marB="18288" anchor="ctr">
                    <a:solidFill>
                      <a:srgbClr val="FFFFFF"/>
                    </a:solidFill>
                  </a:tcPr>
                </a:tc>
              </a:tr>
              <a:tr h="310896">
                <a:tc>
                  <a:txBody>
                    <a:bodyPr wrap="square"/>
                    <a:lstStyle/>
                    <a:p>
                      <a:r>
                        <a:rPr sz="1500" b="0" i="0">
                          <a:solidFill>
                            <a:srgbClr val="1F2937"/>
                          </a:solidFill>
                          <a:latin typeface="Calibri"/>
                        </a:rPr>
                        <a:t>Dharani Pratap</a:t>
                      </a:r>
                    </a:p>
                  </a:txBody>
                  <a:tcPr marL="54864" marR="54864" marT="18288" marB="18288" anchor="ctr">
                    <a:solidFill>
                      <a:srgbClr val="F1F5F9"/>
                    </a:solidFill>
                  </a:tcPr>
                </a:tc>
                <a:tc>
                  <a:txBody>
                    <a:bodyPr wrap="square"/>
                    <a:lstStyle/>
                    <a:p>
                      <a:pPr algn="ctr"/>
                      <a:r>
                        <a:rPr sz="1500" b="0" i="0">
                          <a:solidFill>
                            <a:srgbClr val="1F2937"/>
                          </a:solidFill>
                          <a:latin typeface="Calibri"/>
                        </a:rPr>
                        <a:t>CB.SC.U4AIE23330</a:t>
                      </a:r>
                    </a:p>
                  </a:txBody>
                  <a:tcPr marL="54864" marR="54864" marT="18288" marB="18288" anchor="ctr">
                    <a:solidFill>
                      <a:srgbClr val="F1F5F9"/>
                    </a:solidFill>
                  </a:tcPr>
                </a:tc>
              </a:tr>
            </a:tbl>
          </a:graphicData>
        </a:graphic>
      </p:graphicFrame>
    </p:spTree>
    <p:extLst>
      <p:ext uri="{BB962C8B-B14F-4D97-AF65-F5344CB8AC3E}">
        <p14:creationId xmlns:p14="http://schemas.microsoft.com/office/powerpoint/2010/main" val="2768557418"/>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Outline</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TextBox 19"/>
          <p:cNvSpPr txBox="1"/>
          <p:nvPr/>
        </p:nvSpPr>
        <p:spPr>
          <a:xfrm>
            <a:off x="822960" y="1554480"/>
            <a:ext cx="5212080" cy="4572000"/>
          </a:xfrm>
          <a:prstGeom prst="rect">
            <a:avLst/>
          </a:prstGeom>
          <a:noFill/>
        </p:spPr>
        <p:txBody>
          <a:bodyPr wrap="square" anchor="t" lIns="45720" rIns="45720" tIns="27432" bIns="27432">
            <a:spAutoFit/>
          </a:bodyPr>
          <a:lstStyle/>
          <a:p>
            <a:pPr algn="l">
              <a:spcAft>
                <a:spcPts val="1200"/>
              </a:spcAft>
            </a:pPr>
            <a:r>
              <a:rPr sz="2200" b="0" i="0">
                <a:solidFill>
                  <a:srgbClr val="1F2937"/>
                </a:solidFill>
                <a:latin typeface="Calibri"/>
              </a:rPr>
              <a:t>1  Introduction and motivation</a:t>
            </a:r>
          </a:p>
          <a:p>
            <a:pPr algn="l">
              <a:spcAft>
                <a:spcPts val="1200"/>
              </a:spcAft>
            </a:pPr>
            <a:r>
              <a:rPr sz="2200" b="0" i="0">
                <a:solidFill>
                  <a:srgbClr val="1F2937"/>
                </a:solidFill>
                <a:latin typeface="Calibri"/>
              </a:rPr>
              <a:t>2  Problem definition</a:t>
            </a:r>
          </a:p>
          <a:p>
            <a:pPr algn="l">
              <a:spcAft>
                <a:spcPts val="1200"/>
              </a:spcAft>
            </a:pPr>
            <a:r>
              <a:rPr sz="2200" b="0" i="0">
                <a:solidFill>
                  <a:srgbClr val="1F2937"/>
                </a:solidFill>
                <a:latin typeface="Calibri"/>
              </a:rPr>
              <a:t>3  Literature review and gaps</a:t>
            </a:r>
          </a:p>
          <a:p>
            <a:pPr algn="l">
              <a:spcAft>
                <a:spcPts val="1200"/>
              </a:spcAft>
            </a:pPr>
            <a:r>
              <a:rPr sz="2200" b="0" i="0">
                <a:solidFill>
                  <a:srgbClr val="1F2937"/>
                </a:solidFill>
                <a:latin typeface="Calibri"/>
              </a:rPr>
              <a:t>4  Objectives and status</a:t>
            </a:r>
          </a:p>
          <a:p>
            <a:pPr algn="l">
              <a:spcAft>
                <a:spcPts val="1200"/>
              </a:spcAft>
            </a:pPr>
            <a:r>
              <a:rPr sz="2200" b="0" i="0">
                <a:solidFill>
                  <a:srgbClr val="1F2937"/>
                </a:solidFill>
                <a:latin typeface="Calibri"/>
              </a:rPr>
              <a:t>5  System architecture</a:t>
            </a:r>
          </a:p>
          <a:p>
            <a:pPr algn="l">
              <a:spcAft>
                <a:spcPts val="1200"/>
              </a:spcAft>
            </a:pPr>
            <a:r>
              <a:rPr sz="2200" b="0" i="0">
                <a:solidFill>
                  <a:srgbClr val="1F2937"/>
                </a:solidFill>
                <a:latin typeface="Calibri"/>
              </a:rPr>
              <a:t>6  Methodology: simulator, agent, baselines</a:t>
            </a:r>
          </a:p>
          <a:p>
            <a:pPr algn="l">
              <a:spcAft>
                <a:spcPts val="1200"/>
              </a:spcAft>
            </a:pPr>
            <a:r>
              <a:rPr sz="2200" b="0" i="0">
                <a:solidFill>
                  <a:srgbClr val="1F2937"/>
                </a:solidFill>
                <a:latin typeface="Calibri"/>
              </a:rPr>
              <a:t>7  Dataset and data stability</a:t>
            </a:r>
          </a:p>
          <a:p>
            <a:pPr algn="l">
              <a:spcAft>
                <a:spcPts val="1200"/>
              </a:spcAft>
            </a:pPr>
            <a:r>
              <a:rPr sz="2200" b="0" i="0">
                <a:solidFill>
                  <a:srgbClr val="1F2937"/>
                </a:solidFill>
                <a:latin typeface="Calibri"/>
              </a:rPr>
              <a:t>8  LLM explainer and crisis generator</a:t>
            </a:r>
          </a:p>
        </p:txBody>
      </p:sp>
      <p:sp>
        <p:nvSpPr>
          <p:cNvPr id="21" name="TextBox 20"/>
          <p:cNvSpPr txBox="1"/>
          <p:nvPr/>
        </p:nvSpPr>
        <p:spPr>
          <a:xfrm>
            <a:off x="6400800" y="1554480"/>
            <a:ext cx="5212080" cy="4572000"/>
          </a:xfrm>
          <a:prstGeom prst="rect">
            <a:avLst/>
          </a:prstGeom>
          <a:noFill/>
        </p:spPr>
        <p:txBody>
          <a:bodyPr wrap="square" anchor="t" lIns="45720" rIns="45720" tIns="27432" bIns="27432">
            <a:spAutoFit/>
          </a:bodyPr>
          <a:lstStyle/>
          <a:p>
            <a:pPr algn="l">
              <a:spcAft>
                <a:spcPts val="1200"/>
              </a:spcAft>
            </a:pPr>
            <a:r>
              <a:rPr sz="2200" b="0" i="0">
                <a:solidFill>
                  <a:srgbClr val="1F2937"/>
                </a:solidFill>
                <a:latin typeface="Calibri"/>
              </a:rPr>
              <a:t>9  Dashboard: screenshots</a:t>
            </a:r>
          </a:p>
          <a:p>
            <a:pPr algn="l">
              <a:spcAft>
                <a:spcPts val="1200"/>
              </a:spcAft>
            </a:pPr>
            <a:r>
              <a:rPr sz="2200" b="0" i="0">
                <a:solidFill>
                  <a:srgbClr val="1F2937"/>
                </a:solidFill>
                <a:latin typeface="Calibri"/>
              </a:rPr>
              <a:t>10  Results: comparison and ablation</a:t>
            </a:r>
          </a:p>
          <a:p>
            <a:pPr algn="l">
              <a:spcAft>
                <a:spcPts val="1200"/>
              </a:spcAft>
            </a:pPr>
            <a:r>
              <a:rPr sz="2200" b="0" i="0">
                <a:solidFill>
                  <a:srgbClr val="1F2937"/>
                </a:solidFill>
                <a:latin typeface="Calibri"/>
              </a:rPr>
              <a:t>11  Before vs after the system</a:t>
            </a:r>
          </a:p>
          <a:p>
            <a:pPr algn="l">
              <a:spcAft>
                <a:spcPts val="1200"/>
              </a:spcAft>
            </a:pPr>
            <a:r>
              <a:rPr sz="2200" b="0" i="0">
                <a:solidFill>
                  <a:srgbClr val="1F2937"/>
                </a:solidFill>
                <a:latin typeface="Calibri"/>
              </a:rPr>
              <a:t>12  Robustness to crises</a:t>
            </a:r>
          </a:p>
          <a:p>
            <a:pPr algn="l">
              <a:spcAft>
                <a:spcPts val="1200"/>
              </a:spcAft>
            </a:pPr>
            <a:r>
              <a:rPr sz="2200" b="0" i="0">
                <a:solidFill>
                  <a:srgbClr val="1F2937"/>
                </a:solidFill>
                <a:latin typeface="Calibri"/>
              </a:rPr>
              <a:t>13  Explainer accuracy</a:t>
            </a:r>
          </a:p>
          <a:p>
            <a:pPr algn="l">
              <a:spcAft>
                <a:spcPts val="1200"/>
              </a:spcAft>
            </a:pPr>
            <a:r>
              <a:rPr sz="2200" b="0" i="0">
                <a:solidFill>
                  <a:srgbClr val="1F2937"/>
                </a:solidFill>
                <a:latin typeface="Calibri"/>
              </a:rPr>
              <a:t>14  Error analysis, limitations</a:t>
            </a:r>
          </a:p>
          <a:p>
            <a:pPr algn="l">
              <a:spcAft>
                <a:spcPts val="1200"/>
              </a:spcAft>
            </a:pPr>
            <a:r>
              <a:rPr sz="2200" b="0" i="0">
                <a:solidFill>
                  <a:srgbClr val="1F2937"/>
                </a:solidFill>
                <a:latin typeface="Calibri"/>
              </a:rPr>
              <a:t>15  Engineering evidence</a:t>
            </a:r>
          </a:p>
          <a:p>
            <a:pPr algn="l">
              <a:spcAft>
                <a:spcPts val="1200"/>
              </a:spcAft>
            </a:pPr>
            <a:r>
              <a:rPr sz="2200" b="0" i="0">
                <a:solidFill>
                  <a:srgbClr val="1F2937"/>
                </a:solidFill>
                <a:latin typeface="Calibri"/>
              </a:rPr>
              <a:t>16  Conclusion and future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Introduction and Motivation</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Rounded Rectangle 19"/>
          <p:cNvSpPr/>
          <p:nvPr/>
        </p:nvSpPr>
        <p:spPr>
          <a:xfrm>
            <a:off x="411480" y="1371600"/>
            <a:ext cx="3657600" cy="160020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1208" y="1444752"/>
            <a:ext cx="3438144" cy="1453896"/>
          </a:xfrm>
          <a:prstGeom prst="rect">
            <a:avLst/>
          </a:prstGeom>
          <a:noFill/>
        </p:spPr>
        <p:txBody>
          <a:bodyPr wrap="square" anchor="t" lIns="45720" rIns="45720" tIns="27432" bIns="27432">
            <a:spAutoFit/>
          </a:bodyPr>
          <a:lstStyle/>
          <a:p>
            <a:pPr algn="l">
              <a:spcAft>
                <a:spcPts val="500"/>
              </a:spcAft>
            </a:pPr>
            <a:r>
              <a:rPr sz="1700" b="1" i="0">
                <a:solidFill>
                  <a:srgbClr val="D6336C"/>
                </a:solidFill>
                <a:latin typeface="Calibri"/>
              </a:rPr>
              <a:t>Order too much</a:t>
            </a:r>
          </a:p>
          <a:p>
            <a:pPr algn="l">
              <a:spcAft>
                <a:spcPts val="300"/>
              </a:spcAft>
            </a:pPr>
            <a:r>
              <a:rPr sz="1400" b="0" i="0">
                <a:solidFill>
                  <a:srgbClr val="1F2937"/>
                </a:solidFill>
                <a:latin typeface="Calibri"/>
              </a:rPr>
              <a:t>•  Money sits in the warehouse</a:t>
            </a:r>
          </a:p>
          <a:p>
            <a:pPr algn="l">
              <a:spcAft>
                <a:spcPts val="300"/>
              </a:spcAft>
            </a:pPr>
            <a:r>
              <a:rPr sz="1400" b="0" i="0">
                <a:solidFill>
                  <a:srgbClr val="1F2937"/>
                </a:solidFill>
                <a:latin typeface="Calibri"/>
              </a:rPr>
              <a:t>•  Storage costs pile up</a:t>
            </a:r>
          </a:p>
          <a:p>
            <a:pPr algn="l">
              <a:spcAft>
                <a:spcPts val="300"/>
              </a:spcAft>
            </a:pPr>
            <a:r>
              <a:rPr sz="1400" b="0" i="0">
                <a:solidFill>
                  <a:srgbClr val="1F2937"/>
                </a:solidFill>
                <a:latin typeface="Calibri"/>
              </a:rPr>
              <a:t>•  Seasonal goods are marked down</a:t>
            </a:r>
          </a:p>
        </p:txBody>
      </p:sp>
      <p:sp>
        <p:nvSpPr>
          <p:cNvPr id="22" name="Rounded Rectangle 21"/>
          <p:cNvSpPr/>
          <p:nvPr/>
        </p:nvSpPr>
        <p:spPr>
          <a:xfrm>
            <a:off x="4251960" y="1371600"/>
            <a:ext cx="3657600" cy="1600200"/>
          </a:xfrm>
          <a:prstGeom prst="roundRect">
            <a:avLst>
              <a:gd name="adj" fmla="val 7000"/>
            </a:avLst>
          </a:prstGeom>
          <a:solidFill>
            <a:srgbClr val="FDF3DC"/>
          </a:solidFill>
          <a:ln w="22225">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61688" y="1444752"/>
            <a:ext cx="3438144" cy="1453896"/>
          </a:xfrm>
          <a:prstGeom prst="rect">
            <a:avLst/>
          </a:prstGeom>
          <a:noFill/>
        </p:spPr>
        <p:txBody>
          <a:bodyPr wrap="square" anchor="t" lIns="45720" rIns="45720" tIns="27432" bIns="27432">
            <a:spAutoFit/>
          </a:bodyPr>
          <a:lstStyle/>
          <a:p>
            <a:pPr algn="l">
              <a:spcAft>
                <a:spcPts val="500"/>
              </a:spcAft>
            </a:pPr>
            <a:r>
              <a:rPr sz="1700" b="1" i="0">
                <a:solidFill>
                  <a:srgbClr val="B7791F"/>
                </a:solidFill>
                <a:latin typeface="Calibri"/>
              </a:rPr>
              <a:t>Order too little</a:t>
            </a:r>
          </a:p>
          <a:p>
            <a:pPr algn="l">
              <a:spcAft>
                <a:spcPts val="300"/>
              </a:spcAft>
            </a:pPr>
            <a:r>
              <a:rPr sz="1400" b="0" i="0">
                <a:solidFill>
                  <a:srgbClr val="1F2937"/>
                </a:solidFill>
                <a:latin typeface="Calibri"/>
              </a:rPr>
              <a:t>•  The customer buys elsewhere</a:t>
            </a:r>
          </a:p>
          <a:p>
            <a:pPr algn="l">
              <a:spcAft>
                <a:spcPts val="300"/>
              </a:spcAft>
            </a:pPr>
            <a:r>
              <a:rPr sz="1400" b="0" i="0">
                <a:solidFill>
                  <a:srgbClr val="1F2937"/>
                </a:solidFill>
                <a:latin typeface="Calibri"/>
              </a:rPr>
              <a:t>•  The sale is gone for good</a:t>
            </a:r>
          </a:p>
          <a:p>
            <a:pPr algn="l">
              <a:spcAft>
                <a:spcPts val="300"/>
              </a:spcAft>
            </a:pPr>
            <a:r>
              <a:rPr sz="1400" b="0" i="0">
                <a:solidFill>
                  <a:srgbClr val="1F2937"/>
                </a:solidFill>
                <a:latin typeface="Calibri"/>
              </a:rPr>
              <a:t>•  Lost-sale penalty applies</a:t>
            </a:r>
          </a:p>
        </p:txBody>
      </p:sp>
      <p:sp>
        <p:nvSpPr>
          <p:cNvPr id="24" name="Rounded Rectangle 23"/>
          <p:cNvSpPr/>
          <p:nvPr/>
        </p:nvSpPr>
        <p:spPr>
          <a:xfrm>
            <a:off x="8092440" y="1371600"/>
            <a:ext cx="3685032" cy="160020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02167" y="1444752"/>
            <a:ext cx="3465576" cy="1453896"/>
          </a:xfrm>
          <a:prstGeom prst="rect">
            <a:avLst/>
          </a:prstGeom>
          <a:noFill/>
        </p:spPr>
        <p:txBody>
          <a:bodyPr wrap="square" anchor="t" lIns="45720" rIns="45720" tIns="27432" bIns="27432">
            <a:spAutoFit/>
          </a:bodyPr>
          <a:lstStyle/>
          <a:p>
            <a:pPr algn="l">
              <a:spcAft>
                <a:spcPts val="500"/>
              </a:spcAft>
            </a:pPr>
            <a:r>
              <a:rPr sz="1700" b="1" i="0">
                <a:solidFill>
                  <a:srgbClr val="2F6FB5"/>
                </a:solidFill>
                <a:latin typeface="Calibri"/>
              </a:rPr>
              <a:t>Pick the wrong supplier</a:t>
            </a:r>
          </a:p>
          <a:p>
            <a:pPr algn="l">
              <a:spcAft>
                <a:spcPts val="300"/>
              </a:spcAft>
            </a:pPr>
            <a:r>
              <a:rPr sz="1400" b="0" i="0">
                <a:solidFill>
                  <a:srgbClr val="1F2937"/>
                </a:solidFill>
                <a:latin typeface="Calibri"/>
              </a:rPr>
              <a:t>•  Cheap but slow</a:t>
            </a:r>
          </a:p>
          <a:p>
            <a:pPr algn="l">
              <a:spcAft>
                <a:spcPts val="300"/>
              </a:spcAft>
            </a:pPr>
            <a:r>
              <a:rPr sz="1400" b="0" i="0">
                <a:solidFill>
                  <a:srgbClr val="1F2937"/>
                </a:solidFill>
                <a:latin typeface="Calibri"/>
              </a:rPr>
              <a:t>•  Fast but expensive</a:t>
            </a:r>
          </a:p>
          <a:p>
            <a:pPr algn="l">
              <a:spcAft>
                <a:spcPts val="300"/>
              </a:spcAft>
            </a:pPr>
            <a:r>
              <a:rPr sz="1400" b="0" i="0">
                <a:solidFill>
                  <a:srgbClr val="1F2937"/>
                </a:solidFill>
                <a:latin typeface="Calibri"/>
              </a:rPr>
              <a:t>•  Reasonable but ships only 80%</a:t>
            </a:r>
          </a:p>
        </p:txBody>
      </p:sp>
      <p:sp>
        <p:nvSpPr>
          <p:cNvPr id="26" name="TextBox 25"/>
          <p:cNvSpPr txBox="1"/>
          <p:nvPr/>
        </p:nvSpPr>
        <p:spPr>
          <a:xfrm>
            <a:off x="411480" y="3154680"/>
            <a:ext cx="11365992" cy="3108960"/>
          </a:xfrm>
          <a:prstGeom prst="rect">
            <a:avLst/>
          </a:prstGeom>
          <a:noFill/>
        </p:spPr>
        <p:txBody>
          <a:bodyPr wrap="square" anchor="t" lIns="45720" rIns="45720" tIns="27432" bIns="27432">
            <a:spAutoFit/>
          </a:bodyPr>
          <a:lstStyle/>
          <a:p>
            <a:pPr algn="l">
              <a:spcAft>
                <a:spcPts val="800"/>
              </a:spcAft>
            </a:pPr>
            <a:r>
              <a:rPr sz="1800" b="1" i="0">
                <a:solidFill>
                  <a:srgbClr val="1F2937"/>
                </a:solidFill>
                <a:latin typeface="Calibri"/>
              </a:rPr>
              <a:t>•  A sequential problem. </a:t>
            </a:r>
            <a:r>
              <a:rPr sz="1800" b="0" i="0">
                <a:solidFill>
                  <a:srgbClr val="1F2937"/>
                </a:solidFill>
                <a:latin typeface="Calibri"/>
              </a:rPr>
              <a:t>Today’s order becomes next week’s stock, so what you do now changes what you can do later.</a:t>
            </a:r>
          </a:p>
          <a:p>
            <a:pPr algn="l">
              <a:spcAft>
                <a:spcPts val="800"/>
              </a:spcAft>
            </a:pPr>
            <a:r>
              <a:rPr sz="1800" b="1" i="0">
                <a:solidFill>
                  <a:srgbClr val="1F2937"/>
                </a:solidFill>
                <a:latin typeface="Calibri"/>
              </a:rPr>
              <a:t>•  Classical rules struggle. </a:t>
            </a:r>
            <a:r>
              <a:rPr sz="1800" b="0" i="0">
                <a:solidFill>
                  <a:srgbClr val="1F2937"/>
                </a:solidFill>
                <a:latin typeface="Calibri"/>
              </a:rPr>
              <a:t>(s,S), EOQ, newsvendor and forecast + safety stock treat each product alone and assume well-behaved demand. In our data, daily demand varies about 216× more than a Poisson model allows.</a:t>
            </a:r>
          </a:p>
          <a:p>
            <a:pPr algn="l">
              <a:spcAft>
                <a:spcPts val="800"/>
              </a:spcAft>
            </a:pPr>
            <a:r>
              <a:rPr sz="1800" b="1" i="0">
                <a:solidFill>
                  <a:srgbClr val="1F2937"/>
                </a:solidFill>
                <a:latin typeface="Calibri"/>
              </a:rPr>
              <a:t>•  Our hypothesis. </a:t>
            </a:r>
            <a:r>
              <a:rPr sz="1800" b="0" i="0">
                <a:solidFill>
                  <a:srgbClr val="1F2937"/>
                </a:solidFill>
                <a:latin typeface="Calibri"/>
              </a:rPr>
              <a:t>RL can learn a joint ordering and sourcing policy that adapts to season, volatility and supplier state, which a formula cannot.</a:t>
            </a:r>
          </a:p>
          <a:p>
            <a:pPr algn="l">
              <a:spcAft>
                <a:spcPts val="800"/>
              </a:spcAft>
            </a:pPr>
            <a:r>
              <a:rPr sz="1800" b="1" i="0">
                <a:solidFill>
                  <a:srgbClr val="1F2937"/>
                </a:solidFill>
                <a:latin typeface="Calibri"/>
              </a:rPr>
              <a:t>•  But trust matters. </a:t>
            </a:r>
            <a:r>
              <a:rPr sz="1800" b="0" i="0">
                <a:solidFill>
                  <a:srgbClr val="1F2937"/>
                </a:solidFill>
                <a:latin typeface="Calibri"/>
              </a:rPr>
              <a:t>A manager will not act on a number they cannot understand, so an LLM explains the situation behind every order, with every number checked.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Problem Definition</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6766559" cy="3200400"/>
        </p:xfrm>
        <a:graphic>
          <a:graphicData uri="http://schemas.openxmlformats.org/drawingml/2006/table">
            <a:tbl>
              <a:tblPr firstRow="1" bandRow="1">
                <a:tableStyleId>{5C22544A-7EE6-4342-B048-85BDC9FD1C3A}</a:tableStyleId>
              </a:tblPr>
              <a:tblGrid>
                <a:gridCol w="1205003"/>
                <a:gridCol w="5561556"/>
              </a:tblGrid>
              <a:tr h="457200">
                <a:tc>
                  <a:txBody>
                    <a:bodyPr wrap="square"/>
                    <a:lstStyle/>
                    <a:p>
                      <a:pPr algn="l"/>
                      <a:r>
                        <a:rPr sz="1400" b="1" i="0">
                          <a:solidFill>
                            <a:srgbClr val="FFFFFF"/>
                          </a:solidFill>
                          <a:latin typeface="Calibri"/>
                        </a:rPr>
                        <a:t>The task</a:t>
                      </a:r>
                    </a:p>
                  </a:txBody>
                  <a:tcPr marL="54864" marR="54864" marT="18288" marB="18288" anchor="ctr">
                    <a:solidFill>
                      <a:srgbClr val="2E8B57"/>
                    </a:solidFill>
                  </a:tcPr>
                </a:tc>
                <a:tc>
                  <a:txBody>
                    <a:bodyPr wrap="square"/>
                    <a:lstStyle/>
                    <a:p>
                      <a:pPr algn="l"/>
                      <a:r>
                        <a:rPr sz="1400" b="1" i="0">
                          <a:solidFill>
                            <a:srgbClr val="FFFFFF"/>
                          </a:solidFill>
                          <a:latin typeface="Calibri"/>
                        </a:rPr>
                        <a:t>Definition</a:t>
                      </a:r>
                    </a:p>
                  </a:txBody>
                  <a:tcPr marL="54864" marR="54864" marT="18288" marB="18288" anchor="ctr">
                    <a:solidFill>
                      <a:srgbClr val="2E8B57"/>
                    </a:solidFill>
                  </a:tcPr>
                </a:tc>
              </a:tr>
              <a:tr h="457200">
                <a:tc>
                  <a:txBody>
                    <a:bodyPr wrap="square"/>
                    <a:lstStyle/>
                    <a:p>
                      <a:r>
                        <a:rPr sz="1400" b="0" i="0">
                          <a:solidFill>
                            <a:srgbClr val="1F2937"/>
                          </a:solidFill>
                          <a:latin typeface="Calibri"/>
                        </a:rPr>
                        <a:t>Products</a:t>
                      </a:r>
                    </a:p>
                  </a:txBody>
                  <a:tcPr marL="54864" marR="54864" marT="18288" marB="18288" anchor="ctr">
                    <a:solidFill>
                      <a:srgbClr val="FFFFFF"/>
                    </a:solidFill>
                  </a:tcPr>
                </a:tc>
                <a:tc>
                  <a:txBody>
                    <a:bodyPr wrap="square"/>
                    <a:lstStyle/>
                    <a:p>
                      <a:r>
                        <a:rPr sz="1400" b="0" i="0">
                          <a:solidFill>
                            <a:srgbClr val="1F2937"/>
                          </a:solidFill>
                          <a:latin typeface="Calibri"/>
                        </a:rPr>
                        <a:t>10 real products (UCI Online Retail II)</a:t>
                      </a:r>
                    </a:p>
                  </a:txBody>
                  <a:tcPr marL="54864" marR="54864" marT="18288" marB="18288" anchor="ctr">
                    <a:solidFill>
                      <a:srgbClr val="FFFFFF"/>
                    </a:solidFill>
                  </a:tcPr>
                </a:tc>
              </a:tr>
              <a:tr h="457200">
                <a:tc>
                  <a:txBody>
                    <a:bodyPr wrap="square"/>
                    <a:lstStyle/>
                    <a:p>
                      <a:r>
                        <a:rPr sz="1400" b="0" i="0">
                          <a:solidFill>
                            <a:srgbClr val="1F2937"/>
                          </a:solidFill>
                          <a:latin typeface="Calibri"/>
                        </a:rPr>
                        <a:t>Suppliers</a:t>
                      </a:r>
                    </a:p>
                  </a:txBody>
                  <a:tcPr marL="54864" marR="54864" marT="18288" marB="18288" anchor="ctr">
                    <a:solidFill>
                      <a:srgbClr val="F1F5F9"/>
                    </a:solidFill>
                  </a:tcPr>
                </a:tc>
                <a:tc>
                  <a:txBody>
                    <a:bodyPr wrap="square"/>
                    <a:lstStyle/>
                    <a:p>
                      <a:r>
                        <a:rPr sz="1400" b="0" i="0">
                          <a:solidFill>
                            <a:srgbClr val="1F2937"/>
                          </a:solidFill>
                          <a:latin typeface="Calibri"/>
                        </a:rPr>
                        <a:t>3, invented: no public dataset has supplier terms</a:t>
                      </a:r>
                    </a:p>
                  </a:txBody>
                  <a:tcPr marL="54864" marR="54864" marT="18288" marB="18288" anchor="ctr">
                    <a:solidFill>
                      <a:srgbClr val="F1F5F9"/>
                    </a:solidFill>
                  </a:tcPr>
                </a:tc>
              </a:tr>
              <a:tr h="457200">
                <a:tc>
                  <a:txBody>
                    <a:bodyPr wrap="square"/>
                    <a:lstStyle/>
                    <a:p>
                      <a:r>
                        <a:rPr sz="1400" b="0" i="0">
                          <a:solidFill>
                            <a:srgbClr val="1F2937"/>
                          </a:solidFill>
                          <a:latin typeface="Calibri"/>
                        </a:rPr>
                        <a:t>Time</a:t>
                      </a:r>
                    </a:p>
                  </a:txBody>
                  <a:tcPr marL="54864" marR="54864" marT="18288" marB="18288" anchor="ctr">
                    <a:solidFill>
                      <a:srgbClr val="FFFFFF"/>
                    </a:solidFill>
                  </a:tcPr>
                </a:tc>
                <a:tc>
                  <a:txBody>
                    <a:bodyPr wrap="square"/>
                    <a:lstStyle/>
                    <a:p>
                      <a:r>
                        <a:rPr sz="1400" b="0" i="0">
                          <a:solidFill>
                            <a:srgbClr val="1F2937"/>
                          </a:solidFill>
                          <a:latin typeface="Calibri"/>
                        </a:rPr>
                        <a:t>180 simulated days; first 14 are warm-up, not scored</a:t>
                      </a:r>
                    </a:p>
                  </a:txBody>
                  <a:tcPr marL="54864" marR="54864" marT="18288" marB="18288" anchor="ctr">
                    <a:solidFill>
                      <a:srgbClr val="FFFFFF"/>
                    </a:solidFill>
                  </a:tcPr>
                </a:tc>
              </a:tr>
              <a:tr h="457200">
                <a:tc>
                  <a:txBody>
                    <a:bodyPr wrap="square"/>
                    <a:lstStyle/>
                    <a:p>
                      <a:r>
                        <a:rPr sz="1400" b="0" i="0">
                          <a:solidFill>
                            <a:srgbClr val="1F2937"/>
                          </a:solidFill>
                          <a:latin typeface="Calibri"/>
                        </a:rPr>
                        <a:t>Warehouse</a:t>
                      </a:r>
                    </a:p>
                  </a:txBody>
                  <a:tcPr marL="54864" marR="54864" marT="18288" marB="18288" anchor="ctr">
                    <a:solidFill>
                      <a:srgbClr val="F1F5F9"/>
                    </a:solidFill>
                  </a:tcPr>
                </a:tc>
                <a:tc>
                  <a:txBody>
                    <a:bodyPr wrap="square"/>
                    <a:lstStyle/>
                    <a:p>
                      <a:r>
                        <a:rPr sz="1400" b="0" i="0">
                          <a:solidFill>
                            <a:srgbClr val="1F2937"/>
                          </a:solidFill>
                          <a:latin typeface="Calibri"/>
                        </a:rPr>
                        <a:t>one shared store of 20,000 units; overflow is refused</a:t>
                      </a:r>
                    </a:p>
                  </a:txBody>
                  <a:tcPr marL="54864" marR="54864" marT="18288" marB="18288" anchor="ctr">
                    <a:solidFill>
                      <a:srgbClr val="F1F5F9"/>
                    </a:solidFill>
                  </a:tcPr>
                </a:tc>
              </a:tr>
              <a:tr h="457200">
                <a:tc>
                  <a:txBody>
                    <a:bodyPr wrap="square"/>
                    <a:lstStyle/>
                    <a:p>
                      <a:r>
                        <a:rPr sz="1400" b="0" i="0">
                          <a:solidFill>
                            <a:srgbClr val="1F2937"/>
                          </a:solidFill>
                          <a:latin typeface="Calibri"/>
                        </a:rPr>
                        <a:t>Decision</a:t>
                      </a:r>
                    </a:p>
                  </a:txBody>
                  <a:tcPr marL="54864" marR="54864" marT="18288" marB="18288" anchor="ctr">
                    <a:solidFill>
                      <a:srgbClr val="FFFFFF"/>
                    </a:solidFill>
                  </a:tcPr>
                </a:tc>
                <a:tc>
                  <a:txBody>
                    <a:bodyPr wrap="square"/>
                    <a:lstStyle/>
                    <a:p>
                      <a:r>
                        <a:rPr sz="1400" b="0" i="0">
                          <a:solidFill>
                            <a:srgbClr val="1F2937"/>
                          </a:solidFill>
                          <a:latin typeface="Calibri"/>
                        </a:rPr>
                        <a:t>each day, each product: 7 quantity levels × 3 suppliers = 21 options</a:t>
                      </a:r>
                    </a:p>
                  </a:txBody>
                  <a:tcPr marL="54864" marR="54864" marT="18288" marB="18288" anchor="ctr">
                    <a:solidFill>
                      <a:srgbClr val="FFFFFF"/>
                    </a:solidFill>
                  </a:tcPr>
                </a:tc>
              </a:tr>
              <a:tr h="457200">
                <a:tc>
                  <a:txBody>
                    <a:bodyPr wrap="square"/>
                    <a:lstStyle/>
                    <a:p>
                      <a:r>
                        <a:rPr sz="1400" b="0" i="0">
                          <a:solidFill>
                            <a:srgbClr val="1F2937"/>
                          </a:solidFill>
                          <a:latin typeface="Calibri"/>
                        </a:rPr>
                        <a:t>Goal</a:t>
                      </a:r>
                    </a:p>
                  </a:txBody>
                  <a:tcPr marL="54864" marR="54864" marT="18288" marB="18288" anchor="ctr">
                    <a:solidFill>
                      <a:srgbClr val="F1F5F9"/>
                    </a:solidFill>
                  </a:tcPr>
                </a:tc>
                <a:tc>
                  <a:txBody>
                    <a:bodyPr wrap="square"/>
                    <a:lstStyle/>
                    <a:p>
                      <a:r>
                        <a:rPr sz="1400" b="0" i="0">
                          <a:solidFill>
                            <a:srgbClr val="1F2937"/>
                          </a:solidFill>
                          <a:latin typeface="Calibri"/>
                        </a:rPr>
                        <a:t>maximise profit = sales − purchases − storage − fees − stockout − overflow</a:t>
                      </a:r>
                    </a:p>
                  </a:txBody>
                  <a:tcPr marL="54864" marR="54864" marT="18288" marB="18288" anchor="ctr">
                    <a:solidFill>
                      <a:srgbClr val="F1F5F9"/>
                    </a:solidFill>
                  </a:tcPr>
                </a:tc>
              </a:tr>
            </a:tbl>
          </a:graphicData>
        </a:graphic>
      </p:graphicFrame>
      <p:graphicFrame>
        <p:nvGraphicFramePr>
          <p:cNvPr id="21" name="Table 20"/>
          <p:cNvGraphicFramePr>
            <a:graphicFrameLocks noGrp="1"/>
          </p:cNvGraphicFramePr>
          <p:nvPr/>
        </p:nvGraphicFramePr>
        <p:xfrm>
          <a:off x="7406640" y="1371600"/>
          <a:ext cx="4370828" cy="1645920"/>
        </p:xfrm>
        <a:graphic>
          <a:graphicData uri="http://schemas.openxmlformats.org/drawingml/2006/table">
            <a:tbl>
              <a:tblPr firstRow="1" bandRow="1">
                <a:tableStyleId>{5C22544A-7EE6-4342-B048-85BDC9FD1C3A}</a:tableStyleId>
              </a:tblPr>
              <a:tblGrid>
                <a:gridCol w="1285538"/>
                <a:gridCol w="685620"/>
                <a:gridCol w="857025"/>
                <a:gridCol w="685620"/>
                <a:gridCol w="857025"/>
              </a:tblGrid>
              <a:tr h="411480">
                <a:tc>
                  <a:txBody>
                    <a:bodyPr wrap="square"/>
                    <a:lstStyle/>
                    <a:p>
                      <a:pPr algn="l"/>
                      <a:r>
                        <a:rPr sz="1300" b="1" i="0">
                          <a:solidFill>
                            <a:srgbClr val="FFFFFF"/>
                          </a:solidFill>
                          <a:latin typeface="Calibri"/>
                        </a:rPr>
                        <a:t>Supplier</a:t>
                      </a:r>
                    </a:p>
                  </a:txBody>
                  <a:tcPr marL="54864" marR="54864" marT="18288" marB="18288" anchor="ctr">
                    <a:solidFill>
                      <a:srgbClr val="2E8B57"/>
                    </a:solidFill>
                  </a:tcPr>
                </a:tc>
                <a:tc>
                  <a:txBody>
                    <a:bodyPr wrap="square"/>
                    <a:lstStyle/>
                    <a:p>
                      <a:pPr algn="ctr"/>
                      <a:r>
                        <a:rPr sz="1300" b="1" i="0">
                          <a:solidFill>
                            <a:srgbClr val="FFFFFF"/>
                          </a:solidFill>
                          <a:latin typeface="Calibri"/>
                        </a:rPr>
                        <a:t>Price</a:t>
                      </a:r>
                    </a:p>
                  </a:txBody>
                  <a:tcPr marL="54864" marR="54864" marT="18288" marB="18288" anchor="ctr">
                    <a:solidFill>
                      <a:srgbClr val="2E8B57"/>
                    </a:solidFill>
                  </a:tcPr>
                </a:tc>
                <a:tc>
                  <a:txBody>
                    <a:bodyPr wrap="square"/>
                    <a:lstStyle/>
                    <a:p>
                      <a:pPr algn="ctr"/>
                      <a:r>
                        <a:rPr sz="1300" b="1" i="0">
                          <a:solidFill>
                            <a:srgbClr val="FFFFFF"/>
                          </a:solidFill>
                          <a:latin typeface="Calibri"/>
                        </a:rPr>
                        <a:t>Lead time</a:t>
                      </a:r>
                    </a:p>
                  </a:txBody>
                  <a:tcPr marL="54864" marR="54864" marT="18288" marB="18288" anchor="ctr">
                    <a:solidFill>
                      <a:srgbClr val="2E8B57"/>
                    </a:solidFill>
                  </a:tcPr>
                </a:tc>
                <a:tc>
                  <a:txBody>
                    <a:bodyPr wrap="square"/>
                    <a:lstStyle/>
                    <a:p>
                      <a:pPr algn="ctr"/>
                      <a:r>
                        <a:rPr sz="1300" b="1" i="0">
                          <a:solidFill>
                            <a:srgbClr val="FFFFFF"/>
                          </a:solidFill>
                          <a:latin typeface="Calibri"/>
                        </a:rPr>
                        <a:t>Ships</a:t>
                      </a:r>
                    </a:p>
                  </a:txBody>
                  <a:tcPr marL="54864" marR="54864" marT="18288" marB="18288" anchor="ctr">
                    <a:solidFill>
                      <a:srgbClr val="2E8B57"/>
                    </a:solidFill>
                  </a:tcPr>
                </a:tc>
                <a:tc>
                  <a:txBody>
                    <a:bodyPr wrap="square"/>
                    <a:lstStyle/>
                    <a:p>
                      <a:pPr algn="ctr"/>
                      <a:r>
                        <a:rPr sz="1300" b="1" i="0">
                          <a:solidFill>
                            <a:srgbClr val="FFFFFF"/>
                          </a:solidFill>
                          <a:latin typeface="Calibri"/>
                        </a:rPr>
                        <a:t>Fee</a:t>
                      </a:r>
                    </a:p>
                  </a:txBody>
                  <a:tcPr marL="54864" marR="54864" marT="18288" marB="18288" anchor="ctr">
                    <a:solidFill>
                      <a:srgbClr val="2E8B57"/>
                    </a:solidFill>
                  </a:tcPr>
                </a:tc>
              </a:tr>
              <a:tr h="411480">
                <a:tc>
                  <a:txBody>
                    <a:bodyPr wrap="square"/>
                    <a:lstStyle/>
                    <a:p>
                      <a:r>
                        <a:rPr sz="1300" b="0" i="0">
                          <a:solidFill>
                            <a:srgbClr val="1F2937"/>
                          </a:solidFill>
                          <a:latin typeface="Calibri"/>
                        </a:rPr>
                        <a:t>EconoSource</a:t>
                      </a:r>
                    </a:p>
                  </a:txBody>
                  <a:tcPr marL="54864" marR="54864" marT="18288" marB="18288" anchor="ctr">
                    <a:solidFill>
                      <a:srgbClr val="FFFFFF"/>
                    </a:solidFill>
                  </a:tcPr>
                </a:tc>
                <a:tc>
                  <a:txBody>
                    <a:bodyPr wrap="square"/>
                    <a:lstStyle/>
                    <a:p>
                      <a:pPr algn="ctr"/>
                      <a:r>
                        <a:rPr sz="1300" b="0" i="0">
                          <a:solidFill>
                            <a:srgbClr val="1F2937"/>
                          </a:solidFill>
                          <a:latin typeface="Calibri"/>
                        </a:rPr>
                        <a:t>base</a:t>
                      </a:r>
                    </a:p>
                  </a:txBody>
                  <a:tcPr marL="54864" marR="54864" marT="18288" marB="18288" anchor="ctr">
                    <a:solidFill>
                      <a:srgbClr val="FFFFFF"/>
                    </a:solidFill>
                  </a:tcPr>
                </a:tc>
                <a:tc>
                  <a:txBody>
                    <a:bodyPr wrap="square"/>
                    <a:lstStyle/>
                    <a:p>
                      <a:pPr algn="ctr"/>
                      <a:r>
                        <a:rPr sz="1300" b="0" i="0">
                          <a:solidFill>
                            <a:srgbClr val="1F2937"/>
                          </a:solidFill>
                          <a:latin typeface="Calibri"/>
                        </a:rPr>
                        <a:t>5–8 d</a:t>
                      </a:r>
                    </a:p>
                  </a:txBody>
                  <a:tcPr marL="54864" marR="54864" marT="18288" marB="18288" anchor="ctr">
                    <a:solidFill>
                      <a:srgbClr val="FFFFFF"/>
                    </a:solidFill>
                  </a:tcPr>
                </a:tc>
                <a:tc>
                  <a:txBody>
                    <a:bodyPr wrap="square"/>
                    <a:lstStyle/>
                    <a:p>
                      <a:pPr algn="ctr"/>
                      <a:r>
                        <a:rPr sz="1300" b="0" i="0">
                          <a:solidFill>
                            <a:srgbClr val="1F2937"/>
                          </a:solidFill>
                          <a:latin typeface="Calibri"/>
                        </a:rPr>
                        <a:t>90%</a:t>
                      </a:r>
                    </a:p>
                  </a:txBody>
                  <a:tcPr marL="54864" marR="54864" marT="18288" marB="18288" anchor="ctr">
                    <a:solidFill>
                      <a:srgbClr val="FFFFFF"/>
                    </a:solidFill>
                  </a:tcPr>
                </a:tc>
                <a:tc>
                  <a:txBody>
                    <a:bodyPr wrap="square"/>
                    <a:lstStyle/>
                    <a:p>
                      <a:pPr algn="ctr"/>
                      <a:r>
                        <a:rPr sz="1300" b="0" i="0">
                          <a:solidFill>
                            <a:srgbClr val="1F2937"/>
                          </a:solidFill>
                          <a:latin typeface="Calibri"/>
                        </a:rPr>
                        <a:t>₹2,100</a:t>
                      </a:r>
                    </a:p>
                  </a:txBody>
                  <a:tcPr marL="54864" marR="54864" marT="18288" marB="18288" anchor="ctr">
                    <a:solidFill>
                      <a:srgbClr val="FFFFFF"/>
                    </a:solidFill>
                  </a:tcPr>
                </a:tc>
              </a:tr>
              <a:tr h="411480">
                <a:tc>
                  <a:txBody>
                    <a:bodyPr wrap="square"/>
                    <a:lstStyle/>
                    <a:p>
                      <a:r>
                        <a:rPr sz="1300" b="0" i="0">
                          <a:solidFill>
                            <a:srgbClr val="1F2937"/>
                          </a:solidFill>
                          <a:latin typeface="Calibri"/>
                        </a:rPr>
                        <a:t>RapidTrade</a:t>
                      </a:r>
                    </a:p>
                  </a:txBody>
                  <a:tcPr marL="54864" marR="54864" marT="18288" marB="18288" anchor="ctr">
                    <a:solidFill>
                      <a:srgbClr val="F1F5F9"/>
                    </a:solidFill>
                  </a:tcPr>
                </a:tc>
                <a:tc>
                  <a:txBody>
                    <a:bodyPr wrap="square"/>
                    <a:lstStyle/>
                    <a:p>
                      <a:pPr algn="ctr"/>
                      <a:r>
                        <a:rPr sz="1300" b="0" i="0">
                          <a:solidFill>
                            <a:srgbClr val="1F2937"/>
                          </a:solidFill>
                          <a:latin typeface="Calibri"/>
                        </a:rPr>
                        <a:t>+35%</a:t>
                      </a:r>
                    </a:p>
                  </a:txBody>
                  <a:tcPr marL="54864" marR="54864" marT="18288" marB="18288" anchor="ctr">
                    <a:solidFill>
                      <a:srgbClr val="F1F5F9"/>
                    </a:solidFill>
                  </a:tcPr>
                </a:tc>
                <a:tc>
                  <a:txBody>
                    <a:bodyPr wrap="square"/>
                    <a:lstStyle/>
                    <a:p>
                      <a:pPr algn="ctr"/>
                      <a:r>
                        <a:rPr sz="1300" b="0" i="0">
                          <a:solidFill>
                            <a:srgbClr val="1F2937"/>
                          </a:solidFill>
                          <a:latin typeface="Calibri"/>
                        </a:rPr>
                        <a:t>1–3 d</a:t>
                      </a:r>
                    </a:p>
                  </a:txBody>
                  <a:tcPr marL="54864" marR="54864" marT="18288" marB="18288" anchor="ctr">
                    <a:solidFill>
                      <a:srgbClr val="F1F5F9"/>
                    </a:solidFill>
                  </a:tcPr>
                </a:tc>
                <a:tc>
                  <a:txBody>
                    <a:bodyPr wrap="square"/>
                    <a:lstStyle/>
                    <a:p>
                      <a:pPr algn="ctr"/>
                      <a:r>
                        <a:rPr sz="1300" b="0" i="0">
                          <a:solidFill>
                            <a:srgbClr val="1F2937"/>
                          </a:solidFill>
                          <a:latin typeface="Calibri"/>
                        </a:rPr>
                        <a:t>98%</a:t>
                      </a:r>
                    </a:p>
                  </a:txBody>
                  <a:tcPr marL="54864" marR="54864" marT="18288" marB="18288" anchor="ctr">
                    <a:solidFill>
                      <a:srgbClr val="F1F5F9"/>
                    </a:solidFill>
                  </a:tcPr>
                </a:tc>
                <a:tc>
                  <a:txBody>
                    <a:bodyPr wrap="square"/>
                    <a:lstStyle/>
                    <a:p>
                      <a:pPr algn="ctr"/>
                      <a:r>
                        <a:rPr sz="1300" b="0" i="0">
                          <a:solidFill>
                            <a:srgbClr val="1F2937"/>
                          </a:solidFill>
                          <a:latin typeface="Calibri"/>
                        </a:rPr>
                        <a:t>₹4,725</a:t>
                      </a:r>
                    </a:p>
                  </a:txBody>
                  <a:tcPr marL="54864" marR="54864" marT="18288" marB="18288" anchor="ctr">
                    <a:solidFill>
                      <a:srgbClr val="F1F5F9"/>
                    </a:solidFill>
                  </a:tcPr>
                </a:tc>
              </a:tr>
              <a:tr h="411480">
                <a:tc>
                  <a:txBody>
                    <a:bodyPr wrap="square"/>
                    <a:lstStyle/>
                    <a:p>
                      <a:r>
                        <a:rPr sz="1300" b="0" i="0">
                          <a:solidFill>
                            <a:srgbClr val="1F2937"/>
                          </a:solidFill>
                          <a:latin typeface="Calibri"/>
                        </a:rPr>
                        <a:t>MidWay</a:t>
                      </a:r>
                    </a:p>
                  </a:txBody>
                  <a:tcPr marL="54864" marR="54864" marT="18288" marB="18288" anchor="ctr">
                    <a:solidFill>
                      <a:srgbClr val="FFFFFF"/>
                    </a:solidFill>
                  </a:tcPr>
                </a:tc>
                <a:tc>
                  <a:txBody>
                    <a:bodyPr wrap="square"/>
                    <a:lstStyle/>
                    <a:p>
                      <a:pPr algn="ctr"/>
                      <a:r>
                        <a:rPr sz="1300" b="0" i="0">
                          <a:solidFill>
                            <a:srgbClr val="1F2937"/>
                          </a:solidFill>
                          <a:latin typeface="Calibri"/>
                        </a:rPr>
                        <a:t>+15%</a:t>
                      </a:r>
                    </a:p>
                  </a:txBody>
                  <a:tcPr marL="54864" marR="54864" marT="18288" marB="18288" anchor="ctr">
                    <a:solidFill>
                      <a:srgbClr val="FFFFFF"/>
                    </a:solidFill>
                  </a:tcPr>
                </a:tc>
                <a:tc>
                  <a:txBody>
                    <a:bodyPr wrap="square"/>
                    <a:lstStyle/>
                    <a:p>
                      <a:pPr algn="ctr"/>
                      <a:r>
                        <a:rPr sz="1300" b="0" i="0">
                          <a:solidFill>
                            <a:srgbClr val="1F2937"/>
                          </a:solidFill>
                          <a:latin typeface="Calibri"/>
                        </a:rPr>
                        <a:t>3–5 d</a:t>
                      </a:r>
                    </a:p>
                  </a:txBody>
                  <a:tcPr marL="54864" marR="54864" marT="18288" marB="18288" anchor="ctr">
                    <a:solidFill>
                      <a:srgbClr val="FFFFFF"/>
                    </a:solidFill>
                  </a:tcPr>
                </a:tc>
                <a:tc>
                  <a:txBody>
                    <a:bodyPr wrap="square"/>
                    <a:lstStyle/>
                    <a:p>
                      <a:pPr algn="ctr"/>
                      <a:r>
                        <a:rPr sz="1300" b="0" i="0">
                          <a:solidFill>
                            <a:srgbClr val="1F2937"/>
                          </a:solidFill>
                          <a:latin typeface="Calibri"/>
                        </a:rPr>
                        <a:t>80%</a:t>
                      </a:r>
                    </a:p>
                  </a:txBody>
                  <a:tcPr marL="54864" marR="54864" marT="18288" marB="18288" anchor="ctr">
                    <a:solidFill>
                      <a:srgbClr val="FFFFFF"/>
                    </a:solidFill>
                  </a:tcPr>
                </a:tc>
                <a:tc>
                  <a:txBody>
                    <a:bodyPr wrap="square"/>
                    <a:lstStyle/>
                    <a:p>
                      <a:pPr algn="ctr"/>
                      <a:r>
                        <a:rPr sz="1300" b="0" i="0">
                          <a:solidFill>
                            <a:srgbClr val="1F2937"/>
                          </a:solidFill>
                          <a:latin typeface="Calibri"/>
                        </a:rPr>
                        <a:t>₹3,150</a:t>
                      </a:r>
                    </a:p>
                  </a:txBody>
                  <a:tcPr marL="54864" marR="54864" marT="18288" marB="18288" anchor="ctr">
                    <a:solidFill>
                      <a:srgbClr val="FFFFFF"/>
                    </a:solidFill>
                  </a:tcPr>
                </a:tc>
              </a:tr>
            </a:tbl>
          </a:graphicData>
        </a:graphic>
      </p:graphicFrame>
      <p:sp>
        <p:nvSpPr>
          <p:cNvPr id="22" name="TextBox 21"/>
          <p:cNvSpPr txBox="1"/>
          <p:nvPr/>
        </p:nvSpPr>
        <p:spPr>
          <a:xfrm>
            <a:off x="7406640" y="3108960"/>
            <a:ext cx="4370832" cy="914400"/>
          </a:xfrm>
          <a:prstGeom prst="rect">
            <a:avLst/>
          </a:prstGeom>
          <a:noFill/>
        </p:spPr>
        <p:txBody>
          <a:bodyPr wrap="square" anchor="t" lIns="45720" rIns="45720" tIns="27432" bIns="27432">
            <a:spAutoFit/>
          </a:bodyPr>
          <a:lstStyle/>
          <a:p>
            <a:pPr algn="l">
              <a:spcAft>
                <a:spcPts val="400"/>
              </a:spcAft>
            </a:pPr>
            <a:r>
              <a:rPr sz="1400" b="0" i="0">
                <a:solidFill>
                  <a:srgbClr val="5B6573"/>
                </a:solidFill>
                <a:latin typeface="Calibri"/>
              </a:rPr>
              <a:t>None is best: the cheap one ties up a week of stock in transit, the fast one eats margin, the middle one is unreliable.</a:t>
            </a:r>
          </a:p>
        </p:txBody>
      </p:sp>
      <p:sp>
        <p:nvSpPr>
          <p:cNvPr id="23" name="Rounded Rectangle 22"/>
          <p:cNvSpPr/>
          <p:nvPr/>
        </p:nvSpPr>
        <p:spPr>
          <a:xfrm>
            <a:off x="411480" y="4800600"/>
            <a:ext cx="3566160" cy="1188720"/>
          </a:xfrm>
          <a:prstGeom prst="roundRect">
            <a:avLst>
              <a:gd name="adj" fmla="val 12000"/>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632" y="4846320"/>
            <a:ext cx="3419856" cy="1097280"/>
          </a:xfrm>
          <a:prstGeom prst="rect">
            <a:avLst/>
          </a:prstGeom>
          <a:noFill/>
        </p:spPr>
        <p:txBody>
          <a:bodyPr wrap="square" anchor="ctr" lIns="45720" rIns="45720" tIns="27432" bIns="27432">
            <a:spAutoFit/>
          </a:bodyPr>
          <a:lstStyle/>
          <a:p>
            <a:pPr algn="ctr">
              <a:spcAft>
                <a:spcPts val="100"/>
              </a:spcAft>
            </a:pPr>
            <a:r>
              <a:rPr sz="3000" b="1" i="0">
                <a:solidFill>
                  <a:srgbClr val="FFFFFF"/>
                </a:solidFill>
                <a:latin typeface="Calibri"/>
              </a:rPr>
              <a:t>≈ 17 trillion</a:t>
            </a:r>
          </a:p>
          <a:p>
            <a:pPr algn="ctr">
              <a:spcAft>
                <a:spcPts val="400"/>
              </a:spcAft>
            </a:pPr>
            <a:r>
              <a:rPr sz="1300" b="0" i="0">
                <a:solidFill>
                  <a:srgbClr val="FFFFFF"/>
                </a:solidFill>
                <a:latin typeface="Calibri"/>
              </a:rPr>
              <a:t>possible order combinations every day (21¹⁰)</a:t>
            </a:r>
          </a:p>
        </p:txBody>
      </p:sp>
      <p:sp>
        <p:nvSpPr>
          <p:cNvPr id="25" name="Rounded Rectangle 24"/>
          <p:cNvSpPr/>
          <p:nvPr/>
        </p:nvSpPr>
        <p:spPr>
          <a:xfrm>
            <a:off x="4206240" y="4800600"/>
            <a:ext cx="3566160" cy="118872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79392" y="4846320"/>
            <a:ext cx="3419856" cy="1097280"/>
          </a:xfrm>
          <a:prstGeom prst="rect">
            <a:avLst/>
          </a:prstGeom>
          <a:noFill/>
        </p:spPr>
        <p:txBody>
          <a:bodyPr wrap="square" anchor="ctr" lIns="45720" rIns="45720" tIns="27432" bIns="27432">
            <a:spAutoFit/>
          </a:bodyPr>
          <a:lstStyle/>
          <a:p>
            <a:pPr algn="ctr">
              <a:spcAft>
                <a:spcPts val="100"/>
              </a:spcAft>
            </a:pPr>
            <a:r>
              <a:rPr sz="3000" b="1" i="0">
                <a:solidFill>
                  <a:srgbClr val="FFFFFF"/>
                </a:solidFill>
                <a:latin typeface="Calibri"/>
              </a:rPr>
              <a:t>216×</a:t>
            </a:r>
          </a:p>
          <a:p>
            <a:pPr algn="ctr">
              <a:spcAft>
                <a:spcPts val="400"/>
              </a:spcAft>
            </a:pPr>
            <a:r>
              <a:rPr sz="1300" b="0" i="0">
                <a:solidFill>
                  <a:srgbClr val="FFFFFF"/>
                </a:solidFill>
                <a:latin typeface="Calibri"/>
              </a:rPr>
              <a:t>variance of daily demand vs its mean</a:t>
            </a:r>
          </a:p>
        </p:txBody>
      </p:sp>
      <p:sp>
        <p:nvSpPr>
          <p:cNvPr id="27" name="Rounded Rectangle 26"/>
          <p:cNvSpPr/>
          <p:nvPr/>
        </p:nvSpPr>
        <p:spPr>
          <a:xfrm>
            <a:off x="8001000" y="4800600"/>
            <a:ext cx="3776472" cy="1188720"/>
          </a:xfrm>
          <a:prstGeom prst="roundRect">
            <a:avLst>
              <a:gd name="adj" fmla="val 12000"/>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74152" y="4846320"/>
            <a:ext cx="3630168" cy="1097280"/>
          </a:xfrm>
          <a:prstGeom prst="rect">
            <a:avLst/>
          </a:prstGeom>
          <a:noFill/>
        </p:spPr>
        <p:txBody>
          <a:bodyPr wrap="square" anchor="ctr" lIns="45720" rIns="45720" tIns="27432" bIns="27432">
            <a:spAutoFit/>
          </a:bodyPr>
          <a:lstStyle/>
          <a:p>
            <a:pPr algn="ctr">
              <a:spcAft>
                <a:spcPts val="100"/>
              </a:spcAft>
            </a:pPr>
            <a:r>
              <a:rPr sz="3000" b="1" i="0">
                <a:solidFill>
                  <a:srgbClr val="FFFFFF"/>
                </a:solidFill>
                <a:latin typeface="Calibri"/>
              </a:rPr>
              <a:t>Joint choice</a:t>
            </a:r>
          </a:p>
          <a:p>
            <a:pPr algn="ctr">
              <a:spcAft>
                <a:spcPts val="400"/>
              </a:spcAft>
            </a:pPr>
            <a:r>
              <a:rPr sz="1300" b="0" i="0">
                <a:solidFill>
                  <a:srgbClr val="FFFFFF"/>
                </a:solidFill>
                <a:latin typeface="Calibri"/>
              </a:rPr>
              <a:t>quantity and supplier decided together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Literature Review</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11365989" cy="4663440"/>
        </p:xfrm>
        <a:graphic>
          <a:graphicData uri="http://schemas.openxmlformats.org/drawingml/2006/table">
            <a:tbl>
              <a:tblPr firstRow="1" bandRow="1">
                <a:tableStyleId>{5C22544A-7EE6-4342-B048-85BDC9FD1C3A}</a:tableStyleId>
              </a:tblPr>
              <a:tblGrid>
                <a:gridCol w="366644"/>
                <a:gridCol w="2749836"/>
                <a:gridCol w="2108208"/>
                <a:gridCol w="3116481"/>
                <a:gridCol w="3024820"/>
              </a:tblGrid>
              <a:tr h="777240">
                <a:tc>
                  <a:txBody>
                    <a:bodyPr wrap="square"/>
                    <a:lstStyle/>
                    <a:p>
                      <a:pPr algn="l"/>
                      <a:r>
                        <a:rPr sz="1300" b="1" i="0">
                          <a:solidFill>
                            <a:srgbClr val="FFFFFF"/>
                          </a:solidFill>
                          <a:latin typeface="Calibri"/>
                        </a:rPr>
                        <a:t>#</a:t>
                      </a:r>
                    </a:p>
                  </a:txBody>
                  <a:tcPr marL="54864" marR="54864" marT="18288" marB="18288" anchor="ctr">
                    <a:solidFill>
                      <a:srgbClr val="2E8B57"/>
                    </a:solidFill>
                  </a:tcPr>
                </a:tc>
                <a:tc>
                  <a:txBody>
                    <a:bodyPr wrap="square"/>
                    <a:lstStyle/>
                    <a:p>
                      <a:pPr algn="l"/>
                      <a:r>
                        <a:rPr sz="1300" b="1" i="0">
                          <a:solidFill>
                            <a:srgbClr val="FFFFFF"/>
                          </a:solidFill>
                          <a:latin typeface="Calibri"/>
                        </a:rPr>
                        <a:t>Work</a:t>
                      </a:r>
                    </a:p>
                  </a:txBody>
                  <a:tcPr marL="54864" marR="54864" marT="18288" marB="18288" anchor="ctr">
                    <a:solidFill>
                      <a:srgbClr val="2E8B57"/>
                    </a:solidFill>
                  </a:tcPr>
                </a:tc>
                <a:tc>
                  <a:txBody>
                    <a:bodyPr wrap="square"/>
                    <a:lstStyle/>
                    <a:p>
                      <a:pPr algn="l"/>
                      <a:r>
                        <a:rPr sz="1300" b="1" i="0">
                          <a:solidFill>
                            <a:srgbClr val="FFFFFF"/>
                          </a:solidFill>
                          <a:latin typeface="Calibri"/>
                        </a:rPr>
                        <a:t>Approach</a:t>
                      </a:r>
                    </a:p>
                  </a:txBody>
                  <a:tcPr marL="54864" marR="54864" marT="18288" marB="18288" anchor="ctr">
                    <a:solidFill>
                      <a:srgbClr val="2E8B57"/>
                    </a:solidFill>
                  </a:tcPr>
                </a:tc>
                <a:tc>
                  <a:txBody>
                    <a:bodyPr wrap="square"/>
                    <a:lstStyle/>
                    <a:p>
                      <a:pPr algn="l"/>
                      <a:r>
                        <a:rPr sz="1300" b="1" i="0">
                          <a:solidFill>
                            <a:srgbClr val="FFFFFF"/>
                          </a:solidFill>
                          <a:latin typeface="Calibri"/>
                        </a:rPr>
                        <a:t>Key finding</a:t>
                      </a:r>
                    </a:p>
                  </a:txBody>
                  <a:tcPr marL="54864" marR="54864" marT="18288" marB="18288" anchor="ctr">
                    <a:solidFill>
                      <a:srgbClr val="2E8B57"/>
                    </a:solidFill>
                  </a:tcPr>
                </a:tc>
                <a:tc>
                  <a:txBody>
                    <a:bodyPr wrap="square"/>
                    <a:lstStyle/>
                    <a:p>
                      <a:pPr algn="l"/>
                      <a:r>
                        <a:rPr sz="1300" b="1" i="0">
                          <a:solidFill>
                            <a:srgbClr val="FFFFFF"/>
                          </a:solidFill>
                          <a:latin typeface="Calibri"/>
                        </a:rPr>
                        <a:t>Limitation</a:t>
                      </a:r>
                    </a:p>
                  </a:txBody>
                  <a:tcPr marL="54864" marR="54864" marT="18288" marB="18288" anchor="ctr">
                    <a:solidFill>
                      <a:srgbClr val="2E8B57"/>
                    </a:solidFill>
                  </a:tcPr>
                </a:tc>
              </a:tr>
              <a:tr h="777240">
                <a:tc>
                  <a:txBody>
                    <a:bodyPr wrap="square"/>
                    <a:lstStyle/>
                    <a:p>
                      <a:r>
                        <a:rPr sz="1300" b="0" i="0">
                          <a:solidFill>
                            <a:srgbClr val="1F2937"/>
                          </a:solidFill>
                          <a:latin typeface="Calibri"/>
                        </a:rPr>
                        <a:t>1</a:t>
                      </a:r>
                    </a:p>
                  </a:txBody>
                  <a:tcPr marL="54864" marR="54864" marT="18288" marB="18288" anchor="ctr">
                    <a:solidFill>
                      <a:srgbClr val="FFFFFF"/>
                    </a:solidFill>
                  </a:tcPr>
                </a:tc>
                <a:tc>
                  <a:txBody>
                    <a:bodyPr wrap="square"/>
                    <a:lstStyle/>
                    <a:p>
                      <a:r>
                        <a:rPr sz="1300" b="0" i="0">
                          <a:solidFill>
                            <a:srgbClr val="1F2937"/>
                          </a:solidFill>
                          <a:latin typeface="Calibri"/>
                        </a:rPr>
                        <a:t>Proximal Policy Optimization (2017)</a:t>
                      </a:r>
                    </a:p>
                  </a:txBody>
                  <a:tcPr marL="54864" marR="54864" marT="18288" marB="18288" anchor="ctr">
                    <a:solidFill>
                      <a:srgbClr val="FFFFFF"/>
                    </a:solidFill>
                  </a:tcPr>
                </a:tc>
                <a:tc>
                  <a:txBody>
                    <a:bodyPr wrap="square"/>
                    <a:lstStyle/>
                    <a:p>
                      <a:r>
                        <a:rPr sz="1300" b="0" i="0">
                          <a:solidFill>
                            <a:srgbClr val="1F2937"/>
                          </a:solidFill>
                          <a:latin typeface="Calibri"/>
                        </a:rPr>
                        <a:t>Clipped surrogate policy gradient</a:t>
                      </a:r>
                    </a:p>
                  </a:txBody>
                  <a:tcPr marL="54864" marR="54864" marT="18288" marB="18288" anchor="ctr">
                    <a:solidFill>
                      <a:srgbClr val="FFFFFF"/>
                    </a:solidFill>
                  </a:tcPr>
                </a:tc>
                <a:tc>
                  <a:txBody>
                    <a:bodyPr wrap="square"/>
                    <a:lstStyle/>
                    <a:p>
                      <a:r>
                        <a:rPr sz="1300" b="0" i="0">
                          <a:solidFill>
                            <a:srgbClr val="1F2937"/>
                          </a:solidFill>
                          <a:latin typeface="Calibri"/>
                        </a:rPr>
                        <a:t>Stable, sample-efficient default RL baseline</a:t>
                      </a:r>
                    </a:p>
                  </a:txBody>
                  <a:tcPr marL="54864" marR="54864" marT="18288" marB="18288" anchor="ctr">
                    <a:solidFill>
                      <a:srgbClr val="FFFFFF"/>
                    </a:solidFill>
                  </a:tcPr>
                </a:tc>
                <a:tc>
                  <a:txBody>
                    <a:bodyPr wrap="square"/>
                    <a:lstStyle/>
                    <a:p>
                      <a:r>
                        <a:rPr sz="1300" b="0" i="0">
                          <a:solidFill>
                            <a:srgbClr val="1F2937"/>
                          </a:solidFill>
                          <a:latin typeface="Calibri"/>
                        </a:rPr>
                        <a:t>General purpose; no supply-chain structure</a:t>
                      </a:r>
                    </a:p>
                  </a:txBody>
                  <a:tcPr marL="54864" marR="54864" marT="18288" marB="18288" anchor="ctr">
                    <a:solidFill>
                      <a:srgbClr val="FFFFFF"/>
                    </a:solidFill>
                  </a:tcPr>
                </a:tc>
              </a:tr>
              <a:tr h="777240">
                <a:tc>
                  <a:txBody>
                    <a:bodyPr wrap="square"/>
                    <a:lstStyle/>
                    <a:p>
                      <a:r>
                        <a:rPr sz="1300" b="0" i="0">
                          <a:solidFill>
                            <a:srgbClr val="1F2937"/>
                          </a:solidFill>
                          <a:latin typeface="Calibri"/>
                        </a:rPr>
                        <a:t>2</a:t>
                      </a:r>
                    </a:p>
                  </a:txBody>
                  <a:tcPr marL="54864" marR="54864" marT="18288" marB="18288" anchor="ctr">
                    <a:solidFill>
                      <a:srgbClr val="F1F5F9"/>
                    </a:solidFill>
                  </a:tcPr>
                </a:tc>
                <a:tc>
                  <a:txBody>
                    <a:bodyPr wrap="square"/>
                    <a:lstStyle/>
                    <a:p>
                      <a:r>
                        <a:rPr sz="1300" b="0" i="0">
                          <a:solidFill>
                            <a:srgbClr val="1F2937"/>
                          </a:solidFill>
                          <a:latin typeface="Calibri"/>
                        </a:rPr>
                        <a:t>A Deep Q-Network for the Beer Game (2022)</a:t>
                      </a:r>
                    </a:p>
                  </a:txBody>
                  <a:tcPr marL="54864" marR="54864" marT="18288" marB="18288" anchor="ctr">
                    <a:solidFill>
                      <a:srgbClr val="F1F5F9"/>
                    </a:solidFill>
                  </a:tcPr>
                </a:tc>
                <a:tc>
                  <a:txBody>
                    <a:bodyPr wrap="square"/>
                    <a:lstStyle/>
                    <a:p>
                      <a:r>
                        <a:rPr sz="1300" b="0" i="0">
                          <a:solidFill>
                            <a:srgbClr val="1F2937"/>
                          </a:solidFill>
                          <a:latin typeface="Calibri"/>
                        </a:rPr>
                        <a:t>DQN on a serial chain</a:t>
                      </a:r>
                    </a:p>
                  </a:txBody>
                  <a:tcPr marL="54864" marR="54864" marT="18288" marB="18288" anchor="ctr">
                    <a:solidFill>
                      <a:srgbClr val="F1F5F9"/>
                    </a:solidFill>
                  </a:tcPr>
                </a:tc>
                <a:tc>
                  <a:txBody>
                    <a:bodyPr wrap="square"/>
                    <a:lstStyle/>
                    <a:p>
                      <a:r>
                        <a:rPr sz="1300" b="0" i="0">
                          <a:solidFill>
                            <a:srgbClr val="1F2937"/>
                          </a:solidFill>
                          <a:latin typeface="Calibri"/>
                        </a:rPr>
                        <a:t>DRL matches or beats base-stock under cooperation</a:t>
                      </a:r>
                    </a:p>
                  </a:txBody>
                  <a:tcPr marL="54864" marR="54864" marT="18288" marB="18288" anchor="ctr">
                    <a:solidFill>
                      <a:srgbClr val="F1F5F9"/>
                    </a:solidFill>
                  </a:tcPr>
                </a:tc>
                <a:tc>
                  <a:txBody>
                    <a:bodyPr wrap="square"/>
                    <a:lstStyle/>
                    <a:p>
                      <a:r>
                        <a:rPr sz="1300" b="0" i="0">
                          <a:solidFill>
                            <a:srgbClr val="1F2937"/>
                          </a:solidFill>
                          <a:latin typeface="Calibri"/>
                        </a:rPr>
                        <a:t>Single product, serial chain, no sourcing choice</a:t>
                      </a:r>
                    </a:p>
                  </a:txBody>
                  <a:tcPr marL="54864" marR="54864" marT="18288" marB="18288" anchor="ctr">
                    <a:solidFill>
                      <a:srgbClr val="F1F5F9"/>
                    </a:solidFill>
                  </a:tcPr>
                </a:tc>
              </a:tr>
              <a:tr h="777240">
                <a:tc>
                  <a:txBody>
                    <a:bodyPr wrap="square"/>
                    <a:lstStyle/>
                    <a:p>
                      <a:r>
                        <a:rPr sz="1300" b="0" i="0">
                          <a:solidFill>
                            <a:srgbClr val="1F2937"/>
                          </a:solidFill>
                          <a:latin typeface="Calibri"/>
                        </a:rPr>
                        <a:t>3</a:t>
                      </a:r>
                    </a:p>
                  </a:txBody>
                  <a:tcPr marL="54864" marR="54864" marT="18288" marB="18288" anchor="ctr">
                    <a:solidFill>
                      <a:srgbClr val="FFFFFF"/>
                    </a:solidFill>
                  </a:tcPr>
                </a:tc>
                <a:tc>
                  <a:txBody>
                    <a:bodyPr wrap="square"/>
                    <a:lstStyle/>
                    <a:p>
                      <a:r>
                        <a:rPr sz="1300" b="0" i="0">
                          <a:solidFill>
                            <a:srgbClr val="1F2937"/>
                          </a:solidFill>
                          <a:latin typeface="Calibri"/>
                        </a:rPr>
                        <a:t>Can Deep RL Improve Inventory Management? (2022)</a:t>
                      </a:r>
                    </a:p>
                  </a:txBody>
                  <a:tcPr marL="54864" marR="54864" marT="18288" marB="18288" anchor="ctr">
                    <a:solidFill>
                      <a:srgbClr val="FFFFFF"/>
                    </a:solidFill>
                  </a:tcPr>
                </a:tc>
                <a:tc>
                  <a:txBody>
                    <a:bodyPr wrap="square"/>
                    <a:lstStyle/>
                    <a:p>
                      <a:r>
                        <a:rPr sz="1300" b="0" i="0">
                          <a:solidFill>
                            <a:srgbClr val="1F2937"/>
                          </a:solidFill>
                          <a:latin typeface="Calibri"/>
                        </a:rPr>
                        <a:t>A3C on lost-sales and dual-sourcing</a:t>
                      </a:r>
                    </a:p>
                  </a:txBody>
                  <a:tcPr marL="54864" marR="54864" marT="18288" marB="18288" anchor="ctr">
                    <a:solidFill>
                      <a:srgbClr val="FFFFFF"/>
                    </a:solidFill>
                  </a:tcPr>
                </a:tc>
                <a:tc>
                  <a:txBody>
                    <a:bodyPr wrap="square"/>
                    <a:lstStyle/>
                    <a:p>
                      <a:r>
                        <a:rPr sz="1300" b="0" i="0">
                          <a:solidFill>
                            <a:srgbClr val="1F2937"/>
                          </a:solidFill>
                          <a:latin typeface="Calibri"/>
                        </a:rPr>
                        <a:t>Competitive with tuned heuristics, not clearly superior</a:t>
                      </a:r>
                    </a:p>
                  </a:txBody>
                  <a:tcPr marL="54864" marR="54864" marT="18288" marB="18288" anchor="ctr">
                    <a:solidFill>
                      <a:srgbClr val="FFFFFF"/>
                    </a:solidFill>
                  </a:tcPr>
                </a:tc>
                <a:tc>
                  <a:txBody>
                    <a:bodyPr wrap="square"/>
                    <a:lstStyle/>
                    <a:p>
                      <a:r>
                        <a:rPr sz="1300" b="0" i="0">
                          <a:solidFill>
                            <a:srgbClr val="1F2937"/>
                          </a:solidFill>
                          <a:latin typeface="Calibri"/>
                        </a:rPr>
                        <a:t>Heavy tuning cost; no explanation layer</a:t>
                      </a:r>
                    </a:p>
                  </a:txBody>
                  <a:tcPr marL="54864" marR="54864" marT="18288" marB="18288" anchor="ctr">
                    <a:solidFill>
                      <a:srgbClr val="FFFFFF"/>
                    </a:solidFill>
                  </a:tcPr>
                </a:tc>
              </a:tr>
              <a:tr h="777240">
                <a:tc>
                  <a:txBody>
                    <a:bodyPr wrap="square"/>
                    <a:lstStyle/>
                    <a:p>
                      <a:r>
                        <a:rPr sz="1300" b="0" i="0">
                          <a:solidFill>
                            <a:srgbClr val="1F2937"/>
                          </a:solidFill>
                          <a:latin typeface="Calibri"/>
                        </a:rPr>
                        <a:t>4</a:t>
                      </a:r>
                    </a:p>
                  </a:txBody>
                  <a:tcPr marL="54864" marR="54864" marT="18288" marB="18288" anchor="ctr">
                    <a:solidFill>
                      <a:srgbClr val="F1F5F9"/>
                    </a:solidFill>
                  </a:tcPr>
                </a:tc>
                <a:tc>
                  <a:txBody>
                    <a:bodyPr wrap="square"/>
                    <a:lstStyle/>
                    <a:p>
                      <a:r>
                        <a:rPr sz="1300" b="0" i="0">
                          <a:solidFill>
                            <a:srgbClr val="1F2937"/>
                          </a:solidFill>
                          <a:latin typeface="Calibri"/>
                        </a:rPr>
                        <a:t>Deep RL for Inventory Control: A Roadmap (2022)</a:t>
                      </a:r>
                    </a:p>
                  </a:txBody>
                  <a:tcPr marL="54864" marR="54864" marT="18288" marB="18288" anchor="ctr">
                    <a:solidFill>
                      <a:srgbClr val="F1F5F9"/>
                    </a:solidFill>
                  </a:tcPr>
                </a:tc>
                <a:tc>
                  <a:txBody>
                    <a:bodyPr wrap="square"/>
                    <a:lstStyle/>
                    <a:p>
                      <a:r>
                        <a:rPr sz="1300" b="0" i="0">
                          <a:solidFill>
                            <a:srgbClr val="1F2937"/>
                          </a:solidFill>
                          <a:latin typeface="Calibri"/>
                        </a:rPr>
                        <a:t>Survey and roadmap</a:t>
                      </a:r>
                    </a:p>
                  </a:txBody>
                  <a:tcPr marL="54864" marR="54864" marT="18288" marB="18288" anchor="ctr">
                    <a:solidFill>
                      <a:srgbClr val="F1F5F9"/>
                    </a:solidFill>
                  </a:tcPr>
                </a:tc>
                <a:tc>
                  <a:txBody>
                    <a:bodyPr wrap="square"/>
                    <a:lstStyle/>
                    <a:p>
                      <a:r>
                        <a:rPr sz="1300" b="0" i="0">
                          <a:solidFill>
                            <a:srgbClr val="1F2937"/>
                          </a:solidFill>
                          <a:latin typeface="Calibri"/>
                        </a:rPr>
                        <a:t>Names fair benchmarking and interpretability as open problems</a:t>
                      </a:r>
                    </a:p>
                  </a:txBody>
                  <a:tcPr marL="54864" marR="54864" marT="18288" marB="18288" anchor="ctr">
                    <a:solidFill>
                      <a:srgbClr val="F1F5F9"/>
                    </a:solidFill>
                  </a:tcPr>
                </a:tc>
                <a:tc>
                  <a:txBody>
                    <a:bodyPr wrap="square"/>
                    <a:lstStyle/>
                    <a:p>
                      <a:r>
                        <a:rPr sz="1300" b="0" i="0">
                          <a:solidFill>
                            <a:srgbClr val="1F2937"/>
                          </a:solidFill>
                          <a:latin typeface="Calibri"/>
                        </a:rPr>
                        <a:t>Conceptual; no implementation</a:t>
                      </a:r>
                    </a:p>
                  </a:txBody>
                  <a:tcPr marL="54864" marR="54864" marT="18288" marB="18288" anchor="ctr">
                    <a:solidFill>
                      <a:srgbClr val="F1F5F9"/>
                    </a:solidFill>
                  </a:tcPr>
                </a:tc>
              </a:tr>
              <a:tr h="777240">
                <a:tc>
                  <a:txBody>
                    <a:bodyPr wrap="square"/>
                    <a:lstStyle/>
                    <a:p>
                      <a:r>
                        <a:rPr sz="1300" b="0" i="0">
                          <a:solidFill>
                            <a:srgbClr val="1F2937"/>
                          </a:solidFill>
                          <a:latin typeface="Calibri"/>
                        </a:rPr>
                        <a:t>5</a:t>
                      </a:r>
                    </a:p>
                  </a:txBody>
                  <a:tcPr marL="54864" marR="54864" marT="18288" marB="18288" anchor="ctr">
                    <a:solidFill>
                      <a:srgbClr val="FFFFFF"/>
                    </a:solidFill>
                  </a:tcPr>
                </a:tc>
                <a:tc>
                  <a:txBody>
                    <a:bodyPr wrap="square"/>
                    <a:lstStyle/>
                    <a:p>
                      <a:r>
                        <a:rPr sz="1300" b="0" i="0">
                          <a:solidFill>
                            <a:srgbClr val="1F2937"/>
                          </a:solidFill>
                          <a:latin typeface="Calibri"/>
                        </a:rPr>
                        <a:t>A Closer Look at Invalid Action Masking (2022)</a:t>
                      </a:r>
                    </a:p>
                  </a:txBody>
                  <a:tcPr marL="54864" marR="54864" marT="18288" marB="18288" anchor="ctr">
                    <a:solidFill>
                      <a:srgbClr val="FFFFFF"/>
                    </a:solidFill>
                  </a:tcPr>
                </a:tc>
                <a:tc>
                  <a:txBody>
                    <a:bodyPr wrap="square"/>
                    <a:lstStyle/>
                    <a:p>
                      <a:r>
                        <a:rPr sz="1300" b="0" i="0">
                          <a:solidFill>
                            <a:srgbClr val="1F2937"/>
                          </a:solidFill>
                          <a:latin typeface="Calibri"/>
                        </a:rPr>
                        <a:t>Masking in policy gradients</a:t>
                      </a:r>
                    </a:p>
                  </a:txBody>
                  <a:tcPr marL="54864" marR="54864" marT="18288" marB="18288" anchor="ctr">
                    <a:solidFill>
                      <a:srgbClr val="FFFFFF"/>
                    </a:solidFill>
                  </a:tcPr>
                </a:tc>
                <a:tc>
                  <a:txBody>
                    <a:bodyPr wrap="square"/>
                    <a:lstStyle/>
                    <a:p>
                      <a:r>
                        <a:rPr sz="1300" b="0" i="0">
                          <a:solidFill>
                            <a:srgbClr val="1F2937"/>
                          </a:solidFill>
                          <a:latin typeface="Calibri"/>
                        </a:rPr>
                        <a:t>Masking is a valid gradient and scales to large action spaces</a:t>
                      </a:r>
                    </a:p>
                  </a:txBody>
                  <a:tcPr marL="54864" marR="54864" marT="18288" marB="18288" anchor="ctr">
                    <a:solidFill>
                      <a:srgbClr val="FFFFFF"/>
                    </a:solidFill>
                  </a:tcPr>
                </a:tc>
                <a:tc>
                  <a:txBody>
                    <a:bodyPr wrap="square"/>
                    <a:lstStyle/>
                    <a:p>
                      <a:r>
                        <a:rPr sz="1300" b="0" i="0">
                          <a:solidFill>
                            <a:srgbClr val="1F2937"/>
                          </a:solidFill>
                          <a:latin typeface="Calibri"/>
                        </a:rPr>
                        <a:t>Not shown on inventory or sourcing</a:t>
                      </a:r>
                    </a:p>
                  </a:txBody>
                  <a:tcPr marL="54864" marR="54864" marT="18288" marB="18288"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Gaps Identified, and What We Did</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Oval 19"/>
          <p:cNvSpPr/>
          <p:nvPr/>
        </p:nvSpPr>
        <p:spPr>
          <a:xfrm>
            <a:off x="411480" y="1481328"/>
            <a:ext cx="329184" cy="32918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1</a:t>
            </a:r>
          </a:p>
        </p:txBody>
      </p:sp>
      <p:sp>
        <p:nvSpPr>
          <p:cNvPr id="21" name="TextBox 20"/>
          <p:cNvSpPr txBox="1"/>
          <p:nvPr/>
        </p:nvSpPr>
        <p:spPr>
          <a:xfrm>
            <a:off x="868680" y="1371600"/>
            <a:ext cx="4937760" cy="1097280"/>
          </a:xfrm>
          <a:prstGeom prst="rect">
            <a:avLst/>
          </a:prstGeom>
          <a:noFill/>
        </p:spPr>
        <p:txBody>
          <a:bodyPr wrap="square" anchor="t" lIns="45720" rIns="45720" tIns="27432" bIns="27432">
            <a:spAutoFit/>
          </a:bodyPr>
          <a:lstStyle/>
          <a:p>
            <a:pPr algn="l">
              <a:spcAft>
                <a:spcPts val="200"/>
              </a:spcAft>
            </a:pPr>
            <a:r>
              <a:rPr sz="1700" b="1" i="0">
                <a:solidFill>
                  <a:srgbClr val="1B5E3A"/>
                </a:solidFill>
                <a:latin typeface="Calibri"/>
              </a:rPr>
              <a:t>Narrow problem settings</a:t>
            </a:r>
          </a:p>
          <a:p>
            <a:pPr algn="l">
              <a:spcAft>
                <a:spcPts val="400"/>
              </a:spcAft>
            </a:pPr>
            <a:r>
              <a:rPr sz="1400" b="0" i="0">
                <a:solidFill>
                  <a:srgbClr val="1F2937"/>
                </a:solidFill>
                <a:latin typeface="Calibri"/>
              </a:rPr>
              <a:t>Single-product or serial chains dominate; joint quantity and supplier choice under one shared capacity is rarely modelled.</a:t>
            </a:r>
          </a:p>
        </p:txBody>
      </p:sp>
      <p:sp>
        <p:nvSpPr>
          <p:cNvPr id="22" name="Rounded Rectangle 21"/>
          <p:cNvSpPr/>
          <p:nvPr/>
        </p:nvSpPr>
        <p:spPr>
          <a:xfrm>
            <a:off x="6080760" y="1371600"/>
            <a:ext cx="5696712" cy="10515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190488" y="1444752"/>
            <a:ext cx="5477256" cy="905255"/>
          </a:xfrm>
          <a:prstGeom prst="rect">
            <a:avLst/>
          </a:prstGeom>
          <a:noFill/>
        </p:spPr>
        <p:txBody>
          <a:bodyPr wrap="square" anchor="t" lIns="45720" rIns="45720" tIns="27432" bIns="27432">
            <a:spAutoFit/>
          </a:bodyPr>
          <a:lstStyle/>
          <a:p>
            <a:pPr algn="l">
              <a:spcAft>
                <a:spcPts val="500"/>
              </a:spcAft>
            </a:pPr>
            <a:r>
              <a:rPr sz="1400" b="1" i="0">
                <a:solidFill>
                  <a:srgbClr val="2E8B57"/>
                </a:solidFill>
                <a:latin typeface="Calibri"/>
              </a:rPr>
              <a:t>What we did</a:t>
            </a:r>
          </a:p>
          <a:p>
            <a:pPr algn="l">
              <a:spcAft>
                <a:spcPts val="200"/>
              </a:spcAft>
            </a:pPr>
            <a:r>
              <a:rPr sz="1400" b="0" i="0">
                <a:solidFill>
                  <a:srgbClr val="1F2937"/>
                </a:solidFill>
                <a:latin typeface="Calibri"/>
              </a:rPr>
              <a:t>We model 10 products, 3 suppliers and one shared warehouse, with a joint action.</a:t>
            </a:r>
          </a:p>
        </p:txBody>
      </p:sp>
      <p:sp>
        <p:nvSpPr>
          <p:cNvPr id="24" name="Oval 23"/>
          <p:cNvSpPr/>
          <p:nvPr/>
        </p:nvSpPr>
        <p:spPr>
          <a:xfrm>
            <a:off x="411480" y="2697480"/>
            <a:ext cx="329184" cy="32918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2</a:t>
            </a:r>
          </a:p>
        </p:txBody>
      </p:sp>
      <p:sp>
        <p:nvSpPr>
          <p:cNvPr id="25" name="TextBox 24"/>
          <p:cNvSpPr txBox="1"/>
          <p:nvPr/>
        </p:nvSpPr>
        <p:spPr>
          <a:xfrm>
            <a:off x="868680" y="2587752"/>
            <a:ext cx="4937760" cy="1097280"/>
          </a:xfrm>
          <a:prstGeom prst="rect">
            <a:avLst/>
          </a:prstGeom>
          <a:noFill/>
        </p:spPr>
        <p:txBody>
          <a:bodyPr wrap="square" anchor="t" lIns="45720" rIns="45720" tIns="27432" bIns="27432">
            <a:spAutoFit/>
          </a:bodyPr>
          <a:lstStyle/>
          <a:p>
            <a:pPr algn="l">
              <a:spcAft>
                <a:spcPts val="200"/>
              </a:spcAft>
            </a:pPr>
            <a:r>
              <a:rPr sz="1700" b="1" i="0">
                <a:solidFill>
                  <a:srgbClr val="1B5E3A"/>
                </a:solidFill>
                <a:latin typeface="Calibri"/>
              </a:rPr>
              <a:t>Explainability is deferred</a:t>
            </a:r>
          </a:p>
          <a:p>
            <a:pPr algn="l">
              <a:spcAft>
                <a:spcPts val="400"/>
              </a:spcAft>
            </a:pPr>
            <a:r>
              <a:rPr sz="1400" b="0" i="0">
                <a:solidFill>
                  <a:srgbClr val="1F2937"/>
                </a:solidFill>
                <a:latin typeface="Calibri"/>
              </a:rPr>
              <a:t>Learned policies output a number, not a reason, so they stay in simulation.</a:t>
            </a:r>
          </a:p>
        </p:txBody>
      </p:sp>
      <p:sp>
        <p:nvSpPr>
          <p:cNvPr id="26" name="Rounded Rectangle 25"/>
          <p:cNvSpPr/>
          <p:nvPr/>
        </p:nvSpPr>
        <p:spPr>
          <a:xfrm>
            <a:off x="6080760" y="2587752"/>
            <a:ext cx="5696712" cy="10515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190488" y="2660904"/>
            <a:ext cx="5477256" cy="905255"/>
          </a:xfrm>
          <a:prstGeom prst="rect">
            <a:avLst/>
          </a:prstGeom>
          <a:noFill/>
        </p:spPr>
        <p:txBody>
          <a:bodyPr wrap="square" anchor="t" lIns="45720" rIns="45720" tIns="27432" bIns="27432">
            <a:spAutoFit/>
          </a:bodyPr>
          <a:lstStyle/>
          <a:p>
            <a:pPr algn="l">
              <a:spcAft>
                <a:spcPts val="500"/>
              </a:spcAft>
            </a:pPr>
            <a:r>
              <a:rPr sz="1400" b="1" i="0">
                <a:solidFill>
                  <a:srgbClr val="2E8B57"/>
                </a:solidFill>
                <a:latin typeface="Calibri"/>
              </a:rPr>
              <a:t>What we did</a:t>
            </a:r>
          </a:p>
          <a:p>
            <a:pPr algn="l">
              <a:spcAft>
                <a:spcPts val="200"/>
              </a:spcAft>
            </a:pPr>
            <a:r>
              <a:rPr sz="1400" b="0" i="0">
                <a:solidFill>
                  <a:srgbClr val="1F2937"/>
                </a:solidFill>
                <a:latin typeface="Calibri"/>
              </a:rPr>
              <a:t>An LLM explains each decision from computed facts; every number is checked.</a:t>
            </a:r>
          </a:p>
        </p:txBody>
      </p:sp>
      <p:sp>
        <p:nvSpPr>
          <p:cNvPr id="28" name="Oval 27"/>
          <p:cNvSpPr/>
          <p:nvPr/>
        </p:nvSpPr>
        <p:spPr>
          <a:xfrm>
            <a:off x="411480" y="3913632"/>
            <a:ext cx="329184" cy="32918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3</a:t>
            </a:r>
          </a:p>
        </p:txBody>
      </p:sp>
      <p:sp>
        <p:nvSpPr>
          <p:cNvPr id="29" name="TextBox 28"/>
          <p:cNvSpPr txBox="1"/>
          <p:nvPr/>
        </p:nvSpPr>
        <p:spPr>
          <a:xfrm>
            <a:off x="868680" y="3803904"/>
            <a:ext cx="4937760" cy="1097280"/>
          </a:xfrm>
          <a:prstGeom prst="rect">
            <a:avLst/>
          </a:prstGeom>
          <a:noFill/>
        </p:spPr>
        <p:txBody>
          <a:bodyPr wrap="square" anchor="t" lIns="45720" rIns="45720" tIns="27432" bIns="27432">
            <a:spAutoFit/>
          </a:bodyPr>
          <a:lstStyle/>
          <a:p>
            <a:pPr algn="l">
              <a:spcAft>
                <a:spcPts val="200"/>
              </a:spcAft>
            </a:pPr>
            <a:r>
              <a:rPr sz="1700" b="1" i="0">
                <a:solidFill>
                  <a:srgbClr val="1B5E3A"/>
                </a:solidFill>
                <a:latin typeface="Calibri"/>
              </a:rPr>
              <a:t>Stress testing is hand-built</a:t>
            </a:r>
          </a:p>
          <a:p>
            <a:pPr algn="l">
              <a:spcAft>
                <a:spcPts val="400"/>
              </a:spcAft>
            </a:pPr>
            <a:r>
              <a:rPr sz="1400" b="0" i="0">
                <a:solidFill>
                  <a:srgbClr val="1F2937"/>
                </a:solidFill>
                <a:latin typeface="Calibri"/>
              </a:rPr>
              <a:t>Spikes and failures are coded case by case, so coverage is narrow.</a:t>
            </a:r>
          </a:p>
        </p:txBody>
      </p:sp>
      <p:sp>
        <p:nvSpPr>
          <p:cNvPr id="30" name="Rounded Rectangle 29"/>
          <p:cNvSpPr/>
          <p:nvPr/>
        </p:nvSpPr>
        <p:spPr>
          <a:xfrm>
            <a:off x="6080760" y="3803904"/>
            <a:ext cx="5696712" cy="10515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190488" y="3877056"/>
            <a:ext cx="5477256" cy="905255"/>
          </a:xfrm>
          <a:prstGeom prst="rect">
            <a:avLst/>
          </a:prstGeom>
          <a:noFill/>
        </p:spPr>
        <p:txBody>
          <a:bodyPr wrap="square" anchor="t" lIns="45720" rIns="45720" tIns="27432" bIns="27432">
            <a:spAutoFit/>
          </a:bodyPr>
          <a:lstStyle/>
          <a:p>
            <a:pPr algn="l">
              <a:spcAft>
                <a:spcPts val="500"/>
              </a:spcAft>
            </a:pPr>
            <a:r>
              <a:rPr sz="1400" b="1" i="0">
                <a:solidFill>
                  <a:srgbClr val="2E8B57"/>
                </a:solidFill>
                <a:latin typeface="Calibri"/>
              </a:rPr>
              <a:t>What we did</a:t>
            </a:r>
          </a:p>
          <a:p>
            <a:pPr algn="l">
              <a:spcAft>
                <a:spcPts val="200"/>
              </a:spcAft>
            </a:pPr>
            <a:r>
              <a:rPr sz="1400" b="0" i="0">
                <a:solidFill>
                  <a:srgbClr val="1F2937"/>
                </a:solidFill>
                <a:latin typeface="Calibri"/>
              </a:rPr>
              <a:t>An LLM writes overlapping crises; each is validated and clamped before use.</a:t>
            </a:r>
          </a:p>
        </p:txBody>
      </p:sp>
      <p:sp>
        <p:nvSpPr>
          <p:cNvPr id="32" name="Oval 31"/>
          <p:cNvSpPr/>
          <p:nvPr/>
        </p:nvSpPr>
        <p:spPr>
          <a:xfrm>
            <a:off x="411480" y="5129784"/>
            <a:ext cx="329184" cy="32918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4</a:t>
            </a:r>
          </a:p>
        </p:txBody>
      </p:sp>
      <p:sp>
        <p:nvSpPr>
          <p:cNvPr id="33" name="TextBox 32"/>
          <p:cNvSpPr txBox="1"/>
          <p:nvPr/>
        </p:nvSpPr>
        <p:spPr>
          <a:xfrm>
            <a:off x="868680" y="5020056"/>
            <a:ext cx="4937760" cy="1097280"/>
          </a:xfrm>
          <a:prstGeom prst="rect">
            <a:avLst/>
          </a:prstGeom>
          <a:noFill/>
        </p:spPr>
        <p:txBody>
          <a:bodyPr wrap="square" anchor="t" lIns="45720" rIns="45720" tIns="27432" bIns="27432">
            <a:spAutoFit/>
          </a:bodyPr>
          <a:lstStyle/>
          <a:p>
            <a:pPr algn="l">
              <a:spcAft>
                <a:spcPts val="200"/>
              </a:spcAft>
            </a:pPr>
            <a:r>
              <a:rPr sz="1700" b="1" i="0">
                <a:solidFill>
                  <a:srgbClr val="1B5E3A"/>
                </a:solidFill>
                <a:latin typeface="Calibri"/>
              </a:rPr>
              <a:t>Weak baselines</a:t>
            </a:r>
          </a:p>
          <a:p>
            <a:pPr algn="l">
              <a:spcAft>
                <a:spcPts val="400"/>
              </a:spcAft>
            </a:pPr>
            <a:r>
              <a:rPr sz="1400" b="0" i="0">
                <a:solidFill>
                  <a:srgbClr val="1F2937"/>
                </a:solidFill>
                <a:latin typeface="Calibri"/>
              </a:rPr>
              <a:t>Baselines are often left untuned, so a new method “wins” for free.</a:t>
            </a:r>
          </a:p>
        </p:txBody>
      </p:sp>
      <p:sp>
        <p:nvSpPr>
          <p:cNvPr id="34" name="Rounded Rectangle 33"/>
          <p:cNvSpPr/>
          <p:nvPr/>
        </p:nvSpPr>
        <p:spPr>
          <a:xfrm>
            <a:off x="6080760" y="5020056"/>
            <a:ext cx="5696712" cy="10515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190488" y="5093208"/>
            <a:ext cx="5477256" cy="905255"/>
          </a:xfrm>
          <a:prstGeom prst="rect">
            <a:avLst/>
          </a:prstGeom>
          <a:noFill/>
        </p:spPr>
        <p:txBody>
          <a:bodyPr wrap="square" anchor="t" lIns="45720" rIns="45720" tIns="27432" bIns="27432">
            <a:spAutoFit/>
          </a:bodyPr>
          <a:lstStyle/>
          <a:p>
            <a:pPr algn="l">
              <a:spcAft>
                <a:spcPts val="500"/>
              </a:spcAft>
            </a:pPr>
            <a:r>
              <a:rPr sz="1400" b="1" i="0">
                <a:solidFill>
                  <a:srgbClr val="2E8B57"/>
                </a:solidFill>
                <a:latin typeface="Calibri"/>
              </a:rPr>
              <a:t>What we did</a:t>
            </a:r>
          </a:p>
          <a:p>
            <a:pPr algn="l">
              <a:spcAft>
                <a:spcPts val="200"/>
              </a:spcAft>
            </a:pPr>
            <a:r>
              <a:rPr sz="1400" b="0" i="0">
                <a:solidFill>
                  <a:srgbClr val="1F2937"/>
                </a:solidFill>
                <a:latin typeface="Calibri"/>
              </a:rPr>
              <a:t>All four classical methods are tuned on separate seeds before any comparison.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Objectives and Status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11365990" cy="3401568"/>
        </p:xfrm>
        <a:graphic>
          <a:graphicData uri="http://schemas.openxmlformats.org/drawingml/2006/table">
            <a:tbl>
              <a:tblPr firstRow="1" bandRow="1">
                <a:tableStyleId>{5C22544A-7EE6-4342-B048-85BDC9FD1C3A}</a:tableStyleId>
              </a:tblPr>
              <a:tblGrid>
                <a:gridCol w="382050"/>
                <a:gridCol w="4393576"/>
                <a:gridCol w="859612"/>
                <a:gridCol w="5730752"/>
              </a:tblGrid>
              <a:tr h="566928">
                <a:tc>
                  <a:txBody>
                    <a:bodyPr wrap="square"/>
                    <a:lstStyle/>
                    <a:p>
                      <a:pPr algn="l"/>
                      <a:r>
                        <a:rPr sz="1400" b="1" i="0">
                          <a:solidFill>
                            <a:srgbClr val="FFFFFF"/>
                          </a:solidFill>
                          <a:latin typeface="Calibri"/>
                        </a:rPr>
                        <a:t>#</a:t>
                      </a:r>
                    </a:p>
                  </a:txBody>
                  <a:tcPr marL="54864" marR="54864" marT="18288" marB="18288" anchor="ctr">
                    <a:solidFill>
                      <a:srgbClr val="2E8B57"/>
                    </a:solidFill>
                  </a:tcPr>
                </a:tc>
                <a:tc>
                  <a:txBody>
                    <a:bodyPr wrap="square"/>
                    <a:lstStyle/>
                    <a:p>
                      <a:pPr algn="l"/>
                      <a:r>
                        <a:rPr sz="1400" b="1" i="0">
                          <a:solidFill>
                            <a:srgbClr val="FFFFFF"/>
                          </a:solidFill>
                          <a:latin typeface="Calibri"/>
                        </a:rPr>
                        <a:t>Objective</a:t>
                      </a:r>
                    </a:p>
                  </a:txBody>
                  <a:tcPr marL="54864" marR="54864" marT="18288" marB="18288" anchor="ctr">
                    <a:solidFill>
                      <a:srgbClr val="2E8B57"/>
                    </a:solidFill>
                  </a:tcPr>
                </a:tc>
                <a:tc>
                  <a:txBody>
                    <a:bodyPr wrap="square"/>
                    <a:lstStyle/>
                    <a:p>
                      <a:pPr algn="ctr"/>
                      <a:r>
                        <a:rPr sz="1400" b="1" i="0">
                          <a:solidFill>
                            <a:srgbClr val="FFFFFF"/>
                          </a:solidFill>
                          <a:latin typeface="Calibri"/>
                        </a:rPr>
                        <a:t>Status</a:t>
                      </a:r>
                    </a:p>
                  </a:txBody>
                  <a:tcPr marL="54864" marR="54864" marT="18288" marB="18288" anchor="ctr">
                    <a:solidFill>
                      <a:srgbClr val="2E8B57"/>
                    </a:solidFill>
                  </a:tcPr>
                </a:tc>
                <a:tc>
                  <a:txBody>
                    <a:bodyPr wrap="square"/>
                    <a:lstStyle/>
                    <a:p>
                      <a:pPr algn="ctr"/>
                      <a:r>
                        <a:rPr sz="1400" b="1" i="0">
                          <a:solidFill>
                            <a:srgbClr val="FFFFFF"/>
                          </a:solidFill>
                          <a:latin typeface="Calibri"/>
                        </a:rPr>
                        <a:t>Evidence</a:t>
                      </a:r>
                    </a:p>
                  </a:txBody>
                  <a:tcPr marL="54864" marR="54864" marT="18288" marB="18288" anchor="ctr">
                    <a:solidFill>
                      <a:srgbClr val="2E8B57"/>
                    </a:solidFill>
                  </a:tcPr>
                </a:tc>
              </a:tr>
              <a:tr h="566928">
                <a:tc>
                  <a:txBody>
                    <a:bodyPr wrap="square"/>
                    <a:lstStyle/>
                    <a:p>
                      <a:r>
                        <a:rPr sz="1400" b="0" i="0">
                          <a:solidFill>
                            <a:srgbClr val="1F2937"/>
                          </a:solidFill>
                          <a:latin typeface="Calibri"/>
                        </a:rPr>
                        <a:t>1</a:t>
                      </a:r>
                    </a:p>
                  </a:txBody>
                  <a:tcPr marL="54864" marR="54864" marT="18288" marB="18288" anchor="ctr">
                    <a:solidFill>
                      <a:srgbClr val="FFFFFF"/>
                    </a:solidFill>
                  </a:tcPr>
                </a:tc>
                <a:tc>
                  <a:txBody>
                    <a:bodyPr wrap="square"/>
                    <a:lstStyle/>
                    <a:p>
                      <a:r>
                        <a:rPr sz="1400" b="0" i="0">
                          <a:solidFill>
                            <a:srgbClr val="1F2937"/>
                          </a:solidFill>
                          <a:latin typeface="Calibri"/>
                        </a:rPr>
                        <a:t>Build a supply chain simulation from real data</a:t>
                      </a:r>
                    </a:p>
                  </a:txBody>
                  <a:tcPr marL="54864" marR="54864" marT="18288" marB="18288" anchor="ctr">
                    <a:solidFill>
                      <a:srgbClr val="FFFFFF"/>
                    </a:solidFill>
                  </a:tcPr>
                </a:tc>
                <a:tc>
                  <a:txBody>
                    <a:bodyPr wrap="square"/>
                    <a:lstStyle/>
                    <a:p>
                      <a:pPr algn="ctr"/>
                      <a:r>
                        <a:rPr sz="1400" b="0" i="0">
                          <a:solidFill>
                            <a:srgbClr val="1F2937"/>
                          </a:solidFill>
                          <a:latin typeface="Calibri"/>
                        </a:rPr>
                        <a:t>Done</a:t>
                      </a:r>
                    </a:p>
                  </a:txBody>
                  <a:tcPr marL="54864" marR="54864" marT="18288" marB="18288" anchor="ctr">
                    <a:solidFill>
                      <a:srgbClr val="FFFFFF"/>
                    </a:solidFill>
                  </a:tcPr>
                </a:tc>
                <a:tc>
                  <a:txBody>
                    <a:bodyPr wrap="square"/>
                    <a:lstStyle/>
                    <a:p>
                      <a:pPr algn="ctr"/>
                      <a:r>
                        <a:rPr sz="1400" b="0" i="0">
                          <a:solidFill>
                            <a:srgbClr val="1F2937"/>
                          </a:solidFill>
                          <a:latin typeface="Calibri"/>
                        </a:rPr>
                        <a:t>1.07M records calibrate it; sensible rules profit, silly ones lose</a:t>
                      </a:r>
                    </a:p>
                  </a:txBody>
                  <a:tcPr marL="54864" marR="54864" marT="18288" marB="18288" anchor="ctr">
                    <a:solidFill>
                      <a:srgbClr val="FFFFFF"/>
                    </a:solidFill>
                  </a:tcPr>
                </a:tc>
              </a:tr>
              <a:tr h="566928">
                <a:tc>
                  <a:txBody>
                    <a:bodyPr wrap="square"/>
                    <a:lstStyle/>
                    <a:p>
                      <a:r>
                        <a:rPr sz="1400" b="0" i="0">
                          <a:solidFill>
                            <a:srgbClr val="1F2937"/>
                          </a:solidFill>
                          <a:latin typeface="Calibri"/>
                        </a:rPr>
                        <a:t>2</a:t>
                      </a:r>
                    </a:p>
                  </a:txBody>
                  <a:tcPr marL="54864" marR="54864" marT="18288" marB="18288" anchor="ctr">
                    <a:solidFill>
                      <a:srgbClr val="F1F5F9"/>
                    </a:solidFill>
                  </a:tcPr>
                </a:tc>
                <a:tc>
                  <a:txBody>
                    <a:bodyPr wrap="square"/>
                    <a:lstStyle/>
                    <a:p>
                      <a:r>
                        <a:rPr sz="1400" b="0" i="0">
                          <a:solidFill>
                            <a:srgbClr val="1F2937"/>
                          </a:solidFill>
                          <a:latin typeface="Calibri"/>
                        </a:rPr>
                        <a:t>Train an RL agent to choose quantity and supplier</a:t>
                      </a:r>
                    </a:p>
                  </a:txBody>
                  <a:tcPr marL="54864" marR="54864" marT="18288" marB="18288" anchor="ctr">
                    <a:solidFill>
                      <a:srgbClr val="F1F5F9"/>
                    </a:solidFill>
                  </a:tcPr>
                </a:tc>
                <a:tc>
                  <a:txBody>
                    <a:bodyPr wrap="square"/>
                    <a:lstStyle/>
                    <a:p>
                      <a:pPr algn="ctr"/>
                      <a:r>
                        <a:rPr sz="1400" b="0" i="0">
                          <a:solidFill>
                            <a:srgbClr val="1F2937"/>
                          </a:solidFill>
                          <a:latin typeface="Calibri"/>
                        </a:rPr>
                        <a:t>Done</a:t>
                      </a:r>
                    </a:p>
                  </a:txBody>
                  <a:tcPr marL="54864" marR="54864" marT="18288" marB="18288" anchor="ctr">
                    <a:solidFill>
                      <a:srgbClr val="F1F5F9"/>
                    </a:solidFill>
                  </a:tcPr>
                </a:tc>
                <a:tc>
                  <a:txBody>
                    <a:bodyPr wrap="square"/>
                    <a:lstStyle/>
                    <a:p>
                      <a:pPr algn="ctr"/>
                      <a:r>
                        <a:rPr sz="1400" b="0" i="0">
                          <a:solidFill>
                            <a:srgbClr val="1F2937"/>
                          </a:solidFill>
                          <a:latin typeface="Calibri"/>
                        </a:rPr>
                        <a:t>MaskablePPO, tuned, 2M steps; 90.8% of the best classical method</a:t>
                      </a:r>
                    </a:p>
                  </a:txBody>
                  <a:tcPr marL="54864" marR="54864" marT="18288" marB="18288" anchor="ctr">
                    <a:solidFill>
                      <a:srgbClr val="F1F5F9"/>
                    </a:solidFill>
                  </a:tcPr>
                </a:tc>
              </a:tr>
              <a:tr h="566928">
                <a:tc>
                  <a:txBody>
                    <a:bodyPr wrap="square"/>
                    <a:lstStyle/>
                    <a:p>
                      <a:r>
                        <a:rPr sz="1400" b="0" i="0">
                          <a:solidFill>
                            <a:srgbClr val="1F2937"/>
                          </a:solidFill>
                          <a:latin typeface="Calibri"/>
                        </a:rPr>
                        <a:t>3</a:t>
                      </a:r>
                    </a:p>
                  </a:txBody>
                  <a:tcPr marL="54864" marR="54864" marT="18288" marB="18288" anchor="ctr">
                    <a:solidFill>
                      <a:srgbClr val="FFFFFF"/>
                    </a:solidFill>
                  </a:tcPr>
                </a:tc>
                <a:tc>
                  <a:txBody>
                    <a:bodyPr wrap="square"/>
                    <a:lstStyle/>
                    <a:p>
                      <a:r>
                        <a:rPr sz="1400" b="0" i="0">
                          <a:solidFill>
                            <a:srgbClr val="1F2937"/>
                          </a:solidFill>
                          <a:latin typeface="Calibri"/>
                        </a:rPr>
                        <a:t>LLM explains each decision in business language</a:t>
                      </a:r>
                    </a:p>
                  </a:txBody>
                  <a:tcPr marL="54864" marR="54864" marT="18288" marB="18288" anchor="ctr">
                    <a:solidFill>
                      <a:srgbClr val="FFFFFF"/>
                    </a:solidFill>
                  </a:tcPr>
                </a:tc>
                <a:tc>
                  <a:txBody>
                    <a:bodyPr wrap="square"/>
                    <a:lstStyle/>
                    <a:p>
                      <a:pPr algn="ctr"/>
                      <a:r>
                        <a:rPr sz="1400" b="0" i="0">
                          <a:solidFill>
                            <a:srgbClr val="1F2937"/>
                          </a:solidFill>
                          <a:latin typeface="Calibri"/>
                        </a:rPr>
                        <a:t>Done</a:t>
                      </a:r>
                    </a:p>
                  </a:txBody>
                  <a:tcPr marL="54864" marR="54864" marT="18288" marB="18288" anchor="ctr">
                    <a:solidFill>
                      <a:srgbClr val="FFFFFF"/>
                    </a:solidFill>
                  </a:tcPr>
                </a:tc>
                <a:tc>
                  <a:txBody>
                    <a:bodyPr wrap="square"/>
                    <a:lstStyle/>
                    <a:p>
                      <a:pPr algn="ctr"/>
                      <a:r>
                        <a:rPr sz="1400" b="0" i="0">
                          <a:solidFill>
                            <a:srgbClr val="1F2937"/>
                          </a:solidFill>
                          <a:latin typeface="Calibri"/>
                        </a:rPr>
                        <a:t>100% delivered accuracy; 83% raw, the check caught every invented number</a:t>
                      </a:r>
                    </a:p>
                  </a:txBody>
                  <a:tcPr marL="54864" marR="54864" marT="18288" marB="18288" anchor="ctr">
                    <a:solidFill>
                      <a:srgbClr val="FFFFFF"/>
                    </a:solidFill>
                  </a:tcPr>
                </a:tc>
              </a:tr>
              <a:tr h="566928">
                <a:tc>
                  <a:txBody>
                    <a:bodyPr wrap="square"/>
                    <a:lstStyle/>
                    <a:p>
                      <a:r>
                        <a:rPr sz="1400" b="0" i="0">
                          <a:solidFill>
                            <a:srgbClr val="1F2937"/>
                          </a:solidFill>
                          <a:latin typeface="Calibri"/>
                        </a:rPr>
                        <a:t>4</a:t>
                      </a:r>
                    </a:p>
                  </a:txBody>
                  <a:tcPr marL="54864" marR="54864" marT="18288" marB="18288" anchor="ctr">
                    <a:solidFill>
                      <a:srgbClr val="F1F5F9"/>
                    </a:solidFill>
                  </a:tcPr>
                </a:tc>
                <a:tc>
                  <a:txBody>
                    <a:bodyPr wrap="square"/>
                    <a:lstStyle/>
                    <a:p>
                      <a:r>
                        <a:rPr sz="1400" b="0" i="0">
                          <a:solidFill>
                            <a:srgbClr val="1F2937"/>
                          </a:solidFill>
                          <a:latin typeface="Calibri"/>
                        </a:rPr>
                        <a:t>LLM generates demand-spike and supplier-delay scenarios</a:t>
                      </a:r>
                    </a:p>
                  </a:txBody>
                  <a:tcPr marL="54864" marR="54864" marT="18288" marB="18288" anchor="ctr">
                    <a:solidFill>
                      <a:srgbClr val="F1F5F9"/>
                    </a:solidFill>
                  </a:tcPr>
                </a:tc>
                <a:tc>
                  <a:txBody>
                    <a:bodyPr wrap="square"/>
                    <a:lstStyle/>
                    <a:p>
                      <a:pPr algn="ctr"/>
                      <a:r>
                        <a:rPr sz="1400" b="0" i="0">
                          <a:solidFill>
                            <a:srgbClr val="1F2937"/>
                          </a:solidFill>
                          <a:latin typeface="Calibri"/>
                        </a:rPr>
                        <a:t>Done</a:t>
                      </a:r>
                    </a:p>
                  </a:txBody>
                  <a:tcPr marL="54864" marR="54864" marT="18288" marB="18288" anchor="ctr">
                    <a:solidFill>
                      <a:srgbClr val="F1F5F9"/>
                    </a:solidFill>
                  </a:tcPr>
                </a:tc>
                <a:tc>
                  <a:txBody>
                    <a:bodyPr wrap="square"/>
                    <a:lstStyle/>
                    <a:p>
                      <a:pPr algn="ctr"/>
                      <a:r>
                        <a:rPr sz="1400" b="0" i="0">
                          <a:solidFill>
                            <a:srgbClr val="1F2937"/>
                          </a:solidFill>
                          <a:latin typeface="Calibri"/>
                        </a:rPr>
                        <a:t>6 unseen crises used for testing; curriculum training tested</a:t>
                      </a:r>
                    </a:p>
                  </a:txBody>
                  <a:tcPr marL="54864" marR="54864" marT="18288" marB="18288" anchor="ctr">
                    <a:solidFill>
                      <a:srgbClr val="F1F5F9"/>
                    </a:solidFill>
                  </a:tcPr>
                </a:tc>
              </a:tr>
              <a:tr h="566928">
                <a:tc>
                  <a:txBody>
                    <a:bodyPr wrap="square"/>
                    <a:lstStyle/>
                    <a:p>
                      <a:r>
                        <a:rPr sz="1400" b="0" i="0">
                          <a:solidFill>
                            <a:srgbClr val="1F2937"/>
                          </a:solidFill>
                          <a:latin typeface="Calibri"/>
                        </a:rPr>
                        <a:t>5</a:t>
                      </a:r>
                    </a:p>
                  </a:txBody>
                  <a:tcPr marL="54864" marR="54864" marT="18288" marB="18288" anchor="ctr">
                    <a:solidFill>
                      <a:srgbClr val="FFFFFF"/>
                    </a:solidFill>
                  </a:tcPr>
                </a:tc>
                <a:tc>
                  <a:txBody>
                    <a:bodyPr wrap="square"/>
                    <a:lstStyle/>
                    <a:p>
                      <a:r>
                        <a:rPr sz="1400" b="0" i="0">
                          <a:solidFill>
                            <a:srgbClr val="1F2937"/>
                          </a:solidFill>
                          <a:latin typeface="Calibri"/>
                        </a:rPr>
                        <a:t>Compare the RL agent with traditional policies</a:t>
                      </a:r>
                    </a:p>
                  </a:txBody>
                  <a:tcPr marL="54864" marR="54864" marT="18288" marB="18288" anchor="ctr">
                    <a:solidFill>
                      <a:srgbClr val="FFFFFF"/>
                    </a:solidFill>
                  </a:tcPr>
                </a:tc>
                <a:tc>
                  <a:txBody>
                    <a:bodyPr wrap="square"/>
                    <a:lstStyle/>
                    <a:p>
                      <a:pPr algn="ctr"/>
                      <a:r>
                        <a:rPr sz="1400" b="0" i="0">
                          <a:solidFill>
                            <a:srgbClr val="1F2937"/>
                          </a:solidFill>
                          <a:latin typeface="Calibri"/>
                        </a:rPr>
                        <a:t>Done</a:t>
                      </a:r>
                    </a:p>
                  </a:txBody>
                  <a:tcPr marL="54864" marR="54864" marT="18288" marB="18288" anchor="ctr">
                    <a:solidFill>
                      <a:srgbClr val="FFFFFF"/>
                    </a:solidFill>
                  </a:tcPr>
                </a:tc>
                <a:tc>
                  <a:txBody>
                    <a:bodyPr wrap="square"/>
                    <a:lstStyle/>
                    <a:p>
                      <a:pPr algn="ctr"/>
                      <a:r>
                        <a:rPr sz="1400" b="0" i="0">
                          <a:solidFill>
                            <a:srgbClr val="1F2937"/>
                          </a:solidFill>
                          <a:latin typeface="Calibri"/>
                        </a:rPr>
                        <a:t>30 held-out seeds, paired t-test: the classical method still wins</a:t>
                      </a:r>
                    </a:p>
                  </a:txBody>
                  <a:tcPr marL="54864" marR="54864" marT="18288" marB="18288" anchor="ctr">
                    <a:solidFill>
                      <a:srgbClr val="FFFFFF"/>
                    </a:solidFill>
                  </a:tcPr>
                </a:tc>
              </a:tr>
            </a:tbl>
          </a:graphicData>
        </a:graphic>
      </p:graphicFrame>
      <p:sp>
        <p:nvSpPr>
          <p:cNvPr id="21" name="TextBox 20"/>
          <p:cNvSpPr txBox="1"/>
          <p:nvPr/>
        </p:nvSpPr>
        <p:spPr>
          <a:xfrm>
            <a:off x="411480" y="5029200"/>
            <a:ext cx="11365992" cy="1280160"/>
          </a:xfrm>
          <a:prstGeom prst="rect">
            <a:avLst/>
          </a:prstGeom>
          <a:noFill/>
        </p:spPr>
        <p:txBody>
          <a:bodyPr wrap="square" anchor="t" lIns="45720" rIns="45720" tIns="27432" bIns="27432">
            <a:spAutoFit/>
          </a:bodyPr>
          <a:lstStyle/>
          <a:p>
            <a:pPr algn="l">
              <a:spcAft>
                <a:spcPts val="400"/>
              </a:spcAft>
            </a:pPr>
            <a:r>
              <a:rPr sz="1700" b="1" i="0">
                <a:solidFill>
                  <a:srgbClr val="1B5E3A"/>
                </a:solidFill>
                <a:latin typeface="Calibri"/>
              </a:rPr>
              <a:t>Objective 5 says compare, not win. </a:t>
            </a:r>
            <a:r>
              <a:rPr sz="1700" b="0" i="0">
                <a:solidFill>
                  <a:srgbClr val="1F2937"/>
                </a:solidFill>
                <a:latin typeface="Calibri"/>
              </a:rPr>
              <a:t>The comparison came out against the AI, and we report it that way: the claim we can defend is that RL reaches 90.8% of a strong tuned baseline, with a measured reason for the gap.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System Architecture</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architecture.png"/>
          <p:cNvPicPr>
            <a:picLocks noChangeAspect="1"/>
          </p:cNvPicPr>
          <p:nvPr/>
        </p:nvPicPr>
        <p:blipFill>
          <a:blip r:embed="rId2"/>
          <a:stretch>
            <a:fillRect/>
          </a:stretch>
        </p:blipFill>
        <p:spPr>
          <a:xfrm>
            <a:off x="1800601" y="1325880"/>
            <a:ext cx="8587748" cy="50292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Methodology: How the Agent Learns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agent_loop.png"/>
          <p:cNvPicPr>
            <a:picLocks noChangeAspect="1"/>
          </p:cNvPicPr>
          <p:nvPr/>
        </p:nvPicPr>
        <p:blipFill>
          <a:blip r:embed="rId2"/>
          <a:stretch>
            <a:fillRect/>
          </a:stretch>
        </p:blipFill>
        <p:spPr>
          <a:xfrm>
            <a:off x="365760" y="1234440"/>
            <a:ext cx="11457432" cy="3523160"/>
          </a:xfrm>
          <a:prstGeom prst="rect">
            <a:avLst/>
          </a:prstGeom>
        </p:spPr>
      </p:pic>
      <p:sp>
        <p:nvSpPr>
          <p:cNvPr id="21" name="Rounded Rectangle 20"/>
          <p:cNvSpPr/>
          <p:nvPr/>
        </p:nvSpPr>
        <p:spPr>
          <a:xfrm>
            <a:off x="411480" y="4892040"/>
            <a:ext cx="3657600" cy="141732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1208" y="4965192"/>
            <a:ext cx="3438144" cy="1271016"/>
          </a:xfrm>
          <a:prstGeom prst="rect">
            <a:avLst/>
          </a:prstGeom>
          <a:noFill/>
        </p:spPr>
        <p:txBody>
          <a:bodyPr wrap="square" anchor="t" lIns="45720" rIns="45720" tIns="27432" bIns="27432">
            <a:spAutoFit/>
          </a:bodyPr>
          <a:lstStyle/>
          <a:p>
            <a:pPr algn="l">
              <a:spcAft>
                <a:spcPts val="500"/>
              </a:spcAft>
            </a:pPr>
            <a:r>
              <a:rPr sz="1700" b="1" i="0">
                <a:solidFill>
                  <a:srgbClr val="D6336C"/>
                </a:solidFill>
                <a:latin typeface="Calibri"/>
              </a:rPr>
              <a:t>Why masking</a:t>
            </a:r>
          </a:p>
          <a:p>
            <a:pPr algn="l">
              <a:spcAft>
                <a:spcPts val="300"/>
              </a:spcAft>
            </a:pPr>
            <a:r>
              <a:rPr sz="1400" b="0" i="0">
                <a:solidFill>
                  <a:srgbClr val="1F2937"/>
                </a:solidFill>
                <a:latin typeface="Calibri"/>
              </a:rPr>
              <a:t>•  Best score without it: ₹24.9 lakh</a:t>
            </a:r>
          </a:p>
          <a:p>
            <a:pPr algn="l">
              <a:spcAft>
                <a:spcPts val="300"/>
              </a:spcAft>
            </a:pPr>
            <a:r>
              <a:rPr sz="1400" b="0" i="0">
                <a:solidFill>
                  <a:srgbClr val="1F2937"/>
                </a:solidFill>
                <a:latin typeface="Calibri"/>
              </a:rPr>
              <a:t>•  With it: ₹76.4 lakh, about 3×</a:t>
            </a:r>
          </a:p>
        </p:txBody>
      </p:sp>
      <p:sp>
        <p:nvSpPr>
          <p:cNvPr id="23" name="Rounded Rectangle 22"/>
          <p:cNvSpPr/>
          <p:nvPr/>
        </p:nvSpPr>
        <p:spPr>
          <a:xfrm>
            <a:off x="4251960" y="4892040"/>
            <a:ext cx="3657600" cy="141732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361688" y="4965192"/>
            <a:ext cx="3438144" cy="1271016"/>
          </a:xfrm>
          <a:prstGeom prst="rect">
            <a:avLst/>
          </a:prstGeom>
          <a:noFill/>
        </p:spPr>
        <p:txBody>
          <a:bodyPr wrap="square" anchor="t" lIns="45720" rIns="45720" tIns="27432" bIns="27432">
            <a:spAutoFit/>
          </a:bodyPr>
          <a:lstStyle/>
          <a:p>
            <a:pPr algn="l">
              <a:spcAft>
                <a:spcPts val="500"/>
              </a:spcAft>
            </a:pPr>
            <a:r>
              <a:rPr sz="1700" b="1" i="0">
                <a:solidFill>
                  <a:srgbClr val="2E8B57"/>
                </a:solidFill>
                <a:latin typeface="Calibri"/>
              </a:rPr>
              <a:t>Why a joint action</a:t>
            </a:r>
          </a:p>
          <a:p>
            <a:pPr algn="l">
              <a:spcAft>
                <a:spcPts val="300"/>
              </a:spcAft>
            </a:pPr>
            <a:r>
              <a:rPr sz="1400" b="0" i="0">
                <a:solidFill>
                  <a:srgbClr val="1F2937"/>
                </a:solidFill>
                <a:latin typeface="Calibri"/>
              </a:rPr>
              <a:t>•  Quantity and supplier as one choice</a:t>
            </a:r>
          </a:p>
          <a:p>
            <a:pPr algn="l">
              <a:spcAft>
                <a:spcPts val="300"/>
              </a:spcAft>
            </a:pPr>
            <a:r>
              <a:rPr sz="1400" b="0" i="0">
                <a:solidFill>
                  <a:srgbClr val="1F2937"/>
                </a:solidFill>
                <a:latin typeface="Calibri"/>
              </a:rPr>
              <a:t>•  2.8× faster training, matches reality</a:t>
            </a:r>
          </a:p>
        </p:txBody>
      </p:sp>
      <p:sp>
        <p:nvSpPr>
          <p:cNvPr id="25" name="Rounded Rectangle 24"/>
          <p:cNvSpPr/>
          <p:nvPr/>
        </p:nvSpPr>
        <p:spPr>
          <a:xfrm>
            <a:off x="8092440" y="4892040"/>
            <a:ext cx="3685032" cy="141732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02167" y="4965192"/>
            <a:ext cx="3465576" cy="1271016"/>
          </a:xfrm>
          <a:prstGeom prst="rect">
            <a:avLst/>
          </a:prstGeom>
          <a:noFill/>
        </p:spPr>
        <p:txBody>
          <a:bodyPr wrap="square" anchor="t" lIns="45720" rIns="45720" tIns="27432" bIns="27432">
            <a:spAutoFit/>
          </a:bodyPr>
          <a:lstStyle/>
          <a:p>
            <a:pPr algn="l">
              <a:spcAft>
                <a:spcPts val="500"/>
              </a:spcAft>
            </a:pPr>
            <a:r>
              <a:rPr sz="1700" b="1" i="0">
                <a:solidFill>
                  <a:srgbClr val="2F6FB5"/>
                </a:solidFill>
                <a:latin typeface="Calibri"/>
              </a:rPr>
              <a:t>Why tuning</a:t>
            </a:r>
          </a:p>
          <a:p>
            <a:pPr algn="l">
              <a:spcAft>
                <a:spcPts val="300"/>
              </a:spcAft>
            </a:pPr>
            <a:r>
              <a:rPr sz="1400" b="0" i="0">
                <a:solidFill>
                  <a:srgbClr val="1F2937"/>
                </a:solidFill>
                <a:latin typeface="Calibri"/>
              </a:rPr>
              <a:t>•  8 settings tried, best 2 run to 2M steps</a:t>
            </a:r>
          </a:p>
          <a:p>
            <a:pPr algn="l">
              <a:spcAft>
                <a:spcPts val="300"/>
              </a:spcAft>
            </a:pPr>
            <a:r>
              <a:rPr sz="1400" b="0" i="0">
                <a:solidFill>
                  <a:srgbClr val="1F2937"/>
                </a:solidFill>
                <a:latin typeface="Calibri"/>
              </a:rPr>
              <a:t>•  The lowest learning rate won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Dataset Description</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04_demand_regimes.png"/>
          <p:cNvPicPr>
            <a:picLocks noChangeAspect="1"/>
          </p:cNvPicPr>
          <p:nvPr/>
        </p:nvPicPr>
        <p:blipFill>
          <a:blip r:embed="rId2"/>
          <a:stretch>
            <a:fillRect/>
          </a:stretch>
        </p:blipFill>
        <p:spPr>
          <a:xfrm>
            <a:off x="660545" y="1371600"/>
            <a:ext cx="4988269" cy="3273552"/>
          </a:xfrm>
          <a:prstGeom prst="rect">
            <a:avLst/>
          </a:prstGeom>
          <a:ln w="12700">
            <a:solidFill>
              <a:srgbClr val="CBD5E1"/>
            </a:solidFill>
          </a:ln>
        </p:spPr>
      </p:pic>
      <p:sp>
        <p:nvSpPr>
          <p:cNvPr id="21" name="TextBox 20"/>
          <p:cNvSpPr txBox="1"/>
          <p:nvPr/>
        </p:nvSpPr>
        <p:spPr>
          <a:xfrm>
            <a:off x="411480" y="4672584"/>
            <a:ext cx="548640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Three demand types: steady, moderate, bursty</a:t>
            </a:r>
          </a:p>
        </p:txBody>
      </p:sp>
      <p:sp>
        <p:nvSpPr>
          <p:cNvPr id="22" name="TextBox 21"/>
          <p:cNvSpPr txBox="1"/>
          <p:nvPr/>
        </p:nvSpPr>
        <p:spPr>
          <a:xfrm>
            <a:off x="6172200" y="1371600"/>
            <a:ext cx="5577840" cy="4937760"/>
          </a:xfrm>
          <a:prstGeom prst="rect">
            <a:avLst/>
          </a:prstGeom>
          <a:noFill/>
        </p:spPr>
        <p:txBody>
          <a:bodyPr wrap="square" anchor="t" lIns="45720" rIns="45720" tIns="27432" bIns="27432">
            <a:spAutoFit/>
          </a:bodyPr>
          <a:lstStyle/>
          <a:p>
            <a:pPr algn="l">
              <a:spcAft>
                <a:spcPts val="400"/>
              </a:spcAft>
            </a:pPr>
            <a:r>
              <a:rPr sz="2000" b="1" i="0">
                <a:solidFill>
                  <a:srgbClr val="1B5E3A"/>
                </a:solidFill>
                <a:latin typeface="Calibri"/>
              </a:rPr>
              <a:t>UCI Online Retail II</a:t>
            </a:r>
          </a:p>
          <a:p>
            <a:pPr algn="l">
              <a:spcAft>
                <a:spcPts val="400"/>
              </a:spcAft>
            </a:pPr>
            <a:r>
              <a:rPr sz="1500" b="0" i="0">
                <a:solidFill>
                  <a:srgbClr val="1F2937"/>
                </a:solidFill>
                <a:latin typeface="Calibri"/>
              </a:rPr>
              <a:t>•  1,067,371 sales records, UK online gift shop, December 2009 to December 2011</a:t>
            </a:r>
          </a:p>
          <a:p>
            <a:pPr algn="l">
              <a:spcAft>
                <a:spcPts val="400"/>
              </a:spcAft>
            </a:pPr>
            <a:r>
              <a:rPr sz="1500" b="0" i="0">
                <a:solidFill>
                  <a:srgbClr val="1F2937"/>
                </a:solidFill>
                <a:latin typeface="Calibri"/>
              </a:rPr>
              <a:t>•  Cleaned: cancellations, returns, negative quantities and missing codes removed; one row per product per day; Saturdays dropped (the shop never traded)</a:t>
            </a:r>
          </a:p>
          <a:p>
            <a:pPr algn="l">
              <a:spcAft>
                <a:spcPts val="400"/>
              </a:spcAft>
            </a:pPr>
            <a:r>
              <a:rPr sz="1500" b="0" i="0">
                <a:solidFill>
                  <a:srgbClr val="1F2937"/>
                </a:solidFill>
                <a:latin typeface="Calibri"/>
              </a:rPr>
              <a:t>•  10 products chosen on purpose: 4 steady (CV 1.02–1.20), 3 moderate (1.29–1.65), 3 bursty (2.09–2.34)</a:t>
            </a:r>
          </a:p>
          <a:p>
            <a:pPr algn="l">
              <a:spcAft>
                <a:spcPts val="400"/>
              </a:spcAft>
            </a:pPr>
            <a:r>
              <a:rPr sz="1500" b="0" i="0">
                <a:solidFill>
                  <a:srgbClr val="1F2937"/>
                </a:solidFill>
                <a:latin typeface="Calibri"/>
              </a:rPr>
              <a:t>•  Only data before 1 June 2011 builds the simulator</a:t>
            </a:r>
          </a:p>
          <a:p>
            <a:pPr algn="l">
              <a:spcAft>
                <a:spcPts val="400"/>
              </a:spcAft>
            </a:pPr>
            <a:r>
              <a:rPr sz="1500" b="0" i="0">
                <a:solidFill>
                  <a:srgbClr val="1F2937"/>
                </a:solidFill>
                <a:latin typeface="Calibri"/>
              </a:rPr>
              <a:t>•  The agent never sees the records: five measurements (mean, variability, weekday, month, zero-sales days) drive a Gamma–Poisson demand model</a:t>
            </a:r>
          </a:p>
          <a:p>
            <a:pPr algn="l">
              <a:spcAft>
                <a:spcPts val="400"/>
              </a:spcAft>
            </a:pPr>
            <a:r>
              <a:rPr sz="1500" b="0" i="0">
                <a:solidFill>
                  <a:srgbClr val="D6336C"/>
                </a:solidFill>
                <a:latin typeface="Calibri"/>
              </a:rPr>
              <a:t>•  A newer Kaggle dataset (2022–24) was tested and rejected: no weekday or seasonal pattern, i.e. synthetic.</a:t>
            </a:r>
          </a:p>
        </p:txBody>
      </p:sp>
      <p:sp>
        <p:nvSpPr>
          <p:cNvPr id="23" name="TextBox 22"/>
          <p:cNvSpPr txBox="1"/>
          <p:nvPr/>
        </p:nvSpPr>
        <p:spPr>
          <a:xfrm>
            <a:off x="411480" y="5120640"/>
            <a:ext cx="5486400" cy="1097280"/>
          </a:xfrm>
          <a:prstGeom prst="rect">
            <a:avLst/>
          </a:prstGeom>
          <a:noFill/>
        </p:spPr>
        <p:txBody>
          <a:bodyPr wrap="square" anchor="t" lIns="45720" rIns="45720" tIns="27432" bIns="27432">
            <a:spAutoFit/>
          </a:bodyPr>
          <a:lstStyle/>
          <a:p>
            <a:pPr algn="l">
              <a:spcAft>
                <a:spcPts val="400"/>
              </a:spcAft>
            </a:pPr>
            <a:r>
              <a:rPr sz="1400" b="0" i="0">
                <a:solidFill>
                  <a:srgbClr val="5B6573"/>
                </a:solidFill>
                <a:latin typeface="Calibri"/>
              </a:rPr>
              <a:t>If all ten products behaved alike, one simple rule would handle them all and there would be nothing for an AI to learn.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Is the Data Too Old?</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08_pattern_stability.png"/>
          <p:cNvPicPr>
            <a:picLocks noChangeAspect="1"/>
          </p:cNvPicPr>
          <p:nvPr/>
        </p:nvPicPr>
        <p:blipFill>
          <a:blip r:embed="rId2"/>
          <a:stretch>
            <a:fillRect/>
          </a:stretch>
        </p:blipFill>
        <p:spPr>
          <a:xfrm>
            <a:off x="411480" y="1325880"/>
            <a:ext cx="6949440" cy="2285484"/>
          </a:xfrm>
          <a:prstGeom prst="rect">
            <a:avLst/>
          </a:prstGeom>
          <a:ln w="12700">
            <a:solidFill>
              <a:srgbClr val="CBD5E1"/>
            </a:solidFill>
          </a:ln>
        </p:spPr>
      </p:pic>
      <p:sp>
        <p:nvSpPr>
          <p:cNvPr id="21" name="TextBox 20"/>
          <p:cNvSpPr txBox="1"/>
          <p:nvPr/>
        </p:nvSpPr>
        <p:spPr>
          <a:xfrm>
            <a:off x="411480" y="3638796"/>
            <a:ext cx="694944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Year 1 vs year 2: weekday rhythm repeats; mid-year does not</a:t>
            </a:r>
          </a:p>
        </p:txBody>
      </p:sp>
      <p:graphicFrame>
        <p:nvGraphicFramePr>
          <p:cNvPr id="22" name="Table 21"/>
          <p:cNvGraphicFramePr>
            <a:graphicFrameLocks noGrp="1"/>
          </p:cNvGraphicFramePr>
          <p:nvPr/>
        </p:nvGraphicFramePr>
        <p:xfrm>
          <a:off x="7635240" y="1371600"/>
          <a:ext cx="4142231" cy="2286000"/>
        </p:xfrm>
        <a:graphic>
          <a:graphicData uri="http://schemas.openxmlformats.org/drawingml/2006/table">
            <a:tbl>
              <a:tblPr firstRow="1" bandRow="1">
                <a:tableStyleId>{5C22544A-7EE6-4342-B048-85BDC9FD1C3A}</a:tableStyleId>
              </a:tblPr>
              <a:tblGrid>
                <a:gridCol w="2153960"/>
                <a:gridCol w="1988271"/>
              </a:tblGrid>
              <a:tr h="457200">
                <a:tc>
                  <a:txBody>
                    <a:bodyPr wrap="square"/>
                    <a:lstStyle/>
                    <a:p>
                      <a:pPr algn="l"/>
                      <a:r>
                        <a:rPr sz="1300" b="1" i="0">
                          <a:solidFill>
                            <a:srgbClr val="FFFFFF"/>
                          </a:solidFill>
                          <a:latin typeface="Calibri"/>
                        </a:rPr>
                        <a:t>Property (year 1 vs year 2)</a:t>
                      </a:r>
                    </a:p>
                  </a:txBody>
                  <a:tcPr marL="54864" marR="54864" marT="18288" marB="18288" anchor="ctr">
                    <a:solidFill>
                      <a:srgbClr val="2E8B57"/>
                    </a:solidFill>
                  </a:tcPr>
                </a:tc>
                <a:tc>
                  <a:txBody>
                    <a:bodyPr wrap="square"/>
                    <a:lstStyle/>
                    <a:p>
                      <a:pPr algn="ctr"/>
                      <a:r>
                        <a:rPr sz="1300" b="1" i="0">
                          <a:solidFill>
                            <a:srgbClr val="FFFFFF"/>
                          </a:solidFill>
                          <a:latin typeface="Calibri"/>
                        </a:rPr>
                        <a:t>Result</a:t>
                      </a:r>
                    </a:p>
                  </a:txBody>
                  <a:tcPr marL="54864" marR="54864" marT="18288" marB="18288" anchor="ctr">
                    <a:solidFill>
                      <a:srgbClr val="2E8B57"/>
                    </a:solidFill>
                  </a:tcPr>
                </a:tc>
              </a:tr>
              <a:tr h="457200">
                <a:tc>
                  <a:txBody>
                    <a:bodyPr wrap="square"/>
                    <a:lstStyle/>
                    <a:p>
                      <a:r>
                        <a:rPr sz="1300" b="0" i="0">
                          <a:solidFill>
                            <a:srgbClr val="1F2937"/>
                          </a:solidFill>
                          <a:latin typeface="Calibri"/>
                        </a:rPr>
                        <a:t>Weekday pattern</a:t>
                      </a:r>
                    </a:p>
                  </a:txBody>
                  <a:tcPr marL="54864" marR="54864" marT="18288" marB="18288" anchor="ctr">
                    <a:solidFill>
                      <a:srgbClr val="FFFFFF"/>
                    </a:solidFill>
                  </a:tcPr>
                </a:tc>
                <a:tc>
                  <a:txBody>
                    <a:bodyPr wrap="square"/>
                    <a:lstStyle/>
                    <a:p>
                      <a:pPr algn="ctr"/>
                      <a:r>
                        <a:rPr sz="1300" b="0" i="0">
                          <a:solidFill>
                            <a:srgbClr val="1F2937"/>
                          </a:solidFill>
                          <a:latin typeface="Calibri"/>
                        </a:rPr>
                        <a:t>r = 0.87</a:t>
                      </a:r>
                    </a:p>
                  </a:txBody>
                  <a:tcPr marL="54864" marR="54864" marT="18288" marB="18288" anchor="ctr">
                    <a:solidFill>
                      <a:srgbClr val="FFFFFF"/>
                    </a:solidFill>
                  </a:tcPr>
                </a:tc>
              </a:tr>
              <a:tr h="457200">
                <a:tc>
                  <a:txBody>
                    <a:bodyPr wrap="square"/>
                    <a:lstStyle/>
                    <a:p>
                      <a:r>
                        <a:rPr sz="1300" b="0" i="0">
                          <a:solidFill>
                            <a:srgbClr val="1F2937"/>
                          </a:solidFill>
                          <a:latin typeface="Calibri"/>
                        </a:rPr>
                        <a:t>Month pattern</a:t>
                      </a:r>
                    </a:p>
                  </a:txBody>
                  <a:tcPr marL="54864" marR="54864" marT="18288" marB="18288" anchor="ctr">
                    <a:solidFill>
                      <a:srgbClr val="F1F5F9"/>
                    </a:solidFill>
                  </a:tcPr>
                </a:tc>
                <a:tc>
                  <a:txBody>
                    <a:bodyPr wrap="square"/>
                    <a:lstStyle/>
                    <a:p>
                      <a:pPr algn="ctr"/>
                      <a:r>
                        <a:rPr sz="1300" b="0" i="0">
                          <a:solidFill>
                            <a:srgbClr val="1F2937"/>
                          </a:solidFill>
                          <a:latin typeface="Calibri"/>
                        </a:rPr>
                        <a:t>r = 0.51  (0.64 without Dec)</a:t>
                      </a:r>
                    </a:p>
                  </a:txBody>
                  <a:tcPr marL="54864" marR="54864" marT="18288" marB="18288" anchor="ctr">
                    <a:solidFill>
                      <a:srgbClr val="F1F5F9"/>
                    </a:solidFill>
                  </a:tcPr>
                </a:tc>
              </a:tr>
              <a:tr h="457200">
                <a:tc>
                  <a:txBody>
                    <a:bodyPr wrap="square"/>
                    <a:lstStyle/>
                    <a:p>
                      <a:r>
                        <a:rPr sz="1300" b="0" i="0">
                          <a:solidFill>
                            <a:srgbClr val="1F2937"/>
                          </a:solidFill>
                          <a:latin typeface="Calibri"/>
                        </a:rPr>
                        <a:t>Busiest month</a:t>
                      </a:r>
                    </a:p>
                  </a:txBody>
                  <a:tcPr marL="54864" marR="54864" marT="18288" marB="18288" anchor="ctr">
                    <a:solidFill>
                      <a:srgbClr val="FFFFFF"/>
                    </a:solidFill>
                  </a:tcPr>
                </a:tc>
                <a:tc>
                  <a:txBody>
                    <a:bodyPr wrap="square"/>
                    <a:lstStyle/>
                    <a:p>
                      <a:pPr algn="ctr"/>
                      <a:r>
                        <a:rPr sz="1300" b="0" i="0">
                          <a:solidFill>
                            <a:srgbClr val="1F2937"/>
                          </a:solidFill>
                          <a:latin typeface="Calibri"/>
                        </a:rPr>
                        <a:t>November, both years</a:t>
                      </a:r>
                    </a:p>
                  </a:txBody>
                  <a:tcPr marL="54864" marR="54864" marT="18288" marB="18288" anchor="ctr">
                    <a:solidFill>
                      <a:srgbClr val="FFFFFF"/>
                    </a:solidFill>
                  </a:tcPr>
                </a:tc>
              </a:tr>
              <a:tr h="457200">
                <a:tc>
                  <a:txBody>
                    <a:bodyPr wrap="square"/>
                    <a:lstStyle/>
                    <a:p>
                      <a:r>
                        <a:rPr sz="1300" b="0" i="0">
                          <a:solidFill>
                            <a:srgbClr val="1F2937"/>
                          </a:solidFill>
                          <a:latin typeface="Calibri"/>
                        </a:rPr>
                        <a:t>Burstiness (variance / mean)</a:t>
                      </a:r>
                    </a:p>
                  </a:txBody>
                  <a:tcPr marL="54864" marR="54864" marT="18288" marB="18288" anchor="ctr">
                    <a:solidFill>
                      <a:srgbClr val="F1F5F9"/>
                    </a:solidFill>
                  </a:tcPr>
                </a:tc>
                <a:tc>
                  <a:txBody>
                    <a:bodyPr wrap="square"/>
                    <a:lstStyle/>
                    <a:p>
                      <a:pPr algn="ctr"/>
                      <a:r>
                        <a:rPr sz="1300" b="0" i="0">
                          <a:solidFill>
                            <a:srgbClr val="1F2937"/>
                          </a:solidFill>
                          <a:latin typeface="Calibri"/>
                        </a:rPr>
                        <a:t>224 and 474</a:t>
                      </a:r>
                    </a:p>
                  </a:txBody>
                  <a:tcPr marL="54864" marR="54864" marT="18288" marB="18288" anchor="ctr">
                    <a:solidFill>
                      <a:srgbClr val="F1F5F9"/>
                    </a:solidFill>
                  </a:tcPr>
                </a:tc>
              </a:tr>
            </a:tbl>
          </a:graphicData>
        </a:graphic>
      </p:graphicFrame>
      <p:sp>
        <p:nvSpPr>
          <p:cNvPr id="23" name="TextBox 22"/>
          <p:cNvSpPr txBox="1"/>
          <p:nvPr/>
        </p:nvSpPr>
        <p:spPr>
          <a:xfrm>
            <a:off x="411480" y="4709160"/>
            <a:ext cx="11365992" cy="1554480"/>
          </a:xfrm>
          <a:prstGeom prst="rect">
            <a:avLst/>
          </a:prstGeom>
          <a:noFill/>
        </p:spPr>
        <p:txBody>
          <a:bodyPr wrap="square" anchor="t" lIns="45720" rIns="45720" tIns="27432" bIns="27432">
            <a:spAutoFit/>
          </a:bodyPr>
          <a:lstStyle/>
          <a:p>
            <a:pPr algn="l">
              <a:spcAft>
                <a:spcPts val="500"/>
              </a:spcAft>
            </a:pPr>
            <a:r>
              <a:rPr sz="1600" b="1" i="0">
                <a:solidFill>
                  <a:srgbClr val="1F2937"/>
                </a:solidFill>
                <a:latin typeface="Calibri"/>
              </a:rPr>
              <a:t>The question: </a:t>
            </a:r>
            <a:r>
              <a:rPr sz="1600" b="0" i="0">
                <a:solidFill>
                  <a:srgbClr val="1F2937"/>
                </a:solidFill>
                <a:latin typeface="Calibri"/>
              </a:rPr>
              <a:t>the simulator uses the shape of demand, not prices or volumes. Is that shape a feature of retail, or of one period?</a:t>
            </a:r>
          </a:p>
          <a:p>
            <a:pPr algn="l">
              <a:spcAft>
                <a:spcPts val="400"/>
              </a:spcAft>
            </a:pPr>
            <a:r>
              <a:rPr sz="1600" b="1" i="0">
                <a:solidFill>
                  <a:srgbClr val="1F2937"/>
                </a:solidFill>
                <a:latin typeface="Calibri"/>
              </a:rPr>
              <a:t>The answer: </a:t>
            </a:r>
            <a:r>
              <a:rPr sz="1600" b="0" i="0">
                <a:solidFill>
                  <a:srgbClr val="1F2937"/>
                </a:solidFill>
                <a:latin typeface="Calibri"/>
              </a:rPr>
              <a:t>the weekly rhythm and the November peak repeat across two independent years. We report the weaker mid-year match as found. </a:t>
            </a:r>
            <a:r>
              <a:rPr sz="1600" b="1" i="0">
                <a:solidFill>
                  <a:srgbClr val="D6336C"/>
                </a:solidFill>
                <a:latin typeface="Calibri"/>
              </a:rPr>
              <a:t>It cannot speak to 2026 itself, which stays a stated limitation.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Methodology: The Simulator</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daily_cycle.png"/>
          <p:cNvPicPr>
            <a:picLocks noChangeAspect="1"/>
          </p:cNvPicPr>
          <p:nvPr/>
        </p:nvPicPr>
        <p:blipFill>
          <a:blip r:embed="rId2"/>
          <a:stretch>
            <a:fillRect/>
          </a:stretch>
        </p:blipFill>
        <p:spPr>
          <a:xfrm>
            <a:off x="365760" y="1234440"/>
            <a:ext cx="11457432" cy="2545698"/>
          </a:xfrm>
          <a:prstGeom prst="rect">
            <a:avLst/>
          </a:prstGeom>
        </p:spPr>
      </p:pic>
      <p:sp>
        <p:nvSpPr>
          <p:cNvPr id="21" name="Rounded Rectangle 20"/>
          <p:cNvSpPr/>
          <p:nvPr/>
        </p:nvSpPr>
        <p:spPr>
          <a:xfrm>
            <a:off x="411480" y="4069080"/>
            <a:ext cx="3657600" cy="2240280"/>
          </a:xfrm>
          <a:prstGeom prst="roundRect">
            <a:avLst>
              <a:gd name="adj" fmla="val 7000"/>
            </a:avLst>
          </a:prstGeom>
          <a:solidFill>
            <a:srgbClr val="F1F5F9"/>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1208" y="4142232"/>
            <a:ext cx="3438144" cy="2093976"/>
          </a:xfrm>
          <a:prstGeom prst="rect">
            <a:avLst/>
          </a:prstGeom>
          <a:noFill/>
        </p:spPr>
        <p:txBody>
          <a:bodyPr wrap="square" anchor="t" lIns="45720" rIns="45720" tIns="27432" bIns="27432">
            <a:spAutoFit/>
          </a:bodyPr>
          <a:lstStyle/>
          <a:p>
            <a:pPr algn="l">
              <a:spcAft>
                <a:spcPts val="500"/>
              </a:spcAft>
            </a:pPr>
            <a:r>
              <a:rPr sz="1700" b="1" i="0">
                <a:solidFill>
                  <a:srgbClr val="2E8B57"/>
                </a:solidFill>
                <a:latin typeface="Calibri"/>
              </a:rPr>
              <a:t>Storage cost</a:t>
            </a:r>
          </a:p>
          <a:p>
            <a:pPr algn="l">
              <a:spcAft>
                <a:spcPts val="300"/>
              </a:spcAft>
            </a:pPr>
            <a:r>
              <a:rPr sz="1400" b="0" i="0">
                <a:solidFill>
                  <a:srgbClr val="1F2937"/>
                </a:solidFill>
                <a:latin typeface="Calibri"/>
              </a:rPr>
              <a:t>•  0.15% of item cost per day</a:t>
            </a:r>
          </a:p>
          <a:p>
            <a:pPr algn="l">
              <a:spcAft>
                <a:spcPts val="300"/>
              </a:spcAft>
            </a:pPr>
            <a:r>
              <a:rPr sz="1400" b="0" i="0">
                <a:solidFill>
                  <a:srgbClr val="1F2937"/>
                </a:solidFill>
                <a:latin typeface="Calibri"/>
              </a:rPr>
              <a:t>•  High on purpose: seasonal gift items lose value</a:t>
            </a:r>
          </a:p>
          <a:p>
            <a:pPr algn="l">
              <a:spcAft>
                <a:spcPts val="300"/>
              </a:spcAft>
            </a:pPr>
            <a:r>
              <a:rPr sz="1400" b="0" i="0">
                <a:solidFill>
                  <a:srgbClr val="1F2937"/>
                </a:solidFill>
                <a:latin typeface="Calibri"/>
              </a:rPr>
              <a:t>•  An earlier 730% a year made any stock absurdly costly</a:t>
            </a:r>
          </a:p>
        </p:txBody>
      </p:sp>
      <p:sp>
        <p:nvSpPr>
          <p:cNvPr id="23" name="Rounded Rectangle 22"/>
          <p:cNvSpPr/>
          <p:nvPr/>
        </p:nvSpPr>
        <p:spPr>
          <a:xfrm>
            <a:off x="4251960" y="4069080"/>
            <a:ext cx="3657600" cy="2240280"/>
          </a:xfrm>
          <a:prstGeom prst="roundRect">
            <a:avLst>
              <a:gd name="adj" fmla="val 7000"/>
            </a:avLst>
          </a:prstGeom>
          <a:solidFill>
            <a:srgbClr val="F1F5F9"/>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361688" y="4142232"/>
            <a:ext cx="3438144" cy="2093976"/>
          </a:xfrm>
          <a:prstGeom prst="rect">
            <a:avLst/>
          </a:prstGeom>
          <a:noFill/>
        </p:spPr>
        <p:txBody>
          <a:bodyPr wrap="square" anchor="t" lIns="45720" rIns="45720" tIns="27432" bIns="27432">
            <a:spAutoFit/>
          </a:bodyPr>
          <a:lstStyle/>
          <a:p>
            <a:pPr algn="l">
              <a:spcAft>
                <a:spcPts val="500"/>
              </a:spcAft>
            </a:pPr>
            <a:r>
              <a:rPr sz="1700" b="1" i="0">
                <a:solidFill>
                  <a:srgbClr val="2F6FB5"/>
                </a:solidFill>
                <a:latin typeface="Calibri"/>
              </a:rPr>
              <a:t>Leftover stock</a:t>
            </a:r>
          </a:p>
          <a:p>
            <a:pPr algn="l">
              <a:spcAft>
                <a:spcPts val="300"/>
              </a:spcAft>
            </a:pPr>
            <a:r>
              <a:rPr sz="1400" b="0" i="0">
                <a:solidFill>
                  <a:srgbClr val="1F2937"/>
                </a:solidFill>
                <a:latin typeface="Calibri"/>
              </a:rPr>
              <a:t>•  Worth 60% of cost at day 180</a:t>
            </a:r>
          </a:p>
          <a:p>
            <a:pPr algn="l">
              <a:spcAft>
                <a:spcPts val="300"/>
              </a:spcAft>
            </a:pPr>
            <a:r>
              <a:rPr sz="1400" b="0" i="0">
                <a:solidFill>
                  <a:srgbClr val="1F2937"/>
                </a:solidFill>
                <a:latin typeface="Calibri"/>
              </a:rPr>
              <a:t>•  An earlier version wrote it off, an artefact of stopping at 180 days</a:t>
            </a:r>
          </a:p>
        </p:txBody>
      </p:sp>
      <p:sp>
        <p:nvSpPr>
          <p:cNvPr id="25" name="Rounded Rectangle 24"/>
          <p:cNvSpPr/>
          <p:nvPr/>
        </p:nvSpPr>
        <p:spPr>
          <a:xfrm>
            <a:off x="8092440" y="4069080"/>
            <a:ext cx="3685032" cy="2240280"/>
          </a:xfrm>
          <a:prstGeom prst="roundRect">
            <a:avLst>
              <a:gd name="adj" fmla="val 7000"/>
            </a:avLst>
          </a:prstGeom>
          <a:solidFill>
            <a:srgbClr val="F1F5F9"/>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02167" y="4142232"/>
            <a:ext cx="3465576" cy="2093976"/>
          </a:xfrm>
          <a:prstGeom prst="rect">
            <a:avLst/>
          </a:prstGeom>
          <a:noFill/>
        </p:spPr>
        <p:txBody>
          <a:bodyPr wrap="square" anchor="t" lIns="45720" rIns="45720" tIns="27432" bIns="27432">
            <a:spAutoFit/>
          </a:bodyPr>
          <a:lstStyle/>
          <a:p>
            <a:pPr algn="l">
              <a:spcAft>
                <a:spcPts val="500"/>
              </a:spcAft>
            </a:pPr>
            <a:r>
              <a:rPr sz="1700" b="1" i="0">
                <a:solidFill>
                  <a:srgbClr val="D6336C"/>
                </a:solidFill>
                <a:latin typeface="Calibri"/>
              </a:rPr>
              <a:t>One shared warehouse</a:t>
            </a:r>
          </a:p>
          <a:p>
            <a:pPr algn="l">
              <a:spcAft>
                <a:spcPts val="300"/>
              </a:spcAft>
            </a:pPr>
            <a:r>
              <a:rPr sz="1400" b="0" i="0">
                <a:solidFill>
                  <a:srgbClr val="1F2937"/>
                </a:solidFill>
                <a:latin typeface="Calibri"/>
              </a:rPr>
              <a:t>•  With per-product limits, “always order the maximum” was best</a:t>
            </a:r>
          </a:p>
          <a:p>
            <a:pPr algn="l">
              <a:spcAft>
                <a:spcPts val="300"/>
              </a:spcAft>
            </a:pPr>
            <a:r>
              <a:rPr sz="1400" b="0" i="0">
                <a:solidFill>
                  <a:srgbClr val="1F2937"/>
                </a:solidFill>
                <a:latin typeface="Calibri"/>
              </a:rPr>
              <a:t>•  A shared limit made ordering a real trade-off</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Methodology: The RL Agent</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Rounded Rectangle 19"/>
          <p:cNvSpPr/>
          <p:nvPr/>
        </p:nvSpPr>
        <p:spPr>
          <a:xfrm>
            <a:off x="411480" y="1371600"/>
            <a:ext cx="3657600" cy="233172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1208" y="1444752"/>
            <a:ext cx="3438144" cy="2185415"/>
          </a:xfrm>
          <a:prstGeom prst="rect">
            <a:avLst/>
          </a:prstGeom>
          <a:noFill/>
        </p:spPr>
        <p:txBody>
          <a:bodyPr wrap="square" anchor="t" lIns="45720" rIns="45720" tIns="27432" bIns="27432">
            <a:spAutoFit/>
          </a:bodyPr>
          <a:lstStyle/>
          <a:p>
            <a:pPr algn="l">
              <a:spcAft>
                <a:spcPts val="500"/>
              </a:spcAft>
            </a:pPr>
            <a:r>
              <a:rPr sz="1700" b="1" i="0">
                <a:solidFill>
                  <a:srgbClr val="2F6FB5"/>
                </a:solidFill>
                <a:latin typeface="Calibri"/>
              </a:rPr>
              <a:t>What it sees: 88 numbers</a:t>
            </a:r>
          </a:p>
          <a:p>
            <a:pPr algn="l">
              <a:spcAft>
                <a:spcPts val="300"/>
              </a:spcAft>
            </a:pPr>
            <a:r>
              <a:rPr sz="1400" b="0" i="0">
                <a:solidFill>
                  <a:srgbClr val="1F2937"/>
                </a:solidFill>
                <a:latin typeface="Calibri"/>
              </a:rPr>
              <a:t>•  Per product: stock, stock on order, days of cover, 7-day demand, variability, trend, backlog</a:t>
            </a:r>
          </a:p>
          <a:p>
            <a:pPr algn="l">
              <a:spcAft>
                <a:spcPts val="300"/>
              </a:spcAft>
            </a:pPr>
            <a:r>
              <a:rPr sz="1400" b="0" i="0">
                <a:solidFill>
                  <a:srgbClr val="1F2937"/>
                </a:solidFill>
                <a:latin typeface="Calibri"/>
              </a:rPr>
              <a:t>•  Weekday, season, supplier availability, lead time, reliability</a:t>
            </a:r>
          </a:p>
        </p:txBody>
      </p:sp>
      <p:sp>
        <p:nvSpPr>
          <p:cNvPr id="22" name="Rounded Rectangle 21"/>
          <p:cNvSpPr/>
          <p:nvPr/>
        </p:nvSpPr>
        <p:spPr>
          <a:xfrm>
            <a:off x="4251960" y="1371600"/>
            <a:ext cx="3657600" cy="233172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61688" y="1444752"/>
            <a:ext cx="3438144" cy="2185415"/>
          </a:xfrm>
          <a:prstGeom prst="rect">
            <a:avLst/>
          </a:prstGeom>
          <a:noFill/>
        </p:spPr>
        <p:txBody>
          <a:bodyPr wrap="square" anchor="t" lIns="45720" rIns="45720" tIns="27432" bIns="27432">
            <a:spAutoFit/>
          </a:bodyPr>
          <a:lstStyle/>
          <a:p>
            <a:pPr algn="l">
              <a:spcAft>
                <a:spcPts val="500"/>
              </a:spcAft>
            </a:pPr>
            <a:r>
              <a:rPr sz="1700" b="1" i="0">
                <a:solidFill>
                  <a:srgbClr val="D6336C"/>
                </a:solidFill>
                <a:latin typeface="Calibri"/>
              </a:rPr>
              <a:t>What it decides</a:t>
            </a:r>
          </a:p>
          <a:p>
            <a:pPr algn="l">
              <a:spcAft>
                <a:spcPts val="300"/>
              </a:spcAft>
            </a:pPr>
            <a:r>
              <a:rPr sz="1400" b="0" i="0">
                <a:solidFill>
                  <a:srgbClr val="1F2937"/>
                </a:solidFill>
                <a:latin typeface="Calibri"/>
              </a:rPr>
              <a:t>•  One of 21 options per product</a:t>
            </a:r>
          </a:p>
          <a:p>
            <a:pPr algn="l">
              <a:spcAft>
                <a:spcPts val="300"/>
              </a:spcAft>
            </a:pPr>
            <a:r>
              <a:rPr sz="1400" b="0" i="0">
                <a:solidFill>
                  <a:srgbClr val="1F2937"/>
                </a:solidFill>
                <a:latin typeface="Calibri"/>
              </a:rPr>
              <a:t>•  7 quantity levels × 3 suppliers</a:t>
            </a:r>
          </a:p>
          <a:p>
            <a:pPr algn="l">
              <a:spcAft>
                <a:spcPts val="300"/>
              </a:spcAft>
            </a:pPr>
            <a:r>
              <a:rPr sz="1400" b="0" i="0">
                <a:solidFill>
                  <a:srgbClr val="1F2937"/>
                </a:solidFill>
                <a:latin typeface="Calibri"/>
              </a:rPr>
              <a:t>•  Offline suppliers and oversize orders are masked</a:t>
            </a:r>
          </a:p>
        </p:txBody>
      </p:sp>
      <p:sp>
        <p:nvSpPr>
          <p:cNvPr id="24" name="Rounded Rectangle 23"/>
          <p:cNvSpPr/>
          <p:nvPr/>
        </p:nvSpPr>
        <p:spPr>
          <a:xfrm>
            <a:off x="8092440" y="1371600"/>
            <a:ext cx="3685032" cy="233172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02167" y="1444752"/>
            <a:ext cx="3465576" cy="2185415"/>
          </a:xfrm>
          <a:prstGeom prst="rect">
            <a:avLst/>
          </a:prstGeom>
          <a:noFill/>
        </p:spPr>
        <p:txBody>
          <a:bodyPr wrap="square" anchor="t" lIns="45720" rIns="45720" tIns="27432" bIns="27432">
            <a:spAutoFit/>
          </a:bodyPr>
          <a:lstStyle/>
          <a:p>
            <a:pPr algn="l">
              <a:spcAft>
                <a:spcPts val="500"/>
              </a:spcAft>
            </a:pPr>
            <a:r>
              <a:rPr sz="1700" b="1" i="0">
                <a:solidFill>
                  <a:srgbClr val="2E8B57"/>
                </a:solidFill>
                <a:latin typeface="Calibri"/>
              </a:rPr>
              <a:t>What it is rewarded for</a:t>
            </a:r>
          </a:p>
          <a:p>
            <a:pPr algn="l">
              <a:spcAft>
                <a:spcPts val="300"/>
              </a:spcAft>
            </a:pPr>
            <a:r>
              <a:rPr sz="1400" b="0" i="0">
                <a:solidFill>
                  <a:srgbClr val="1F2937"/>
                </a:solidFill>
                <a:latin typeface="Calibri"/>
              </a:rPr>
              <a:t>•  That day’s profit, scaled and clipped</a:t>
            </a:r>
          </a:p>
          <a:p>
            <a:pPr algn="l">
              <a:spcAft>
                <a:spcPts val="300"/>
              </a:spcAft>
            </a:pPr>
            <a:r>
              <a:rPr sz="1400" b="0" i="0">
                <a:solidFill>
                  <a:srgbClr val="1F2937"/>
                </a:solidFill>
                <a:latin typeface="Calibri"/>
              </a:rPr>
              <a:t>•  Zero during the 14-day warm-up</a:t>
            </a:r>
          </a:p>
          <a:p>
            <a:pPr algn="l">
              <a:spcAft>
                <a:spcPts val="300"/>
              </a:spcAft>
            </a:pPr>
            <a:r>
              <a:rPr sz="1400" b="0" i="0">
                <a:solidFill>
                  <a:srgbClr val="1F2937"/>
                </a:solidFill>
                <a:latin typeface="Calibri"/>
              </a:rPr>
              <a:t>•  Not shown: any ordering history (see error analysis)</a:t>
            </a:r>
          </a:p>
        </p:txBody>
      </p:sp>
      <p:graphicFrame>
        <p:nvGraphicFramePr>
          <p:cNvPr id="26" name="Table 25"/>
          <p:cNvGraphicFramePr>
            <a:graphicFrameLocks noGrp="1"/>
          </p:cNvGraphicFramePr>
          <p:nvPr/>
        </p:nvGraphicFramePr>
        <p:xfrm>
          <a:off x="411480" y="3931920"/>
          <a:ext cx="5120640" cy="2194560"/>
        </p:xfrm>
        <a:graphic>
          <a:graphicData uri="http://schemas.openxmlformats.org/drawingml/2006/table">
            <a:tbl>
              <a:tblPr firstRow="1" bandRow="1">
                <a:tableStyleId>{5C22544A-7EE6-4342-B048-85BDC9FD1C3A}</a:tableStyleId>
              </a:tblPr>
              <a:tblGrid>
                <a:gridCol w="2560320"/>
                <a:gridCol w="2560320"/>
              </a:tblGrid>
              <a:tr h="365760">
                <a:tc>
                  <a:txBody>
                    <a:bodyPr wrap="square"/>
                    <a:lstStyle/>
                    <a:p>
                      <a:pPr algn="l"/>
                      <a:r>
                        <a:rPr sz="1300" b="1" i="0">
                          <a:solidFill>
                            <a:srgbClr val="FFFFFF"/>
                          </a:solidFill>
                          <a:latin typeface="Calibri"/>
                        </a:rPr>
                        <a:t>Winning setting</a:t>
                      </a:r>
                    </a:p>
                  </a:txBody>
                  <a:tcPr marL="54864" marR="54864" marT="18288" marB="18288" anchor="ctr">
                    <a:solidFill>
                      <a:srgbClr val="2E8B57"/>
                    </a:solidFill>
                  </a:tcPr>
                </a:tc>
                <a:tc>
                  <a:txBody>
                    <a:bodyPr wrap="square"/>
                    <a:lstStyle/>
                    <a:p>
                      <a:pPr algn="ctr"/>
                      <a:r>
                        <a:rPr sz="1300" b="1" i="0">
                          <a:solidFill>
                            <a:srgbClr val="FFFFFF"/>
                          </a:solidFill>
                          <a:latin typeface="Calibri"/>
                        </a:rPr>
                        <a:t>Value</a:t>
                      </a:r>
                    </a:p>
                  </a:txBody>
                  <a:tcPr marL="54864" marR="54864" marT="18288" marB="18288" anchor="ctr">
                    <a:solidFill>
                      <a:srgbClr val="2E8B57"/>
                    </a:solidFill>
                  </a:tcPr>
                </a:tc>
              </a:tr>
              <a:tr h="365760">
                <a:tc>
                  <a:txBody>
                    <a:bodyPr wrap="square"/>
                    <a:lstStyle/>
                    <a:p>
                      <a:r>
                        <a:rPr sz="1300" b="0" i="0">
                          <a:solidFill>
                            <a:srgbClr val="1F2937"/>
                          </a:solidFill>
                          <a:latin typeface="Calibri"/>
                        </a:rPr>
                        <a:t>Learning rate</a:t>
                      </a:r>
                    </a:p>
                  </a:txBody>
                  <a:tcPr marL="54864" marR="54864" marT="18288" marB="18288" anchor="ctr">
                    <a:solidFill>
                      <a:srgbClr val="FFFFFF"/>
                    </a:solidFill>
                  </a:tcPr>
                </a:tc>
                <a:tc>
                  <a:txBody>
                    <a:bodyPr wrap="square"/>
                    <a:lstStyle/>
                    <a:p>
                      <a:pPr algn="ctr"/>
                      <a:r>
                        <a:rPr sz="1300" b="0" i="0">
                          <a:solidFill>
                            <a:srgbClr val="1F2937"/>
                          </a:solidFill>
                          <a:latin typeface="Calibri"/>
                        </a:rPr>
                        <a:t>5e-5 (lowest offered)</a:t>
                      </a:r>
                    </a:p>
                  </a:txBody>
                  <a:tcPr marL="54864" marR="54864" marT="18288" marB="18288" anchor="ctr">
                    <a:solidFill>
                      <a:srgbClr val="FFFFFF"/>
                    </a:solidFill>
                  </a:tcPr>
                </a:tc>
              </a:tr>
              <a:tr h="365760">
                <a:tc>
                  <a:txBody>
                    <a:bodyPr wrap="square"/>
                    <a:lstStyle/>
                    <a:p>
                      <a:r>
                        <a:rPr sz="1300" b="0" i="0">
                          <a:solidFill>
                            <a:srgbClr val="1F2937"/>
                          </a:solidFill>
                          <a:latin typeface="Calibri"/>
                        </a:rPr>
                        <a:t>Entropy coefficient</a:t>
                      </a:r>
                    </a:p>
                  </a:txBody>
                  <a:tcPr marL="54864" marR="54864" marT="18288" marB="18288" anchor="ctr">
                    <a:solidFill>
                      <a:srgbClr val="F1F5F9"/>
                    </a:solidFill>
                  </a:tcPr>
                </a:tc>
                <a:tc>
                  <a:txBody>
                    <a:bodyPr wrap="square"/>
                    <a:lstStyle/>
                    <a:p>
                      <a:pPr algn="ctr"/>
                      <a:r>
                        <a:rPr sz="1300" b="0" i="0">
                          <a:solidFill>
                            <a:srgbClr val="1F2937"/>
                          </a:solidFill>
                          <a:latin typeface="Calibri"/>
                        </a:rPr>
                        <a:t>0.005</a:t>
                      </a:r>
                    </a:p>
                  </a:txBody>
                  <a:tcPr marL="54864" marR="54864" marT="18288" marB="18288" anchor="ctr">
                    <a:solidFill>
                      <a:srgbClr val="F1F5F9"/>
                    </a:solidFill>
                  </a:tcPr>
                </a:tc>
              </a:tr>
              <a:tr h="365760">
                <a:tc>
                  <a:txBody>
                    <a:bodyPr wrap="square"/>
                    <a:lstStyle/>
                    <a:p>
                      <a:r>
                        <a:rPr sz="1300" b="0" i="0">
                          <a:solidFill>
                            <a:srgbClr val="1F2937"/>
                          </a:solidFill>
                          <a:latin typeface="Calibri"/>
                        </a:rPr>
                        <a:t>Discount γ</a:t>
                      </a:r>
                    </a:p>
                  </a:txBody>
                  <a:tcPr marL="54864" marR="54864" marT="18288" marB="18288" anchor="ctr">
                    <a:solidFill>
                      <a:srgbClr val="FFFFFF"/>
                    </a:solidFill>
                  </a:tcPr>
                </a:tc>
                <a:tc>
                  <a:txBody>
                    <a:bodyPr wrap="square"/>
                    <a:lstStyle/>
                    <a:p>
                      <a:pPr algn="ctr"/>
                      <a:r>
                        <a:rPr sz="1300" b="0" i="0">
                          <a:solidFill>
                            <a:srgbClr val="1F2937"/>
                          </a:solidFill>
                          <a:latin typeface="Calibri"/>
                        </a:rPr>
                        <a:t>0.995</a:t>
                      </a:r>
                    </a:p>
                  </a:txBody>
                  <a:tcPr marL="54864" marR="54864" marT="18288" marB="18288" anchor="ctr">
                    <a:solidFill>
                      <a:srgbClr val="FFFFFF"/>
                    </a:solidFill>
                  </a:tcPr>
                </a:tc>
              </a:tr>
              <a:tr h="365760">
                <a:tc>
                  <a:txBody>
                    <a:bodyPr wrap="square"/>
                    <a:lstStyle/>
                    <a:p>
                      <a:r>
                        <a:rPr sz="1300" b="0" i="0">
                          <a:solidFill>
                            <a:srgbClr val="1F2937"/>
                          </a:solidFill>
                          <a:latin typeface="Calibri"/>
                        </a:rPr>
                        <a:t>Rollout length</a:t>
                      </a:r>
                    </a:p>
                  </a:txBody>
                  <a:tcPr marL="54864" marR="54864" marT="18288" marB="18288" anchor="ctr">
                    <a:solidFill>
                      <a:srgbClr val="F1F5F9"/>
                    </a:solidFill>
                  </a:tcPr>
                </a:tc>
                <a:tc>
                  <a:txBody>
                    <a:bodyPr wrap="square"/>
                    <a:lstStyle/>
                    <a:p>
                      <a:pPr algn="ctr"/>
                      <a:r>
                        <a:rPr sz="1300" b="0" i="0">
                          <a:solidFill>
                            <a:srgbClr val="1F2937"/>
                          </a:solidFill>
                          <a:latin typeface="Calibri"/>
                        </a:rPr>
                        <a:t>1024</a:t>
                      </a:r>
                    </a:p>
                  </a:txBody>
                  <a:tcPr marL="54864" marR="54864" marT="18288" marB="18288" anchor="ctr">
                    <a:solidFill>
                      <a:srgbClr val="F1F5F9"/>
                    </a:solidFill>
                  </a:tcPr>
                </a:tc>
              </a:tr>
              <a:tr h="365760">
                <a:tc>
                  <a:txBody>
                    <a:bodyPr wrap="square"/>
                    <a:lstStyle/>
                    <a:p>
                      <a:r>
                        <a:rPr sz="1300" b="0" i="0">
                          <a:solidFill>
                            <a:srgbClr val="1F2937"/>
                          </a:solidFill>
                          <a:latin typeface="Calibri"/>
                        </a:rPr>
                        <a:t>Network</a:t>
                      </a:r>
                    </a:p>
                  </a:txBody>
                  <a:tcPr marL="54864" marR="54864" marT="18288" marB="18288" anchor="ctr">
                    <a:solidFill>
                      <a:srgbClr val="FFFFFF"/>
                    </a:solidFill>
                  </a:tcPr>
                </a:tc>
                <a:tc>
                  <a:txBody>
                    <a:bodyPr wrap="square"/>
                    <a:lstStyle/>
                    <a:p>
                      <a:pPr algn="ctr"/>
                      <a:r>
                        <a:rPr sz="1300" b="0" i="0">
                          <a:solidFill>
                            <a:srgbClr val="1F2937"/>
                          </a:solidFill>
                          <a:latin typeface="Calibri"/>
                        </a:rPr>
                        <a:t>2 × 256, CPU</a:t>
                      </a:r>
                    </a:p>
                  </a:txBody>
                  <a:tcPr marL="54864" marR="54864" marT="18288" marB="18288" anchor="ctr">
                    <a:solidFill>
                      <a:srgbClr val="FFFFFF"/>
                    </a:solidFill>
                  </a:tcPr>
                </a:tc>
              </a:tr>
            </a:tbl>
          </a:graphicData>
        </a:graphic>
      </p:graphicFrame>
      <p:sp>
        <p:nvSpPr>
          <p:cNvPr id="27" name="TextBox 26"/>
          <p:cNvSpPr txBox="1"/>
          <p:nvPr/>
        </p:nvSpPr>
        <p:spPr>
          <a:xfrm>
            <a:off x="5806440" y="3931920"/>
            <a:ext cx="5943600" cy="2377440"/>
          </a:xfrm>
          <a:prstGeom prst="rect">
            <a:avLst/>
          </a:prstGeom>
          <a:noFill/>
        </p:spPr>
        <p:txBody>
          <a:bodyPr wrap="square" anchor="t" lIns="45720" rIns="45720" tIns="27432" bIns="27432">
            <a:spAutoFit/>
          </a:bodyPr>
          <a:lstStyle/>
          <a:p>
            <a:pPr algn="l">
              <a:spcAft>
                <a:spcPts val="400"/>
              </a:spcAft>
            </a:pPr>
            <a:r>
              <a:rPr sz="1700" b="1" i="0">
                <a:solidFill>
                  <a:srgbClr val="1B5E3A"/>
                </a:solidFill>
                <a:latin typeface="Calibri"/>
              </a:rPr>
              <a:t>Hyperparameter search</a:t>
            </a:r>
          </a:p>
          <a:p>
            <a:pPr algn="l">
              <a:spcAft>
                <a:spcPts val="400"/>
              </a:spcAft>
            </a:pPr>
            <a:r>
              <a:rPr sz="1400" b="0" i="0">
                <a:solidFill>
                  <a:srgbClr val="1F2937"/>
                </a:solidFill>
                <a:latin typeface="Calibri"/>
              </a:rPr>
              <a:t>•  8 configurations, 250,000-step trial each</a:t>
            </a:r>
          </a:p>
          <a:p>
            <a:pPr algn="l">
              <a:spcAft>
                <a:spcPts val="400"/>
              </a:spcAft>
            </a:pPr>
            <a:r>
              <a:rPr sz="1400" b="0" i="0">
                <a:solidFill>
                  <a:srgbClr val="1F2937"/>
                </a:solidFill>
                <a:latin typeface="Calibri"/>
              </a:rPr>
              <a:t>•  Best 2 trained to 2M steps on Kaggle (about 4.8 hours)</a:t>
            </a:r>
          </a:p>
          <a:p>
            <a:pPr algn="l">
              <a:spcAft>
                <a:spcPts val="400"/>
              </a:spcAft>
            </a:pPr>
            <a:r>
              <a:rPr sz="1400" b="0" i="0">
                <a:solidFill>
                  <a:srgbClr val="1F2937"/>
                </a:solidFill>
                <a:latin typeface="Calibri"/>
              </a:rPr>
              <a:t>•  Winner: lowest learning rate, larger network. Earlier runs were unstable because they learned too fast, not because the network was too small.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Classical Baselines and a Fair Evaluation</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5852159" cy="2286000"/>
        </p:xfrm>
        <a:graphic>
          <a:graphicData uri="http://schemas.openxmlformats.org/drawingml/2006/table">
            <a:tbl>
              <a:tblPr firstRow="1" bandRow="1">
                <a:tableStyleId>{5C22544A-7EE6-4342-B048-85BDC9FD1C3A}</a:tableStyleId>
              </a:tblPr>
              <a:tblGrid>
                <a:gridCol w="2103120"/>
                <a:gridCol w="3749039"/>
              </a:tblGrid>
              <a:tr h="457200">
                <a:tc>
                  <a:txBody>
                    <a:bodyPr wrap="square"/>
                    <a:lstStyle/>
                    <a:p>
                      <a:pPr algn="l"/>
                      <a:r>
                        <a:rPr sz="1300" b="1" i="0">
                          <a:solidFill>
                            <a:srgbClr val="FFFFFF"/>
                          </a:solidFill>
                          <a:latin typeface="Calibri"/>
                        </a:rPr>
                        <a:t>Method</a:t>
                      </a:r>
                    </a:p>
                  </a:txBody>
                  <a:tcPr marL="54864" marR="54864" marT="18288" marB="18288" anchor="ctr">
                    <a:solidFill>
                      <a:srgbClr val="2E8B57"/>
                    </a:solidFill>
                  </a:tcPr>
                </a:tc>
                <a:tc>
                  <a:txBody>
                    <a:bodyPr wrap="square"/>
                    <a:lstStyle/>
                    <a:p>
                      <a:pPr algn="l"/>
                      <a:r>
                        <a:rPr sz="1300" b="1" i="0">
                          <a:solidFill>
                            <a:srgbClr val="FFFFFF"/>
                          </a:solidFill>
                          <a:latin typeface="Calibri"/>
                        </a:rPr>
                        <a:t>Tuned settings</a:t>
                      </a:r>
                    </a:p>
                  </a:txBody>
                  <a:tcPr marL="54864" marR="54864" marT="18288" marB="18288" anchor="ctr">
                    <a:solidFill>
                      <a:srgbClr val="2E8B57"/>
                    </a:solidFill>
                  </a:tcPr>
                </a:tc>
              </a:tr>
              <a:tr h="457200">
                <a:tc>
                  <a:txBody>
                    <a:bodyPr wrap="square"/>
                    <a:lstStyle/>
                    <a:p>
                      <a:r>
                        <a:rPr sz="1300" b="0" i="0">
                          <a:solidFill>
                            <a:srgbClr val="1F2937"/>
                          </a:solidFill>
                          <a:latin typeface="Calibri"/>
                        </a:rPr>
                        <a:t>(s, S)</a:t>
                      </a:r>
                    </a:p>
                  </a:txBody>
                  <a:tcPr marL="54864" marR="54864" marT="18288" marB="18288" anchor="ctr">
                    <a:solidFill>
                      <a:srgbClr val="FFFFFF"/>
                    </a:solidFill>
                  </a:tcPr>
                </a:tc>
                <a:tc>
                  <a:txBody>
                    <a:bodyPr wrap="square"/>
                    <a:lstStyle/>
                    <a:p>
                      <a:r>
                        <a:rPr sz="1300" b="0" i="0">
                          <a:solidFill>
                            <a:srgbClr val="1F2937"/>
                          </a:solidFill>
                          <a:latin typeface="Calibri"/>
                        </a:rPr>
                        <a:t>reorder below 11 days of cover, order up to 16</a:t>
                      </a:r>
                    </a:p>
                  </a:txBody>
                  <a:tcPr marL="54864" marR="54864" marT="18288" marB="18288" anchor="ctr">
                    <a:solidFill>
                      <a:srgbClr val="FFFFFF"/>
                    </a:solidFill>
                  </a:tcPr>
                </a:tc>
              </a:tr>
              <a:tr h="457200">
                <a:tc>
                  <a:txBody>
                    <a:bodyPr wrap="square"/>
                    <a:lstStyle/>
                    <a:p>
                      <a:r>
                        <a:rPr sz="1300" b="0" i="0">
                          <a:solidFill>
                            <a:srgbClr val="1F2937"/>
                          </a:solidFill>
                          <a:latin typeface="Calibri"/>
                        </a:rPr>
                        <a:t>EOQ + reorder point</a:t>
                      </a:r>
                    </a:p>
                  </a:txBody>
                  <a:tcPr marL="54864" marR="54864" marT="18288" marB="18288" anchor="ctr">
                    <a:solidFill>
                      <a:srgbClr val="F1F5F9"/>
                    </a:solidFill>
                  </a:tcPr>
                </a:tc>
                <a:tc>
                  <a:txBody>
                    <a:bodyPr wrap="square"/>
                    <a:lstStyle/>
                    <a:p>
                      <a:r>
                        <a:rPr sz="1300" b="0" i="0">
                          <a:solidFill>
                            <a:srgbClr val="1F2937"/>
                          </a:solidFill>
                          <a:latin typeface="Calibri"/>
                        </a:rPr>
                        <a:t>reorder at 8 days of cover, safety factor 1.6</a:t>
                      </a:r>
                    </a:p>
                  </a:txBody>
                  <a:tcPr marL="54864" marR="54864" marT="18288" marB="18288" anchor="ctr">
                    <a:solidFill>
                      <a:srgbClr val="F1F5F9"/>
                    </a:solidFill>
                  </a:tcPr>
                </a:tc>
              </a:tr>
              <a:tr h="457200">
                <a:tc>
                  <a:txBody>
                    <a:bodyPr wrap="square"/>
                    <a:lstStyle/>
                    <a:p>
                      <a:r>
                        <a:rPr sz="1300" b="0" i="0">
                          <a:solidFill>
                            <a:srgbClr val="1F2937"/>
                          </a:solidFill>
                          <a:latin typeface="Calibri"/>
                        </a:rPr>
                        <a:t>Newsvendor</a:t>
                      </a:r>
                    </a:p>
                  </a:txBody>
                  <a:tcPr marL="54864" marR="54864" marT="18288" marB="18288" anchor="ctr">
                    <a:solidFill>
                      <a:srgbClr val="FFFFFF"/>
                    </a:solidFill>
                  </a:tcPr>
                </a:tc>
                <a:tc>
                  <a:txBody>
                    <a:bodyPr wrap="square"/>
                    <a:lstStyle/>
                    <a:p>
                      <a:r>
                        <a:rPr sz="1300" b="0" i="0">
                          <a:solidFill>
                            <a:srgbClr val="1F2937"/>
                          </a:solidFill>
                          <a:latin typeface="Calibri"/>
                        </a:rPr>
                        <a:t>3-day horizon, cheapest supplier</a:t>
                      </a:r>
                    </a:p>
                  </a:txBody>
                  <a:tcPr marL="54864" marR="54864" marT="18288" marB="18288" anchor="ctr">
                    <a:solidFill>
                      <a:srgbClr val="FFFFFF"/>
                    </a:solidFill>
                  </a:tcPr>
                </a:tc>
              </a:tr>
              <a:tr h="457200">
                <a:tc>
                  <a:txBody>
                    <a:bodyPr wrap="square"/>
                    <a:lstStyle/>
                    <a:p>
                      <a:r>
                        <a:rPr sz="1300" b="0" i="0">
                          <a:solidFill>
                            <a:srgbClr val="1F2937"/>
                          </a:solidFill>
                          <a:latin typeface="Calibri"/>
                        </a:rPr>
                        <a:t>Forecast + safety stock</a:t>
                      </a:r>
                    </a:p>
                  </a:txBody>
                  <a:tcPr marL="54864" marR="54864" marT="18288" marB="18288" anchor="ctr">
                    <a:solidFill>
                      <a:srgbClr val="F1F5F9"/>
                    </a:solidFill>
                  </a:tcPr>
                </a:tc>
                <a:tc>
                  <a:txBody>
                    <a:bodyPr wrap="square"/>
                    <a:lstStyle/>
                    <a:p>
                      <a:r>
                        <a:rPr sz="1300" b="0" i="0">
                          <a:solidFill>
                            <a:srgbClr val="1F2937"/>
                          </a:solidFill>
                          <a:latin typeface="Calibri"/>
                        </a:rPr>
                        <a:t>1-day window, z = 1.28, review every 4 days</a:t>
                      </a:r>
                    </a:p>
                  </a:txBody>
                  <a:tcPr marL="54864" marR="54864" marT="18288" marB="18288" anchor="ctr">
                    <a:solidFill>
                      <a:srgbClr val="F1F5F9"/>
                    </a:solidFill>
                  </a:tcPr>
                </a:tc>
              </a:tr>
            </a:tbl>
          </a:graphicData>
        </a:graphic>
      </p:graphicFrame>
      <p:graphicFrame>
        <p:nvGraphicFramePr>
          <p:cNvPr id="21" name="Table 20"/>
          <p:cNvGraphicFramePr>
            <a:graphicFrameLocks noGrp="1"/>
          </p:cNvGraphicFramePr>
          <p:nvPr/>
        </p:nvGraphicFramePr>
        <p:xfrm>
          <a:off x="6537960" y="1371600"/>
          <a:ext cx="5239511" cy="1828800"/>
        </p:xfrm>
        <a:graphic>
          <a:graphicData uri="http://schemas.openxmlformats.org/drawingml/2006/table">
            <a:tbl>
              <a:tblPr firstRow="1" bandRow="1">
                <a:tableStyleId>{5C22544A-7EE6-4342-B048-85BDC9FD1C3A}</a:tableStyleId>
              </a:tblPr>
              <a:tblGrid>
                <a:gridCol w="1286897"/>
                <a:gridCol w="3952614"/>
              </a:tblGrid>
              <a:tr h="457200">
                <a:tc>
                  <a:txBody>
                    <a:bodyPr wrap="square"/>
                    <a:lstStyle/>
                    <a:p>
                      <a:pPr algn="l"/>
                      <a:r>
                        <a:rPr sz="1300" b="1" i="0">
                          <a:solidFill>
                            <a:srgbClr val="FFFFFF"/>
                          </a:solidFill>
                          <a:latin typeface="Calibri"/>
                        </a:rPr>
                        <a:t>Seeds</a:t>
                      </a:r>
                    </a:p>
                  </a:txBody>
                  <a:tcPr marL="54864" marR="54864" marT="18288" marB="18288" anchor="ctr">
                    <a:solidFill>
                      <a:srgbClr val="2E8B57"/>
                    </a:solidFill>
                  </a:tcPr>
                </a:tc>
                <a:tc>
                  <a:txBody>
                    <a:bodyPr wrap="square"/>
                    <a:lstStyle/>
                    <a:p>
                      <a:pPr algn="l"/>
                      <a:r>
                        <a:rPr sz="1300" b="1" i="0">
                          <a:solidFill>
                            <a:srgbClr val="FFFFFF"/>
                          </a:solidFill>
                          <a:latin typeface="Calibri"/>
                        </a:rPr>
                        <a:t>Used for</a:t>
                      </a:r>
                    </a:p>
                  </a:txBody>
                  <a:tcPr marL="54864" marR="54864" marT="18288" marB="18288" anchor="ctr">
                    <a:solidFill>
                      <a:srgbClr val="2E8B57"/>
                    </a:solidFill>
                  </a:tcPr>
                </a:tc>
              </a:tr>
              <a:tr h="457200">
                <a:tc>
                  <a:txBody>
                    <a:bodyPr wrap="square"/>
                    <a:lstStyle/>
                    <a:p>
                      <a:r>
                        <a:rPr sz="1300" b="0" i="0">
                          <a:solidFill>
                            <a:srgbClr val="1F2937"/>
                          </a:solidFill>
                          <a:latin typeface="Calibri"/>
                        </a:rPr>
                        <a:t>100–111</a:t>
                      </a:r>
                    </a:p>
                  </a:txBody>
                  <a:tcPr marL="54864" marR="54864" marT="18288" marB="18288" anchor="ctr">
                    <a:solidFill>
                      <a:srgbClr val="FFFFFF"/>
                    </a:solidFill>
                  </a:tcPr>
                </a:tc>
                <a:tc>
                  <a:txBody>
                    <a:bodyPr wrap="square"/>
                    <a:lstStyle/>
                    <a:p>
                      <a:r>
                        <a:rPr sz="1300" b="0" i="0">
                          <a:solidFill>
                            <a:srgbClr val="1F2937"/>
                          </a:solidFill>
                          <a:latin typeface="Calibri"/>
                        </a:rPr>
                        <a:t>tuning the classical methods</a:t>
                      </a:r>
                    </a:p>
                  </a:txBody>
                  <a:tcPr marL="54864" marR="54864" marT="18288" marB="18288" anchor="ctr">
                    <a:solidFill>
                      <a:srgbClr val="FFFFFF"/>
                    </a:solidFill>
                  </a:tcPr>
                </a:tc>
              </a:tr>
              <a:tr h="457200">
                <a:tc>
                  <a:txBody>
                    <a:bodyPr wrap="square"/>
                    <a:lstStyle/>
                    <a:p>
                      <a:r>
                        <a:rPr sz="1300" b="0" i="0">
                          <a:solidFill>
                            <a:srgbClr val="1F2937"/>
                          </a:solidFill>
                          <a:latin typeface="Calibri"/>
                        </a:rPr>
                        <a:t>900–905</a:t>
                      </a:r>
                    </a:p>
                  </a:txBody>
                  <a:tcPr marL="54864" marR="54864" marT="18288" marB="18288" anchor="ctr">
                    <a:solidFill>
                      <a:srgbClr val="F1F5F9"/>
                    </a:solidFill>
                  </a:tcPr>
                </a:tc>
                <a:tc>
                  <a:txBody>
                    <a:bodyPr wrap="square"/>
                    <a:lstStyle/>
                    <a:p>
                      <a:r>
                        <a:rPr sz="1300" b="0" i="0">
                          <a:solidFill>
                            <a:srgbClr val="1F2937"/>
                          </a:solidFill>
                          <a:latin typeface="Calibri"/>
                        </a:rPr>
                        <a:t>picking the best RL checkpoint</a:t>
                      </a:r>
                    </a:p>
                  </a:txBody>
                  <a:tcPr marL="54864" marR="54864" marT="18288" marB="18288" anchor="ctr">
                    <a:solidFill>
                      <a:srgbClr val="F1F5F9"/>
                    </a:solidFill>
                  </a:tcPr>
                </a:tc>
              </a:tr>
              <a:tr h="457200">
                <a:tc>
                  <a:txBody>
                    <a:bodyPr wrap="square"/>
                    <a:lstStyle/>
                    <a:p>
                      <a:r>
                        <a:rPr sz="1300" b="0" i="0">
                          <a:solidFill>
                            <a:srgbClr val="1F2937"/>
                          </a:solidFill>
                          <a:latin typeface="Calibri"/>
                        </a:rPr>
                        <a:t>500–529</a:t>
                      </a:r>
                    </a:p>
                  </a:txBody>
                  <a:tcPr marL="54864" marR="54864" marT="18288" marB="18288" anchor="ctr">
                    <a:solidFill>
                      <a:srgbClr val="E6F4EA"/>
                    </a:solidFill>
                  </a:tcPr>
                </a:tc>
                <a:tc>
                  <a:txBody>
                    <a:bodyPr wrap="square"/>
                    <a:lstStyle/>
                    <a:p>
                      <a:r>
                        <a:rPr sz="1300" b="0" i="0">
                          <a:solidFill>
                            <a:srgbClr val="1F2937"/>
                          </a:solidFill>
                          <a:latin typeface="Calibri"/>
                        </a:rPr>
                        <a:t>reporting only; never used to choose anything</a:t>
                      </a:r>
                    </a:p>
                  </a:txBody>
                  <a:tcPr marL="54864" marR="54864" marT="18288" marB="18288" anchor="ctr">
                    <a:solidFill>
                      <a:srgbClr val="E6F4EA"/>
                    </a:solidFill>
                  </a:tcPr>
                </a:tc>
              </a:tr>
            </a:tbl>
          </a:graphicData>
        </a:graphic>
      </p:graphicFrame>
      <p:sp>
        <p:nvSpPr>
          <p:cNvPr id="22" name="TextBox 21"/>
          <p:cNvSpPr txBox="1"/>
          <p:nvPr/>
        </p:nvSpPr>
        <p:spPr>
          <a:xfrm>
            <a:off x="411480" y="4023360"/>
            <a:ext cx="11365992" cy="2286000"/>
          </a:xfrm>
          <a:prstGeom prst="rect">
            <a:avLst/>
          </a:prstGeom>
          <a:noFill/>
        </p:spPr>
        <p:txBody>
          <a:bodyPr wrap="square" anchor="t" lIns="45720" rIns="45720" tIns="27432" bIns="27432">
            <a:spAutoFit/>
          </a:bodyPr>
          <a:lstStyle/>
          <a:p>
            <a:pPr algn="l">
              <a:spcAft>
                <a:spcPts val="600"/>
              </a:spcAft>
            </a:pPr>
            <a:r>
              <a:rPr sz="1600" b="1" i="0">
                <a:solidFill>
                  <a:srgbClr val="1F2937"/>
                </a:solidFill>
                <a:latin typeface="Calibri"/>
              </a:rPr>
              <a:t>•  Tuning mattered a lot. </a:t>
            </a:r>
            <a:r>
              <a:rPr sz="1600" b="0" i="0">
                <a:solidFill>
                  <a:srgbClr val="1F2937"/>
                </a:solidFill>
                <a:latin typeface="Calibri"/>
              </a:rPr>
              <a:t>Widening the search lifted the best classical method from ₹69.7 lakh to ₹89.2 lakh on the tuning seeds. Untuned baselines would have made the AI look better than it is.</a:t>
            </a:r>
          </a:p>
          <a:p>
            <a:pPr algn="l">
              <a:spcAft>
                <a:spcPts val="600"/>
              </a:spcAft>
            </a:pPr>
            <a:r>
              <a:rPr sz="1600" b="1" i="0">
                <a:solidFill>
                  <a:srgbClr val="1F2937"/>
                </a:solidFill>
                <a:latin typeface="Calibri"/>
              </a:rPr>
              <a:t>•  Same options for everyone. </a:t>
            </a:r>
            <a:r>
              <a:rPr sz="1600" b="0" i="0">
                <a:solidFill>
                  <a:srgbClr val="1F2937"/>
                </a:solidFill>
                <a:latin typeface="Calibri"/>
              </a:rPr>
              <a:t>Every classical method picks from the same 21 options per product as the AI, so none has finer control.</a:t>
            </a:r>
          </a:p>
          <a:p>
            <a:pPr algn="l">
              <a:spcAft>
                <a:spcPts val="400"/>
              </a:spcAft>
            </a:pPr>
            <a:r>
              <a:rPr sz="1600" b="1" i="0">
                <a:solidFill>
                  <a:srgbClr val="1F2937"/>
                </a:solidFill>
                <a:latin typeface="Calibri"/>
              </a:rPr>
              <a:t>•  Paired comparison. </a:t>
            </a:r>
            <a:r>
              <a:rPr sz="1600" b="0" i="0">
                <a:solidFill>
                  <a:srgbClr val="1F2937"/>
                </a:solidFill>
                <a:latin typeface="Calibri"/>
              </a:rPr>
              <a:t>Every method faces the same customers and delivery delays on each seed, so we test the per-seed difference, which removes run-to-run randomness.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LLM Explainer: Facts In, Checked Sentences Out</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explainer_pipeline.png"/>
          <p:cNvPicPr>
            <a:picLocks noChangeAspect="1"/>
          </p:cNvPicPr>
          <p:nvPr/>
        </p:nvPicPr>
        <p:blipFill>
          <a:blip r:embed="rId2"/>
          <a:stretch>
            <a:fillRect/>
          </a:stretch>
        </p:blipFill>
        <p:spPr>
          <a:xfrm>
            <a:off x="365760" y="1280160"/>
            <a:ext cx="11457432" cy="3884785"/>
          </a:xfrm>
          <a:prstGeom prst="rect">
            <a:avLst/>
          </a:prstGeom>
        </p:spPr>
      </p:pic>
      <p:sp>
        <p:nvSpPr>
          <p:cNvPr id="21" name="TextBox 20"/>
          <p:cNvSpPr txBox="1"/>
          <p:nvPr/>
        </p:nvSpPr>
        <p:spPr>
          <a:xfrm>
            <a:off x="411480" y="5760720"/>
            <a:ext cx="11365992" cy="640080"/>
          </a:xfrm>
          <a:prstGeom prst="rect">
            <a:avLst/>
          </a:prstGeom>
          <a:noFill/>
        </p:spPr>
        <p:txBody>
          <a:bodyPr wrap="square" anchor="t" lIns="45720" rIns="45720" tIns="27432" bIns="27432">
            <a:spAutoFit/>
          </a:bodyPr>
          <a:lstStyle/>
          <a:p>
            <a:pPr algn="l">
              <a:spcAft>
                <a:spcPts val="400"/>
              </a:spcAft>
            </a:pPr>
            <a:r>
              <a:rPr sz="1500" b="1" i="0">
                <a:solidFill>
                  <a:srgbClr val="D6336C"/>
                </a:solidFill>
                <a:latin typeface="Calibri"/>
              </a:rPr>
              <a:t>The rule: </a:t>
            </a:r>
            <a:r>
              <a:rPr sz="1500" b="0" i="0">
                <a:solidFill>
                  <a:srgbClr val="1F2937"/>
                </a:solidFill>
                <a:latin typeface="Calibri"/>
              </a:rPr>
              <a:t>the LLM is never asked why. The agent’s real reason is a neural network, and any “because” the LLM wrote would be a plausible story, not the cause.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LLM Crisis Generator and Curriculum Training</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6675120" cy="2286000"/>
        </p:xfrm>
        <a:graphic>
          <a:graphicData uri="http://schemas.openxmlformats.org/drawingml/2006/table">
            <a:tbl>
              <a:tblPr firstRow="1" bandRow="1">
                <a:tableStyleId>{5C22544A-7EE6-4342-B048-85BDC9FD1C3A}</a:tableStyleId>
              </a:tblPr>
              <a:tblGrid>
                <a:gridCol w="822960"/>
                <a:gridCol w="3108960"/>
                <a:gridCol w="2743200"/>
              </a:tblGrid>
              <a:tr h="457200">
                <a:tc>
                  <a:txBody>
                    <a:bodyPr wrap="square"/>
                    <a:lstStyle/>
                    <a:p>
                      <a:pPr algn="l"/>
                      <a:r>
                        <a:rPr sz="1300" b="1" i="0">
                          <a:solidFill>
                            <a:srgbClr val="FFFFFF"/>
                          </a:solidFill>
                          <a:latin typeface="Calibri"/>
                        </a:rPr>
                        <a:t>Days</a:t>
                      </a:r>
                    </a:p>
                  </a:txBody>
                  <a:tcPr marL="54864" marR="54864" marT="18288" marB="18288" anchor="ctr">
                    <a:solidFill>
                      <a:srgbClr val="2E8B57"/>
                    </a:solidFill>
                  </a:tcPr>
                </a:tc>
                <a:tc>
                  <a:txBody>
                    <a:bodyPr wrap="square"/>
                    <a:lstStyle/>
                    <a:p>
                      <a:pPr algn="l"/>
                      <a:r>
                        <a:rPr sz="1300" b="1" i="0">
                          <a:solidFill>
                            <a:srgbClr val="FFFFFF"/>
                          </a:solidFill>
                          <a:latin typeface="Calibri"/>
                        </a:rPr>
                        <a:t>Event (written by the LLM)</a:t>
                      </a:r>
                    </a:p>
                  </a:txBody>
                  <a:tcPr marL="54864" marR="54864" marT="18288" marB="18288" anchor="ctr">
                    <a:solidFill>
                      <a:srgbClr val="2E8B57"/>
                    </a:solidFill>
                  </a:tcPr>
                </a:tc>
                <a:tc>
                  <a:txBody>
                    <a:bodyPr wrap="square"/>
                    <a:lstStyle/>
                    <a:p>
                      <a:pPr algn="l"/>
                      <a:r>
                        <a:rPr sz="1300" b="1" i="0">
                          <a:solidFill>
                            <a:srgbClr val="FFFFFF"/>
                          </a:solidFill>
                          <a:latin typeface="Calibri"/>
                        </a:rPr>
                        <a:t>Cause it gave</a:t>
                      </a:r>
                    </a:p>
                  </a:txBody>
                  <a:tcPr marL="54864" marR="54864" marT="18288" marB="18288" anchor="ctr">
                    <a:solidFill>
                      <a:srgbClr val="2E8B57"/>
                    </a:solidFill>
                  </a:tcPr>
                </a:tc>
              </a:tr>
              <a:tr h="457200">
                <a:tc>
                  <a:txBody>
                    <a:bodyPr wrap="square"/>
                    <a:lstStyle/>
                    <a:p>
                      <a:r>
                        <a:rPr sz="1300" b="0" i="0">
                          <a:solidFill>
                            <a:srgbClr val="1F2937"/>
                          </a:solidFill>
                          <a:latin typeface="Calibri"/>
                        </a:rPr>
                        <a:t>45–65</a:t>
                      </a:r>
                    </a:p>
                  </a:txBody>
                  <a:tcPr marL="54864" marR="54864" marT="18288" marB="18288" anchor="ctr">
                    <a:solidFill>
                      <a:srgbClr val="FFFFFF"/>
                    </a:solidFill>
                  </a:tcPr>
                </a:tc>
                <a:tc>
                  <a:txBody>
                    <a:bodyPr wrap="square"/>
                    <a:lstStyle/>
                    <a:p>
                      <a:r>
                        <a:rPr sz="1300" b="0" i="0">
                          <a:solidFill>
                            <a:srgbClr val="1F2937"/>
                          </a:solidFill>
                          <a:latin typeface="Calibri"/>
                        </a:rPr>
                        <a:t>demand 3× on four products</a:t>
                      </a:r>
                    </a:p>
                  </a:txBody>
                  <a:tcPr marL="54864" marR="54864" marT="18288" marB="18288" anchor="ctr">
                    <a:solidFill>
                      <a:srgbClr val="FFFFFF"/>
                    </a:solidFill>
                  </a:tcPr>
                </a:tc>
                <a:tc>
                  <a:txBody>
                    <a:bodyPr wrap="square"/>
                    <a:lstStyle/>
                    <a:p>
                      <a:r>
                        <a:rPr sz="1300" b="0" i="0">
                          <a:solidFill>
                            <a:srgbClr val="1F2937"/>
                          </a:solidFill>
                          <a:latin typeface="Calibri"/>
                        </a:rPr>
                        <a:t>viral social media trend</a:t>
                      </a:r>
                    </a:p>
                  </a:txBody>
                  <a:tcPr marL="54864" marR="54864" marT="18288" marB="18288" anchor="ctr">
                    <a:solidFill>
                      <a:srgbClr val="FFFFFF"/>
                    </a:solidFill>
                  </a:tcPr>
                </a:tc>
              </a:tr>
              <a:tr h="457200">
                <a:tc>
                  <a:txBody>
                    <a:bodyPr wrap="square"/>
                    <a:lstStyle/>
                    <a:p>
                      <a:r>
                        <a:rPr sz="1300" b="0" i="0">
                          <a:solidFill>
                            <a:srgbClr val="1F2937"/>
                          </a:solidFill>
                          <a:latin typeface="Calibri"/>
                        </a:rPr>
                        <a:t>50–63</a:t>
                      </a:r>
                    </a:p>
                  </a:txBody>
                  <a:tcPr marL="54864" marR="54864" marT="18288" marB="18288" anchor="ctr">
                    <a:solidFill>
                      <a:srgbClr val="F1F5F9"/>
                    </a:solidFill>
                  </a:tcPr>
                </a:tc>
                <a:tc>
                  <a:txBody>
                    <a:bodyPr wrap="square"/>
                    <a:lstStyle/>
                    <a:p>
                      <a:r>
                        <a:rPr sz="1300" b="0" i="0">
                          <a:solidFill>
                            <a:srgbClr val="1F2937"/>
                          </a:solidFill>
                          <a:latin typeface="Calibri"/>
                        </a:rPr>
                        <a:t>supplier 2 offline</a:t>
                      </a:r>
                    </a:p>
                  </a:txBody>
                  <a:tcPr marL="54864" marR="54864" marT="18288" marB="18288" anchor="ctr">
                    <a:solidFill>
                      <a:srgbClr val="F1F5F9"/>
                    </a:solidFill>
                  </a:tcPr>
                </a:tc>
                <a:tc>
                  <a:txBody>
                    <a:bodyPr wrap="square"/>
                    <a:lstStyle/>
                    <a:p>
                      <a:r>
                        <a:rPr sz="1300" b="0" i="0">
                          <a:solidFill>
                            <a:srgbClr val="1F2937"/>
                          </a:solidFill>
                          <a:latin typeface="Calibri"/>
                        </a:rPr>
                        <a:t>cyberattack on mid-tier supplier</a:t>
                      </a:r>
                    </a:p>
                  </a:txBody>
                  <a:tcPr marL="54864" marR="54864" marT="18288" marB="18288" anchor="ctr">
                    <a:solidFill>
                      <a:srgbClr val="F1F5F9"/>
                    </a:solidFill>
                  </a:tcPr>
                </a:tc>
              </a:tr>
              <a:tr h="457200">
                <a:tc>
                  <a:txBody>
                    <a:bodyPr wrap="square"/>
                    <a:lstStyle/>
                    <a:p>
                      <a:r>
                        <a:rPr sz="1300" b="0" i="0">
                          <a:solidFill>
                            <a:srgbClr val="1F2937"/>
                          </a:solidFill>
                          <a:latin typeface="Calibri"/>
                        </a:rPr>
                        <a:t>55–72</a:t>
                      </a:r>
                    </a:p>
                  </a:txBody>
                  <a:tcPr marL="54864" marR="54864" marT="18288" marB="18288" anchor="ctr">
                    <a:solidFill>
                      <a:srgbClr val="FFFFFF"/>
                    </a:solidFill>
                  </a:tcPr>
                </a:tc>
                <a:tc>
                  <a:txBody>
                    <a:bodyPr wrap="square"/>
                    <a:lstStyle/>
                    <a:p>
                      <a:r>
                        <a:rPr sz="1300" b="0" i="0">
                          <a:solidFill>
                            <a:srgbClr val="1F2937"/>
                          </a:solidFill>
                          <a:latin typeface="Calibri"/>
                        </a:rPr>
                        <a:t>supplier 0 delayed by 6 days</a:t>
                      </a:r>
                    </a:p>
                  </a:txBody>
                  <a:tcPr marL="54864" marR="54864" marT="18288" marB="18288" anchor="ctr">
                    <a:solidFill>
                      <a:srgbClr val="FFFFFF"/>
                    </a:solidFill>
                  </a:tcPr>
                </a:tc>
                <a:tc>
                  <a:txBody>
                    <a:bodyPr wrap="square"/>
                    <a:lstStyle/>
                    <a:p>
                      <a:r>
                        <a:rPr sz="1300" b="0" i="0">
                          <a:solidFill>
                            <a:srgbClr val="1F2937"/>
                          </a:solidFill>
                          <a:latin typeface="Calibri"/>
                        </a:rPr>
                        <a:t>port congestion at major hub</a:t>
                      </a:r>
                    </a:p>
                  </a:txBody>
                  <a:tcPr marL="54864" marR="54864" marT="18288" marB="18288" anchor="ctr">
                    <a:solidFill>
                      <a:srgbClr val="FFFFFF"/>
                    </a:solidFill>
                  </a:tcPr>
                </a:tc>
              </a:tr>
              <a:tr h="457200">
                <a:tc>
                  <a:txBody>
                    <a:bodyPr wrap="square"/>
                    <a:lstStyle/>
                    <a:p>
                      <a:r>
                        <a:rPr sz="1300" b="0" i="0">
                          <a:solidFill>
                            <a:srgbClr val="1F2937"/>
                          </a:solidFill>
                          <a:latin typeface="Calibri"/>
                        </a:rPr>
                        <a:t>60–84</a:t>
                      </a:r>
                    </a:p>
                  </a:txBody>
                  <a:tcPr marL="54864" marR="54864" marT="18288" marB="18288" anchor="ctr">
                    <a:solidFill>
                      <a:srgbClr val="F1F5F9"/>
                    </a:solidFill>
                  </a:tcPr>
                </a:tc>
                <a:tc>
                  <a:txBody>
                    <a:bodyPr wrap="square"/>
                    <a:lstStyle/>
                    <a:p>
                      <a:r>
                        <a:rPr sz="1300" b="0" i="0">
                          <a:solidFill>
                            <a:srgbClr val="1F2937"/>
                          </a:solidFill>
                          <a:latin typeface="Calibri"/>
                        </a:rPr>
                        <a:t>costs 1.6×</a:t>
                      </a:r>
                    </a:p>
                  </a:txBody>
                  <a:tcPr marL="54864" marR="54864" marT="18288" marB="18288" anchor="ctr">
                    <a:solidFill>
                      <a:srgbClr val="F1F5F9"/>
                    </a:solidFill>
                  </a:tcPr>
                </a:tc>
                <a:tc>
                  <a:txBody>
                    <a:bodyPr wrap="square"/>
                    <a:lstStyle/>
                    <a:p>
                      <a:r>
                        <a:rPr sz="1300" b="0" i="0">
                          <a:solidFill>
                            <a:srgbClr val="1F2937"/>
                          </a:solidFill>
                          <a:latin typeface="Calibri"/>
                        </a:rPr>
                        <a:t>raw material shortage</a:t>
                      </a:r>
                    </a:p>
                  </a:txBody>
                  <a:tcPr marL="54864" marR="54864" marT="18288" marB="18288" anchor="ctr">
                    <a:solidFill>
                      <a:srgbClr val="F1F5F9"/>
                    </a:solidFill>
                  </a:tcPr>
                </a:tc>
              </a:tr>
            </a:tbl>
          </a:graphicData>
        </a:graphic>
      </p:graphicFrame>
      <p:sp>
        <p:nvSpPr>
          <p:cNvPr id="21" name="TextBox 20"/>
          <p:cNvSpPr txBox="1"/>
          <p:nvPr/>
        </p:nvSpPr>
        <p:spPr>
          <a:xfrm>
            <a:off x="411480" y="3749039"/>
            <a:ext cx="6675120" cy="731520"/>
          </a:xfrm>
          <a:prstGeom prst="rect">
            <a:avLst/>
          </a:prstGeom>
          <a:noFill/>
        </p:spPr>
        <p:txBody>
          <a:bodyPr wrap="square" anchor="t" lIns="45720" rIns="45720" tIns="27432" bIns="27432">
            <a:spAutoFit/>
          </a:bodyPr>
          <a:lstStyle/>
          <a:p>
            <a:pPr algn="l">
              <a:spcAft>
                <a:spcPts val="400"/>
              </a:spcAft>
            </a:pPr>
            <a:r>
              <a:rPr sz="1400" b="0" i="0">
                <a:solidFill>
                  <a:srgbClr val="5B6573"/>
                </a:solidFill>
                <a:latin typeface="Calibri"/>
              </a:rPr>
              <a:t>These overlap: the supplier goes down during the demand spike. A single-event test never reaches that combination.</a:t>
            </a:r>
          </a:p>
        </p:txBody>
      </p:sp>
      <p:sp>
        <p:nvSpPr>
          <p:cNvPr id="22" name="Rounded Rectangle 21"/>
          <p:cNvSpPr/>
          <p:nvPr/>
        </p:nvSpPr>
        <p:spPr>
          <a:xfrm>
            <a:off x="7360919" y="1371600"/>
            <a:ext cx="4416552" cy="292608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70647" y="1444752"/>
            <a:ext cx="4197096" cy="2779776"/>
          </a:xfrm>
          <a:prstGeom prst="rect">
            <a:avLst/>
          </a:prstGeom>
          <a:noFill/>
        </p:spPr>
        <p:txBody>
          <a:bodyPr wrap="square" anchor="t" lIns="45720" rIns="45720" tIns="27432" bIns="27432">
            <a:spAutoFit/>
          </a:bodyPr>
          <a:lstStyle/>
          <a:p>
            <a:pPr algn="l">
              <a:spcAft>
                <a:spcPts val="500"/>
              </a:spcAft>
            </a:pPr>
            <a:r>
              <a:rPr sz="1700" b="1" i="0">
                <a:solidFill>
                  <a:srgbClr val="2F6FB5"/>
                </a:solidFill>
                <a:latin typeface="Calibri"/>
              </a:rPr>
              <a:t>Nothing the LLM writes is trusted</a:t>
            </a:r>
          </a:p>
          <a:p>
            <a:pPr algn="l">
              <a:spcAft>
                <a:spcPts val="300"/>
              </a:spcAft>
            </a:pPr>
            <a:r>
              <a:rPr sz="1400" b="0" i="0">
                <a:solidFill>
                  <a:srgbClr val="1F2937"/>
                </a:solidFill>
                <a:latin typeface="Calibri"/>
              </a:rPr>
              <a:t>•  Scenario type must be known</a:t>
            </a:r>
          </a:p>
          <a:p>
            <a:pPr algn="l">
              <a:spcAft>
                <a:spcPts val="300"/>
              </a:spcAft>
            </a:pPr>
            <a:r>
              <a:rPr sz="1400" b="0" i="0">
                <a:solidFill>
                  <a:srgbClr val="1F2937"/>
                </a:solidFill>
                <a:latin typeface="Calibri"/>
              </a:rPr>
              <a:t>•  Supplier and product numbers must exist; out-of-range products are dropped, not wrapped</a:t>
            </a:r>
          </a:p>
          <a:p>
            <a:pPr algn="l">
              <a:spcAft>
                <a:spcPts val="300"/>
              </a:spcAft>
            </a:pPr>
            <a:r>
              <a:rPr sz="1400" b="0" i="0">
                <a:solidFill>
                  <a:srgbClr val="1F2937"/>
                </a:solidFill>
                <a:latin typeface="Calibri"/>
              </a:rPr>
              <a:t>•  Values clamped to safe ranges</a:t>
            </a:r>
          </a:p>
          <a:p>
            <a:pPr algn="l">
              <a:spcAft>
                <a:spcPts val="300"/>
              </a:spcAft>
            </a:pPr>
            <a:r>
              <a:rPr sz="1400" b="0" i="0">
                <a:solidFill>
                  <a:srgbClr val="1F2937"/>
                </a:solidFill>
                <a:latin typeface="Calibri"/>
              </a:rPr>
              <a:t>•  Windows moved inside the 180-day run</a:t>
            </a:r>
          </a:p>
          <a:p>
            <a:pPr algn="l">
              <a:spcAft>
                <a:spcPts val="300"/>
              </a:spcAft>
            </a:pPr>
            <a:r>
              <a:rPr sz="1400" b="0" i="0">
                <a:solidFill>
                  <a:srgbClr val="1F2937"/>
                </a:solidFill>
                <a:latin typeface="Calibri"/>
              </a:rPr>
              <a:t>•  6 deliberately broken inputs: 3 survived, none as written</a:t>
            </a:r>
          </a:p>
        </p:txBody>
      </p:sp>
      <p:sp>
        <p:nvSpPr>
          <p:cNvPr id="24" name="Rounded Rectangle 23"/>
          <p:cNvSpPr/>
          <p:nvPr/>
        </p:nvSpPr>
        <p:spPr>
          <a:xfrm>
            <a:off x="411480" y="4526280"/>
            <a:ext cx="11365992" cy="178308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21208" y="4599432"/>
            <a:ext cx="11146536" cy="1636776"/>
          </a:xfrm>
          <a:prstGeom prst="rect">
            <a:avLst/>
          </a:prstGeom>
          <a:noFill/>
        </p:spPr>
        <p:txBody>
          <a:bodyPr wrap="square" anchor="t" lIns="45720" rIns="45720" tIns="27432" bIns="27432">
            <a:spAutoFit/>
          </a:bodyPr>
          <a:lstStyle/>
          <a:p>
            <a:pPr algn="l">
              <a:spcAft>
                <a:spcPts val="500"/>
              </a:spcAft>
            </a:pPr>
            <a:r>
              <a:rPr sz="1700" b="1" i="0">
                <a:solidFill>
                  <a:srgbClr val="2E8B57"/>
                </a:solidFill>
                <a:latin typeface="Calibri"/>
              </a:rPr>
              <a:t>Curriculum training</a:t>
            </a:r>
          </a:p>
          <a:p>
            <a:pPr algn="l">
              <a:spcAft>
                <a:spcPts val="300"/>
              </a:spcAft>
            </a:pPr>
            <a:r>
              <a:rPr sz="1400" b="0" i="0">
                <a:solidFill>
                  <a:srgbClr val="1F2937"/>
                </a:solidFill>
                <a:latin typeface="Calibri"/>
              </a:rPr>
              <a:t>•  16 crisis sets from 19 LLM scenarios, saved, then split 10 train / 6 test</a:t>
            </a:r>
          </a:p>
          <a:p>
            <a:pPr algn="l">
              <a:spcAft>
                <a:spcPts val="300"/>
              </a:spcAft>
            </a:pPr>
            <a:r>
              <a:rPr sz="1400" b="0" i="0">
                <a:solidFill>
                  <a:srgbClr val="1F2937"/>
                </a:solidFill>
                <a:latin typeface="Calibri"/>
              </a:rPr>
              <a:t>•  The agent trains on a random set from the 10 and is tested on the 6 it never saw; seed, settings and steps match the untuned agent, so crisis exposure is the only difference</a:t>
            </a:r>
          </a:p>
          <a:p>
            <a:pPr algn="l">
              <a:spcAft>
                <a:spcPts val="300"/>
              </a:spcAft>
            </a:pPr>
            <a:r>
              <a:rPr sz="1400" b="0" i="0">
                <a:solidFill>
                  <a:srgbClr val="1F2937"/>
                </a:solidFill>
                <a:latin typeface="Calibri"/>
              </a:rPr>
              <a:t>•  The split is the whole method: testing on training crises would only measure memorisation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(1/7): Episode View, Engine</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_crop_episode_engine_17333593.png"/>
          <p:cNvPicPr>
            <a:picLocks noChangeAspect="1"/>
          </p:cNvPicPr>
          <p:nvPr/>
        </p:nvPicPr>
        <p:blipFill>
          <a:blip r:embed="rId2"/>
          <a:stretch>
            <a:fillRect/>
          </a:stretch>
        </p:blipFill>
        <p:spPr>
          <a:xfrm>
            <a:off x="532912" y="1325880"/>
            <a:ext cx="7255215" cy="4690872"/>
          </a:xfrm>
          <a:prstGeom prst="rect">
            <a:avLst/>
          </a:prstGeom>
          <a:ln w="12700">
            <a:solidFill>
              <a:srgbClr val="CBD5E1"/>
            </a:solidFill>
          </a:ln>
        </p:spPr>
      </p:pic>
      <p:sp>
        <p:nvSpPr>
          <p:cNvPr id="21" name="TextBox 20"/>
          <p:cNvSpPr txBox="1"/>
          <p:nvPr/>
        </p:nvSpPr>
        <p:spPr>
          <a:xfrm>
            <a:off x="411480" y="6044184"/>
            <a:ext cx="7498079"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Streamlit dashboard, forecast + safety stock, held-out seed 500</a:t>
            </a:r>
          </a:p>
        </p:txBody>
      </p:sp>
      <p:sp>
        <p:nvSpPr>
          <p:cNvPr id="22" name="Oval 21"/>
          <p:cNvSpPr/>
          <p:nvPr/>
        </p:nvSpPr>
        <p:spPr>
          <a:xfrm>
            <a:off x="8183879" y="1417320"/>
            <a:ext cx="329184"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1</a:t>
            </a:r>
          </a:p>
        </p:txBody>
      </p:sp>
      <p:sp>
        <p:nvSpPr>
          <p:cNvPr id="23" name="TextBox 22"/>
          <p:cNvSpPr txBox="1"/>
          <p:nvPr/>
        </p:nvSpPr>
        <p:spPr>
          <a:xfrm>
            <a:off x="8595359" y="1353312"/>
            <a:ext cx="3200400" cy="1188720"/>
          </a:xfrm>
          <a:prstGeom prst="rect">
            <a:avLst/>
          </a:prstGeom>
          <a:noFill/>
        </p:spPr>
        <p:txBody>
          <a:bodyPr wrap="square" anchor="t" lIns="45720" rIns="45720" tIns="27432" bIns="27432">
            <a:spAutoFit/>
          </a:bodyPr>
          <a:lstStyle/>
          <a:p>
            <a:pPr algn="l">
              <a:spcAft>
                <a:spcPts val="100"/>
              </a:spcAft>
            </a:pPr>
            <a:r>
              <a:rPr sz="1600" b="1" i="0">
                <a:solidFill>
                  <a:srgbClr val="1B5E3A"/>
                </a:solidFill>
                <a:latin typeface="Calibri"/>
              </a:rPr>
              <a:t>Pick the policy and seed</a:t>
            </a:r>
          </a:p>
          <a:p>
            <a:pPr algn="l">
              <a:spcAft>
                <a:spcPts val="400"/>
              </a:spcAft>
            </a:pPr>
            <a:r>
              <a:rPr sz="1400" b="0" i="0">
                <a:solidFill>
                  <a:srgbClr val="1F2937"/>
                </a:solidFill>
                <a:latin typeface="Calibri"/>
              </a:rPr>
              <a:t>Sidebar: any policy, any held-out seed, optional crisis.</a:t>
            </a:r>
          </a:p>
        </p:txBody>
      </p:sp>
      <p:sp>
        <p:nvSpPr>
          <p:cNvPr id="24" name="Oval 23"/>
          <p:cNvSpPr/>
          <p:nvPr/>
        </p:nvSpPr>
        <p:spPr>
          <a:xfrm>
            <a:off x="8183879" y="2651760"/>
            <a:ext cx="329184"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2</a:t>
            </a:r>
          </a:p>
        </p:txBody>
      </p:sp>
      <p:sp>
        <p:nvSpPr>
          <p:cNvPr id="25" name="TextBox 24"/>
          <p:cNvSpPr txBox="1"/>
          <p:nvPr/>
        </p:nvSpPr>
        <p:spPr>
          <a:xfrm>
            <a:off x="8595359" y="2587752"/>
            <a:ext cx="3200400" cy="1188720"/>
          </a:xfrm>
          <a:prstGeom prst="rect">
            <a:avLst/>
          </a:prstGeom>
          <a:noFill/>
        </p:spPr>
        <p:txBody>
          <a:bodyPr wrap="square" anchor="t" lIns="45720" rIns="45720" tIns="27432" bIns="27432">
            <a:spAutoFit/>
          </a:bodyPr>
          <a:lstStyle/>
          <a:p>
            <a:pPr algn="l">
              <a:spcAft>
                <a:spcPts val="100"/>
              </a:spcAft>
            </a:pPr>
            <a:r>
              <a:rPr sz="1600" b="1" i="0">
                <a:solidFill>
                  <a:srgbClr val="1B5E3A"/>
                </a:solidFill>
                <a:latin typeface="Calibri"/>
              </a:rPr>
              <a:t>Five outcome cards</a:t>
            </a:r>
          </a:p>
          <a:p>
            <a:pPr algn="l">
              <a:spcAft>
                <a:spcPts val="400"/>
              </a:spcAft>
            </a:pPr>
            <a:r>
              <a:rPr sz="1400" b="0" i="0">
                <a:solidFill>
                  <a:srgbClr val="1F2937"/>
                </a:solidFill>
                <a:latin typeface="Calibri"/>
              </a:rPr>
              <a:t>Profit ₹87.8 lakh, fill rate, ordering fees, stockout cost, overflow.</a:t>
            </a:r>
          </a:p>
        </p:txBody>
      </p:sp>
      <p:sp>
        <p:nvSpPr>
          <p:cNvPr id="26" name="Oval 25"/>
          <p:cNvSpPr/>
          <p:nvPr/>
        </p:nvSpPr>
        <p:spPr>
          <a:xfrm>
            <a:off x="8183879" y="3886200"/>
            <a:ext cx="329184"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3</a:t>
            </a:r>
          </a:p>
        </p:txBody>
      </p:sp>
      <p:sp>
        <p:nvSpPr>
          <p:cNvPr id="27" name="TextBox 26"/>
          <p:cNvSpPr txBox="1"/>
          <p:nvPr/>
        </p:nvSpPr>
        <p:spPr>
          <a:xfrm>
            <a:off x="8595359" y="3822192"/>
            <a:ext cx="3200400" cy="1188720"/>
          </a:xfrm>
          <a:prstGeom prst="rect">
            <a:avLst/>
          </a:prstGeom>
          <a:noFill/>
        </p:spPr>
        <p:txBody>
          <a:bodyPr wrap="square" anchor="t" lIns="45720" rIns="45720" tIns="27432" bIns="27432">
            <a:spAutoFit/>
          </a:bodyPr>
          <a:lstStyle/>
          <a:p>
            <a:pPr algn="l">
              <a:spcAft>
                <a:spcPts val="100"/>
              </a:spcAft>
            </a:pPr>
            <a:r>
              <a:rPr sz="1600" b="1" i="0">
                <a:solidFill>
                  <a:srgbClr val="1B5E3A"/>
                </a:solidFill>
                <a:latin typeface="Calibri"/>
              </a:rPr>
              <a:t>Stock and profit over 180 days</a:t>
            </a:r>
          </a:p>
          <a:p>
            <a:pPr algn="l">
              <a:spcAft>
                <a:spcPts val="400"/>
              </a:spcAft>
            </a:pPr>
            <a:r>
              <a:rPr sz="1400" b="0" i="0">
                <a:solidFill>
                  <a:srgbClr val="1F2937"/>
                </a:solidFill>
                <a:latin typeface="Calibri"/>
              </a:rPr>
              <a:t>Two single-axis charts: never a dual axis.</a:t>
            </a:r>
          </a:p>
        </p:txBody>
      </p:sp>
      <p:sp>
        <p:nvSpPr>
          <p:cNvPr id="28" name="Oval 27"/>
          <p:cNvSpPr/>
          <p:nvPr/>
        </p:nvSpPr>
        <p:spPr>
          <a:xfrm>
            <a:off x="8183879" y="5120640"/>
            <a:ext cx="329184"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4</a:t>
            </a:r>
          </a:p>
        </p:txBody>
      </p:sp>
      <p:sp>
        <p:nvSpPr>
          <p:cNvPr id="29" name="TextBox 28"/>
          <p:cNvSpPr txBox="1"/>
          <p:nvPr/>
        </p:nvSpPr>
        <p:spPr>
          <a:xfrm>
            <a:off x="8595359" y="5056632"/>
            <a:ext cx="3200400" cy="1188720"/>
          </a:xfrm>
          <a:prstGeom prst="rect">
            <a:avLst/>
          </a:prstGeom>
          <a:noFill/>
        </p:spPr>
        <p:txBody>
          <a:bodyPr wrap="square" anchor="t" lIns="45720" rIns="45720" tIns="27432" bIns="27432">
            <a:spAutoFit/>
          </a:bodyPr>
          <a:lstStyle/>
          <a:p>
            <a:pPr algn="l">
              <a:spcAft>
                <a:spcPts val="100"/>
              </a:spcAft>
            </a:pPr>
            <a:r>
              <a:rPr sz="1600" b="1" i="0">
                <a:solidFill>
                  <a:srgbClr val="1B5E3A"/>
                </a:solidFill>
                <a:latin typeface="Calibri"/>
              </a:rPr>
              <a:t>Which supplier was used</a:t>
            </a:r>
          </a:p>
          <a:p>
            <a:pPr algn="l">
              <a:spcAft>
                <a:spcPts val="400"/>
              </a:spcAft>
            </a:pPr>
            <a:r>
              <a:rPr sz="1400" b="0" i="0">
                <a:solidFill>
                  <a:srgbClr val="1F2937"/>
                </a:solidFill>
                <a:latin typeface="Calibri"/>
              </a:rPr>
              <a:t>The engine sends almost every order to the cheap supplier.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(2/7): The Challenger, and a Crisis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_crop_episode_challenger_17333593.png"/>
          <p:cNvPicPr>
            <a:picLocks noChangeAspect="1"/>
          </p:cNvPicPr>
          <p:nvPr/>
        </p:nvPicPr>
        <p:blipFill>
          <a:blip r:embed="rId2"/>
          <a:stretch>
            <a:fillRect/>
          </a:stretch>
        </p:blipFill>
        <p:spPr>
          <a:xfrm>
            <a:off x="633496" y="1371600"/>
            <a:ext cx="5133807" cy="3319272"/>
          </a:xfrm>
          <a:prstGeom prst="rect">
            <a:avLst/>
          </a:prstGeom>
          <a:ln w="12700">
            <a:solidFill>
              <a:srgbClr val="CBD5E1"/>
            </a:solidFill>
          </a:ln>
        </p:spPr>
      </p:pic>
      <p:sp>
        <p:nvSpPr>
          <p:cNvPr id="21" name="TextBox 20"/>
          <p:cNvSpPr txBox="1"/>
          <p:nvPr/>
        </p:nvSpPr>
        <p:spPr>
          <a:xfrm>
            <a:off x="411480" y="4718304"/>
            <a:ext cx="557784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RL challenger: orders spread over all three suppliers</a:t>
            </a:r>
          </a:p>
        </p:txBody>
      </p:sp>
      <p:pic>
        <p:nvPicPr>
          <p:cNvPr id="22" name="Picture 21" descr="_crop_episode_crisis_17333593.png"/>
          <p:cNvPicPr>
            <a:picLocks noChangeAspect="1"/>
          </p:cNvPicPr>
          <p:nvPr/>
        </p:nvPicPr>
        <p:blipFill>
          <a:blip r:embed="rId3"/>
          <a:stretch>
            <a:fillRect/>
          </a:stretch>
        </p:blipFill>
        <p:spPr>
          <a:xfrm>
            <a:off x="6421648" y="1371600"/>
            <a:ext cx="5133807" cy="3319272"/>
          </a:xfrm>
          <a:prstGeom prst="rect">
            <a:avLst/>
          </a:prstGeom>
          <a:ln w="12700">
            <a:solidFill>
              <a:srgbClr val="CBD5E1"/>
            </a:solidFill>
          </a:ln>
        </p:spPr>
      </p:pic>
      <p:sp>
        <p:nvSpPr>
          <p:cNvPr id="23" name="TextBox 22"/>
          <p:cNvSpPr txBox="1"/>
          <p:nvPr/>
        </p:nvSpPr>
        <p:spPr>
          <a:xfrm>
            <a:off x="6199632" y="4718304"/>
            <a:ext cx="557784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Engine with a crisis injected: shaded band = disruption</a:t>
            </a:r>
          </a:p>
        </p:txBody>
      </p:sp>
      <p:sp>
        <p:nvSpPr>
          <p:cNvPr id="24" name="TextBox 23"/>
          <p:cNvSpPr txBox="1"/>
          <p:nvPr/>
        </p:nvSpPr>
        <p:spPr>
          <a:xfrm>
            <a:off x="411480" y="5120640"/>
            <a:ext cx="11365992" cy="1188720"/>
          </a:xfrm>
          <a:prstGeom prst="rect">
            <a:avLst/>
          </a:prstGeom>
          <a:noFill/>
        </p:spPr>
        <p:txBody>
          <a:bodyPr wrap="square" anchor="t" lIns="45720" rIns="45720" tIns="27432" bIns="27432">
            <a:spAutoFit/>
          </a:bodyPr>
          <a:lstStyle/>
          <a:p>
            <a:pPr algn="l">
              <a:spcAft>
                <a:spcPts val="400"/>
              </a:spcAft>
            </a:pPr>
            <a:r>
              <a:rPr sz="1400" b="1" i="0">
                <a:solidFill>
                  <a:srgbClr val="D6336C"/>
                </a:solidFill>
                <a:latin typeface="Calibri"/>
              </a:rPr>
              <a:t>Challenger (left): </a:t>
            </a:r>
            <a:r>
              <a:rPr sz="1400" b="0" i="0">
                <a:solidFill>
                  <a:srgbClr val="1F2937"/>
                </a:solidFill>
                <a:latin typeface="Calibri"/>
              </a:rPr>
              <a:t>602 orders across all three suppliers against the engine’s 323. That fragmentation is the cause of the agent’s double ordering fees.   </a:t>
            </a:r>
            <a:r>
              <a:rPr sz="1400" b="1" i="0">
                <a:solidFill>
                  <a:srgbClr val="1B5E3A"/>
                </a:solidFill>
                <a:latin typeface="Calibri"/>
              </a:rPr>
              <a:t>Crisis (right): </a:t>
            </a:r>
            <a:r>
              <a:rPr sz="1400" b="0" i="0">
                <a:solidFill>
                  <a:srgbClr val="1F2937"/>
                </a:solidFill>
                <a:latin typeface="Calibri"/>
              </a:rPr>
              <a:t>the red band marks the days the disruption is active, so stock and profit can be read against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(3/7): Before vs After the System</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_crop_before_after_93631529.png"/>
          <p:cNvPicPr>
            <a:picLocks noChangeAspect="1"/>
          </p:cNvPicPr>
          <p:nvPr/>
        </p:nvPicPr>
        <p:blipFill>
          <a:blip r:embed="rId2"/>
          <a:stretch>
            <a:fillRect/>
          </a:stretch>
        </p:blipFill>
        <p:spPr>
          <a:xfrm>
            <a:off x="411480" y="1371600"/>
            <a:ext cx="7223760" cy="4229295"/>
          </a:xfrm>
          <a:prstGeom prst="rect">
            <a:avLst/>
          </a:prstGeom>
          <a:ln w="12700">
            <a:solidFill>
              <a:srgbClr val="CBD5E1"/>
            </a:solidFill>
          </a:ln>
        </p:spPr>
      </p:pic>
      <p:sp>
        <p:nvSpPr>
          <p:cNvPr id="21" name="TextBox 20"/>
          <p:cNvSpPr txBox="1"/>
          <p:nvPr/>
        </p:nvSpPr>
        <p:spPr>
          <a:xfrm>
            <a:off x="411480" y="5628327"/>
            <a:ext cx="722376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“Before”: a fixed daily order.  “After”: the engine, with the RL challenger beside it.</a:t>
            </a:r>
          </a:p>
        </p:txBody>
      </p:sp>
      <p:sp>
        <p:nvSpPr>
          <p:cNvPr id="22" name="Rounded Rectangle 21"/>
          <p:cNvSpPr/>
          <p:nvPr/>
        </p:nvSpPr>
        <p:spPr>
          <a:xfrm>
            <a:off x="7909559" y="1371600"/>
            <a:ext cx="3867912" cy="118872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82711" y="1417320"/>
            <a:ext cx="3721608" cy="1097280"/>
          </a:xfrm>
          <a:prstGeom prst="rect">
            <a:avLst/>
          </a:prstGeom>
          <a:noFill/>
        </p:spPr>
        <p:txBody>
          <a:bodyPr wrap="square" anchor="ctr" lIns="45720" rIns="45720" tIns="27432" bIns="27432">
            <a:spAutoFit/>
          </a:bodyPr>
          <a:lstStyle/>
          <a:p>
            <a:pPr algn="ctr">
              <a:spcAft>
                <a:spcPts val="100"/>
              </a:spcAft>
            </a:pPr>
            <a:r>
              <a:rPr sz="2200" b="1" i="0">
                <a:solidFill>
                  <a:srgbClr val="FFFFFF"/>
                </a:solidFill>
                <a:latin typeface="Calibri"/>
              </a:rPr>
              <a:t>₹53.3 lakh → ₹87.8 lakh</a:t>
            </a:r>
          </a:p>
          <a:p>
            <a:pPr algn="ctr">
              <a:spcAft>
                <a:spcPts val="400"/>
              </a:spcAft>
            </a:pPr>
            <a:r>
              <a:rPr sz="1300" b="0" i="0">
                <a:solidFill>
                  <a:srgbClr val="FFFFFF"/>
                </a:solidFill>
                <a:latin typeface="Calibri"/>
              </a:rPr>
              <a:t>Profit per run   +65%</a:t>
            </a:r>
          </a:p>
        </p:txBody>
      </p:sp>
      <p:sp>
        <p:nvSpPr>
          <p:cNvPr id="24" name="Rounded Rectangle 23"/>
          <p:cNvSpPr/>
          <p:nvPr/>
        </p:nvSpPr>
        <p:spPr>
          <a:xfrm>
            <a:off x="7909559" y="2697480"/>
            <a:ext cx="3867912" cy="1188720"/>
          </a:xfrm>
          <a:prstGeom prst="roundRect">
            <a:avLst>
              <a:gd name="adj" fmla="val 12000"/>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82711" y="2743200"/>
            <a:ext cx="3721608" cy="1097280"/>
          </a:xfrm>
          <a:prstGeom prst="rect">
            <a:avLst/>
          </a:prstGeom>
          <a:noFill/>
        </p:spPr>
        <p:txBody>
          <a:bodyPr wrap="square" anchor="ctr" lIns="45720" rIns="45720" tIns="27432" bIns="27432">
            <a:spAutoFit/>
          </a:bodyPr>
          <a:lstStyle/>
          <a:p>
            <a:pPr algn="ctr">
              <a:spcAft>
                <a:spcPts val="100"/>
              </a:spcAft>
            </a:pPr>
            <a:r>
              <a:rPr sz="2200" b="1" i="0">
                <a:solidFill>
                  <a:srgbClr val="FFFFFF"/>
                </a:solidFill>
                <a:latin typeface="Calibri"/>
              </a:rPr>
              <a:t>92.3% → 97.9%</a:t>
            </a:r>
          </a:p>
          <a:p>
            <a:pPr algn="ctr">
              <a:spcAft>
                <a:spcPts val="400"/>
              </a:spcAft>
            </a:pPr>
            <a:r>
              <a:rPr sz="1300" b="0" i="0">
                <a:solidFill>
                  <a:srgbClr val="FFFFFF"/>
                </a:solidFill>
                <a:latin typeface="Calibri"/>
              </a:rPr>
              <a:t>Fill rate   +5.6 points</a:t>
            </a:r>
          </a:p>
        </p:txBody>
      </p:sp>
      <p:sp>
        <p:nvSpPr>
          <p:cNvPr id="26" name="Rounded Rectangle 25"/>
          <p:cNvSpPr/>
          <p:nvPr/>
        </p:nvSpPr>
        <p:spPr>
          <a:xfrm>
            <a:off x="7909559" y="4023360"/>
            <a:ext cx="3867912" cy="1188720"/>
          </a:xfrm>
          <a:prstGeom prst="roundRect">
            <a:avLst>
              <a:gd name="adj" fmla="val 12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82711" y="4069080"/>
            <a:ext cx="3721608" cy="1097280"/>
          </a:xfrm>
          <a:prstGeom prst="rect">
            <a:avLst/>
          </a:prstGeom>
          <a:noFill/>
        </p:spPr>
        <p:txBody>
          <a:bodyPr wrap="square" anchor="ctr" lIns="45720" rIns="45720" tIns="27432" bIns="27432">
            <a:spAutoFit/>
          </a:bodyPr>
          <a:lstStyle/>
          <a:p>
            <a:pPr algn="ctr">
              <a:spcAft>
                <a:spcPts val="100"/>
              </a:spcAft>
            </a:pPr>
            <a:r>
              <a:rPr sz="2200" b="1" i="0">
                <a:solidFill>
                  <a:srgbClr val="FFFFFF"/>
                </a:solidFill>
                <a:latin typeface="Calibri"/>
              </a:rPr>
              <a:t>₹29.0 lakh → ₹6.1 lakh</a:t>
            </a:r>
          </a:p>
          <a:p>
            <a:pPr algn="ctr">
              <a:spcAft>
                <a:spcPts val="400"/>
              </a:spcAft>
            </a:pPr>
            <a:r>
              <a:rPr sz="1300" b="0" i="0">
                <a:solidFill>
                  <a:srgbClr val="FFFFFF"/>
                </a:solidFill>
                <a:latin typeface="Calibri"/>
              </a:rPr>
              <a:t>Stockout cost   -79%</a:t>
            </a:r>
          </a:p>
        </p:txBody>
      </p:sp>
      <p:sp>
        <p:nvSpPr>
          <p:cNvPr id="28" name="TextBox 27"/>
          <p:cNvSpPr txBox="1"/>
          <p:nvPr/>
        </p:nvSpPr>
        <p:spPr>
          <a:xfrm>
            <a:off x="7909559" y="5349240"/>
            <a:ext cx="3867912" cy="1097280"/>
          </a:xfrm>
          <a:prstGeom prst="rect">
            <a:avLst/>
          </a:prstGeom>
          <a:noFill/>
        </p:spPr>
        <p:txBody>
          <a:bodyPr wrap="square" anchor="t" lIns="45720" rIns="45720" tIns="27432" bIns="27432">
            <a:spAutoFit/>
          </a:bodyPr>
          <a:lstStyle/>
          <a:p>
            <a:pPr algn="l">
              <a:spcAft>
                <a:spcPts val="400"/>
              </a:spcAft>
            </a:pPr>
            <a:r>
              <a:rPr sz="1300" b="0" i="1">
                <a:solidFill>
                  <a:srgbClr val="5B6573"/>
                </a:solidFill>
                <a:latin typeface="Calibri"/>
              </a:rPr>
              <a:t>Most of the gain comes from forecasting with safety stock, which is what the engine does, not from RL.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(4/7): Every Test Run, Not Just the Average</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_crop_before_after_90093155.png"/>
          <p:cNvPicPr>
            <a:picLocks noChangeAspect="1"/>
          </p:cNvPicPr>
          <p:nvPr/>
        </p:nvPicPr>
        <p:blipFill>
          <a:blip r:embed="rId2"/>
          <a:stretch>
            <a:fillRect/>
          </a:stretch>
        </p:blipFill>
        <p:spPr>
          <a:xfrm>
            <a:off x="1115567" y="1325880"/>
            <a:ext cx="9957816" cy="3319272"/>
          </a:xfrm>
          <a:prstGeom prst="rect">
            <a:avLst/>
          </a:prstGeom>
          <a:ln w="12700">
            <a:solidFill>
              <a:srgbClr val="CBD5E1"/>
            </a:solidFill>
          </a:ln>
        </p:spPr>
      </p:pic>
      <p:sp>
        <p:nvSpPr>
          <p:cNvPr id="21" name="TextBox 20"/>
          <p:cNvSpPr txBox="1"/>
          <p:nvPr/>
        </p:nvSpPr>
        <p:spPr>
          <a:xfrm>
            <a:off x="411480" y="4672584"/>
            <a:ext cx="11365992"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Each dot is one of the 30 held-out test seeds, sorted by the “before” profit</a:t>
            </a:r>
          </a:p>
        </p:txBody>
      </p:sp>
      <p:sp>
        <p:nvSpPr>
          <p:cNvPr id="22" name="TextBox 21"/>
          <p:cNvSpPr txBox="1"/>
          <p:nvPr/>
        </p:nvSpPr>
        <p:spPr>
          <a:xfrm>
            <a:off x="411480" y="5074920"/>
            <a:ext cx="11365992" cy="1280160"/>
          </a:xfrm>
          <a:prstGeom prst="rect">
            <a:avLst/>
          </a:prstGeom>
          <a:noFill/>
        </p:spPr>
        <p:txBody>
          <a:bodyPr wrap="square" anchor="t" lIns="45720" rIns="45720" tIns="27432" bIns="27432">
            <a:spAutoFit/>
          </a:bodyPr>
          <a:lstStyle/>
          <a:p>
            <a:pPr algn="l">
              <a:spcAft>
                <a:spcPts val="600"/>
              </a:spcAft>
            </a:pPr>
            <a:r>
              <a:rPr sz="1600" b="1" i="0">
                <a:solidFill>
                  <a:srgbClr val="1B5E3A"/>
                </a:solidFill>
                <a:latin typeface="Calibri"/>
              </a:rPr>
              <a:t>•  Why show every run? </a:t>
            </a:r>
            <a:r>
              <a:rPr sz="1600" b="0" i="0">
                <a:solidFill>
                  <a:srgbClr val="1F2937"/>
                </a:solidFill>
                <a:latin typeface="Calibri"/>
              </a:rPr>
              <a:t>An average can hide losses. The engine (green) is above the fixed order (grey) on 30 of 30 seeds; the RL challenger (pink) is above it on 29 of 30.</a:t>
            </a:r>
          </a:p>
          <a:p>
            <a:pPr algn="l">
              <a:spcAft>
                <a:spcPts val="400"/>
              </a:spcAft>
            </a:pPr>
            <a:r>
              <a:rPr sz="1600" b="1" i="0">
                <a:solidFill>
                  <a:srgbClr val="D6336C"/>
                </a:solidFill>
                <a:latin typeface="Calibri"/>
              </a:rPr>
              <a:t>•  One weak run is visible too: </a:t>
            </a:r>
            <a:r>
              <a:rPr sz="1600" b="0" i="0">
                <a:solidFill>
                  <a:srgbClr val="1F2937"/>
                </a:solidFill>
                <a:latin typeface="Calibri"/>
              </a:rPr>
              <a:t>the lone pink dot far below the others is a seed where the challenger did badly.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(5/7): One Run, Day by Day</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_crop_before_after_57854471.png"/>
          <p:cNvPicPr>
            <a:picLocks noChangeAspect="1"/>
          </p:cNvPicPr>
          <p:nvPr/>
        </p:nvPicPr>
        <p:blipFill>
          <a:blip r:embed="rId2"/>
          <a:stretch>
            <a:fillRect/>
          </a:stretch>
        </p:blipFill>
        <p:spPr>
          <a:xfrm>
            <a:off x="672832" y="1325880"/>
            <a:ext cx="7158255" cy="3364992"/>
          </a:xfrm>
          <a:prstGeom prst="rect">
            <a:avLst/>
          </a:prstGeom>
          <a:ln w="12700">
            <a:solidFill>
              <a:srgbClr val="CBD5E1"/>
            </a:solidFill>
          </a:ln>
        </p:spPr>
      </p:pic>
      <p:sp>
        <p:nvSpPr>
          <p:cNvPr id="21" name="TextBox 20"/>
          <p:cNvSpPr txBox="1"/>
          <p:nvPr/>
        </p:nvSpPr>
        <p:spPr>
          <a:xfrm>
            <a:off x="411480" y="4718304"/>
            <a:ext cx="768096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Seed 500: cumulative profit and stockouts, before vs after</a:t>
            </a:r>
          </a:p>
        </p:txBody>
      </p:sp>
      <p:sp>
        <p:nvSpPr>
          <p:cNvPr id="22" name="TextBox 21"/>
          <p:cNvSpPr txBox="1"/>
          <p:nvPr/>
        </p:nvSpPr>
        <p:spPr>
          <a:xfrm>
            <a:off x="8366759" y="1371600"/>
            <a:ext cx="3410712" cy="4846320"/>
          </a:xfrm>
          <a:prstGeom prst="rect">
            <a:avLst/>
          </a:prstGeom>
          <a:noFill/>
        </p:spPr>
        <p:txBody>
          <a:bodyPr wrap="square" anchor="t" lIns="45720" rIns="45720" tIns="27432" bIns="27432">
            <a:spAutoFit/>
          </a:bodyPr>
          <a:lstStyle/>
          <a:p>
            <a:pPr algn="l">
              <a:spcAft>
                <a:spcPts val="600"/>
              </a:spcAft>
            </a:pPr>
            <a:r>
              <a:rPr sz="1800" b="1" i="0">
                <a:solidFill>
                  <a:srgbClr val="1B5E3A"/>
                </a:solidFill>
                <a:latin typeface="Calibri"/>
              </a:rPr>
              <a:t>Reading the charts</a:t>
            </a:r>
          </a:p>
          <a:p>
            <a:pPr algn="l">
              <a:spcAft>
                <a:spcPts val="600"/>
              </a:spcAft>
            </a:pPr>
            <a:r>
              <a:rPr sz="1500" b="0" i="0">
                <a:solidFill>
                  <a:srgbClr val="1F2937"/>
                </a:solidFill>
                <a:latin typeface="Calibri"/>
              </a:rPr>
              <a:t>•  Left: profit builds up over 180 days. Green (engine) pulls away from grey (fixed order).</a:t>
            </a:r>
          </a:p>
          <a:p>
            <a:pPr algn="l">
              <a:spcAft>
                <a:spcPts val="600"/>
              </a:spcAft>
            </a:pPr>
            <a:r>
              <a:rPr sz="1500" b="0" i="0">
                <a:solidFill>
                  <a:srgbClr val="1F2937"/>
                </a:solidFill>
                <a:latin typeface="Calibri"/>
              </a:rPr>
              <a:t>•  Right: product-days out of stock, counted up. The engine stays low; the fixed order and the challenger climb.</a:t>
            </a:r>
          </a:p>
          <a:p>
            <a:pPr algn="l">
              <a:spcAft>
                <a:spcPts val="400"/>
              </a:spcAft>
            </a:pPr>
            <a:r>
              <a:rPr sz="1500" b="0" i="0">
                <a:solidFill>
                  <a:srgbClr val="1F2937"/>
                </a:solidFill>
                <a:latin typeface="Calibri"/>
              </a:rPr>
              <a:t>•  The charts follow the sidebar’s seed and crisis switch, so before and after can be compared live under any condition.</a:t>
            </a:r>
          </a:p>
        </p:txBody>
      </p:sp>
      <p:sp>
        <p:nvSpPr>
          <p:cNvPr id="23" name="TextBox 22"/>
          <p:cNvSpPr txBox="1"/>
          <p:nvPr/>
        </p:nvSpPr>
        <p:spPr>
          <a:xfrm>
            <a:off x="411480" y="5166360"/>
            <a:ext cx="7680960" cy="1097280"/>
          </a:xfrm>
          <a:prstGeom prst="rect">
            <a:avLst/>
          </a:prstGeom>
          <a:noFill/>
        </p:spPr>
        <p:txBody>
          <a:bodyPr wrap="square" anchor="t" lIns="45720" rIns="45720" tIns="27432" bIns="27432">
            <a:spAutoFit/>
          </a:bodyPr>
          <a:lstStyle/>
          <a:p>
            <a:pPr algn="l">
              <a:spcAft>
                <a:spcPts val="400"/>
              </a:spcAft>
            </a:pPr>
            <a:r>
              <a:rPr sz="1500" b="1" i="0">
                <a:solidFill>
                  <a:srgbClr val="D6336C"/>
                </a:solidFill>
                <a:latin typeface="Calibri"/>
              </a:rPr>
              <a:t>On this single run the challenger runs out of stock more than the engine: a visible example of its weakness.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(6/7): Explain a Decision</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_crop_explain_13376534.png"/>
          <p:cNvPicPr>
            <a:picLocks noChangeAspect="1"/>
          </p:cNvPicPr>
          <p:nvPr/>
        </p:nvPicPr>
        <p:blipFill>
          <a:blip r:embed="rId2"/>
          <a:stretch>
            <a:fillRect/>
          </a:stretch>
        </p:blipFill>
        <p:spPr>
          <a:xfrm>
            <a:off x="675885" y="1371600"/>
            <a:ext cx="6877828" cy="2816352"/>
          </a:xfrm>
          <a:prstGeom prst="rect">
            <a:avLst/>
          </a:prstGeom>
          <a:ln w="12700">
            <a:solidFill>
              <a:srgbClr val="CBD5E1"/>
            </a:solidFill>
          </a:ln>
        </p:spPr>
      </p:pic>
      <p:sp>
        <p:nvSpPr>
          <p:cNvPr id="21" name="TextBox 20"/>
          <p:cNvSpPr txBox="1"/>
          <p:nvPr/>
        </p:nvSpPr>
        <p:spPr>
          <a:xfrm>
            <a:off x="411480" y="4215384"/>
            <a:ext cx="740664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Day 45, product 0: explanation written by the LLM, source shown as a badge</a:t>
            </a:r>
          </a:p>
        </p:txBody>
      </p:sp>
      <p:sp>
        <p:nvSpPr>
          <p:cNvPr id="22" name="TextBox 21"/>
          <p:cNvSpPr txBox="1"/>
          <p:nvPr/>
        </p:nvSpPr>
        <p:spPr>
          <a:xfrm>
            <a:off x="8092440" y="1371600"/>
            <a:ext cx="3685032" cy="4937760"/>
          </a:xfrm>
          <a:prstGeom prst="rect">
            <a:avLst/>
          </a:prstGeom>
          <a:noFill/>
        </p:spPr>
        <p:txBody>
          <a:bodyPr wrap="square" anchor="t" lIns="45720" rIns="45720" tIns="27432" bIns="27432">
            <a:spAutoFit/>
          </a:bodyPr>
          <a:lstStyle/>
          <a:p>
            <a:pPr algn="l">
              <a:spcAft>
                <a:spcPts val="400"/>
              </a:spcAft>
            </a:pPr>
            <a:r>
              <a:rPr sz="1700" b="1" i="0">
                <a:solidFill>
                  <a:srgbClr val="1B5E3A"/>
                </a:solidFill>
                <a:latin typeface="Calibri"/>
              </a:rPr>
              <a:t>How to use it</a:t>
            </a:r>
          </a:p>
          <a:p>
            <a:pPr algn="l">
              <a:spcAft>
                <a:spcPts val="400"/>
              </a:spcAft>
            </a:pPr>
            <a:r>
              <a:rPr sz="1400" b="0" i="0">
                <a:solidFill>
                  <a:srgbClr val="1F2937"/>
                </a:solidFill>
                <a:latin typeface="Calibri"/>
              </a:rPr>
              <a:t>•  Pick a day and a product</a:t>
            </a:r>
          </a:p>
          <a:p>
            <a:pPr algn="l">
              <a:spcAft>
                <a:spcPts val="400"/>
              </a:spcAft>
            </a:pPr>
            <a:r>
              <a:rPr sz="1400" b="0" i="0">
                <a:solidFill>
                  <a:srgbClr val="1F2937"/>
                </a:solidFill>
                <a:latin typeface="Calibri"/>
              </a:rPr>
              <a:t>•  Press Explain this decision</a:t>
            </a:r>
          </a:p>
          <a:p>
            <a:pPr algn="l">
              <a:spcAft>
                <a:spcPts val="400"/>
              </a:spcAft>
            </a:pPr>
            <a:r>
              <a:rPr sz="1400" b="0" i="0">
                <a:solidFill>
                  <a:srgbClr val="1F2937"/>
                </a:solidFill>
                <a:latin typeface="Calibri"/>
              </a:rPr>
              <a:t>•  Read 2–3 plain sentences</a:t>
            </a:r>
          </a:p>
          <a:p>
            <a:pPr algn="l">
              <a:spcAft>
                <a:spcPts val="400"/>
              </a:spcAft>
            </a:pPr>
            <a:r>
              <a:rPr sz="1400" b="0" i="0">
                <a:solidFill>
                  <a:srgbClr val="1F2937"/>
                </a:solidFill>
                <a:latin typeface="Calibri"/>
              </a:rPr>
              <a:t>•  The black badge shows who wrote it: a model name, or “deterministic template” if the check rejected the LLM</a:t>
            </a:r>
          </a:p>
          <a:p>
            <a:pPr algn="l">
              <a:spcAft>
                <a:spcPts val="400"/>
              </a:spcAft>
            </a:pPr>
            <a:r>
              <a:rPr sz="1400" b="0" i="0">
                <a:solidFill>
                  <a:srgbClr val="1F2937"/>
                </a:solidFill>
                <a:latin typeface="Calibri"/>
              </a:rPr>
              <a:t>•  Expand “the facts the model was given” to verify every number</a:t>
            </a:r>
          </a:p>
        </p:txBody>
      </p:sp>
      <p:sp>
        <p:nvSpPr>
          <p:cNvPr id="23" name="TextBox 22"/>
          <p:cNvSpPr txBox="1"/>
          <p:nvPr/>
        </p:nvSpPr>
        <p:spPr>
          <a:xfrm>
            <a:off x="411480" y="4709160"/>
            <a:ext cx="7406640" cy="1554480"/>
          </a:xfrm>
          <a:prstGeom prst="rect">
            <a:avLst/>
          </a:prstGeom>
          <a:noFill/>
        </p:spPr>
        <p:txBody>
          <a:bodyPr wrap="square" anchor="t" lIns="45720" rIns="45720" tIns="27432" bIns="27432">
            <a:spAutoFit/>
          </a:bodyPr>
          <a:lstStyle/>
          <a:p>
            <a:pPr algn="l">
              <a:spcAft>
                <a:spcPts val="400"/>
              </a:spcAft>
            </a:pPr>
            <a:r>
              <a:rPr sz="1400" b="1" i="0">
                <a:solidFill>
                  <a:srgbClr val="D6336C"/>
                </a:solidFill>
                <a:latin typeface="Calibri"/>
              </a:rPr>
              <a:t>Check it yourself: </a:t>
            </a:r>
            <a:r>
              <a:rPr sz="1400" b="0" i="0">
                <a:solidFill>
                  <a:srgbClr val="1F2937"/>
                </a:solidFill>
                <a:latin typeface="Calibri"/>
              </a:rPr>
              <a:t>2,365 units, 14.0 days of cover, demand of 169 units and a 7-day average of 78 all appear in the facts panel. If the model had invented a figure, the template would have replaced this text.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(7/7): Policy Comparison and Robustness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_crop_comparison_28541638.png"/>
          <p:cNvPicPr>
            <a:picLocks noChangeAspect="1"/>
          </p:cNvPicPr>
          <p:nvPr/>
        </p:nvPicPr>
        <p:blipFill>
          <a:blip r:embed="rId2"/>
          <a:stretch>
            <a:fillRect/>
          </a:stretch>
        </p:blipFill>
        <p:spPr>
          <a:xfrm>
            <a:off x="526541" y="1371600"/>
            <a:ext cx="5347716" cy="3319272"/>
          </a:xfrm>
          <a:prstGeom prst="rect">
            <a:avLst/>
          </a:prstGeom>
          <a:ln w="12700">
            <a:solidFill>
              <a:srgbClr val="CBD5E1"/>
            </a:solidFill>
          </a:ln>
        </p:spPr>
      </p:pic>
      <p:sp>
        <p:nvSpPr>
          <p:cNvPr id="21" name="TextBox 20"/>
          <p:cNvSpPr txBox="1"/>
          <p:nvPr/>
        </p:nvSpPr>
        <p:spPr>
          <a:xfrm>
            <a:off x="411480" y="4718304"/>
            <a:ext cx="557784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Policy comparison tab: 30 held-out seeds</a:t>
            </a:r>
          </a:p>
        </p:txBody>
      </p:sp>
      <p:pic>
        <p:nvPicPr>
          <p:cNvPr id="22" name="Picture 21" descr="_crop_robustness_41289307.png"/>
          <p:cNvPicPr>
            <a:picLocks noChangeAspect="1"/>
          </p:cNvPicPr>
          <p:nvPr/>
        </p:nvPicPr>
        <p:blipFill>
          <a:blip r:embed="rId3"/>
          <a:stretch>
            <a:fillRect/>
          </a:stretch>
        </p:blipFill>
        <p:spPr>
          <a:xfrm>
            <a:off x="6218512" y="1371600"/>
            <a:ext cx="5540079" cy="3319272"/>
          </a:xfrm>
          <a:prstGeom prst="rect">
            <a:avLst/>
          </a:prstGeom>
          <a:ln w="12700">
            <a:solidFill>
              <a:srgbClr val="CBD5E1"/>
            </a:solidFill>
          </a:ln>
        </p:spPr>
      </p:pic>
      <p:sp>
        <p:nvSpPr>
          <p:cNvPr id="23" name="TextBox 22"/>
          <p:cNvSpPr txBox="1"/>
          <p:nvPr/>
        </p:nvSpPr>
        <p:spPr>
          <a:xfrm>
            <a:off x="6199632" y="4718304"/>
            <a:ext cx="557784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Robustness tab: calm vs 6 unseen crises</a:t>
            </a:r>
          </a:p>
        </p:txBody>
      </p:sp>
      <p:sp>
        <p:nvSpPr>
          <p:cNvPr id="24" name="TextBox 23"/>
          <p:cNvSpPr txBox="1"/>
          <p:nvPr/>
        </p:nvSpPr>
        <p:spPr>
          <a:xfrm>
            <a:off x="411480" y="5120640"/>
            <a:ext cx="11365992" cy="1188720"/>
          </a:xfrm>
          <a:prstGeom prst="rect">
            <a:avLst/>
          </a:prstGeom>
          <a:noFill/>
        </p:spPr>
        <p:txBody>
          <a:bodyPr wrap="square" anchor="t" lIns="45720" rIns="45720" tIns="27432" bIns="27432">
            <a:spAutoFit/>
          </a:bodyPr>
          <a:lstStyle/>
          <a:p>
            <a:pPr algn="l">
              <a:spcAft>
                <a:spcPts val="400"/>
              </a:spcAft>
            </a:pPr>
            <a:r>
              <a:rPr sz="1400" b="0" i="0">
                <a:solidFill>
                  <a:srgbClr val="1F2937"/>
                </a:solidFill>
                <a:latin typeface="Calibri"/>
              </a:rPr>
              <a:t>•  Only the rows a claim depends on are shown: the four classical methods, the tuned, untuned and no-masking agents; then the engine, the tuned agent, and the curriculum agent beside its control.</a:t>
            </a:r>
          </a:p>
          <a:p>
            <a:pPr algn="l">
              <a:spcAft>
                <a:spcPts val="400"/>
              </a:spcAft>
            </a:pPr>
            <a:r>
              <a:rPr sz="1400" b="0" i="0">
                <a:solidFill>
                  <a:srgbClr val="1F2937"/>
                </a:solidFill>
                <a:latin typeface="Calibri"/>
              </a:rPr>
              <a:t>•  The headline cards give the numbers directly; the table below each chart is the same data for anyone who wants to check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Results (1/4): Main Comparison on 30 Unseen Runs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6309357" cy="3291840"/>
        </p:xfrm>
        <a:graphic>
          <a:graphicData uri="http://schemas.openxmlformats.org/drawingml/2006/table">
            <a:tbl>
              <a:tblPr firstRow="1" bandRow="1">
                <a:tableStyleId>{5C22544A-7EE6-4342-B048-85BDC9FD1C3A}</a:tableStyleId>
              </a:tblPr>
              <a:tblGrid>
                <a:gridCol w="2343476"/>
                <a:gridCol w="1171738"/>
                <a:gridCol w="721069"/>
                <a:gridCol w="991470"/>
                <a:gridCol w="1081604"/>
              </a:tblGrid>
              <a:tr h="365760">
                <a:tc>
                  <a:txBody>
                    <a:bodyPr wrap="square"/>
                    <a:lstStyle/>
                    <a:p>
                      <a:pPr algn="l"/>
                      <a:r>
                        <a:rPr sz="1200" b="1" i="0">
                          <a:solidFill>
                            <a:srgbClr val="FFFFFF"/>
                          </a:solidFill>
                          <a:latin typeface="Calibri"/>
                        </a:rPr>
                        <a:t>Method</a:t>
                      </a:r>
                    </a:p>
                  </a:txBody>
                  <a:tcPr marL="54864" marR="54864" marT="18288" marB="18288" anchor="ctr">
                    <a:solidFill>
                      <a:srgbClr val="2E8B57"/>
                    </a:solidFill>
                  </a:tcPr>
                </a:tc>
                <a:tc>
                  <a:txBody>
                    <a:bodyPr wrap="square"/>
                    <a:lstStyle/>
                    <a:p>
                      <a:pPr algn="ctr"/>
                      <a:r>
                        <a:rPr sz="1200" b="1" i="0">
                          <a:solidFill>
                            <a:srgbClr val="FFFFFF"/>
                          </a:solidFill>
                          <a:latin typeface="Calibri"/>
                        </a:rPr>
                        <a:t>Profit</a:t>
                      </a:r>
                    </a:p>
                  </a:txBody>
                  <a:tcPr marL="54864" marR="54864" marT="18288" marB="18288" anchor="ctr">
                    <a:solidFill>
                      <a:srgbClr val="2E8B57"/>
                    </a:solidFill>
                  </a:tcPr>
                </a:tc>
                <a:tc>
                  <a:txBody>
                    <a:bodyPr wrap="square"/>
                    <a:lstStyle/>
                    <a:p>
                      <a:pPr algn="ctr"/>
                      <a:r>
                        <a:rPr sz="1200" b="1" i="0">
                          <a:solidFill>
                            <a:srgbClr val="FFFFFF"/>
                          </a:solidFill>
                          <a:latin typeface="Calibri"/>
                        </a:rPr>
                        <a:t>Fill</a:t>
                      </a:r>
                    </a:p>
                  </a:txBody>
                  <a:tcPr marL="54864" marR="54864" marT="18288" marB="18288" anchor="ctr">
                    <a:solidFill>
                      <a:srgbClr val="2E8B57"/>
                    </a:solidFill>
                  </a:tcPr>
                </a:tc>
                <a:tc>
                  <a:txBody>
                    <a:bodyPr wrap="square"/>
                    <a:lstStyle/>
                    <a:p>
                      <a:pPr algn="ctr"/>
                      <a:r>
                        <a:rPr sz="1200" b="1" i="0">
                          <a:solidFill>
                            <a:srgbClr val="FFFFFF"/>
                          </a:solidFill>
                          <a:latin typeface="Calibri"/>
                        </a:rPr>
                        <a:t>Fees</a:t>
                      </a:r>
                    </a:p>
                  </a:txBody>
                  <a:tcPr marL="54864" marR="54864" marT="18288" marB="18288" anchor="ctr">
                    <a:solidFill>
                      <a:srgbClr val="2E8B57"/>
                    </a:solidFill>
                  </a:tcPr>
                </a:tc>
                <a:tc>
                  <a:txBody>
                    <a:bodyPr wrap="square"/>
                    <a:lstStyle/>
                    <a:p>
                      <a:pPr algn="ctr"/>
                      <a:r>
                        <a:rPr sz="1200" b="1" i="0">
                          <a:solidFill>
                            <a:srgbClr val="FFFFFF"/>
                          </a:solidFill>
                          <a:latin typeface="Calibri"/>
                        </a:rPr>
                        <a:t>Stockout</a:t>
                      </a:r>
                    </a:p>
                  </a:txBody>
                  <a:tcPr marL="54864" marR="54864" marT="18288" marB="18288" anchor="ctr">
                    <a:solidFill>
                      <a:srgbClr val="2E8B57"/>
                    </a:solidFill>
                  </a:tcPr>
                </a:tc>
              </a:tr>
              <a:tr h="365760">
                <a:tc>
                  <a:txBody>
                    <a:bodyPr wrap="square"/>
                    <a:lstStyle/>
                    <a:p>
                      <a:r>
                        <a:rPr sz="1200" b="1" i="0">
                          <a:solidFill>
                            <a:srgbClr val="1F2937"/>
                          </a:solidFill>
                          <a:latin typeface="Calibri"/>
                        </a:rPr>
                        <a:t>Forecast + safety stock</a:t>
                      </a:r>
                    </a:p>
                  </a:txBody>
                  <a:tcPr marL="54864" marR="54864" marT="18288" marB="18288" anchor="ctr">
                    <a:solidFill>
                      <a:srgbClr val="E6F4EA"/>
                    </a:solidFill>
                  </a:tcPr>
                </a:tc>
                <a:tc>
                  <a:txBody>
                    <a:bodyPr wrap="square"/>
                    <a:lstStyle/>
                    <a:p>
                      <a:pPr algn="ctr"/>
                      <a:r>
                        <a:rPr sz="1200" b="1" i="0">
                          <a:solidFill>
                            <a:srgbClr val="1F2937"/>
                          </a:solidFill>
                          <a:latin typeface="Calibri"/>
                        </a:rPr>
                        <a:t>₹87.8 lakh</a:t>
                      </a:r>
                    </a:p>
                  </a:txBody>
                  <a:tcPr marL="54864" marR="54864" marT="18288" marB="18288" anchor="ctr">
                    <a:solidFill>
                      <a:srgbClr val="E6F4EA"/>
                    </a:solidFill>
                  </a:tcPr>
                </a:tc>
                <a:tc>
                  <a:txBody>
                    <a:bodyPr wrap="square"/>
                    <a:lstStyle/>
                    <a:p>
                      <a:pPr algn="ctr"/>
                      <a:r>
                        <a:rPr sz="1200" b="1" i="0">
                          <a:solidFill>
                            <a:srgbClr val="1F2937"/>
                          </a:solidFill>
                          <a:latin typeface="Calibri"/>
                        </a:rPr>
                        <a:t>97.9%</a:t>
                      </a:r>
                    </a:p>
                  </a:txBody>
                  <a:tcPr marL="54864" marR="54864" marT="18288" marB="18288" anchor="ctr">
                    <a:solidFill>
                      <a:srgbClr val="E6F4EA"/>
                    </a:solidFill>
                  </a:tcPr>
                </a:tc>
                <a:tc>
                  <a:txBody>
                    <a:bodyPr wrap="square"/>
                    <a:lstStyle/>
                    <a:p>
                      <a:pPr algn="ctr"/>
                      <a:r>
                        <a:rPr sz="1200" b="1" i="0">
                          <a:solidFill>
                            <a:srgbClr val="1F2937"/>
                          </a:solidFill>
                          <a:latin typeface="Calibri"/>
                        </a:rPr>
                        <a:t>₹2.9 lakh</a:t>
                      </a:r>
                    </a:p>
                  </a:txBody>
                  <a:tcPr marL="54864" marR="54864" marT="18288" marB="18288" anchor="ctr">
                    <a:solidFill>
                      <a:srgbClr val="E6F4EA"/>
                    </a:solidFill>
                  </a:tcPr>
                </a:tc>
                <a:tc>
                  <a:txBody>
                    <a:bodyPr wrap="square"/>
                    <a:lstStyle/>
                    <a:p>
                      <a:pPr algn="ctr"/>
                      <a:r>
                        <a:rPr sz="1200" b="1" i="0">
                          <a:solidFill>
                            <a:srgbClr val="1F2937"/>
                          </a:solidFill>
                          <a:latin typeface="Calibri"/>
                        </a:rPr>
                        <a:t>₹6.1 lakh</a:t>
                      </a:r>
                    </a:p>
                  </a:txBody>
                  <a:tcPr marL="54864" marR="54864" marT="18288" marB="18288" anchor="ctr">
                    <a:solidFill>
                      <a:srgbClr val="E6F4EA"/>
                    </a:solidFill>
                  </a:tcPr>
                </a:tc>
              </a:tr>
              <a:tr h="365760">
                <a:tc>
                  <a:txBody>
                    <a:bodyPr wrap="square"/>
                    <a:lstStyle/>
                    <a:p>
                      <a:r>
                        <a:rPr sz="1200" b="0" i="0">
                          <a:solidFill>
                            <a:srgbClr val="1F2937"/>
                          </a:solidFill>
                          <a:latin typeface="Calibri"/>
                        </a:rPr>
                        <a:t>Newsvendor</a:t>
                      </a:r>
                    </a:p>
                  </a:txBody>
                  <a:tcPr marL="54864" marR="54864" marT="18288" marB="18288" anchor="ctr">
                    <a:solidFill>
                      <a:srgbClr val="F1F5F9"/>
                    </a:solidFill>
                  </a:tcPr>
                </a:tc>
                <a:tc>
                  <a:txBody>
                    <a:bodyPr wrap="square"/>
                    <a:lstStyle/>
                    <a:p>
                      <a:pPr algn="ctr"/>
                      <a:r>
                        <a:rPr sz="1200" b="0" i="0">
                          <a:solidFill>
                            <a:srgbClr val="1F2937"/>
                          </a:solidFill>
                          <a:latin typeface="Calibri"/>
                        </a:rPr>
                        <a:t>₹86.2 lakh</a:t>
                      </a:r>
                    </a:p>
                  </a:txBody>
                  <a:tcPr marL="54864" marR="54864" marT="18288" marB="18288" anchor="ctr">
                    <a:solidFill>
                      <a:srgbClr val="F1F5F9"/>
                    </a:solidFill>
                  </a:tcPr>
                </a:tc>
                <a:tc>
                  <a:txBody>
                    <a:bodyPr wrap="square"/>
                    <a:lstStyle/>
                    <a:p>
                      <a:pPr algn="ctr"/>
                      <a:r>
                        <a:rPr sz="1200" b="0" i="0">
                          <a:solidFill>
                            <a:srgbClr val="1F2937"/>
                          </a:solidFill>
                          <a:latin typeface="Calibri"/>
                        </a:rPr>
                        <a:t>98.0%</a:t>
                      </a:r>
                    </a:p>
                  </a:txBody>
                  <a:tcPr marL="54864" marR="54864" marT="18288" marB="18288" anchor="ctr">
                    <a:solidFill>
                      <a:srgbClr val="F1F5F9"/>
                    </a:solidFill>
                  </a:tcPr>
                </a:tc>
                <a:tc>
                  <a:txBody>
                    <a:bodyPr wrap="square"/>
                    <a:lstStyle/>
                    <a:p>
                      <a:pPr algn="ctr"/>
                      <a:r>
                        <a:rPr sz="1200" b="0" i="0">
                          <a:solidFill>
                            <a:srgbClr val="1F2937"/>
                          </a:solidFill>
                          <a:latin typeface="Calibri"/>
                        </a:rPr>
                        <a:t>₹3.4 lakh</a:t>
                      </a:r>
                    </a:p>
                  </a:txBody>
                  <a:tcPr marL="54864" marR="54864" marT="18288" marB="18288" anchor="ctr">
                    <a:solidFill>
                      <a:srgbClr val="F1F5F9"/>
                    </a:solidFill>
                  </a:tcPr>
                </a:tc>
                <a:tc>
                  <a:txBody>
                    <a:bodyPr wrap="square"/>
                    <a:lstStyle/>
                    <a:p>
                      <a:pPr algn="ctr"/>
                      <a:r>
                        <a:rPr sz="1200" b="0" i="0">
                          <a:solidFill>
                            <a:srgbClr val="1F2937"/>
                          </a:solidFill>
                          <a:latin typeface="Calibri"/>
                        </a:rPr>
                        <a:t>₹7.4 lakh</a:t>
                      </a:r>
                    </a:p>
                  </a:txBody>
                  <a:tcPr marL="54864" marR="54864" marT="18288" marB="18288" anchor="ctr">
                    <a:solidFill>
                      <a:srgbClr val="F1F5F9"/>
                    </a:solidFill>
                  </a:tcPr>
                </a:tc>
              </a:tr>
              <a:tr h="365760">
                <a:tc>
                  <a:txBody>
                    <a:bodyPr wrap="square"/>
                    <a:lstStyle/>
                    <a:p>
                      <a:r>
                        <a:rPr sz="1200" b="1" i="0">
                          <a:solidFill>
                            <a:srgbClr val="1F2937"/>
                          </a:solidFill>
                          <a:latin typeface="Calibri"/>
                        </a:rPr>
                        <a:t>RL agent, tuned, 2M</a:t>
                      </a:r>
                    </a:p>
                  </a:txBody>
                  <a:tcPr marL="54864" marR="54864" marT="18288" marB="18288" anchor="ctr">
                    <a:solidFill>
                      <a:srgbClr val="E6F4EA"/>
                    </a:solidFill>
                  </a:tcPr>
                </a:tc>
                <a:tc>
                  <a:txBody>
                    <a:bodyPr wrap="square"/>
                    <a:lstStyle/>
                    <a:p>
                      <a:pPr algn="ctr"/>
                      <a:r>
                        <a:rPr sz="1200" b="1" i="0">
                          <a:solidFill>
                            <a:srgbClr val="1F2937"/>
                          </a:solidFill>
                          <a:latin typeface="Calibri"/>
                        </a:rPr>
                        <a:t>₹79.7 lakh</a:t>
                      </a:r>
                    </a:p>
                  </a:txBody>
                  <a:tcPr marL="54864" marR="54864" marT="18288" marB="18288" anchor="ctr">
                    <a:solidFill>
                      <a:srgbClr val="E6F4EA"/>
                    </a:solidFill>
                  </a:tcPr>
                </a:tc>
                <a:tc>
                  <a:txBody>
                    <a:bodyPr wrap="square"/>
                    <a:lstStyle/>
                    <a:p>
                      <a:pPr algn="ctr"/>
                      <a:r>
                        <a:rPr sz="1200" b="1" i="0">
                          <a:solidFill>
                            <a:srgbClr val="1F2937"/>
                          </a:solidFill>
                          <a:latin typeface="Calibri"/>
                        </a:rPr>
                        <a:t>95.1%</a:t>
                      </a:r>
                    </a:p>
                  </a:txBody>
                  <a:tcPr marL="54864" marR="54864" marT="18288" marB="18288" anchor="ctr">
                    <a:solidFill>
                      <a:srgbClr val="E6F4EA"/>
                    </a:solidFill>
                  </a:tcPr>
                </a:tc>
                <a:tc>
                  <a:txBody>
                    <a:bodyPr wrap="square"/>
                    <a:lstStyle/>
                    <a:p>
                      <a:pPr algn="ctr"/>
                      <a:r>
                        <a:rPr sz="1200" b="1" i="0">
                          <a:solidFill>
                            <a:srgbClr val="1F2937"/>
                          </a:solidFill>
                          <a:latin typeface="Calibri"/>
                        </a:rPr>
                        <a:t>₹5.8 lakh</a:t>
                      </a:r>
                    </a:p>
                  </a:txBody>
                  <a:tcPr marL="54864" marR="54864" marT="18288" marB="18288" anchor="ctr">
                    <a:solidFill>
                      <a:srgbClr val="E6F4EA"/>
                    </a:solidFill>
                  </a:tcPr>
                </a:tc>
                <a:tc>
                  <a:txBody>
                    <a:bodyPr wrap="square"/>
                    <a:lstStyle/>
                    <a:p>
                      <a:pPr algn="ctr"/>
                      <a:r>
                        <a:rPr sz="1200" b="1" i="0">
                          <a:solidFill>
                            <a:srgbClr val="1F2937"/>
                          </a:solidFill>
                          <a:latin typeface="Calibri"/>
                        </a:rPr>
                        <a:t>₹9.2 lakh</a:t>
                      </a:r>
                    </a:p>
                  </a:txBody>
                  <a:tcPr marL="54864" marR="54864" marT="18288" marB="18288" anchor="ctr">
                    <a:solidFill>
                      <a:srgbClr val="E6F4EA"/>
                    </a:solidFill>
                  </a:tcPr>
                </a:tc>
              </a:tr>
              <a:tr h="365760">
                <a:tc>
                  <a:txBody>
                    <a:bodyPr wrap="square"/>
                    <a:lstStyle/>
                    <a:p>
                      <a:r>
                        <a:rPr sz="1200" b="0" i="0">
                          <a:solidFill>
                            <a:srgbClr val="1F2937"/>
                          </a:solidFill>
                          <a:latin typeface="Calibri"/>
                        </a:rPr>
                        <a:t>EOQ + reorder point</a:t>
                      </a:r>
                    </a:p>
                  </a:txBody>
                  <a:tcPr marL="54864" marR="54864" marT="18288" marB="18288" anchor="ctr">
                    <a:solidFill>
                      <a:srgbClr val="F1F5F9"/>
                    </a:solidFill>
                  </a:tcPr>
                </a:tc>
                <a:tc>
                  <a:txBody>
                    <a:bodyPr wrap="square"/>
                    <a:lstStyle/>
                    <a:p>
                      <a:pPr algn="ctr"/>
                      <a:r>
                        <a:rPr sz="1200" b="0" i="0">
                          <a:solidFill>
                            <a:srgbClr val="1F2937"/>
                          </a:solidFill>
                          <a:latin typeface="Calibri"/>
                        </a:rPr>
                        <a:t>₹75.9 lakh</a:t>
                      </a:r>
                    </a:p>
                  </a:txBody>
                  <a:tcPr marL="54864" marR="54864" marT="18288" marB="18288" anchor="ctr">
                    <a:solidFill>
                      <a:srgbClr val="F1F5F9"/>
                    </a:solidFill>
                  </a:tcPr>
                </a:tc>
                <a:tc>
                  <a:txBody>
                    <a:bodyPr wrap="square"/>
                    <a:lstStyle/>
                    <a:p>
                      <a:pPr algn="ctr"/>
                      <a:r>
                        <a:rPr sz="1200" b="0" i="0">
                          <a:solidFill>
                            <a:srgbClr val="1F2937"/>
                          </a:solidFill>
                          <a:latin typeface="Calibri"/>
                        </a:rPr>
                        <a:t>96.8%</a:t>
                      </a:r>
                    </a:p>
                  </a:txBody>
                  <a:tcPr marL="54864" marR="54864" marT="18288" marB="18288" anchor="ctr">
                    <a:solidFill>
                      <a:srgbClr val="F1F5F9"/>
                    </a:solidFill>
                  </a:tcPr>
                </a:tc>
                <a:tc>
                  <a:txBody>
                    <a:bodyPr wrap="square"/>
                    <a:lstStyle/>
                    <a:p>
                      <a:pPr algn="ctr"/>
                      <a:r>
                        <a:rPr sz="1200" b="0" i="0">
                          <a:solidFill>
                            <a:srgbClr val="1F2937"/>
                          </a:solidFill>
                          <a:latin typeface="Calibri"/>
                        </a:rPr>
                        <a:t>₹2.8 lakh</a:t>
                      </a:r>
                    </a:p>
                  </a:txBody>
                  <a:tcPr marL="54864" marR="54864" marT="18288" marB="18288" anchor="ctr">
                    <a:solidFill>
                      <a:srgbClr val="F1F5F9"/>
                    </a:solidFill>
                  </a:tcPr>
                </a:tc>
                <a:tc>
                  <a:txBody>
                    <a:bodyPr wrap="square"/>
                    <a:lstStyle/>
                    <a:p>
                      <a:pPr algn="ctr"/>
                      <a:r>
                        <a:rPr sz="1200" b="0" i="0">
                          <a:solidFill>
                            <a:srgbClr val="1F2937"/>
                          </a:solidFill>
                          <a:latin typeface="Calibri"/>
                        </a:rPr>
                        <a:t>₹10.5 lakh</a:t>
                      </a:r>
                    </a:p>
                  </a:txBody>
                  <a:tcPr marL="54864" marR="54864" marT="18288" marB="18288" anchor="ctr">
                    <a:solidFill>
                      <a:srgbClr val="F1F5F9"/>
                    </a:solidFill>
                  </a:tcPr>
                </a:tc>
              </a:tr>
              <a:tr h="365760">
                <a:tc>
                  <a:txBody>
                    <a:bodyPr wrap="square"/>
                    <a:lstStyle/>
                    <a:p>
                      <a:r>
                        <a:rPr sz="1200" b="0" i="0">
                          <a:solidFill>
                            <a:srgbClr val="1F2937"/>
                          </a:solidFill>
                          <a:latin typeface="Calibri"/>
                        </a:rPr>
                        <a:t>RL agent, untuned, 1M</a:t>
                      </a:r>
                    </a:p>
                  </a:txBody>
                  <a:tcPr marL="54864" marR="54864" marT="18288" marB="18288" anchor="ctr">
                    <a:solidFill>
                      <a:srgbClr val="FFFFFF"/>
                    </a:solidFill>
                  </a:tcPr>
                </a:tc>
                <a:tc>
                  <a:txBody>
                    <a:bodyPr wrap="square"/>
                    <a:lstStyle/>
                    <a:p>
                      <a:pPr algn="ctr"/>
                      <a:r>
                        <a:rPr sz="1200" b="0" i="0">
                          <a:solidFill>
                            <a:srgbClr val="1F2937"/>
                          </a:solidFill>
                          <a:latin typeface="Calibri"/>
                        </a:rPr>
                        <a:t>₹74.8 lakh</a:t>
                      </a:r>
                    </a:p>
                  </a:txBody>
                  <a:tcPr marL="54864" marR="54864" marT="18288" marB="18288" anchor="ctr">
                    <a:solidFill>
                      <a:srgbClr val="FFFFFF"/>
                    </a:solidFill>
                  </a:tcPr>
                </a:tc>
                <a:tc>
                  <a:txBody>
                    <a:bodyPr wrap="square"/>
                    <a:lstStyle/>
                    <a:p>
                      <a:pPr algn="ctr"/>
                      <a:r>
                        <a:rPr sz="1200" b="0" i="0">
                          <a:solidFill>
                            <a:srgbClr val="1F2937"/>
                          </a:solidFill>
                          <a:latin typeface="Calibri"/>
                        </a:rPr>
                        <a:t>94.3%</a:t>
                      </a:r>
                    </a:p>
                  </a:txBody>
                  <a:tcPr marL="54864" marR="54864" marT="18288" marB="18288" anchor="ctr">
                    <a:solidFill>
                      <a:srgbClr val="FFFFFF"/>
                    </a:solidFill>
                  </a:tcPr>
                </a:tc>
                <a:tc>
                  <a:txBody>
                    <a:bodyPr wrap="square"/>
                    <a:lstStyle/>
                    <a:p>
                      <a:pPr algn="ctr"/>
                      <a:r>
                        <a:rPr sz="1200" b="0" i="0">
                          <a:solidFill>
                            <a:srgbClr val="1F2937"/>
                          </a:solidFill>
                          <a:latin typeface="Calibri"/>
                        </a:rPr>
                        <a:t>₹7.4 lakh</a:t>
                      </a:r>
                    </a:p>
                  </a:txBody>
                  <a:tcPr marL="54864" marR="54864" marT="18288" marB="18288" anchor="ctr">
                    <a:solidFill>
                      <a:srgbClr val="FFFFFF"/>
                    </a:solidFill>
                  </a:tcPr>
                </a:tc>
                <a:tc>
                  <a:txBody>
                    <a:bodyPr wrap="square"/>
                    <a:lstStyle/>
                    <a:p>
                      <a:pPr algn="ctr"/>
                      <a:r>
                        <a:rPr sz="1200" b="0" i="0">
                          <a:solidFill>
                            <a:srgbClr val="1F2937"/>
                          </a:solidFill>
                          <a:latin typeface="Calibri"/>
                        </a:rPr>
                        <a:t>₹11.0 lakh</a:t>
                      </a:r>
                    </a:p>
                  </a:txBody>
                  <a:tcPr marL="54864" marR="54864" marT="18288" marB="18288" anchor="ctr">
                    <a:solidFill>
                      <a:srgbClr val="FFFFFF"/>
                    </a:solidFill>
                  </a:tcPr>
                </a:tc>
              </a:tr>
              <a:tr h="365760">
                <a:tc>
                  <a:txBody>
                    <a:bodyPr wrap="square"/>
                    <a:lstStyle/>
                    <a:p>
                      <a:r>
                        <a:rPr sz="1200" b="0" i="0">
                          <a:solidFill>
                            <a:srgbClr val="1F2937"/>
                          </a:solidFill>
                          <a:latin typeface="Calibri"/>
                        </a:rPr>
                        <a:t>(s, S) policy</a:t>
                      </a:r>
                    </a:p>
                  </a:txBody>
                  <a:tcPr marL="54864" marR="54864" marT="18288" marB="18288" anchor="ctr">
                    <a:solidFill>
                      <a:srgbClr val="F1F5F9"/>
                    </a:solidFill>
                  </a:tcPr>
                </a:tc>
                <a:tc>
                  <a:txBody>
                    <a:bodyPr wrap="square"/>
                    <a:lstStyle/>
                    <a:p>
                      <a:pPr algn="ctr"/>
                      <a:r>
                        <a:rPr sz="1200" b="0" i="0">
                          <a:solidFill>
                            <a:srgbClr val="1F2937"/>
                          </a:solidFill>
                          <a:latin typeface="Calibri"/>
                        </a:rPr>
                        <a:t>₹73.9 lakh</a:t>
                      </a:r>
                    </a:p>
                  </a:txBody>
                  <a:tcPr marL="54864" marR="54864" marT="18288" marB="18288" anchor="ctr">
                    <a:solidFill>
                      <a:srgbClr val="F1F5F9"/>
                    </a:solidFill>
                  </a:tcPr>
                </a:tc>
                <a:tc>
                  <a:txBody>
                    <a:bodyPr wrap="square"/>
                    <a:lstStyle/>
                    <a:p>
                      <a:pPr algn="ctr"/>
                      <a:r>
                        <a:rPr sz="1200" b="0" i="0">
                          <a:solidFill>
                            <a:srgbClr val="1F2937"/>
                          </a:solidFill>
                          <a:latin typeface="Calibri"/>
                        </a:rPr>
                        <a:t>94.9%</a:t>
                      </a:r>
                    </a:p>
                  </a:txBody>
                  <a:tcPr marL="54864" marR="54864" marT="18288" marB="18288" anchor="ctr">
                    <a:solidFill>
                      <a:srgbClr val="F1F5F9"/>
                    </a:solidFill>
                  </a:tcPr>
                </a:tc>
                <a:tc>
                  <a:txBody>
                    <a:bodyPr wrap="square"/>
                    <a:lstStyle/>
                    <a:p>
                      <a:pPr algn="ctr"/>
                      <a:r>
                        <a:rPr sz="1200" b="0" i="0">
                          <a:solidFill>
                            <a:srgbClr val="1F2937"/>
                          </a:solidFill>
                          <a:latin typeface="Calibri"/>
                        </a:rPr>
                        <a:t>₹3.0 lakh</a:t>
                      </a:r>
                    </a:p>
                  </a:txBody>
                  <a:tcPr marL="54864" marR="54864" marT="18288" marB="18288" anchor="ctr">
                    <a:solidFill>
                      <a:srgbClr val="F1F5F9"/>
                    </a:solidFill>
                  </a:tcPr>
                </a:tc>
                <a:tc>
                  <a:txBody>
                    <a:bodyPr wrap="square"/>
                    <a:lstStyle/>
                    <a:p>
                      <a:pPr algn="ctr"/>
                      <a:r>
                        <a:rPr sz="1200" b="0" i="0">
                          <a:solidFill>
                            <a:srgbClr val="1F2937"/>
                          </a:solidFill>
                          <a:latin typeface="Calibri"/>
                        </a:rPr>
                        <a:t>₹16.5 lakh</a:t>
                      </a:r>
                    </a:p>
                  </a:txBody>
                  <a:tcPr marL="54864" marR="54864" marT="18288" marB="18288" anchor="ctr">
                    <a:solidFill>
                      <a:srgbClr val="F1F5F9"/>
                    </a:solidFill>
                  </a:tcPr>
                </a:tc>
              </a:tr>
              <a:tr h="365760">
                <a:tc>
                  <a:txBody>
                    <a:bodyPr wrap="square"/>
                    <a:lstStyle/>
                    <a:p>
                      <a:r>
                        <a:rPr sz="1200" b="0" i="0">
                          <a:solidFill>
                            <a:srgbClr val="1F2937"/>
                          </a:solidFill>
                          <a:latin typeface="Calibri"/>
                        </a:rPr>
                        <a:t>Constant order (no system)</a:t>
                      </a:r>
                    </a:p>
                  </a:txBody>
                  <a:tcPr marL="54864" marR="54864" marT="18288" marB="18288" anchor="ctr">
                    <a:solidFill>
                      <a:srgbClr val="FFFFFF"/>
                    </a:solidFill>
                  </a:tcPr>
                </a:tc>
                <a:tc>
                  <a:txBody>
                    <a:bodyPr wrap="square"/>
                    <a:lstStyle/>
                    <a:p>
                      <a:pPr algn="ctr"/>
                      <a:r>
                        <a:rPr sz="1200" b="0" i="0">
                          <a:solidFill>
                            <a:srgbClr val="1F2937"/>
                          </a:solidFill>
                          <a:latin typeface="Calibri"/>
                        </a:rPr>
                        <a:t>₹53.3 lakh</a:t>
                      </a:r>
                    </a:p>
                  </a:txBody>
                  <a:tcPr marL="54864" marR="54864" marT="18288" marB="18288" anchor="ctr">
                    <a:solidFill>
                      <a:srgbClr val="FFFFFF"/>
                    </a:solidFill>
                  </a:tcPr>
                </a:tc>
                <a:tc>
                  <a:txBody>
                    <a:bodyPr wrap="square"/>
                    <a:lstStyle/>
                    <a:p>
                      <a:pPr algn="ctr"/>
                      <a:r>
                        <a:rPr sz="1200" b="0" i="0">
                          <a:solidFill>
                            <a:srgbClr val="1F2937"/>
                          </a:solidFill>
                          <a:latin typeface="Calibri"/>
                        </a:rPr>
                        <a:t>92.3%</a:t>
                      </a:r>
                    </a:p>
                  </a:txBody>
                  <a:tcPr marL="54864" marR="54864" marT="18288" marB="18288" anchor="ctr">
                    <a:solidFill>
                      <a:srgbClr val="FFFFFF"/>
                    </a:solidFill>
                  </a:tcPr>
                </a:tc>
                <a:tc>
                  <a:txBody>
                    <a:bodyPr wrap="square"/>
                    <a:lstStyle/>
                    <a:p>
                      <a:pPr algn="ctr"/>
                      <a:r>
                        <a:rPr sz="1200" b="0" i="0">
                          <a:solidFill>
                            <a:srgbClr val="1F2937"/>
                          </a:solidFill>
                          <a:latin typeface="Calibri"/>
                        </a:rPr>
                        <a:t>₹3.5 lakh</a:t>
                      </a:r>
                    </a:p>
                  </a:txBody>
                  <a:tcPr marL="54864" marR="54864" marT="18288" marB="18288" anchor="ctr">
                    <a:solidFill>
                      <a:srgbClr val="FFFFFF"/>
                    </a:solidFill>
                  </a:tcPr>
                </a:tc>
                <a:tc>
                  <a:txBody>
                    <a:bodyPr wrap="square"/>
                    <a:lstStyle/>
                    <a:p>
                      <a:pPr algn="ctr"/>
                      <a:r>
                        <a:rPr sz="1200" b="0" i="0">
                          <a:solidFill>
                            <a:srgbClr val="1F2937"/>
                          </a:solidFill>
                          <a:latin typeface="Calibri"/>
                        </a:rPr>
                        <a:t>₹29.0 lakh</a:t>
                      </a:r>
                    </a:p>
                  </a:txBody>
                  <a:tcPr marL="54864" marR="54864" marT="18288" marB="18288" anchor="ctr">
                    <a:solidFill>
                      <a:srgbClr val="FFFFFF"/>
                    </a:solidFill>
                  </a:tcPr>
                </a:tc>
              </a:tr>
              <a:tr h="365760">
                <a:tc>
                  <a:txBody>
                    <a:bodyPr wrap="square"/>
                    <a:lstStyle/>
                    <a:p>
                      <a:r>
                        <a:rPr sz="1200" b="0" i="0">
                          <a:solidFill>
                            <a:srgbClr val="1F2937"/>
                          </a:solidFill>
                          <a:latin typeface="Calibri"/>
                        </a:rPr>
                        <a:t>RL agent, no masking</a:t>
                      </a:r>
                    </a:p>
                  </a:txBody>
                  <a:tcPr marL="54864" marR="54864" marT="18288" marB="18288" anchor="ctr">
                    <a:solidFill>
                      <a:srgbClr val="F1F5F9"/>
                    </a:solidFill>
                  </a:tcPr>
                </a:tc>
                <a:tc>
                  <a:txBody>
                    <a:bodyPr wrap="square"/>
                    <a:lstStyle/>
                    <a:p>
                      <a:pPr algn="ctr"/>
                      <a:r>
                        <a:rPr sz="1200" b="0" i="0">
                          <a:solidFill>
                            <a:srgbClr val="1F2937"/>
                          </a:solidFill>
                          <a:latin typeface="Calibri"/>
                        </a:rPr>
                        <a:t>₹23.7 lakh</a:t>
                      </a:r>
                    </a:p>
                  </a:txBody>
                  <a:tcPr marL="54864" marR="54864" marT="18288" marB="18288" anchor="ctr">
                    <a:solidFill>
                      <a:srgbClr val="F1F5F9"/>
                    </a:solidFill>
                  </a:tcPr>
                </a:tc>
                <a:tc>
                  <a:txBody>
                    <a:bodyPr wrap="square"/>
                    <a:lstStyle/>
                    <a:p>
                      <a:pPr algn="ctr"/>
                      <a:r>
                        <a:rPr sz="1200" b="0" i="0">
                          <a:solidFill>
                            <a:srgbClr val="1F2937"/>
                          </a:solidFill>
                          <a:latin typeface="Calibri"/>
                        </a:rPr>
                        <a:t>94.8%</a:t>
                      </a:r>
                    </a:p>
                  </a:txBody>
                  <a:tcPr marL="54864" marR="54864" marT="18288" marB="18288" anchor="ctr">
                    <a:solidFill>
                      <a:srgbClr val="F1F5F9"/>
                    </a:solidFill>
                  </a:tcPr>
                </a:tc>
                <a:tc>
                  <a:txBody>
                    <a:bodyPr wrap="square"/>
                    <a:lstStyle/>
                    <a:p>
                      <a:pPr algn="ctr"/>
                      <a:r>
                        <a:rPr sz="1200" b="0" i="0">
                          <a:solidFill>
                            <a:srgbClr val="1F2937"/>
                          </a:solidFill>
                          <a:latin typeface="Calibri"/>
                        </a:rPr>
                        <a:t>₹14.7 lakh</a:t>
                      </a:r>
                    </a:p>
                  </a:txBody>
                  <a:tcPr marL="54864" marR="54864" marT="18288" marB="18288" anchor="ctr">
                    <a:solidFill>
                      <a:srgbClr val="F1F5F9"/>
                    </a:solidFill>
                  </a:tcPr>
                </a:tc>
                <a:tc>
                  <a:txBody>
                    <a:bodyPr wrap="square"/>
                    <a:lstStyle/>
                    <a:p>
                      <a:pPr algn="ctr"/>
                      <a:r>
                        <a:rPr sz="1200" b="0" i="0">
                          <a:solidFill>
                            <a:srgbClr val="1F2937"/>
                          </a:solidFill>
                          <a:latin typeface="Calibri"/>
                        </a:rPr>
                        <a:t>₹11.3 lakh</a:t>
                      </a:r>
                    </a:p>
                  </a:txBody>
                  <a:tcPr marL="54864" marR="54864" marT="18288" marB="18288" anchor="ctr">
                    <a:solidFill>
                      <a:srgbClr val="F1F5F9"/>
                    </a:solidFill>
                  </a:tcPr>
                </a:tc>
              </a:tr>
            </a:tbl>
          </a:graphicData>
        </a:graphic>
      </p:graphicFrame>
      <p:pic>
        <p:nvPicPr>
          <p:cNvPr id="21" name="Picture 20" descr="05_policy_comparison.png"/>
          <p:cNvPicPr>
            <a:picLocks noChangeAspect="1"/>
          </p:cNvPicPr>
          <p:nvPr/>
        </p:nvPicPr>
        <p:blipFill>
          <a:blip r:embed="rId2"/>
          <a:stretch>
            <a:fillRect/>
          </a:stretch>
        </p:blipFill>
        <p:spPr>
          <a:xfrm>
            <a:off x="6903720" y="1371600"/>
            <a:ext cx="4873752" cy="2473798"/>
          </a:xfrm>
          <a:prstGeom prst="rect">
            <a:avLst/>
          </a:prstGeom>
          <a:ln w="12700">
            <a:solidFill>
              <a:srgbClr val="CBD5E1"/>
            </a:solidFill>
          </a:ln>
        </p:spPr>
      </p:pic>
      <p:sp>
        <p:nvSpPr>
          <p:cNvPr id="22" name="Rounded Rectangle 21"/>
          <p:cNvSpPr/>
          <p:nvPr/>
        </p:nvSpPr>
        <p:spPr>
          <a:xfrm>
            <a:off x="411480" y="4937760"/>
            <a:ext cx="2926080" cy="1234440"/>
          </a:xfrm>
          <a:prstGeom prst="roundRect">
            <a:avLst>
              <a:gd name="adj" fmla="val 12000"/>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4983480"/>
            <a:ext cx="2779776" cy="1143000"/>
          </a:xfrm>
          <a:prstGeom prst="rect">
            <a:avLst/>
          </a:prstGeom>
          <a:noFill/>
        </p:spPr>
        <p:txBody>
          <a:bodyPr wrap="square" anchor="ctr" lIns="45720" rIns="45720" tIns="27432" bIns="27432">
            <a:spAutoFit/>
          </a:bodyPr>
          <a:lstStyle/>
          <a:p>
            <a:pPr algn="ctr">
              <a:spcAft>
                <a:spcPts val="100"/>
              </a:spcAft>
            </a:pPr>
            <a:r>
              <a:rPr sz="3200" b="1" i="0">
                <a:solidFill>
                  <a:srgbClr val="FFFFFF"/>
                </a:solidFill>
                <a:latin typeface="Calibri"/>
              </a:rPr>
              <a:t>90.8%</a:t>
            </a:r>
          </a:p>
          <a:p>
            <a:pPr algn="ctr">
              <a:spcAft>
                <a:spcPts val="400"/>
              </a:spcAft>
            </a:pPr>
            <a:r>
              <a:rPr sz="1300" b="0" i="0">
                <a:solidFill>
                  <a:srgbClr val="FFFFFF"/>
                </a:solidFill>
                <a:latin typeface="Calibri"/>
              </a:rPr>
              <a:t>of the best classical profit</a:t>
            </a:r>
          </a:p>
        </p:txBody>
      </p:sp>
      <p:sp>
        <p:nvSpPr>
          <p:cNvPr id="24" name="Rounded Rectangle 23"/>
          <p:cNvSpPr/>
          <p:nvPr/>
        </p:nvSpPr>
        <p:spPr>
          <a:xfrm>
            <a:off x="3611880" y="4937760"/>
            <a:ext cx="2926080" cy="123444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85032" y="4983480"/>
            <a:ext cx="2779776" cy="1143000"/>
          </a:xfrm>
          <a:prstGeom prst="rect">
            <a:avLst/>
          </a:prstGeom>
          <a:noFill/>
        </p:spPr>
        <p:txBody>
          <a:bodyPr wrap="square" anchor="ctr" lIns="45720" rIns="45720" tIns="27432" bIns="27432">
            <a:spAutoFit/>
          </a:bodyPr>
          <a:lstStyle/>
          <a:p>
            <a:pPr algn="ctr">
              <a:spcAft>
                <a:spcPts val="100"/>
              </a:spcAft>
            </a:pPr>
            <a:r>
              <a:rPr sz="2600" b="1" i="0">
                <a:solidFill>
                  <a:srgbClr val="FFFFFF"/>
                </a:solidFill>
                <a:latin typeface="Calibri"/>
              </a:rPr>
              <a:t>−₹8.1 lakh</a:t>
            </a:r>
          </a:p>
          <a:p>
            <a:pPr algn="ctr">
              <a:spcAft>
                <a:spcPts val="400"/>
              </a:spcAft>
            </a:pPr>
            <a:r>
              <a:rPr sz="1300" b="0" i="0">
                <a:solidFill>
                  <a:srgbClr val="FFFFFF"/>
                </a:solidFill>
                <a:latin typeface="Calibri"/>
              </a:rPr>
              <a:t>gap per run, paired t = -6.45</a:t>
            </a:r>
          </a:p>
        </p:txBody>
      </p:sp>
      <p:sp>
        <p:nvSpPr>
          <p:cNvPr id="26" name="TextBox 25"/>
          <p:cNvSpPr txBox="1"/>
          <p:nvPr/>
        </p:nvSpPr>
        <p:spPr>
          <a:xfrm>
            <a:off x="6995160" y="4480560"/>
            <a:ext cx="4782312" cy="1737360"/>
          </a:xfrm>
          <a:prstGeom prst="rect">
            <a:avLst/>
          </a:prstGeom>
          <a:noFill/>
        </p:spPr>
        <p:txBody>
          <a:bodyPr wrap="square" anchor="t" lIns="45720" rIns="45720" tIns="27432" bIns="27432">
            <a:spAutoFit/>
          </a:bodyPr>
          <a:lstStyle/>
          <a:p>
            <a:pPr algn="l">
              <a:spcAft>
                <a:spcPts val="500"/>
              </a:spcAft>
            </a:pPr>
            <a:r>
              <a:rPr sz="1500" b="0" i="0">
                <a:solidFill>
                  <a:srgbClr val="1F2937"/>
                </a:solidFill>
                <a:latin typeface="Calibri"/>
              </a:rPr>
              <a:t>The best classical method beats the tuned agent, and the difference is real (95% CI 5.5–10.6 lakh), not chance. The agent beats two of the four classical methods: EOQ and (s,S).</a:t>
            </a:r>
          </a:p>
          <a:p>
            <a:pPr algn="l">
              <a:spcAft>
                <a:spcPts val="400"/>
              </a:spcAft>
            </a:pPr>
            <a:r>
              <a:rPr sz="1200" b="0" i="0">
                <a:solidFill>
                  <a:srgbClr val="5B6573"/>
                </a:solidFill>
                <a:latin typeface="Calibri"/>
              </a:rPr>
              <a:t>Mean profit per 180-day run, 30 held-out seeds. Rupees at 1 GBP = 105.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Results (2/4): What Each Step Was Worth</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6035040" cy="2011680"/>
        </p:xfrm>
        <a:graphic>
          <a:graphicData uri="http://schemas.openxmlformats.org/drawingml/2006/table">
            <a:tbl>
              <a:tblPr firstRow="1" bandRow="1">
                <a:tableStyleId>{5C22544A-7EE6-4342-B048-85BDC9FD1C3A}</a:tableStyleId>
              </a:tblPr>
              <a:tblGrid>
                <a:gridCol w="2194560"/>
                <a:gridCol w="1188720"/>
                <a:gridCol w="1188720"/>
                <a:gridCol w="1463040"/>
              </a:tblGrid>
              <a:tr h="502920">
                <a:tc>
                  <a:txBody>
                    <a:bodyPr wrap="square"/>
                    <a:lstStyle/>
                    <a:p>
                      <a:pPr algn="l"/>
                      <a:r>
                        <a:rPr sz="1400" b="1" i="0">
                          <a:solidFill>
                            <a:srgbClr val="FFFFFF"/>
                          </a:solidFill>
                          <a:latin typeface="Calibri"/>
                        </a:rPr>
                        <a:t>Step</a:t>
                      </a:r>
                    </a:p>
                  </a:txBody>
                  <a:tcPr marL="54864" marR="54864" marT="18288" marB="18288" anchor="ctr">
                    <a:solidFill>
                      <a:srgbClr val="2E8B57"/>
                    </a:solidFill>
                  </a:tcPr>
                </a:tc>
                <a:tc>
                  <a:txBody>
                    <a:bodyPr wrap="square"/>
                    <a:lstStyle/>
                    <a:p>
                      <a:pPr algn="ctr"/>
                      <a:r>
                        <a:rPr sz="1400" b="1" i="0">
                          <a:solidFill>
                            <a:srgbClr val="FFFFFF"/>
                          </a:solidFill>
                          <a:latin typeface="Calibri"/>
                        </a:rPr>
                        <a:t>Train score</a:t>
                      </a:r>
                    </a:p>
                  </a:txBody>
                  <a:tcPr marL="54864" marR="54864" marT="18288" marB="18288" anchor="ctr">
                    <a:solidFill>
                      <a:srgbClr val="2E8B57"/>
                    </a:solidFill>
                  </a:tcPr>
                </a:tc>
                <a:tc>
                  <a:txBody>
                    <a:bodyPr wrap="square"/>
                    <a:lstStyle/>
                    <a:p>
                      <a:pPr algn="ctr"/>
                      <a:r>
                        <a:rPr sz="1400" b="1" i="0">
                          <a:solidFill>
                            <a:srgbClr val="FFFFFF"/>
                          </a:solidFill>
                          <a:latin typeface="Calibri"/>
                        </a:rPr>
                        <a:t>Test score</a:t>
                      </a:r>
                    </a:p>
                  </a:txBody>
                  <a:tcPr marL="54864" marR="54864" marT="18288" marB="18288" anchor="ctr">
                    <a:solidFill>
                      <a:srgbClr val="2E8B57"/>
                    </a:solidFill>
                  </a:tcPr>
                </a:tc>
                <a:tc>
                  <a:txBody>
                    <a:bodyPr wrap="square"/>
                    <a:lstStyle/>
                    <a:p>
                      <a:pPr algn="ctr"/>
                      <a:r>
                        <a:rPr sz="1400" b="1" i="0">
                          <a:solidFill>
                            <a:srgbClr val="FFFFFF"/>
                          </a:solidFill>
                          <a:latin typeface="Calibri"/>
                        </a:rPr>
                        <a:t>Gap to classical</a:t>
                      </a:r>
                    </a:p>
                  </a:txBody>
                  <a:tcPr marL="54864" marR="54864" marT="18288" marB="18288" anchor="ctr">
                    <a:solidFill>
                      <a:srgbClr val="2E8B57"/>
                    </a:solidFill>
                  </a:tcPr>
                </a:tc>
              </a:tr>
              <a:tr h="502920">
                <a:tc>
                  <a:txBody>
                    <a:bodyPr wrap="square"/>
                    <a:lstStyle/>
                    <a:p>
                      <a:r>
                        <a:rPr sz="1400" b="0" i="0">
                          <a:solidFill>
                            <a:srgbClr val="1F2937"/>
                          </a:solidFill>
                          <a:latin typeface="Calibri"/>
                        </a:rPr>
                        <a:t>PPO, no masking</a:t>
                      </a:r>
                    </a:p>
                  </a:txBody>
                  <a:tcPr marL="54864" marR="54864" marT="18288" marB="18288" anchor="ctr">
                    <a:solidFill>
                      <a:srgbClr val="FFFFFF"/>
                    </a:solidFill>
                  </a:tcPr>
                </a:tc>
                <a:tc>
                  <a:txBody>
                    <a:bodyPr wrap="square"/>
                    <a:lstStyle/>
                    <a:p>
                      <a:pPr algn="ctr"/>
                      <a:r>
                        <a:rPr sz="1400" b="0" i="0">
                          <a:solidFill>
                            <a:srgbClr val="1F2937"/>
                          </a:solidFill>
                          <a:latin typeface="Calibri"/>
                        </a:rPr>
                        <a:t>24.9 lakh</a:t>
                      </a:r>
                    </a:p>
                  </a:txBody>
                  <a:tcPr marL="54864" marR="54864" marT="18288" marB="18288" anchor="ctr">
                    <a:solidFill>
                      <a:srgbClr val="FFFFFF"/>
                    </a:solidFill>
                  </a:tcPr>
                </a:tc>
                <a:tc>
                  <a:txBody>
                    <a:bodyPr wrap="square"/>
                    <a:lstStyle/>
                    <a:p>
                      <a:pPr algn="ctr"/>
                      <a:r>
                        <a:rPr sz="1400" b="0" i="0">
                          <a:solidFill>
                            <a:srgbClr val="1F2937"/>
                          </a:solidFill>
                          <a:latin typeface="Calibri"/>
                        </a:rPr>
                        <a:t>23.7 lakh</a:t>
                      </a:r>
                    </a:p>
                  </a:txBody>
                  <a:tcPr marL="54864" marR="54864" marT="18288" marB="18288" anchor="ctr">
                    <a:solidFill>
                      <a:srgbClr val="FFFFFF"/>
                    </a:solidFill>
                  </a:tcPr>
                </a:tc>
                <a:tc>
                  <a:txBody>
                    <a:bodyPr wrap="square"/>
                    <a:lstStyle/>
                    <a:p>
                      <a:pPr algn="ctr"/>
                      <a:r>
                        <a:rPr sz="1400" b="0" i="0">
                          <a:solidFill>
                            <a:srgbClr val="1F2937"/>
                          </a:solidFill>
                          <a:latin typeface="Calibri"/>
                        </a:rPr>
                        <a:t>−64.1 lakh</a:t>
                      </a:r>
                    </a:p>
                  </a:txBody>
                  <a:tcPr marL="54864" marR="54864" marT="18288" marB="18288" anchor="ctr">
                    <a:solidFill>
                      <a:srgbClr val="FFFFFF"/>
                    </a:solidFill>
                  </a:tcPr>
                </a:tc>
              </a:tr>
              <a:tr h="502920">
                <a:tc>
                  <a:txBody>
                    <a:bodyPr wrap="square"/>
                    <a:lstStyle/>
                    <a:p>
                      <a:r>
                        <a:rPr sz="1400" b="0" i="0">
                          <a:solidFill>
                            <a:srgbClr val="1F2937"/>
                          </a:solidFill>
                          <a:latin typeface="Calibri"/>
                        </a:rPr>
                        <a:t>+ action masking</a:t>
                      </a:r>
                    </a:p>
                  </a:txBody>
                  <a:tcPr marL="54864" marR="54864" marT="18288" marB="18288" anchor="ctr">
                    <a:solidFill>
                      <a:srgbClr val="F1F5F9"/>
                    </a:solidFill>
                  </a:tcPr>
                </a:tc>
                <a:tc>
                  <a:txBody>
                    <a:bodyPr wrap="square"/>
                    <a:lstStyle/>
                    <a:p>
                      <a:pPr algn="ctr"/>
                      <a:r>
                        <a:rPr sz="1400" b="0" i="0">
                          <a:solidFill>
                            <a:srgbClr val="1F2937"/>
                          </a:solidFill>
                          <a:latin typeface="Calibri"/>
                        </a:rPr>
                        <a:t>76.4 lakh</a:t>
                      </a:r>
                    </a:p>
                  </a:txBody>
                  <a:tcPr marL="54864" marR="54864" marT="18288" marB="18288" anchor="ctr">
                    <a:solidFill>
                      <a:srgbClr val="F1F5F9"/>
                    </a:solidFill>
                  </a:tcPr>
                </a:tc>
                <a:tc>
                  <a:txBody>
                    <a:bodyPr wrap="square"/>
                    <a:lstStyle/>
                    <a:p>
                      <a:pPr algn="ctr"/>
                      <a:r>
                        <a:rPr sz="1400" b="0" i="0">
                          <a:solidFill>
                            <a:srgbClr val="1F2937"/>
                          </a:solidFill>
                          <a:latin typeface="Calibri"/>
                        </a:rPr>
                        <a:t>74.8 lakh</a:t>
                      </a:r>
                    </a:p>
                  </a:txBody>
                  <a:tcPr marL="54864" marR="54864" marT="18288" marB="18288" anchor="ctr">
                    <a:solidFill>
                      <a:srgbClr val="F1F5F9"/>
                    </a:solidFill>
                  </a:tcPr>
                </a:tc>
                <a:tc>
                  <a:txBody>
                    <a:bodyPr wrap="square"/>
                    <a:lstStyle/>
                    <a:p>
                      <a:pPr algn="ctr"/>
                      <a:r>
                        <a:rPr sz="1400" b="0" i="0">
                          <a:solidFill>
                            <a:srgbClr val="1F2937"/>
                          </a:solidFill>
                          <a:latin typeface="Calibri"/>
                        </a:rPr>
                        <a:t>−13.0 lakh</a:t>
                      </a:r>
                    </a:p>
                  </a:txBody>
                  <a:tcPr marL="54864" marR="54864" marT="18288" marB="18288" anchor="ctr">
                    <a:solidFill>
                      <a:srgbClr val="F1F5F9"/>
                    </a:solidFill>
                  </a:tcPr>
                </a:tc>
              </a:tr>
              <a:tr h="502920">
                <a:tc>
                  <a:txBody>
                    <a:bodyPr wrap="square"/>
                    <a:lstStyle/>
                    <a:p>
                      <a:r>
                        <a:rPr sz="1400" b="1" i="0">
                          <a:solidFill>
                            <a:srgbClr val="1F2937"/>
                          </a:solidFill>
                          <a:latin typeface="Calibri"/>
                        </a:rPr>
                        <a:t>+ tuning, 2M steps</a:t>
                      </a:r>
                    </a:p>
                  </a:txBody>
                  <a:tcPr marL="54864" marR="54864" marT="18288" marB="18288" anchor="ctr">
                    <a:solidFill>
                      <a:srgbClr val="E6F4EA"/>
                    </a:solidFill>
                  </a:tcPr>
                </a:tc>
                <a:tc>
                  <a:txBody>
                    <a:bodyPr wrap="square"/>
                    <a:lstStyle/>
                    <a:p>
                      <a:pPr algn="ctr"/>
                      <a:r>
                        <a:rPr sz="1400" b="1" i="0">
                          <a:solidFill>
                            <a:srgbClr val="1F2937"/>
                          </a:solidFill>
                          <a:latin typeface="Calibri"/>
                        </a:rPr>
                        <a:t>86.2 lakh</a:t>
                      </a:r>
                    </a:p>
                  </a:txBody>
                  <a:tcPr marL="54864" marR="54864" marT="18288" marB="18288" anchor="ctr">
                    <a:solidFill>
                      <a:srgbClr val="E6F4EA"/>
                    </a:solidFill>
                  </a:tcPr>
                </a:tc>
                <a:tc>
                  <a:txBody>
                    <a:bodyPr wrap="square"/>
                    <a:lstStyle/>
                    <a:p>
                      <a:pPr algn="ctr"/>
                      <a:r>
                        <a:rPr sz="1400" b="1" i="0">
                          <a:solidFill>
                            <a:srgbClr val="1F2937"/>
                          </a:solidFill>
                          <a:latin typeface="Calibri"/>
                        </a:rPr>
                        <a:t>79.7 lakh</a:t>
                      </a:r>
                    </a:p>
                  </a:txBody>
                  <a:tcPr marL="54864" marR="54864" marT="18288" marB="18288" anchor="ctr">
                    <a:solidFill>
                      <a:srgbClr val="E6F4EA"/>
                    </a:solidFill>
                  </a:tcPr>
                </a:tc>
                <a:tc>
                  <a:txBody>
                    <a:bodyPr wrap="square"/>
                    <a:lstStyle/>
                    <a:p>
                      <a:pPr algn="ctr"/>
                      <a:r>
                        <a:rPr sz="1400" b="1" i="0">
                          <a:solidFill>
                            <a:srgbClr val="1F2937"/>
                          </a:solidFill>
                          <a:latin typeface="Calibri"/>
                        </a:rPr>
                        <a:t>−8.1 lakh</a:t>
                      </a:r>
                    </a:p>
                  </a:txBody>
                  <a:tcPr marL="54864" marR="54864" marT="18288" marB="18288" anchor="ctr">
                    <a:solidFill>
                      <a:srgbClr val="E6F4EA"/>
                    </a:solidFill>
                  </a:tcPr>
                </a:tc>
              </a:tr>
            </a:tbl>
          </a:graphicData>
        </a:graphic>
      </p:graphicFrame>
      <p:sp>
        <p:nvSpPr>
          <p:cNvPr id="21" name="TextBox 20"/>
          <p:cNvSpPr txBox="1"/>
          <p:nvPr/>
        </p:nvSpPr>
        <p:spPr>
          <a:xfrm>
            <a:off x="411480" y="3566160"/>
            <a:ext cx="6035040" cy="2743200"/>
          </a:xfrm>
          <a:prstGeom prst="rect">
            <a:avLst/>
          </a:prstGeom>
          <a:noFill/>
        </p:spPr>
        <p:txBody>
          <a:bodyPr wrap="square" anchor="t" lIns="45720" rIns="45720" tIns="27432" bIns="27432">
            <a:spAutoFit/>
          </a:bodyPr>
          <a:lstStyle/>
          <a:p>
            <a:pPr algn="l">
              <a:spcAft>
                <a:spcPts val="800"/>
              </a:spcAft>
            </a:pPr>
            <a:r>
              <a:rPr sz="1600" b="1" i="0">
                <a:solidFill>
                  <a:srgbClr val="D6336C"/>
                </a:solidFill>
                <a:latin typeface="Calibri"/>
              </a:rPr>
              <a:t>•  Action masking: about 3×. </a:t>
            </a:r>
            <a:r>
              <a:rPr sz="1600" b="0" i="0">
                <a:solidFill>
                  <a:srgbClr val="1F2937"/>
                </a:solidFill>
                <a:latin typeface="Calibri"/>
              </a:rPr>
              <a:t>Without it the agent spends most of training discovering that some choices are pointless.</a:t>
            </a:r>
          </a:p>
          <a:p>
            <a:pPr algn="l">
              <a:spcAft>
                <a:spcPts val="800"/>
              </a:spcAft>
            </a:pPr>
            <a:r>
              <a:rPr sz="1600" b="1" i="0">
                <a:solidFill>
                  <a:srgbClr val="1B5E3A"/>
                </a:solidFill>
                <a:latin typeface="Calibri"/>
              </a:rPr>
              <a:t>•  Tuning: closed 38% of what was left. </a:t>
            </a:r>
            <a:r>
              <a:rPr sz="1600" b="0" i="0">
                <a:solidFill>
                  <a:srgbClr val="1F2937"/>
                </a:solidFill>
                <a:latin typeface="Calibri"/>
              </a:rPr>
              <a:t>From a 13.0 to an 8.1 lakh gap.</a:t>
            </a:r>
          </a:p>
          <a:p>
            <a:pPr algn="l">
              <a:spcAft>
                <a:spcPts val="400"/>
              </a:spcAft>
            </a:pPr>
            <a:r>
              <a:rPr sz="1200" b="0" i="0">
                <a:solidFill>
                  <a:srgbClr val="5B6573"/>
                </a:solidFill>
                <a:latin typeface="Calibri"/>
              </a:rPr>
              <a:t>Train scores use checkpoint-selection seeds 900–905; test scores use the held-out seeds 500–529.</a:t>
            </a:r>
          </a:p>
        </p:txBody>
      </p:sp>
      <p:pic>
        <p:nvPicPr>
          <p:cNvPr id="22" name="Picture 21" descr="06_training_curves.png"/>
          <p:cNvPicPr>
            <a:picLocks noChangeAspect="1"/>
          </p:cNvPicPr>
          <p:nvPr/>
        </p:nvPicPr>
        <p:blipFill>
          <a:blip r:embed="rId2"/>
          <a:stretch>
            <a:fillRect/>
          </a:stretch>
        </p:blipFill>
        <p:spPr>
          <a:xfrm>
            <a:off x="6720840" y="1371600"/>
            <a:ext cx="5056632" cy="2442123"/>
          </a:xfrm>
          <a:prstGeom prst="rect">
            <a:avLst/>
          </a:prstGeom>
          <a:ln w="12700">
            <a:solidFill>
              <a:srgbClr val="CBD5E1"/>
            </a:solidFill>
          </a:ln>
        </p:spPr>
      </p:pic>
      <p:sp>
        <p:nvSpPr>
          <p:cNvPr id="23" name="TextBox 22"/>
          <p:cNvSpPr txBox="1"/>
          <p:nvPr/>
        </p:nvSpPr>
        <p:spPr>
          <a:xfrm>
            <a:off x="6720840" y="3841155"/>
            <a:ext cx="5056632"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Learning curves: no masking, masking, tuned (checkpoint seeds)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Results (3/4): Robustness to Unseen Crises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6766557" cy="2514600"/>
        </p:xfrm>
        <a:graphic>
          <a:graphicData uri="http://schemas.openxmlformats.org/drawingml/2006/table">
            <a:tbl>
              <a:tblPr firstRow="1" bandRow="1">
                <a:tableStyleId>{5C22544A-7EE6-4342-B048-85BDC9FD1C3A}</a:tableStyleId>
              </a:tblPr>
              <a:tblGrid>
                <a:gridCol w="3286614"/>
                <a:gridCol w="1256646"/>
                <a:gridCol w="1256646"/>
                <a:gridCol w="966651"/>
              </a:tblGrid>
              <a:tr h="502920">
                <a:tc>
                  <a:txBody>
                    <a:bodyPr wrap="square"/>
                    <a:lstStyle/>
                    <a:p>
                      <a:pPr algn="l"/>
                      <a:r>
                        <a:rPr sz="1400" b="1" i="0">
                          <a:solidFill>
                            <a:srgbClr val="FFFFFF"/>
                          </a:solidFill>
                          <a:latin typeface="Calibri"/>
                        </a:rPr>
                        <a:t>Method</a:t>
                      </a:r>
                    </a:p>
                  </a:txBody>
                  <a:tcPr marL="54864" marR="54864" marT="18288" marB="18288" anchor="ctr">
                    <a:solidFill>
                      <a:srgbClr val="2E8B57"/>
                    </a:solidFill>
                  </a:tcPr>
                </a:tc>
                <a:tc>
                  <a:txBody>
                    <a:bodyPr wrap="square"/>
                    <a:lstStyle/>
                    <a:p>
                      <a:pPr algn="ctr"/>
                      <a:r>
                        <a:rPr sz="1400" b="1" i="0">
                          <a:solidFill>
                            <a:srgbClr val="FFFFFF"/>
                          </a:solidFill>
                          <a:latin typeface="Calibri"/>
                        </a:rPr>
                        <a:t>Calm</a:t>
                      </a:r>
                    </a:p>
                  </a:txBody>
                  <a:tcPr marL="54864" marR="54864" marT="18288" marB="18288" anchor="ctr">
                    <a:solidFill>
                      <a:srgbClr val="2E8B57"/>
                    </a:solidFill>
                  </a:tcPr>
                </a:tc>
                <a:tc>
                  <a:txBody>
                    <a:bodyPr wrap="square"/>
                    <a:lstStyle/>
                    <a:p>
                      <a:pPr algn="ctr"/>
                      <a:r>
                        <a:rPr sz="1400" b="1" i="0">
                          <a:solidFill>
                            <a:srgbClr val="FFFFFF"/>
                          </a:solidFill>
                          <a:latin typeface="Calibri"/>
                        </a:rPr>
                        <a:t>Crisis</a:t>
                      </a:r>
                    </a:p>
                  </a:txBody>
                  <a:tcPr marL="54864" marR="54864" marT="18288" marB="18288" anchor="ctr">
                    <a:solidFill>
                      <a:srgbClr val="2E8B57"/>
                    </a:solidFill>
                  </a:tcPr>
                </a:tc>
                <a:tc>
                  <a:txBody>
                    <a:bodyPr wrap="square"/>
                    <a:lstStyle/>
                    <a:p>
                      <a:pPr algn="ctr"/>
                      <a:r>
                        <a:rPr sz="1400" b="1" i="0">
                          <a:solidFill>
                            <a:srgbClr val="FFFFFF"/>
                          </a:solidFill>
                          <a:latin typeface="Calibri"/>
                        </a:rPr>
                        <a:t>Drop</a:t>
                      </a:r>
                    </a:p>
                  </a:txBody>
                  <a:tcPr marL="54864" marR="54864" marT="18288" marB="18288" anchor="ctr">
                    <a:solidFill>
                      <a:srgbClr val="2E8B57"/>
                    </a:solidFill>
                  </a:tcPr>
                </a:tc>
              </a:tr>
              <a:tr h="502920">
                <a:tc>
                  <a:txBody>
                    <a:bodyPr wrap="square"/>
                    <a:lstStyle/>
                    <a:p>
                      <a:r>
                        <a:rPr sz="1400" b="0" i="0">
                          <a:solidFill>
                            <a:srgbClr val="1F2937"/>
                          </a:solidFill>
                          <a:latin typeface="Calibri"/>
                        </a:rPr>
                        <a:t>Forecast + safety stock</a:t>
                      </a:r>
                    </a:p>
                  </a:txBody>
                  <a:tcPr marL="54864" marR="54864" marT="18288" marB="18288" anchor="ctr">
                    <a:solidFill>
                      <a:srgbClr val="FFFFFF"/>
                    </a:solidFill>
                  </a:tcPr>
                </a:tc>
                <a:tc>
                  <a:txBody>
                    <a:bodyPr wrap="square"/>
                    <a:lstStyle/>
                    <a:p>
                      <a:pPr algn="ctr"/>
                      <a:r>
                        <a:rPr sz="1400" b="0" i="0">
                          <a:solidFill>
                            <a:srgbClr val="1F2937"/>
                          </a:solidFill>
                          <a:latin typeface="Calibri"/>
                        </a:rPr>
                        <a:t>₹87.4 lakh</a:t>
                      </a:r>
                    </a:p>
                  </a:txBody>
                  <a:tcPr marL="54864" marR="54864" marT="18288" marB="18288" anchor="ctr">
                    <a:solidFill>
                      <a:srgbClr val="FFFFFF"/>
                    </a:solidFill>
                  </a:tcPr>
                </a:tc>
                <a:tc>
                  <a:txBody>
                    <a:bodyPr wrap="square"/>
                    <a:lstStyle/>
                    <a:p>
                      <a:pPr algn="ctr"/>
                      <a:r>
                        <a:rPr sz="1400" b="0" i="0">
                          <a:solidFill>
                            <a:srgbClr val="1F2937"/>
                          </a:solidFill>
                          <a:latin typeface="Calibri"/>
                        </a:rPr>
                        <a:t>₹53.7 lakh</a:t>
                      </a:r>
                    </a:p>
                  </a:txBody>
                  <a:tcPr marL="54864" marR="54864" marT="18288" marB="18288" anchor="ctr">
                    <a:solidFill>
                      <a:srgbClr val="FFFFFF"/>
                    </a:solidFill>
                  </a:tcPr>
                </a:tc>
                <a:tc>
                  <a:txBody>
                    <a:bodyPr wrap="square"/>
                    <a:lstStyle/>
                    <a:p>
                      <a:pPr algn="ctr"/>
                      <a:r>
                        <a:rPr sz="1400" b="0" i="0">
                          <a:solidFill>
                            <a:srgbClr val="1F2937"/>
                          </a:solidFill>
                          <a:latin typeface="Calibri"/>
                        </a:rPr>
                        <a:t>-38.6%</a:t>
                      </a:r>
                    </a:p>
                  </a:txBody>
                  <a:tcPr marL="54864" marR="54864" marT="18288" marB="18288" anchor="ctr">
                    <a:solidFill>
                      <a:srgbClr val="FFFFFF"/>
                    </a:solidFill>
                  </a:tcPr>
                </a:tc>
              </a:tr>
              <a:tr h="502920">
                <a:tc>
                  <a:txBody>
                    <a:bodyPr wrap="square"/>
                    <a:lstStyle/>
                    <a:p>
                      <a:r>
                        <a:rPr sz="1400" b="1" i="0">
                          <a:solidFill>
                            <a:srgbClr val="1F2937"/>
                          </a:solidFill>
                          <a:latin typeface="Calibri"/>
                        </a:rPr>
                        <a:t>RL agent, tuned (no crisis training)</a:t>
                      </a:r>
                    </a:p>
                  </a:txBody>
                  <a:tcPr marL="54864" marR="54864" marT="18288" marB="18288" anchor="ctr">
                    <a:solidFill>
                      <a:srgbClr val="E6F4EA"/>
                    </a:solidFill>
                  </a:tcPr>
                </a:tc>
                <a:tc>
                  <a:txBody>
                    <a:bodyPr wrap="square"/>
                    <a:lstStyle/>
                    <a:p>
                      <a:pPr algn="ctr"/>
                      <a:r>
                        <a:rPr sz="1400" b="1" i="0">
                          <a:solidFill>
                            <a:srgbClr val="1F2937"/>
                          </a:solidFill>
                          <a:latin typeface="Calibri"/>
                        </a:rPr>
                        <a:t>₹80.4 lakh</a:t>
                      </a:r>
                    </a:p>
                  </a:txBody>
                  <a:tcPr marL="54864" marR="54864" marT="18288" marB="18288" anchor="ctr">
                    <a:solidFill>
                      <a:srgbClr val="E6F4EA"/>
                    </a:solidFill>
                  </a:tcPr>
                </a:tc>
                <a:tc>
                  <a:txBody>
                    <a:bodyPr wrap="square"/>
                    <a:lstStyle/>
                    <a:p>
                      <a:pPr algn="ctr"/>
                      <a:r>
                        <a:rPr sz="1400" b="1" i="0">
                          <a:solidFill>
                            <a:srgbClr val="1F2937"/>
                          </a:solidFill>
                          <a:latin typeface="Calibri"/>
                        </a:rPr>
                        <a:t>₹50.7 lakh</a:t>
                      </a:r>
                    </a:p>
                  </a:txBody>
                  <a:tcPr marL="54864" marR="54864" marT="18288" marB="18288" anchor="ctr">
                    <a:solidFill>
                      <a:srgbClr val="E6F4EA"/>
                    </a:solidFill>
                  </a:tcPr>
                </a:tc>
                <a:tc>
                  <a:txBody>
                    <a:bodyPr wrap="square"/>
                    <a:lstStyle/>
                    <a:p>
                      <a:pPr algn="ctr"/>
                      <a:r>
                        <a:rPr sz="1400" b="1" i="0">
                          <a:solidFill>
                            <a:srgbClr val="1F2937"/>
                          </a:solidFill>
                          <a:latin typeface="Calibri"/>
                        </a:rPr>
                        <a:t>-37.0%</a:t>
                      </a:r>
                    </a:p>
                  </a:txBody>
                  <a:tcPr marL="54864" marR="54864" marT="18288" marB="18288" anchor="ctr">
                    <a:solidFill>
                      <a:srgbClr val="E6F4EA"/>
                    </a:solidFill>
                  </a:tcPr>
                </a:tc>
              </a:tr>
              <a:tr h="502920">
                <a:tc>
                  <a:txBody>
                    <a:bodyPr wrap="square"/>
                    <a:lstStyle/>
                    <a:p>
                      <a:r>
                        <a:rPr sz="1400" b="0" i="0">
                          <a:solidFill>
                            <a:srgbClr val="1F2937"/>
                          </a:solidFill>
                          <a:latin typeface="Calibri"/>
                        </a:rPr>
                        <a:t>RL agent, untuned (control)</a:t>
                      </a:r>
                    </a:p>
                  </a:txBody>
                  <a:tcPr marL="54864" marR="54864" marT="18288" marB="18288" anchor="ctr">
                    <a:solidFill>
                      <a:srgbClr val="FFFFFF"/>
                    </a:solidFill>
                  </a:tcPr>
                </a:tc>
                <a:tc>
                  <a:txBody>
                    <a:bodyPr wrap="square"/>
                    <a:lstStyle/>
                    <a:p>
                      <a:pPr algn="ctr"/>
                      <a:r>
                        <a:rPr sz="1400" b="0" i="0">
                          <a:solidFill>
                            <a:srgbClr val="1F2937"/>
                          </a:solidFill>
                          <a:latin typeface="Calibri"/>
                        </a:rPr>
                        <a:t>₹73.8 lakh</a:t>
                      </a:r>
                    </a:p>
                  </a:txBody>
                  <a:tcPr marL="54864" marR="54864" marT="18288" marB="18288" anchor="ctr">
                    <a:solidFill>
                      <a:srgbClr val="FFFFFF"/>
                    </a:solidFill>
                  </a:tcPr>
                </a:tc>
                <a:tc>
                  <a:txBody>
                    <a:bodyPr wrap="square"/>
                    <a:lstStyle/>
                    <a:p>
                      <a:pPr algn="ctr"/>
                      <a:r>
                        <a:rPr sz="1400" b="0" i="0">
                          <a:solidFill>
                            <a:srgbClr val="1F2937"/>
                          </a:solidFill>
                          <a:latin typeface="Calibri"/>
                        </a:rPr>
                        <a:t>₹38.8 lakh</a:t>
                      </a:r>
                    </a:p>
                  </a:txBody>
                  <a:tcPr marL="54864" marR="54864" marT="18288" marB="18288" anchor="ctr">
                    <a:solidFill>
                      <a:srgbClr val="FFFFFF"/>
                    </a:solidFill>
                  </a:tcPr>
                </a:tc>
                <a:tc>
                  <a:txBody>
                    <a:bodyPr wrap="square"/>
                    <a:lstStyle/>
                    <a:p>
                      <a:pPr algn="ctr"/>
                      <a:r>
                        <a:rPr sz="1400" b="0" i="0">
                          <a:solidFill>
                            <a:srgbClr val="1F2937"/>
                          </a:solidFill>
                          <a:latin typeface="Calibri"/>
                        </a:rPr>
                        <a:t>-47.5%</a:t>
                      </a:r>
                    </a:p>
                  </a:txBody>
                  <a:tcPr marL="54864" marR="54864" marT="18288" marB="18288" anchor="ctr">
                    <a:solidFill>
                      <a:srgbClr val="FFFFFF"/>
                    </a:solidFill>
                  </a:tcPr>
                </a:tc>
              </a:tr>
              <a:tr h="502920">
                <a:tc>
                  <a:txBody>
                    <a:bodyPr wrap="square"/>
                    <a:lstStyle/>
                    <a:p>
                      <a:r>
                        <a:rPr sz="1400" b="0" i="0">
                          <a:solidFill>
                            <a:srgbClr val="1F2937"/>
                          </a:solidFill>
                          <a:latin typeface="Calibri"/>
                        </a:rPr>
                        <a:t>RL agent, trained on crises</a:t>
                      </a:r>
                    </a:p>
                  </a:txBody>
                  <a:tcPr marL="54864" marR="54864" marT="18288" marB="18288" anchor="ctr">
                    <a:solidFill>
                      <a:srgbClr val="F1F5F9"/>
                    </a:solidFill>
                  </a:tcPr>
                </a:tc>
                <a:tc>
                  <a:txBody>
                    <a:bodyPr wrap="square"/>
                    <a:lstStyle/>
                    <a:p>
                      <a:pPr algn="ctr"/>
                      <a:r>
                        <a:rPr sz="1400" b="0" i="0">
                          <a:solidFill>
                            <a:srgbClr val="1F2937"/>
                          </a:solidFill>
                          <a:latin typeface="Calibri"/>
                        </a:rPr>
                        <a:t>₹66.0 lakh</a:t>
                      </a:r>
                    </a:p>
                  </a:txBody>
                  <a:tcPr marL="54864" marR="54864" marT="18288" marB="18288" anchor="ctr">
                    <a:solidFill>
                      <a:srgbClr val="F1F5F9"/>
                    </a:solidFill>
                  </a:tcPr>
                </a:tc>
                <a:tc>
                  <a:txBody>
                    <a:bodyPr wrap="square"/>
                    <a:lstStyle/>
                    <a:p>
                      <a:pPr algn="ctr"/>
                      <a:r>
                        <a:rPr sz="1400" b="0" i="0">
                          <a:solidFill>
                            <a:srgbClr val="1F2937"/>
                          </a:solidFill>
                          <a:latin typeface="Calibri"/>
                        </a:rPr>
                        <a:t>₹38.9 lakh</a:t>
                      </a:r>
                    </a:p>
                  </a:txBody>
                  <a:tcPr marL="54864" marR="54864" marT="18288" marB="18288" anchor="ctr">
                    <a:solidFill>
                      <a:srgbClr val="F1F5F9"/>
                    </a:solidFill>
                  </a:tcPr>
                </a:tc>
                <a:tc>
                  <a:txBody>
                    <a:bodyPr wrap="square"/>
                    <a:lstStyle/>
                    <a:p>
                      <a:pPr algn="ctr"/>
                      <a:r>
                        <a:rPr sz="1400" b="0" i="0">
                          <a:solidFill>
                            <a:srgbClr val="1F2937"/>
                          </a:solidFill>
                          <a:latin typeface="Calibri"/>
                        </a:rPr>
                        <a:t>-41.1%</a:t>
                      </a:r>
                    </a:p>
                  </a:txBody>
                  <a:tcPr marL="54864" marR="54864" marT="18288" marB="18288" anchor="ctr">
                    <a:solidFill>
                      <a:srgbClr val="F1F5F9"/>
                    </a:solidFill>
                  </a:tcPr>
                </a:tc>
              </a:tr>
            </a:tbl>
          </a:graphicData>
        </a:graphic>
      </p:graphicFrame>
      <p:sp>
        <p:nvSpPr>
          <p:cNvPr id="21" name="Rounded Rectangle 20"/>
          <p:cNvSpPr/>
          <p:nvPr/>
        </p:nvSpPr>
        <p:spPr>
          <a:xfrm>
            <a:off x="7452360" y="1371600"/>
            <a:ext cx="4325112" cy="265176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62088" y="1444752"/>
            <a:ext cx="4105656" cy="2505456"/>
          </a:xfrm>
          <a:prstGeom prst="rect">
            <a:avLst/>
          </a:prstGeom>
          <a:noFill/>
        </p:spPr>
        <p:txBody>
          <a:bodyPr wrap="square" anchor="t" lIns="45720" rIns="45720" tIns="27432" bIns="27432">
            <a:spAutoFit/>
          </a:bodyPr>
          <a:lstStyle/>
          <a:p>
            <a:pPr algn="l">
              <a:spcAft>
                <a:spcPts val="500"/>
              </a:spcAft>
            </a:pPr>
            <a:r>
              <a:rPr sz="1700" b="1" i="0">
                <a:solidFill>
                  <a:srgbClr val="D6336C"/>
                </a:solidFill>
                <a:latin typeface="Calibri"/>
              </a:rPr>
              <a:t>Crisis training did not work</a:t>
            </a:r>
          </a:p>
          <a:p>
            <a:pPr algn="l">
              <a:spcAft>
                <a:spcPts val="300"/>
              </a:spcAft>
            </a:pPr>
            <a:r>
              <a:rPr sz="1400" b="0" i="0">
                <a:solidFill>
                  <a:srgbClr val="1F2937"/>
                </a:solidFill>
                <a:latin typeface="Calibri"/>
              </a:rPr>
              <a:t>•  Under crisis it earns ₹38.9 lakh vs the control’s ₹38.8 lakh</a:t>
            </a:r>
          </a:p>
          <a:p>
            <a:pPr algn="l">
              <a:spcAft>
                <a:spcPts val="300"/>
              </a:spcAft>
            </a:pPr>
            <a:r>
              <a:rPr sz="1400" b="0" i="0">
                <a:solidFill>
                  <a:srgbClr val="1F2937"/>
                </a:solidFill>
                <a:latin typeface="Calibri"/>
              </a:rPr>
              <a:t>•  but gave up ₹7.7 lakh of calm profit</a:t>
            </a:r>
          </a:p>
          <a:p>
            <a:pPr algn="l">
              <a:spcAft>
                <a:spcPts val="300"/>
              </a:spcAft>
            </a:pPr>
            <a:r>
              <a:rPr sz="1400" b="0" i="0">
                <a:solidFill>
                  <a:srgbClr val="1F2937"/>
                </a:solidFill>
                <a:latin typeface="Calibri"/>
              </a:rPr>
              <a:t>•  Paired t = +1.69: not significant</a:t>
            </a:r>
          </a:p>
        </p:txBody>
      </p:sp>
      <p:sp>
        <p:nvSpPr>
          <p:cNvPr id="23" name="TextBox 22"/>
          <p:cNvSpPr txBox="1"/>
          <p:nvPr/>
        </p:nvSpPr>
        <p:spPr>
          <a:xfrm>
            <a:off x="411480" y="4297680"/>
            <a:ext cx="11365992" cy="2011680"/>
          </a:xfrm>
          <a:prstGeom prst="rect">
            <a:avLst/>
          </a:prstGeom>
          <a:noFill/>
        </p:spPr>
        <p:txBody>
          <a:bodyPr wrap="square" anchor="t" lIns="45720" rIns="45720" tIns="27432" bIns="27432">
            <a:spAutoFit/>
          </a:bodyPr>
          <a:lstStyle/>
          <a:p>
            <a:pPr algn="l">
              <a:spcAft>
                <a:spcPts val="800"/>
              </a:spcAft>
            </a:pPr>
            <a:r>
              <a:rPr sz="1600" b="1" i="0">
                <a:solidFill>
                  <a:srgbClr val="1F2937"/>
                </a:solidFill>
                <a:latin typeface="Calibri"/>
              </a:rPr>
              <a:t>•  A smaller percentage drop is misleading </a:t>
            </a:r>
            <a:r>
              <a:rPr sz="1600" b="0" i="0">
                <a:solidFill>
                  <a:srgbClr val="1F2937"/>
                </a:solidFill>
                <a:latin typeface="Calibri"/>
              </a:rPr>
              <a:t>when the base is lower: the crisis-trained agent drops less because it has less to lose. We show the drop beside absolute profit so “less to lose” cannot pass for robustness.</a:t>
            </a:r>
          </a:p>
          <a:p>
            <a:pPr algn="l">
              <a:spcAft>
                <a:spcPts val="800"/>
              </a:spcAft>
            </a:pPr>
            <a:r>
              <a:rPr sz="1600" b="1" i="0">
                <a:solidFill>
                  <a:srgbClr val="1B5E3A"/>
                </a:solidFill>
                <a:latin typeface="Calibri"/>
              </a:rPr>
              <a:t>•  The useful finding: </a:t>
            </a:r>
            <a:r>
              <a:rPr sz="1600" b="0" i="0">
                <a:solidFill>
                  <a:srgbClr val="1F2937"/>
                </a:solidFill>
                <a:latin typeface="Calibri"/>
              </a:rPr>
              <a:t>plain hyperparameter tuning made the agent more robust than crisis training did. The tuned agent never saw a crisis in training, yet has the highest crisis profit and smallest drop of all agent versions.</a:t>
            </a:r>
          </a:p>
          <a:p>
            <a:pPr algn="l">
              <a:spcAft>
                <a:spcPts val="400"/>
              </a:spcAft>
            </a:pPr>
            <a:r>
              <a:rPr sz="1300" b="0" i="0">
                <a:solidFill>
                  <a:srgbClr val="5B6573"/>
                </a:solidFill>
                <a:latin typeface="Calibri"/>
              </a:rPr>
              <a:t>Limit: the crisis-trained agent faced a harder task with the same step budget, so under-training may explain part of its result.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Results (4/4): Explainer Accuracy on 30 Real Decisions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Rounded Rectangle 19"/>
          <p:cNvSpPr/>
          <p:nvPr/>
        </p:nvSpPr>
        <p:spPr>
          <a:xfrm>
            <a:off x="411480" y="1371600"/>
            <a:ext cx="3566160" cy="1554480"/>
          </a:xfrm>
          <a:prstGeom prst="roundRect">
            <a:avLst>
              <a:gd name="adj" fmla="val 12000"/>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 y="1417320"/>
            <a:ext cx="3419856" cy="1463039"/>
          </a:xfrm>
          <a:prstGeom prst="rect">
            <a:avLst/>
          </a:prstGeom>
          <a:noFill/>
        </p:spPr>
        <p:txBody>
          <a:bodyPr wrap="square" anchor="ctr" lIns="45720" rIns="45720" tIns="27432" bIns="27432">
            <a:spAutoFit/>
          </a:bodyPr>
          <a:lstStyle/>
          <a:p>
            <a:pPr algn="ctr">
              <a:spcAft>
                <a:spcPts val="100"/>
              </a:spcAft>
            </a:pPr>
            <a:r>
              <a:rPr sz="4400" b="1" i="0">
                <a:solidFill>
                  <a:srgbClr val="FFFFFF"/>
                </a:solidFill>
                <a:latin typeface="Calibri"/>
              </a:rPr>
              <a:t>83%</a:t>
            </a:r>
          </a:p>
          <a:p>
            <a:pPr algn="ctr">
              <a:spcAft>
                <a:spcPts val="400"/>
              </a:spcAft>
            </a:pPr>
            <a:r>
              <a:rPr sz="1300" b="0" i="0">
                <a:solidFill>
                  <a:srgbClr val="FFFFFF"/>
                </a:solidFill>
                <a:latin typeface="Calibri"/>
              </a:rPr>
              <a:t>raw LLM accuracy: grounded and complete, before the check</a:t>
            </a:r>
          </a:p>
        </p:txBody>
      </p:sp>
      <p:sp>
        <p:nvSpPr>
          <p:cNvPr id="22" name="Rounded Rectangle 21"/>
          <p:cNvSpPr/>
          <p:nvPr/>
        </p:nvSpPr>
        <p:spPr>
          <a:xfrm>
            <a:off x="4206240" y="1371600"/>
            <a:ext cx="3566160" cy="155448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79392" y="1417320"/>
            <a:ext cx="3419856" cy="1463039"/>
          </a:xfrm>
          <a:prstGeom prst="rect">
            <a:avLst/>
          </a:prstGeom>
          <a:noFill/>
        </p:spPr>
        <p:txBody>
          <a:bodyPr wrap="square" anchor="ctr" lIns="45720" rIns="45720" tIns="27432" bIns="27432">
            <a:spAutoFit/>
          </a:bodyPr>
          <a:lstStyle/>
          <a:p>
            <a:pPr algn="ctr">
              <a:spcAft>
                <a:spcPts val="100"/>
              </a:spcAft>
            </a:pPr>
            <a:r>
              <a:rPr sz="4400" b="1" i="0">
                <a:solidFill>
                  <a:srgbClr val="FFFFFF"/>
                </a:solidFill>
                <a:latin typeface="Calibri"/>
              </a:rPr>
              <a:t>100%</a:t>
            </a:r>
          </a:p>
          <a:p>
            <a:pPr algn="ctr">
              <a:spcAft>
                <a:spcPts val="400"/>
              </a:spcAft>
            </a:pPr>
            <a:r>
              <a:rPr sz="1300" b="0" i="0">
                <a:solidFill>
                  <a:srgbClr val="FFFFFF"/>
                </a:solidFill>
                <a:latin typeface="Calibri"/>
              </a:rPr>
              <a:t>delivered accuracy: what the manager saw, after the check</a:t>
            </a:r>
          </a:p>
        </p:txBody>
      </p:sp>
      <p:sp>
        <p:nvSpPr>
          <p:cNvPr id="24" name="Rounded Rectangle 23"/>
          <p:cNvSpPr/>
          <p:nvPr/>
        </p:nvSpPr>
        <p:spPr>
          <a:xfrm>
            <a:off x="8001000" y="1371600"/>
            <a:ext cx="3776472" cy="1554480"/>
          </a:xfrm>
          <a:prstGeom prst="roundRect">
            <a:avLst>
              <a:gd name="adj" fmla="val 12000"/>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74152" y="1417320"/>
            <a:ext cx="3630168" cy="1463039"/>
          </a:xfrm>
          <a:prstGeom prst="rect">
            <a:avLst/>
          </a:prstGeom>
          <a:noFill/>
        </p:spPr>
        <p:txBody>
          <a:bodyPr wrap="square" anchor="ctr" lIns="45720" rIns="45720" tIns="27432" bIns="27432">
            <a:spAutoFit/>
          </a:bodyPr>
          <a:lstStyle/>
          <a:p>
            <a:pPr algn="ctr">
              <a:spcAft>
                <a:spcPts val="100"/>
              </a:spcAft>
            </a:pPr>
            <a:r>
              <a:rPr sz="4000" b="1" i="0">
                <a:solidFill>
                  <a:srgbClr val="FFFFFF"/>
                </a:solidFill>
                <a:latin typeface="Calibri"/>
              </a:rPr>
              <a:t>5 of 30</a:t>
            </a:r>
          </a:p>
          <a:p>
            <a:pPr algn="ctr">
              <a:spcAft>
                <a:spcPts val="400"/>
              </a:spcAft>
            </a:pPr>
            <a:r>
              <a:rPr sz="1300" b="0" i="0">
                <a:solidFill>
                  <a:srgbClr val="FFFFFF"/>
                </a:solidFill>
                <a:latin typeface="Calibri"/>
              </a:rPr>
              <a:t>raw outputs contained an invented number; all 5 caught</a:t>
            </a:r>
          </a:p>
        </p:txBody>
      </p:sp>
      <p:graphicFrame>
        <p:nvGraphicFramePr>
          <p:cNvPr id="26" name="Table 25"/>
          <p:cNvGraphicFramePr>
            <a:graphicFrameLocks noGrp="1"/>
          </p:cNvGraphicFramePr>
          <p:nvPr/>
        </p:nvGraphicFramePr>
        <p:xfrm>
          <a:off x="411480" y="3154680"/>
          <a:ext cx="6583680" cy="2286000"/>
        </p:xfrm>
        <a:graphic>
          <a:graphicData uri="http://schemas.openxmlformats.org/drawingml/2006/table">
            <a:tbl>
              <a:tblPr firstRow="1" bandRow="1">
                <a:tableStyleId>{5C22544A-7EE6-4342-B048-85BDC9FD1C3A}</a:tableStyleId>
              </a:tblPr>
              <a:tblGrid>
                <a:gridCol w="4206240"/>
                <a:gridCol w="2377440"/>
              </a:tblGrid>
              <a:tr h="457200">
                <a:tc>
                  <a:txBody>
                    <a:bodyPr wrap="square"/>
                    <a:lstStyle/>
                    <a:p>
                      <a:pPr algn="l"/>
                      <a:r>
                        <a:rPr sz="1400" b="1" i="0">
                          <a:solidFill>
                            <a:srgbClr val="FFFFFF"/>
                          </a:solidFill>
                          <a:latin typeface="Calibri"/>
                        </a:rPr>
                        <a:t>Measure</a:t>
                      </a:r>
                    </a:p>
                  </a:txBody>
                  <a:tcPr marL="54864" marR="54864" marT="18288" marB="18288" anchor="ctr">
                    <a:solidFill>
                      <a:srgbClr val="2E8B57"/>
                    </a:solidFill>
                  </a:tcPr>
                </a:tc>
                <a:tc>
                  <a:txBody>
                    <a:bodyPr wrap="square"/>
                    <a:lstStyle/>
                    <a:p>
                      <a:pPr algn="ctr"/>
                      <a:r>
                        <a:rPr sz="1400" b="1" i="0">
                          <a:solidFill>
                            <a:srgbClr val="FFFFFF"/>
                          </a:solidFill>
                          <a:latin typeface="Calibri"/>
                        </a:rPr>
                        <a:t>Result</a:t>
                      </a:r>
                    </a:p>
                  </a:txBody>
                  <a:tcPr marL="54864" marR="54864" marT="18288" marB="18288" anchor="ctr">
                    <a:solidFill>
                      <a:srgbClr val="2E8B57"/>
                    </a:solidFill>
                  </a:tcPr>
                </a:tc>
              </a:tr>
              <a:tr h="457200">
                <a:tc>
                  <a:txBody>
                    <a:bodyPr wrap="square"/>
                    <a:lstStyle/>
                    <a:p>
                      <a:r>
                        <a:rPr sz="1400" b="0" i="0">
                          <a:solidFill>
                            <a:srgbClr val="1F2937"/>
                          </a:solidFill>
                          <a:latin typeface="Calibri"/>
                        </a:rPr>
                        <a:t>LLM reachable (after retries)</a:t>
                      </a:r>
                    </a:p>
                  </a:txBody>
                  <a:tcPr marL="54864" marR="54864" marT="18288" marB="18288" anchor="ctr">
                    <a:solidFill>
                      <a:srgbClr val="FFFFFF"/>
                    </a:solidFill>
                  </a:tcPr>
                </a:tc>
                <a:tc>
                  <a:txBody>
                    <a:bodyPr wrap="square"/>
                    <a:lstStyle/>
                    <a:p>
                      <a:pPr algn="ctr"/>
                      <a:r>
                        <a:rPr sz="1400" b="0" i="0">
                          <a:solidFill>
                            <a:srgbClr val="1F2937"/>
                          </a:solidFill>
                          <a:latin typeface="Calibri"/>
                        </a:rPr>
                        <a:t>100%</a:t>
                      </a:r>
                    </a:p>
                  </a:txBody>
                  <a:tcPr marL="54864" marR="54864" marT="18288" marB="18288" anchor="ctr">
                    <a:solidFill>
                      <a:srgbClr val="FFFFFF"/>
                    </a:solidFill>
                  </a:tcPr>
                </a:tc>
              </a:tr>
              <a:tr h="457200">
                <a:tc>
                  <a:txBody>
                    <a:bodyPr wrap="square"/>
                    <a:lstStyle/>
                    <a:p>
                      <a:r>
                        <a:rPr sz="1400" b="0" i="0">
                          <a:solidFill>
                            <a:srgbClr val="1F2937"/>
                          </a:solidFill>
                          <a:latin typeface="Calibri"/>
                        </a:rPr>
                        <a:t>Grounded (raw output used only real numbers)</a:t>
                      </a:r>
                    </a:p>
                  </a:txBody>
                  <a:tcPr marL="54864" marR="54864" marT="18288" marB="18288" anchor="ctr">
                    <a:solidFill>
                      <a:srgbClr val="F1F5F9"/>
                    </a:solidFill>
                  </a:tcPr>
                </a:tc>
                <a:tc>
                  <a:txBody>
                    <a:bodyPr wrap="square"/>
                    <a:lstStyle/>
                    <a:p>
                      <a:pPr algn="ctr"/>
                      <a:r>
                        <a:rPr sz="1400" b="0" i="0">
                          <a:solidFill>
                            <a:srgbClr val="1F2937"/>
                          </a:solidFill>
                          <a:latin typeface="Calibri"/>
                        </a:rPr>
                        <a:t>83%  (25 of 30)</a:t>
                      </a:r>
                    </a:p>
                  </a:txBody>
                  <a:tcPr marL="54864" marR="54864" marT="18288" marB="18288" anchor="ctr">
                    <a:solidFill>
                      <a:srgbClr val="F1F5F9"/>
                    </a:solidFill>
                  </a:tcPr>
                </a:tc>
              </a:tr>
              <a:tr h="457200">
                <a:tc>
                  <a:txBody>
                    <a:bodyPr wrap="square"/>
                    <a:lstStyle/>
                    <a:p>
                      <a:r>
                        <a:rPr sz="1400" b="0" i="0">
                          <a:solidFill>
                            <a:srgbClr val="1F2937"/>
                          </a:solidFill>
                          <a:latin typeface="Calibri"/>
                        </a:rPr>
                        <a:t>Complete (product, stock, order details)</a:t>
                      </a:r>
                    </a:p>
                  </a:txBody>
                  <a:tcPr marL="54864" marR="54864" marT="18288" marB="18288" anchor="ctr">
                    <a:solidFill>
                      <a:srgbClr val="FFFFFF"/>
                    </a:solidFill>
                  </a:tcPr>
                </a:tc>
                <a:tc>
                  <a:txBody>
                    <a:bodyPr wrap="square"/>
                    <a:lstStyle/>
                    <a:p>
                      <a:pPr algn="ctr"/>
                      <a:r>
                        <a:rPr sz="1400" b="0" i="0">
                          <a:solidFill>
                            <a:srgbClr val="1F2937"/>
                          </a:solidFill>
                          <a:latin typeface="Calibri"/>
                        </a:rPr>
                        <a:t>100%</a:t>
                      </a:r>
                    </a:p>
                  </a:txBody>
                  <a:tcPr marL="54864" marR="54864" marT="18288" marB="18288" anchor="ctr">
                    <a:solidFill>
                      <a:srgbClr val="FFFFFF"/>
                    </a:solidFill>
                  </a:tcPr>
                </a:tc>
              </a:tr>
              <a:tr h="457200">
                <a:tc>
                  <a:txBody>
                    <a:bodyPr wrap="square"/>
                    <a:lstStyle/>
                    <a:p>
                      <a:r>
                        <a:rPr sz="1400" b="0" i="0">
                          <a:solidFill>
                            <a:srgbClr val="1F2937"/>
                          </a:solidFill>
                          <a:latin typeface="Calibri"/>
                        </a:rPr>
                        <a:t>Length</a:t>
                      </a:r>
                    </a:p>
                  </a:txBody>
                  <a:tcPr marL="54864" marR="54864" marT="18288" marB="18288" anchor="ctr">
                    <a:solidFill>
                      <a:srgbClr val="F1F5F9"/>
                    </a:solidFill>
                  </a:tcPr>
                </a:tc>
                <a:tc>
                  <a:txBody>
                    <a:bodyPr wrap="square"/>
                    <a:lstStyle/>
                    <a:p>
                      <a:pPr algn="ctr"/>
                      <a:r>
                        <a:rPr sz="1400" b="0" i="0">
                          <a:solidFill>
                            <a:srgbClr val="1F2937"/>
                          </a:solidFill>
                          <a:latin typeface="Calibri"/>
                        </a:rPr>
                        <a:t>2.9 sentences, 58 words</a:t>
                      </a:r>
                    </a:p>
                  </a:txBody>
                  <a:tcPr marL="54864" marR="54864" marT="18288" marB="18288" anchor="ctr">
                    <a:solidFill>
                      <a:srgbClr val="F1F5F9"/>
                    </a:solidFill>
                  </a:tcPr>
                </a:tc>
              </a:tr>
            </a:tbl>
          </a:graphicData>
        </a:graphic>
      </p:graphicFrame>
      <p:sp>
        <p:nvSpPr>
          <p:cNvPr id="27" name="TextBox 26"/>
          <p:cNvSpPr txBox="1"/>
          <p:nvPr/>
        </p:nvSpPr>
        <p:spPr>
          <a:xfrm>
            <a:off x="7269480" y="3154680"/>
            <a:ext cx="4507992" cy="3108960"/>
          </a:xfrm>
          <a:prstGeom prst="rect">
            <a:avLst/>
          </a:prstGeom>
          <a:noFill/>
        </p:spPr>
        <p:txBody>
          <a:bodyPr wrap="square" anchor="t" lIns="45720" rIns="45720" tIns="27432" bIns="27432">
            <a:spAutoFit/>
          </a:bodyPr>
          <a:lstStyle/>
          <a:p>
            <a:pPr algn="l">
              <a:spcAft>
                <a:spcPts val="400"/>
              </a:spcAft>
            </a:pPr>
            <a:r>
              <a:rPr sz="1700" b="1" i="0">
                <a:solidFill>
                  <a:srgbClr val="1B5E3A"/>
                </a:solidFill>
                <a:latin typeface="Calibri"/>
              </a:rPr>
              <a:t>Why it matters</a:t>
            </a:r>
          </a:p>
          <a:p>
            <a:pPr algn="l">
              <a:spcAft>
                <a:spcPts val="400"/>
              </a:spcAft>
            </a:pPr>
            <a:r>
              <a:rPr sz="1400" b="0" i="0">
                <a:solidFill>
                  <a:srgbClr val="1F2937"/>
                </a:solidFill>
                <a:latin typeface="Calibri"/>
              </a:rPr>
              <a:t>•  The five bad outputs read fluently and confidently. A buyer would not have noticed.</a:t>
            </a:r>
          </a:p>
          <a:p>
            <a:pPr algn="l">
              <a:spcAft>
                <a:spcPts val="400"/>
              </a:spcAft>
            </a:pPr>
            <a:r>
              <a:rPr sz="1400" b="0" i="0">
                <a:solidFill>
                  <a:srgbClr val="1F2937"/>
                </a:solidFill>
                <a:latin typeface="Calibri"/>
              </a:rPr>
              <a:t>•  Without the check, one explanation in six would carry a made-up figure.</a:t>
            </a:r>
          </a:p>
          <a:p>
            <a:pPr algn="l">
              <a:spcAft>
                <a:spcPts val="400"/>
              </a:spcAft>
            </a:pPr>
            <a:r>
              <a:rPr sz="1400" b="0" i="0">
                <a:solidFill>
                  <a:srgbClr val="1F2937"/>
                </a:solidFill>
                <a:latin typeface="Calibri"/>
              </a:rPr>
              <a:t>•  An earlier metric scored only outputs that had already passed the check and reported 100% for a model that invented numbers 17% of the time. We replaced it with both numbers.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Error Analysis: Why the Agent Falls Short</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07_simulator_trace.png"/>
          <p:cNvPicPr>
            <a:picLocks noChangeAspect="1"/>
          </p:cNvPicPr>
          <p:nvPr/>
        </p:nvPicPr>
        <p:blipFill>
          <a:blip r:embed="rId2"/>
          <a:stretch>
            <a:fillRect/>
          </a:stretch>
        </p:blipFill>
        <p:spPr>
          <a:xfrm>
            <a:off x="777388" y="1371600"/>
            <a:ext cx="6034743" cy="3456431"/>
          </a:xfrm>
          <a:prstGeom prst="rect">
            <a:avLst/>
          </a:prstGeom>
          <a:ln w="12700">
            <a:solidFill>
              <a:srgbClr val="CBD5E1"/>
            </a:solidFill>
          </a:ln>
        </p:spPr>
      </p:pic>
      <p:sp>
        <p:nvSpPr>
          <p:cNvPr id="21" name="TextBox 20"/>
          <p:cNvSpPr txBox="1"/>
          <p:nvPr/>
        </p:nvSpPr>
        <p:spPr>
          <a:xfrm>
            <a:off x="411480" y="4855464"/>
            <a:ext cx="676656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One traced run: stock vs demand, warehouse fill, profit, supplier mix (panel D)</a:t>
            </a:r>
          </a:p>
        </p:txBody>
      </p:sp>
      <p:sp>
        <p:nvSpPr>
          <p:cNvPr id="22" name="TextBox 21"/>
          <p:cNvSpPr txBox="1"/>
          <p:nvPr/>
        </p:nvSpPr>
        <p:spPr>
          <a:xfrm>
            <a:off x="7452360" y="1371600"/>
            <a:ext cx="4325112" cy="3749039"/>
          </a:xfrm>
          <a:prstGeom prst="rect">
            <a:avLst/>
          </a:prstGeom>
          <a:noFill/>
        </p:spPr>
        <p:txBody>
          <a:bodyPr wrap="square" anchor="t" lIns="45720" rIns="45720" tIns="27432" bIns="27432">
            <a:spAutoFit/>
          </a:bodyPr>
          <a:lstStyle/>
          <a:p>
            <a:pPr algn="l">
              <a:spcAft>
                <a:spcPts val="800"/>
              </a:spcAft>
            </a:pPr>
            <a:r>
              <a:rPr sz="1600" b="1" i="0">
                <a:solidFill>
                  <a:srgbClr val="D6336C"/>
                </a:solidFill>
                <a:latin typeface="Calibri"/>
              </a:rPr>
              <a:t>•  Ordering fees: </a:t>
            </a:r>
            <a:r>
              <a:rPr sz="1600" b="0" i="0">
                <a:solidFill>
                  <a:srgbClr val="1F2937"/>
                </a:solidFill>
                <a:latin typeface="Calibri"/>
              </a:rPr>
              <a:t>₹5.8 lakh vs ₹2.9 lakh. The agent spreads orders across all three suppliers: 719 orders in the traced run, 323 for the engine.</a:t>
            </a:r>
          </a:p>
          <a:p>
            <a:pPr algn="l">
              <a:spcAft>
                <a:spcPts val="800"/>
              </a:spcAft>
            </a:pPr>
            <a:r>
              <a:rPr sz="1600" b="1" i="0">
                <a:solidFill>
                  <a:srgbClr val="D6336C"/>
                </a:solidFill>
                <a:latin typeface="Calibri"/>
              </a:rPr>
              <a:t>•  Fill rate: </a:t>
            </a:r>
            <a:r>
              <a:rPr sz="1600" b="0" i="0">
                <a:solidFill>
                  <a:srgbClr val="1F2937"/>
                </a:solidFill>
                <a:latin typeface="Calibri"/>
              </a:rPr>
              <a:t>95.1% vs 97.9%, about 3 lakh more in lost-sale penalties.</a:t>
            </a:r>
          </a:p>
          <a:p>
            <a:pPr algn="l">
              <a:spcAft>
                <a:spcPts val="400"/>
              </a:spcAft>
            </a:pPr>
            <a:r>
              <a:rPr sz="1400" b="1" i="0">
                <a:solidFill>
                  <a:srgbClr val="1B5E3A"/>
                </a:solidFill>
                <a:latin typeface="Calibri"/>
              </a:rPr>
              <a:t>•  Overflow: </a:t>
            </a:r>
            <a:r>
              <a:rPr sz="1400" b="0" i="0">
                <a:solidFill>
                  <a:srgbClr val="1F2937"/>
                </a:solidFill>
                <a:latin typeface="Calibri"/>
              </a:rPr>
              <a:t>the agents are the only methods with zero overflow loss; they learned the shared-warehouse rule.</a:t>
            </a:r>
          </a:p>
        </p:txBody>
      </p:sp>
      <p:sp>
        <p:nvSpPr>
          <p:cNvPr id="23" name="Rounded Rectangle 22"/>
          <p:cNvSpPr/>
          <p:nvPr/>
        </p:nvSpPr>
        <p:spPr>
          <a:xfrm>
            <a:off x="411480" y="5166360"/>
            <a:ext cx="11365992" cy="114300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21208" y="5239512"/>
            <a:ext cx="11146536" cy="996696"/>
          </a:xfrm>
          <a:prstGeom prst="rect">
            <a:avLst/>
          </a:prstGeom>
          <a:noFill/>
        </p:spPr>
        <p:txBody>
          <a:bodyPr wrap="square" anchor="t" lIns="45720" rIns="45720" tIns="27432" bIns="27432">
            <a:spAutoFit/>
          </a:bodyPr>
          <a:lstStyle/>
          <a:p>
            <a:pPr algn="l">
              <a:spcAft>
                <a:spcPts val="500"/>
              </a:spcAft>
            </a:pPr>
            <a:r>
              <a:rPr sz="1700" b="1" i="0">
                <a:solidFill>
                  <a:srgbClr val="D6336C"/>
                </a:solidFill>
                <a:latin typeface="Calibri"/>
              </a:rPr>
              <a:t>Root cause: an observability gap</a:t>
            </a:r>
          </a:p>
          <a:p>
            <a:pPr algn="l">
              <a:spcAft>
                <a:spcPts val="300"/>
              </a:spcAft>
            </a:pPr>
            <a:r>
              <a:rPr sz="1400" b="0" i="0">
                <a:solidFill>
                  <a:srgbClr val="1F2937"/>
                </a:solidFill>
                <a:latin typeface="Calibri"/>
              </a:rPr>
              <a:t>•  The agent’s 88 inputs contain no ordering history: no days since last order, no running total of fees, no last supplier used. It pays double and cannot see it. Adding a few history features per product is the most promising untried change.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Engineering Evidence</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Rounded Rectangle 19"/>
          <p:cNvSpPr/>
          <p:nvPr/>
        </p:nvSpPr>
        <p:spPr>
          <a:xfrm>
            <a:off x="411480" y="1371600"/>
            <a:ext cx="2651760" cy="118872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 y="1417320"/>
            <a:ext cx="2505456" cy="1097280"/>
          </a:xfrm>
          <a:prstGeom prst="rect">
            <a:avLst/>
          </a:prstGeom>
          <a:noFill/>
        </p:spPr>
        <p:txBody>
          <a:bodyPr wrap="square" anchor="ctr" lIns="45720" rIns="45720" tIns="27432" bIns="27432">
            <a:spAutoFit/>
          </a:bodyPr>
          <a:lstStyle/>
          <a:p>
            <a:pPr algn="ctr">
              <a:spcAft>
                <a:spcPts val="100"/>
              </a:spcAft>
            </a:pPr>
            <a:r>
              <a:rPr sz="3400" b="1" i="0">
                <a:solidFill>
                  <a:srgbClr val="FFFFFF"/>
                </a:solidFill>
                <a:latin typeface="Calibri"/>
              </a:rPr>
              <a:t>137</a:t>
            </a:r>
          </a:p>
          <a:p>
            <a:pPr algn="ctr">
              <a:spcAft>
                <a:spcPts val="400"/>
              </a:spcAft>
            </a:pPr>
            <a:r>
              <a:rPr sz="1300" b="0" i="0">
                <a:solidFill>
                  <a:srgbClr val="FFFFFF"/>
                </a:solidFill>
                <a:latin typeface="Calibri"/>
              </a:rPr>
              <a:t>automated tests</a:t>
            </a:r>
          </a:p>
        </p:txBody>
      </p:sp>
      <p:sp>
        <p:nvSpPr>
          <p:cNvPr id="22" name="Rounded Rectangle 21"/>
          <p:cNvSpPr/>
          <p:nvPr/>
        </p:nvSpPr>
        <p:spPr>
          <a:xfrm>
            <a:off x="3246120" y="1371600"/>
            <a:ext cx="2651760" cy="1188720"/>
          </a:xfrm>
          <a:prstGeom prst="roundRect">
            <a:avLst>
              <a:gd name="adj" fmla="val 12000"/>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19272" y="1417320"/>
            <a:ext cx="2505456" cy="1097280"/>
          </a:xfrm>
          <a:prstGeom prst="rect">
            <a:avLst/>
          </a:prstGeom>
          <a:noFill/>
        </p:spPr>
        <p:txBody>
          <a:bodyPr wrap="square" anchor="ctr" lIns="45720" rIns="45720" tIns="27432" bIns="27432">
            <a:spAutoFit/>
          </a:bodyPr>
          <a:lstStyle/>
          <a:p>
            <a:pPr algn="ctr">
              <a:spcAft>
                <a:spcPts val="100"/>
              </a:spcAft>
            </a:pPr>
            <a:r>
              <a:rPr sz="3400" b="1" i="0">
                <a:solidFill>
                  <a:srgbClr val="FFFFFF"/>
                </a:solidFill>
                <a:latin typeface="Calibri"/>
              </a:rPr>
              <a:t>38+</a:t>
            </a:r>
          </a:p>
          <a:p>
            <a:pPr algn="ctr">
              <a:spcAft>
                <a:spcPts val="400"/>
              </a:spcAft>
            </a:pPr>
            <a:r>
              <a:rPr sz="1300" b="0" i="0">
                <a:solidFill>
                  <a:srgbClr val="FFFFFF"/>
                </a:solidFill>
                <a:latin typeface="Calibri"/>
              </a:rPr>
              <a:t>commits on GitHub</a:t>
            </a:r>
          </a:p>
        </p:txBody>
      </p:sp>
      <p:sp>
        <p:nvSpPr>
          <p:cNvPr id="24" name="Rounded Rectangle 23"/>
          <p:cNvSpPr/>
          <p:nvPr/>
        </p:nvSpPr>
        <p:spPr>
          <a:xfrm>
            <a:off x="6080760" y="1371600"/>
            <a:ext cx="2651760" cy="1188720"/>
          </a:xfrm>
          <a:prstGeom prst="roundRect">
            <a:avLst>
              <a:gd name="adj" fmla="val 12000"/>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53912" y="1417320"/>
            <a:ext cx="2505456" cy="1097280"/>
          </a:xfrm>
          <a:prstGeom prst="rect">
            <a:avLst/>
          </a:prstGeom>
          <a:noFill/>
        </p:spPr>
        <p:txBody>
          <a:bodyPr wrap="square" anchor="ctr" lIns="45720" rIns="45720" tIns="27432" bIns="27432">
            <a:spAutoFit/>
          </a:bodyPr>
          <a:lstStyle/>
          <a:p>
            <a:pPr algn="ctr">
              <a:spcAft>
                <a:spcPts val="100"/>
              </a:spcAft>
            </a:pPr>
            <a:r>
              <a:rPr sz="3400" b="1" i="0">
                <a:solidFill>
                  <a:srgbClr val="FFFFFF"/>
                </a:solidFill>
                <a:latin typeface="Calibri"/>
              </a:rPr>
              <a:t>10,200</a:t>
            </a:r>
          </a:p>
          <a:p>
            <a:pPr algn="ctr">
              <a:spcAft>
                <a:spcPts val="400"/>
              </a:spcAft>
            </a:pPr>
            <a:r>
              <a:rPr sz="1300" b="0" i="0">
                <a:solidFill>
                  <a:srgbClr val="FFFFFF"/>
                </a:solidFill>
                <a:latin typeface="Calibri"/>
              </a:rPr>
              <a:t>lines of Python</a:t>
            </a:r>
          </a:p>
        </p:txBody>
      </p:sp>
      <p:sp>
        <p:nvSpPr>
          <p:cNvPr id="26" name="Rounded Rectangle 25"/>
          <p:cNvSpPr/>
          <p:nvPr/>
        </p:nvSpPr>
        <p:spPr>
          <a:xfrm>
            <a:off x="8915400" y="1371600"/>
            <a:ext cx="2862072" cy="1188720"/>
          </a:xfrm>
          <a:prstGeom prst="roundRect">
            <a:avLst>
              <a:gd name="adj" fmla="val 12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88552" y="1417320"/>
            <a:ext cx="2715768" cy="1097280"/>
          </a:xfrm>
          <a:prstGeom prst="rect">
            <a:avLst/>
          </a:prstGeom>
          <a:noFill/>
        </p:spPr>
        <p:txBody>
          <a:bodyPr wrap="square" anchor="ctr" lIns="45720" rIns="45720" tIns="27432" bIns="27432">
            <a:spAutoFit/>
          </a:bodyPr>
          <a:lstStyle/>
          <a:p>
            <a:pPr algn="ctr">
              <a:spcAft>
                <a:spcPts val="100"/>
              </a:spcAft>
            </a:pPr>
            <a:r>
              <a:rPr sz="3000" b="1" i="0">
                <a:solidFill>
                  <a:srgbClr val="FFFFFF"/>
                </a:solidFill>
                <a:latin typeface="Calibri"/>
              </a:rPr>
              <a:t>CI green</a:t>
            </a:r>
          </a:p>
          <a:p>
            <a:pPr algn="ctr">
              <a:spcAft>
                <a:spcPts val="400"/>
              </a:spcAft>
            </a:pPr>
            <a:r>
              <a:rPr sz="1300" b="0" i="0">
                <a:solidFill>
                  <a:srgbClr val="FFFFFF"/>
                </a:solidFill>
                <a:latin typeface="Calibri"/>
              </a:rPr>
              <a:t>lint + tests on every push</a:t>
            </a:r>
          </a:p>
        </p:txBody>
      </p:sp>
      <p:sp>
        <p:nvSpPr>
          <p:cNvPr id="28" name="Rounded Rectangle 27"/>
          <p:cNvSpPr/>
          <p:nvPr/>
        </p:nvSpPr>
        <p:spPr>
          <a:xfrm>
            <a:off x="411480" y="2788920"/>
            <a:ext cx="5577840" cy="3474720"/>
          </a:xfrm>
          <a:prstGeom prst="roundRect">
            <a:avLst>
              <a:gd name="adj" fmla="val 7000"/>
            </a:avLst>
          </a:prstGeom>
          <a:solidFill>
            <a:srgbClr val="F1F5F9"/>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1208" y="2862072"/>
            <a:ext cx="5358383" cy="3328415"/>
          </a:xfrm>
          <a:prstGeom prst="rect">
            <a:avLst/>
          </a:prstGeom>
          <a:noFill/>
        </p:spPr>
        <p:txBody>
          <a:bodyPr wrap="square" anchor="t" lIns="45720" rIns="45720" tIns="27432" bIns="27432">
            <a:spAutoFit/>
          </a:bodyPr>
          <a:lstStyle/>
          <a:p>
            <a:pPr algn="l">
              <a:spcAft>
                <a:spcPts val="500"/>
              </a:spcAft>
            </a:pPr>
            <a:r>
              <a:rPr sz="1700" b="1" i="0">
                <a:solidFill>
                  <a:srgbClr val="2E8B57"/>
                </a:solidFill>
                <a:latin typeface="Calibri"/>
              </a:rPr>
              <a:t>Reproducible end to end</a:t>
            </a:r>
          </a:p>
          <a:p>
            <a:pPr algn="l">
              <a:spcAft>
                <a:spcPts val="300"/>
              </a:spcAft>
            </a:pPr>
            <a:r>
              <a:rPr sz="1400" b="0" i="0">
                <a:solidFill>
                  <a:srgbClr val="1F2937"/>
                </a:solidFill>
                <a:latin typeface="Calibri"/>
              </a:rPr>
              <a:t>•  python -m pytest tests/ -q</a:t>
            </a:r>
          </a:p>
          <a:p>
            <a:pPr algn="l">
              <a:spcAft>
                <a:spcPts val="300"/>
              </a:spcAft>
            </a:pPr>
            <a:r>
              <a:rPr sz="1400" b="0" i="0">
                <a:solidFill>
                  <a:srgbClr val="1F2937"/>
                </a:solidFill>
                <a:latin typeface="Calibri"/>
              </a:rPr>
              <a:t>•  python -m src.data.run_pipeline</a:t>
            </a:r>
          </a:p>
          <a:p>
            <a:pPr algn="l">
              <a:spcAft>
                <a:spcPts val="300"/>
              </a:spcAft>
            </a:pPr>
            <a:r>
              <a:rPr sz="1400" b="0" i="0">
                <a:solidFill>
                  <a:srgbClr val="1F2937"/>
                </a:solidFill>
                <a:latin typeface="Calibri"/>
              </a:rPr>
              <a:t>•  python -m src.agents.tune_baselines</a:t>
            </a:r>
          </a:p>
          <a:p>
            <a:pPr algn="l">
              <a:spcAft>
                <a:spcPts val="300"/>
              </a:spcAft>
            </a:pPr>
            <a:r>
              <a:rPr sz="1400" b="0" i="0">
                <a:solidFill>
                  <a:srgbClr val="1F2937"/>
                </a:solidFill>
                <a:latin typeface="Calibri"/>
              </a:rPr>
              <a:t>•  python -m src.agents.train_ppo --name run</a:t>
            </a:r>
          </a:p>
          <a:p>
            <a:pPr algn="l">
              <a:spcAft>
                <a:spcPts val="300"/>
              </a:spcAft>
            </a:pPr>
            <a:r>
              <a:rPr sz="1400" b="0" i="0">
                <a:solidFill>
                  <a:srgbClr val="1F2937"/>
                </a:solidFill>
                <a:latin typeface="Calibri"/>
              </a:rPr>
              <a:t>•  python -m src.eval.compare / robustness / explainer_eval</a:t>
            </a:r>
          </a:p>
          <a:p>
            <a:pPr algn="l">
              <a:spcAft>
                <a:spcPts val="300"/>
              </a:spcAft>
            </a:pPr>
            <a:r>
              <a:rPr sz="1400" b="0" i="0">
                <a:solidFill>
                  <a:srgbClr val="1F2937"/>
                </a:solidFill>
                <a:latin typeface="Calibri"/>
              </a:rPr>
              <a:t>•  streamlit run app/dashboard.py</a:t>
            </a:r>
          </a:p>
        </p:txBody>
      </p:sp>
      <p:sp>
        <p:nvSpPr>
          <p:cNvPr id="30" name="Rounded Rectangle 29"/>
          <p:cNvSpPr/>
          <p:nvPr/>
        </p:nvSpPr>
        <p:spPr>
          <a:xfrm>
            <a:off x="6199632" y="2788920"/>
            <a:ext cx="5577840" cy="3474720"/>
          </a:xfrm>
          <a:prstGeom prst="roundRect">
            <a:avLst>
              <a:gd name="adj" fmla="val 7000"/>
            </a:avLst>
          </a:prstGeom>
          <a:solidFill>
            <a:srgbClr val="F1F5F9"/>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09360" y="2862072"/>
            <a:ext cx="5358383" cy="3328415"/>
          </a:xfrm>
          <a:prstGeom prst="rect">
            <a:avLst/>
          </a:prstGeom>
          <a:noFill/>
        </p:spPr>
        <p:txBody>
          <a:bodyPr wrap="square" anchor="t" lIns="45720" rIns="45720" tIns="27432" bIns="27432">
            <a:spAutoFit/>
          </a:bodyPr>
          <a:lstStyle/>
          <a:p>
            <a:pPr algn="l">
              <a:spcAft>
                <a:spcPts val="500"/>
              </a:spcAft>
            </a:pPr>
            <a:r>
              <a:rPr sz="1700" b="1" i="0">
                <a:solidFill>
                  <a:srgbClr val="2F6FB5"/>
                </a:solidFill>
                <a:latin typeface="Calibri"/>
              </a:rPr>
              <a:t>What is committed</a:t>
            </a:r>
          </a:p>
          <a:p>
            <a:pPr algn="l">
              <a:spcAft>
                <a:spcPts val="300"/>
              </a:spcAft>
            </a:pPr>
            <a:r>
              <a:rPr sz="1400" b="0" i="0">
                <a:solidFill>
                  <a:srgbClr val="1F2937"/>
                </a:solidFill>
                <a:latin typeface="Calibri"/>
              </a:rPr>
              <a:t>•  Every result file; every figure regenerates from them</a:t>
            </a:r>
          </a:p>
          <a:p>
            <a:pPr algn="l">
              <a:spcAft>
                <a:spcPts val="300"/>
              </a:spcAft>
            </a:pPr>
            <a:r>
              <a:rPr sz="1400" b="0" i="0">
                <a:solidFill>
                  <a:srgbClr val="1F2937"/>
                </a:solidFill>
                <a:latin typeface="Calibri"/>
              </a:rPr>
              <a:t>•  Kaggle notebook for the 8-configuration sweep</a:t>
            </a:r>
          </a:p>
          <a:p>
            <a:pPr algn="l">
              <a:spcAft>
                <a:spcPts val="300"/>
              </a:spcAft>
            </a:pPr>
            <a:r>
              <a:rPr sz="1400" b="0" i="0">
                <a:solidFill>
                  <a:srgbClr val="1F2937"/>
                </a:solidFill>
                <a:latin typeface="Calibri"/>
              </a:rPr>
              <a:t>•  Tests for each phase: environment, data, baselines, training, LLM, scenarios, dashboard, curriculum</a:t>
            </a:r>
          </a:p>
          <a:p>
            <a:pPr algn="l">
              <a:spcAft>
                <a:spcPts val="300"/>
              </a:spcAft>
            </a:pPr>
            <a:r>
              <a:rPr sz="1400" b="0" i="0">
                <a:solidFill>
                  <a:srgbClr val="1F2937"/>
                </a:solidFill>
                <a:latin typeface="Calibri"/>
              </a:rPr>
              <a:t>•  Live LLM tests are skipped without an API key, so CI never depends on a free endpoint</a:t>
            </a:r>
          </a:p>
          <a:p>
            <a:pPr algn="l">
              <a:spcAft>
                <a:spcPts val="300"/>
              </a:spcAft>
            </a:pPr>
            <a:r>
              <a:rPr sz="1400" b="0" i="0">
                <a:solidFill>
                  <a:srgbClr val="1F2937"/>
                </a:solidFill>
                <a:latin typeface="Calibri"/>
              </a:rPr>
              <a:t>•  Final report in LaTeX (two-column) and this deck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Limitations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Rounded Rectangle 19"/>
          <p:cNvSpPr/>
          <p:nvPr/>
        </p:nvSpPr>
        <p:spPr>
          <a:xfrm>
            <a:off x="411480" y="1371600"/>
            <a:ext cx="3685032" cy="233172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1208" y="1444752"/>
            <a:ext cx="3465576" cy="2185415"/>
          </a:xfrm>
          <a:prstGeom prst="rect">
            <a:avLst/>
          </a:prstGeom>
          <a:noFill/>
        </p:spPr>
        <p:txBody>
          <a:bodyPr wrap="square" anchor="t" lIns="45720" rIns="45720" tIns="27432" bIns="27432">
            <a:spAutoFit/>
          </a:bodyPr>
          <a:lstStyle/>
          <a:p>
            <a:pPr algn="l">
              <a:spcAft>
                <a:spcPts val="500"/>
              </a:spcAft>
            </a:pPr>
            <a:r>
              <a:rPr sz="2000" b="1" i="0">
                <a:solidFill>
                  <a:srgbClr val="D6336C"/>
                </a:solidFill>
                <a:latin typeface="Calibri"/>
              </a:rPr>
              <a:t>Data age</a:t>
            </a:r>
          </a:p>
          <a:p>
            <a:pPr algn="l">
              <a:spcAft>
                <a:spcPts val="200"/>
              </a:spcAft>
            </a:pPr>
            <a:r>
              <a:rPr sz="1700" b="0" i="0">
                <a:solidFill>
                  <a:srgbClr val="1F2937"/>
                </a:solidFill>
                <a:latin typeface="Calibri"/>
              </a:rPr>
              <a:t>UK retail from 2009–2011. The demand shape is stable across the two years, but nothing here speaks to today; recent product-level data is not public.</a:t>
            </a:r>
          </a:p>
        </p:txBody>
      </p:sp>
      <p:sp>
        <p:nvSpPr>
          <p:cNvPr id="22" name="Rounded Rectangle 21"/>
          <p:cNvSpPr/>
          <p:nvPr/>
        </p:nvSpPr>
        <p:spPr>
          <a:xfrm>
            <a:off x="4251960" y="1371600"/>
            <a:ext cx="3685032" cy="2331720"/>
          </a:xfrm>
          <a:prstGeom prst="roundRect">
            <a:avLst>
              <a:gd name="adj" fmla="val 7000"/>
            </a:avLst>
          </a:prstGeom>
          <a:solidFill>
            <a:srgbClr val="FDF3DC"/>
          </a:solidFill>
          <a:ln w="22225">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61688" y="1444752"/>
            <a:ext cx="3465576" cy="2185415"/>
          </a:xfrm>
          <a:prstGeom prst="rect">
            <a:avLst/>
          </a:prstGeom>
          <a:noFill/>
        </p:spPr>
        <p:txBody>
          <a:bodyPr wrap="square" anchor="t" lIns="45720" rIns="45720" tIns="27432" bIns="27432">
            <a:spAutoFit/>
          </a:bodyPr>
          <a:lstStyle/>
          <a:p>
            <a:pPr algn="l">
              <a:spcAft>
                <a:spcPts val="500"/>
              </a:spcAft>
            </a:pPr>
            <a:r>
              <a:rPr sz="2000" b="1" i="0">
                <a:solidFill>
                  <a:srgbClr val="B7791F"/>
                </a:solidFill>
                <a:latin typeface="Calibri"/>
              </a:rPr>
              <a:t>Invented suppliers</a:t>
            </a:r>
          </a:p>
          <a:p>
            <a:pPr algn="l">
              <a:spcAft>
                <a:spcPts val="200"/>
              </a:spcAft>
            </a:pPr>
            <a:r>
              <a:rPr sz="1700" b="0" i="0">
                <a:solidFill>
                  <a:srgbClr val="1F2937"/>
                </a:solidFill>
                <a:latin typeface="Calibri"/>
              </a:rPr>
              <a:t>Lead times, reliability and fees are hand-set to span the standard trade-off. Rupee values are relative, not forecasts.</a:t>
            </a:r>
          </a:p>
        </p:txBody>
      </p:sp>
      <p:sp>
        <p:nvSpPr>
          <p:cNvPr id="24" name="Rounded Rectangle 23"/>
          <p:cNvSpPr/>
          <p:nvPr/>
        </p:nvSpPr>
        <p:spPr>
          <a:xfrm>
            <a:off x="8092440" y="1371600"/>
            <a:ext cx="3685032" cy="233172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02167" y="1444752"/>
            <a:ext cx="3465576" cy="2185415"/>
          </a:xfrm>
          <a:prstGeom prst="rect">
            <a:avLst/>
          </a:prstGeom>
          <a:noFill/>
        </p:spPr>
        <p:txBody>
          <a:bodyPr wrap="square" anchor="t" lIns="45720" rIns="45720" tIns="27432" bIns="27432">
            <a:spAutoFit/>
          </a:bodyPr>
          <a:lstStyle/>
          <a:p>
            <a:pPr algn="l">
              <a:spcAft>
                <a:spcPts val="500"/>
              </a:spcAft>
            </a:pPr>
            <a:r>
              <a:rPr sz="2000" b="1" i="0">
                <a:solidFill>
                  <a:srgbClr val="2F6FB5"/>
                </a:solidFill>
                <a:latin typeface="Calibri"/>
              </a:rPr>
              <a:t>Curriculum under-training</a:t>
            </a:r>
          </a:p>
          <a:p>
            <a:pPr algn="l">
              <a:spcAft>
                <a:spcPts val="200"/>
              </a:spcAft>
            </a:pPr>
            <a:r>
              <a:rPr sz="1700" b="0" i="0">
                <a:solidFill>
                  <a:srgbClr val="1F2937"/>
                </a:solidFill>
                <a:latin typeface="Calibri"/>
              </a:rPr>
              <a:t>The crisis-trained agent faced a harder task with the same step budget.</a:t>
            </a:r>
          </a:p>
        </p:txBody>
      </p:sp>
      <p:sp>
        <p:nvSpPr>
          <p:cNvPr id="26" name="Rounded Rectangle 25"/>
          <p:cNvSpPr/>
          <p:nvPr/>
        </p:nvSpPr>
        <p:spPr>
          <a:xfrm>
            <a:off x="411480" y="3886200"/>
            <a:ext cx="3685032" cy="233172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1208" y="3959352"/>
            <a:ext cx="3465576" cy="2185415"/>
          </a:xfrm>
          <a:prstGeom prst="rect">
            <a:avLst/>
          </a:prstGeom>
          <a:noFill/>
        </p:spPr>
        <p:txBody>
          <a:bodyPr wrap="square" anchor="t" lIns="45720" rIns="45720" tIns="27432" bIns="27432">
            <a:spAutoFit/>
          </a:bodyPr>
          <a:lstStyle/>
          <a:p>
            <a:pPr algn="l">
              <a:spcAft>
                <a:spcPts val="500"/>
              </a:spcAft>
            </a:pPr>
            <a:r>
              <a:rPr sz="2000" b="1" i="0">
                <a:solidFill>
                  <a:srgbClr val="2E8B57"/>
                </a:solidFill>
                <a:latin typeface="Calibri"/>
              </a:rPr>
              <a:t>Small explainer sample</a:t>
            </a:r>
          </a:p>
          <a:p>
            <a:pPr algn="l">
              <a:spcAft>
                <a:spcPts val="200"/>
              </a:spcAft>
            </a:pPr>
            <a:r>
              <a:rPr sz="1700" b="0" i="0">
                <a:solidFill>
                  <a:srgbClr val="1F2937"/>
                </a:solidFill>
                <a:latin typeface="Calibri"/>
              </a:rPr>
              <a:t>30 decisions, one method, one seed. It restates facts; it does not explain the network.</a:t>
            </a:r>
          </a:p>
        </p:txBody>
      </p:sp>
      <p:sp>
        <p:nvSpPr>
          <p:cNvPr id="28" name="Rounded Rectangle 27"/>
          <p:cNvSpPr/>
          <p:nvPr/>
        </p:nvSpPr>
        <p:spPr>
          <a:xfrm>
            <a:off x="4251960" y="3886200"/>
            <a:ext cx="3685032" cy="2331720"/>
          </a:xfrm>
          <a:prstGeom prst="roundRect">
            <a:avLst>
              <a:gd name="adj" fmla="val 7000"/>
            </a:avLst>
          </a:prstGeom>
          <a:solidFill>
            <a:srgbClr val="F1F5F9"/>
          </a:solidFill>
          <a:ln w="22225">
            <a:solidFill>
              <a:srgbClr val="1B5E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361688" y="3959352"/>
            <a:ext cx="3465576" cy="2185415"/>
          </a:xfrm>
          <a:prstGeom prst="rect">
            <a:avLst/>
          </a:prstGeom>
          <a:noFill/>
        </p:spPr>
        <p:txBody>
          <a:bodyPr wrap="square" anchor="t" lIns="45720" rIns="45720" tIns="27432" bIns="27432">
            <a:spAutoFit/>
          </a:bodyPr>
          <a:lstStyle/>
          <a:p>
            <a:pPr algn="l">
              <a:spcAft>
                <a:spcPts val="500"/>
              </a:spcAft>
            </a:pPr>
            <a:r>
              <a:rPr sz="2000" b="1" i="0">
                <a:solidFill>
                  <a:srgbClr val="1B5E3A"/>
                </a:solidFill>
                <a:latin typeface="Calibri"/>
              </a:rPr>
              <a:t>One shop, ten products</a:t>
            </a:r>
          </a:p>
          <a:p>
            <a:pPr algn="l">
              <a:spcAft>
                <a:spcPts val="200"/>
              </a:spcAft>
            </a:pPr>
            <a:r>
              <a:rPr sz="1700" b="0" i="0">
                <a:solidFill>
                  <a:srgbClr val="1F2937"/>
                </a:solidFill>
                <a:latin typeface="Calibri"/>
              </a:rPr>
              <a:t>Other categories, larger assortments and cost structures are untested.</a:t>
            </a:r>
          </a:p>
        </p:txBody>
      </p:sp>
      <p:sp>
        <p:nvSpPr>
          <p:cNvPr id="30" name="Rounded Rectangle 29"/>
          <p:cNvSpPr/>
          <p:nvPr/>
        </p:nvSpPr>
        <p:spPr>
          <a:xfrm>
            <a:off x="8092440" y="3886200"/>
            <a:ext cx="3685032" cy="2331720"/>
          </a:xfrm>
          <a:prstGeom prst="roundRect">
            <a:avLst>
              <a:gd name="adj" fmla="val 7000"/>
            </a:avLst>
          </a:prstGeom>
          <a:solidFill>
            <a:srgbClr val="F1F5F9"/>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202167" y="3959352"/>
            <a:ext cx="3465576" cy="2185415"/>
          </a:xfrm>
          <a:prstGeom prst="rect">
            <a:avLst/>
          </a:prstGeom>
          <a:noFill/>
        </p:spPr>
        <p:txBody>
          <a:bodyPr wrap="square" anchor="t" lIns="45720" rIns="45720" tIns="27432" bIns="27432">
            <a:spAutoFit/>
          </a:bodyPr>
          <a:lstStyle/>
          <a:p>
            <a:pPr algn="l">
              <a:spcAft>
                <a:spcPts val="500"/>
              </a:spcAft>
            </a:pPr>
            <a:r>
              <a:rPr sz="2000" b="1" i="0">
                <a:solidFill>
                  <a:srgbClr val="2F6FB5"/>
                </a:solidFill>
                <a:latin typeface="Calibri"/>
              </a:rPr>
              <a:t>Free LLM endpoints</a:t>
            </a:r>
          </a:p>
          <a:p>
            <a:pPr algn="l">
              <a:spcAft>
                <a:spcPts val="200"/>
              </a:spcAft>
            </a:pPr>
            <a:r>
              <a:rPr sz="1700" b="0" i="0">
                <a:solidFill>
                  <a:srgbClr val="1F2937"/>
                </a:solidFill>
                <a:latin typeface="Calibri"/>
              </a:rPr>
              <a:t>Rate limits: explanations can take up to a minute and sometimes fall back to the template.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Conclusion and Future Work</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Rounded Rectangle 19"/>
          <p:cNvSpPr/>
          <p:nvPr/>
        </p:nvSpPr>
        <p:spPr>
          <a:xfrm>
            <a:off x="411480" y="1371600"/>
            <a:ext cx="5577840" cy="49377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1208" y="1444752"/>
            <a:ext cx="5358383" cy="4791456"/>
          </a:xfrm>
          <a:prstGeom prst="rect">
            <a:avLst/>
          </a:prstGeom>
          <a:noFill/>
        </p:spPr>
        <p:txBody>
          <a:bodyPr wrap="square" anchor="t" lIns="45720" rIns="45720" tIns="27432" bIns="27432">
            <a:spAutoFit/>
          </a:bodyPr>
          <a:lstStyle/>
          <a:p>
            <a:pPr algn="l">
              <a:spcAft>
                <a:spcPts val="500"/>
              </a:spcAft>
            </a:pPr>
            <a:r>
              <a:rPr sz="1700" b="1" i="0">
                <a:solidFill>
                  <a:srgbClr val="2E8B57"/>
                </a:solidFill>
                <a:latin typeface="Calibri"/>
              </a:rPr>
              <a:t>What we showed</a:t>
            </a:r>
          </a:p>
          <a:p>
            <a:pPr algn="l">
              <a:spcAft>
                <a:spcPts val="800"/>
              </a:spcAft>
            </a:pPr>
            <a:r>
              <a:rPr sz="1600" b="0" i="0">
                <a:solidFill>
                  <a:srgbClr val="1F2937"/>
                </a:solidFill>
                <a:latin typeface="Calibri"/>
              </a:rPr>
              <a:t>•  A complete system: simulator, RL agent, 4 tuned baselines, LLM explainer, crisis generator, dashboard</a:t>
            </a:r>
          </a:p>
          <a:p>
            <a:pPr algn="l">
              <a:spcAft>
                <a:spcPts val="800"/>
              </a:spcAft>
            </a:pPr>
            <a:r>
              <a:rPr sz="1600" b="0" i="0">
                <a:solidFill>
                  <a:srgbClr val="1F2937"/>
                </a:solidFill>
                <a:latin typeface="Calibri"/>
              </a:rPr>
              <a:t>•  The tuned agent reaches 90.8% of the best classical profit and beats two of four classical methods; the gap is real (t = -6.45) and traced to supplier fragmentation</a:t>
            </a:r>
          </a:p>
          <a:p>
            <a:pPr algn="l">
              <a:spcAft>
                <a:spcPts val="800"/>
              </a:spcAft>
            </a:pPr>
            <a:r>
              <a:rPr sz="1600" b="0" i="0">
                <a:solidFill>
                  <a:srgbClr val="1F2937"/>
                </a:solidFill>
                <a:latin typeface="Calibri"/>
              </a:rPr>
              <a:t>•  Masking ≈ 3×; tuning closes 38% of the rest; crisis training did not help</a:t>
            </a:r>
          </a:p>
          <a:p>
            <a:pPr algn="l">
              <a:spcAft>
                <a:spcPts val="800"/>
              </a:spcAft>
            </a:pPr>
            <a:r>
              <a:rPr sz="1600" b="0" i="0">
                <a:solidFill>
                  <a:srgbClr val="1F2937"/>
                </a:solidFill>
                <a:latin typeface="Calibri"/>
              </a:rPr>
              <a:t>•  The explainer is only accurate because it is checked: 83% raw, 100% delivered</a:t>
            </a:r>
          </a:p>
          <a:p>
            <a:pPr algn="l">
              <a:spcAft>
                <a:spcPts val="400"/>
              </a:spcAft>
            </a:pPr>
            <a:r>
              <a:rPr sz="1600" b="0" i="0">
                <a:solidFill>
                  <a:srgbClr val="1F2937"/>
                </a:solidFill>
                <a:latin typeface="Calibri"/>
              </a:rPr>
              <a:t>•  The honest deployment: classical engine decides, RL scored beside it, nothing executes</a:t>
            </a:r>
          </a:p>
        </p:txBody>
      </p:sp>
      <p:sp>
        <p:nvSpPr>
          <p:cNvPr id="22" name="Rounded Rectangle 21"/>
          <p:cNvSpPr/>
          <p:nvPr/>
        </p:nvSpPr>
        <p:spPr>
          <a:xfrm>
            <a:off x="6199632" y="1371600"/>
            <a:ext cx="5577840" cy="493776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09360" y="1444752"/>
            <a:ext cx="5358383" cy="4791456"/>
          </a:xfrm>
          <a:prstGeom prst="rect">
            <a:avLst/>
          </a:prstGeom>
          <a:noFill/>
        </p:spPr>
        <p:txBody>
          <a:bodyPr wrap="square" anchor="t" lIns="45720" rIns="45720" tIns="27432" bIns="27432">
            <a:spAutoFit/>
          </a:bodyPr>
          <a:lstStyle/>
          <a:p>
            <a:pPr algn="l">
              <a:spcAft>
                <a:spcPts val="500"/>
              </a:spcAft>
            </a:pPr>
            <a:r>
              <a:rPr sz="1700" b="1" i="0">
                <a:solidFill>
                  <a:srgbClr val="2F6FB5"/>
                </a:solidFill>
                <a:latin typeface="Calibri"/>
              </a:rPr>
              <a:t>Future work</a:t>
            </a:r>
          </a:p>
          <a:p>
            <a:pPr algn="l">
              <a:spcAft>
                <a:spcPts val="800"/>
              </a:spcAft>
            </a:pPr>
            <a:r>
              <a:rPr sz="1600" b="0" i="0">
                <a:solidFill>
                  <a:srgbClr val="1F2937"/>
                </a:solidFill>
                <a:latin typeface="Calibri"/>
              </a:rPr>
              <a:t>•  Give the agent ordering memory (days since last order, last supplier, fees so far) and re-run on the same 30 seeds: the experiment most likely to close the gap</a:t>
            </a:r>
          </a:p>
          <a:p>
            <a:pPr algn="l">
              <a:spcAft>
                <a:spcPts val="800"/>
              </a:spcAft>
            </a:pPr>
            <a:r>
              <a:rPr sz="1600" b="0" i="0">
                <a:solidFill>
                  <a:srgbClr val="1F2937"/>
                </a:solidFill>
                <a:latin typeface="Calibri"/>
              </a:rPr>
              <a:t>•  Test all methods under changed market conditions (more demand variation, longer delays) to show how rankings move</a:t>
            </a:r>
          </a:p>
          <a:p>
            <a:pPr algn="l">
              <a:spcAft>
                <a:spcPts val="800"/>
              </a:spcAft>
            </a:pPr>
            <a:r>
              <a:rPr sz="1600" b="0" i="0">
                <a:solidFill>
                  <a:srgbClr val="1F2937"/>
                </a:solidFill>
                <a:latin typeface="Calibri"/>
              </a:rPr>
              <a:t>•  Longer crisis training, to separate under-training from a failed method</a:t>
            </a:r>
          </a:p>
          <a:p>
            <a:pPr algn="l">
              <a:spcAft>
                <a:spcPts val="800"/>
              </a:spcAft>
            </a:pPr>
            <a:r>
              <a:rPr sz="1600" b="0" i="0">
                <a:solidFill>
                  <a:srgbClr val="1F2937"/>
                </a:solidFill>
                <a:latin typeface="Calibri"/>
              </a:rPr>
              <a:t>•  Recent real data and real supplier terms if a partner can supply them</a:t>
            </a:r>
          </a:p>
          <a:p>
            <a:pPr algn="l">
              <a:spcAft>
                <a:spcPts val="400"/>
              </a:spcAft>
            </a:pPr>
            <a:r>
              <a:rPr sz="1600" b="0" i="0">
                <a:solidFill>
                  <a:srgbClr val="1F2937"/>
                </a:solidFill>
                <a:latin typeface="Calibri"/>
              </a:rPr>
              <a:t>•  Before any live use: new-product handling, order-value limits, an audit trail, a signal for when a human should decide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References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TextBox 19"/>
          <p:cNvSpPr txBox="1"/>
          <p:nvPr/>
        </p:nvSpPr>
        <p:spPr>
          <a:xfrm>
            <a:off x="411480" y="1371600"/>
            <a:ext cx="11365992" cy="4937760"/>
          </a:xfrm>
          <a:prstGeom prst="rect">
            <a:avLst/>
          </a:prstGeom>
          <a:noFill/>
        </p:spPr>
        <p:txBody>
          <a:bodyPr wrap="square" anchor="t" lIns="45720" rIns="45720" tIns="27432" bIns="27432">
            <a:spAutoFit/>
          </a:bodyPr>
          <a:lstStyle/>
          <a:p>
            <a:pPr algn="l">
              <a:spcAft>
                <a:spcPts val="900"/>
              </a:spcAft>
            </a:pPr>
            <a:r>
              <a:rPr sz="1600" b="0" i="0">
                <a:solidFill>
                  <a:srgbClr val="1F2937"/>
                </a:solidFill>
                <a:latin typeface="Calibri"/>
              </a:rPr>
              <a:t>[1]  J. Schulman, F. Wolski, P. Dhariwal, A. Radford, O. Klimov. Proximal policy optimization algorithms. arXiv:1707.06347, 2017.</a:t>
            </a:r>
          </a:p>
          <a:p>
            <a:pPr algn="l">
              <a:spcAft>
                <a:spcPts val="900"/>
              </a:spcAft>
            </a:pPr>
            <a:r>
              <a:rPr sz="1600" b="0" i="0">
                <a:solidFill>
                  <a:srgbClr val="1F2937"/>
                </a:solidFill>
                <a:latin typeface="Calibri"/>
              </a:rPr>
              <a:t>[2]  S. Huang, S. Ontanón. A closer look at invalid action masking in policy gradient algorithms. FLAIRS-35, 2022.</a:t>
            </a:r>
          </a:p>
          <a:p>
            <a:pPr algn="l">
              <a:spcAft>
                <a:spcPts val="900"/>
              </a:spcAft>
            </a:pPr>
            <a:r>
              <a:rPr sz="1600" b="0" i="0">
                <a:solidFill>
                  <a:srgbClr val="1F2937"/>
                </a:solidFill>
                <a:latin typeface="Calibri"/>
              </a:rPr>
              <a:t>[3]  J. Gijsbrechts, R. N. Boute, J. A. Van Mieghem, D. Zhang. Can deep reinforcement learning improve inventory management? Manufacturing &amp; Service Operations Management, 2022.</a:t>
            </a:r>
          </a:p>
          <a:p>
            <a:pPr algn="l">
              <a:spcAft>
                <a:spcPts val="900"/>
              </a:spcAft>
            </a:pPr>
            <a:r>
              <a:rPr sz="1600" b="0" i="0">
                <a:solidFill>
                  <a:srgbClr val="1F2937"/>
                </a:solidFill>
                <a:latin typeface="Calibri"/>
              </a:rPr>
              <a:t>[4]  R. N. Boute, J. Gijsbrechts, W. van Jaarsveld, N. Vanvuchelen. Deep reinforcement learning for inventory control: a roadmap. European Journal of Operational Research, 2022.</a:t>
            </a:r>
          </a:p>
          <a:p>
            <a:pPr algn="l">
              <a:spcAft>
                <a:spcPts val="900"/>
              </a:spcAft>
            </a:pPr>
            <a:r>
              <a:rPr sz="1600" b="0" i="0">
                <a:solidFill>
                  <a:srgbClr val="1F2937"/>
                </a:solidFill>
                <a:latin typeface="Calibri"/>
              </a:rPr>
              <a:t>[5]  A. Oroojlooyjadid, M. Nazari, L. V. Snyder, M. Takáč. A deep Q-network for the beer game. Manufacturing &amp; Service Operations Management, 2022.</a:t>
            </a:r>
          </a:p>
          <a:p>
            <a:pPr algn="l">
              <a:spcAft>
                <a:spcPts val="900"/>
              </a:spcAft>
            </a:pPr>
            <a:r>
              <a:rPr sz="1600" b="0" i="0">
                <a:solidFill>
                  <a:srgbClr val="1F2937"/>
                </a:solidFill>
                <a:latin typeface="Calibri"/>
              </a:rPr>
              <a:t>[6]  D. Chen, S. L. Sain, K. Guo. Data mining for the online retail industry. Journal of Database Marketing &amp; Customer Strategy Management, 2012.</a:t>
            </a:r>
          </a:p>
          <a:p>
            <a:pPr algn="l">
              <a:spcAft>
                <a:spcPts val="900"/>
              </a:spcAft>
            </a:pPr>
            <a:r>
              <a:rPr sz="1600" b="0" i="0">
                <a:solidFill>
                  <a:srgbClr val="1F2937"/>
                </a:solidFill>
                <a:latin typeface="Calibri"/>
              </a:rPr>
              <a:t>[7]  A. Raffin et al. Stable-Baselines3: reliable reinforcement learning implementations. JMLR 22(268), 2021.</a:t>
            </a:r>
          </a:p>
          <a:p>
            <a:pPr algn="l">
              <a:spcAft>
                <a:spcPts val="900"/>
              </a:spcAft>
            </a:pPr>
            <a:r>
              <a:rPr sz="1600" b="0" i="0">
                <a:solidFill>
                  <a:srgbClr val="1F2937"/>
                </a:solidFill>
                <a:latin typeface="Calibri"/>
              </a:rPr>
              <a:t>[8]  UCI Machine Learning Repository. Online Retail II. https://archive.ics.uci.edu/dataset/502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Thank You</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TextBox 19"/>
          <p:cNvSpPr txBox="1"/>
          <p:nvPr/>
        </p:nvSpPr>
        <p:spPr>
          <a:xfrm>
            <a:off x="411480" y="1920240"/>
            <a:ext cx="11365992" cy="1097280"/>
          </a:xfrm>
          <a:prstGeom prst="rect">
            <a:avLst/>
          </a:prstGeom>
          <a:noFill/>
        </p:spPr>
        <p:txBody>
          <a:bodyPr wrap="square" anchor="t" lIns="45720" rIns="45720" tIns="27432" bIns="27432">
            <a:spAutoFit/>
          </a:bodyPr>
          <a:lstStyle/>
          <a:p>
            <a:pPr algn="ctr">
              <a:spcAft>
                <a:spcPts val="400"/>
              </a:spcAft>
            </a:pPr>
            <a:r>
              <a:rPr sz="4400" b="1" i="0">
                <a:solidFill>
                  <a:srgbClr val="1B5E3A"/>
                </a:solidFill>
                <a:latin typeface="Calibri"/>
              </a:rPr>
              <a:t>Questions?</a:t>
            </a:r>
          </a:p>
        </p:txBody>
      </p:sp>
      <p:sp>
        <p:nvSpPr>
          <p:cNvPr id="21" name="TextBox 20"/>
          <p:cNvSpPr txBox="1"/>
          <p:nvPr/>
        </p:nvSpPr>
        <p:spPr>
          <a:xfrm>
            <a:off x="411480" y="3200400"/>
            <a:ext cx="11365992" cy="2377440"/>
          </a:xfrm>
          <a:prstGeom prst="rect">
            <a:avLst/>
          </a:prstGeom>
          <a:noFill/>
        </p:spPr>
        <p:txBody>
          <a:bodyPr wrap="square" anchor="t" lIns="45720" rIns="45720" tIns="27432" bIns="27432">
            <a:spAutoFit/>
          </a:bodyPr>
          <a:lstStyle/>
          <a:p>
            <a:pPr algn="ctr">
              <a:spcAft>
                <a:spcPts val="1400"/>
              </a:spcAft>
            </a:pPr>
            <a:r>
              <a:rPr sz="2200" b="0" i="0">
                <a:solidFill>
                  <a:srgbClr val="1F2937"/>
                </a:solidFill>
                <a:latin typeface="Calibri"/>
              </a:rPr>
              <a:t>SupplyAI-RL: Explainable Supply Chain Optimization</a:t>
            </a:r>
          </a:p>
          <a:p>
            <a:pPr algn="ctr">
              <a:spcAft>
                <a:spcPts val="300"/>
              </a:spcAft>
            </a:pPr>
            <a:r>
              <a:rPr sz="1600" b="0" i="0">
                <a:solidFill>
                  <a:srgbClr val="5B6573"/>
                </a:solidFill>
                <a:latin typeface="Calibri"/>
              </a:rPr>
              <a:t>Koushik (CB.SC.U4AIE23312)   •   Santosh (CB.SC.U4AIE23310)</a:t>
            </a:r>
          </a:p>
          <a:p>
            <a:pPr algn="ctr">
              <a:spcAft>
                <a:spcPts val="1400"/>
              </a:spcAft>
            </a:pPr>
            <a:r>
              <a:rPr sz="1600" b="0" i="0">
                <a:solidFill>
                  <a:srgbClr val="5B6573"/>
                </a:solidFill>
                <a:latin typeface="Calibri"/>
              </a:rPr>
              <a:t>Srinith (CB.SC.U4AIE23357)   •   Dharani Pratap (CB.SC.U4AIE23330)</a:t>
            </a:r>
          </a:p>
          <a:p>
            <a:pPr algn="ctr">
              <a:spcAft>
                <a:spcPts val="400"/>
              </a:spcAft>
            </a:pPr>
            <a:r>
              <a:rPr sz="1400" b="0" i="0">
                <a:solidFill>
                  <a:srgbClr val="5B6573"/>
                </a:solidFill>
                <a:latin typeface="Calibri"/>
              </a:rPr>
              <a:t>Code, report and dashboard: github.com/KJSK-Koushik/Supply-AI-RL-Explainable-supply-chain-Optimisation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404</TotalTime>
  <Words>189</Words>
  <Application>Microsoft Office PowerPoint</Application>
  <PresentationFormat>Widescreen</PresentationFormat>
  <Paragraphs>74</Paragraphs>
  <Slides>15</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Arial</vt:lpstr>
      <vt:lpstr>Calibri</vt:lpstr>
      <vt:lpstr>Calibri Light</vt:lpstr>
      <vt:lpstr>Times New Roman</vt:lpstr>
      <vt:lpstr>Office Theme</vt:lpstr>
      <vt:lpstr>PowerPoint Presentation</vt:lpstr>
      <vt:lpstr>Outline </vt:lpstr>
      <vt:lpstr>Introduction and Motivation </vt:lpstr>
      <vt:lpstr>Problem Definition </vt:lpstr>
      <vt:lpstr>Literature Review </vt:lpstr>
      <vt:lpstr>Gaps Identified </vt:lpstr>
      <vt:lpstr>Objectives </vt:lpstr>
      <vt:lpstr>Methodology </vt:lpstr>
      <vt:lpstr>Dataset Description</vt:lpstr>
      <vt:lpstr> Preliminary Results and Discussion</vt:lpstr>
      <vt:lpstr> Preliminary Results and Discussion</vt:lpstr>
      <vt:lpstr>Interim Summary/Conclusion</vt:lpstr>
      <vt:lpstr>Completion plan for the next phase</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Jyothish Lal G - [CEN} Amrita Vishwa Vidyapeetham.</cp:lastModifiedBy>
  <cp:revision>45</cp:revision>
  <dcterms:created xsi:type="dcterms:W3CDTF">2023-07-03T07:55:31Z</dcterms:created>
  <dcterms:modified xsi:type="dcterms:W3CDTF">2026-07-28T09:22:06Z</dcterms:modified>
</cp:coreProperties>
</file>