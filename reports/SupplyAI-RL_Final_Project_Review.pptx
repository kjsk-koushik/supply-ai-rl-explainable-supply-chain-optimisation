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29"/>
  </p:handoutMasterIdLst>
  <p:sldIdLst>
    <p:sldId id="256" r:id="rId3"/>
    <p:sldId id="307" r:id="rId5"/>
    <p:sldId id="308" r:id="rId6"/>
    <p:sldId id="309" r:id="rId7"/>
    <p:sldId id="310" r:id="rId8"/>
    <p:sldId id="311" r:id="rId9"/>
    <p:sldId id="312" r:id="rId10"/>
    <p:sldId id="313" r:id="rId11"/>
    <p:sldId id="314" r:id="rId12"/>
    <p:sldId id="315" r:id="rId13"/>
    <p:sldId id="317" r:id="rId14"/>
    <p:sldId id="318" r:id="rId15"/>
    <p:sldId id="319" r:id="rId16"/>
    <p:sldId id="320" r:id="rId17"/>
    <p:sldId id="321" r:id="rId18"/>
    <p:sldId id="322" r:id="rId19"/>
    <p:sldId id="323" r:id="rId20"/>
    <p:sldId id="324" r:id="rId21"/>
    <p:sldId id="325" r:id="rId22"/>
    <p:sldId id="326" r:id="rId23"/>
    <p:sldId id="327" r:id="rId24"/>
    <p:sldId id="328" r:id="rId25"/>
    <p:sldId id="332" r:id="rId26"/>
    <p:sldId id="333" r:id="rId27"/>
    <p:sldId id="334"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1A9B46"/>
    <a:srgbClr val="18AD4A"/>
    <a:srgbClr val="081271"/>
    <a:srgbClr val="FFFB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16" autoAdjust="0"/>
    <p:restoredTop sz="94660"/>
  </p:normalViewPr>
  <p:slideViewPr>
    <p:cSldViewPr snapToGrid="0">
      <p:cViewPr varScale="1">
        <p:scale>
          <a:sx n="82" d="100"/>
          <a:sy n="82" d="100"/>
        </p:scale>
        <p:origin x="49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handoutMaster" Target="handoutMasters/handout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56333AC-344F-40AF-9E99-79D0BF1BA136}" type="datetimeFigureOut">
              <a:rPr lang="en-IN" smtClean="0"/>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IN"/>
              <a:t>Speech Processing</a:t>
            </a:r>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AE13A14-01DD-4442-9BD4-9CC7EED32526}" type="slidenum">
              <a:rPr lang="en-IN" smtClean="0"/>
            </a:fld>
            <a:endParaRPr lang="en-IN"/>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92E8E5-BD41-4FE3-96D2-635440A77753}" type="datetimeFigureOut">
              <a:rPr lang="en-IN" smtClean="0"/>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IN"/>
              <a:t>Speech Processing</a:t>
            </a: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69347C-ECC5-466E-9761-F92650021703}" type="slidenum">
              <a:rPr lang="en-IN" smtClean="0"/>
            </a:fld>
            <a:endParaRPr lang="en-IN"/>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Opening. One sentence: we built a decision-support system that decides how much stock a shop should order and from which supplier, tested an RL agent against tuned classical methods, and added an LLM that explains each decision and writes the crises we test with. Fill in the batch/group number and the presentation date before presenting.</a:t>
            </a:r>
          </a:p>
        </p:txBody>
      </p:sp>
      <p:sp>
        <p:nvSpPr>
          <p:cNvPr id="4" name="Slide Number Placeholder 3"/>
          <p:cNvSpPr>
            <a:spLocks noGrp="1"/>
          </p:cNvSpPr>
          <p:nvPr>
            <p:ph type="sldNum" sz="quarter" idx="10"/>
          </p:nvPr>
        </p:nvSpPr>
        <p:spPr/>
        <p:txBody>
          <a:bodyPr/>
          <a:lstStyle/>
          <a:p>
            <a:fld id="{5669347C-ECC5-466E-9761-F92650021703}" type="slidenum">
              <a:rPr lang="en-IN" smtClean="0"/>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Roadmap. The first half is what we built; the second half is the evidence that it works and where it does not.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Motivation in one minute. Both ways of ordering wrong cost money, and supplier choice adds a second decision. The honest framing: RL is a hypothesis we test, not an assumption.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 decision is small to state and huge to search: 21 options per product across 10 products is about 17 trillion combinations a day. No supplier is best, which is what makes it a real trade-off.</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Five anchor papers. The pattern: deep RL has been competitive with tuned heuristics, not clearly better, and masking is what makes large action spaces tractable.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Each gap on the left has a concrete answer on the right. We claim only what we tested: no claim that nobody has combined these before beyond this single setting.</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All five objectives are met. The fifth is a comparison, and the honest result is that the tuned classical method wins. Say this first, before the examiner asks.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Walk left to right. Data builds the simulator. Two decision makers act in it: the tuned classical engine and the RL challenger. The LLM layer explains decisions and writes crises. Evaluation and the dashboard sit on the right. The green strip is the deployment story: shadow mode, nothing places an order.</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If asked for detail: the simulator runs five steps a day (deliveries, customers, sales, orders, profit), with storage at 0.15% of cost per day, leftover stock worth 60% of cost, and one shared 20,000-unit warehouse. The agent sees 88 numbers and picks one of 21 options per product; the winning settings were learning rate 5e-5, entropy 0.005, gamma 0.995, rollout 1024, network 2 x 256, from an 8-configuration search with the best two run to 2M steps. The loop: state in, action out, reward back. Action masking is the biggest single improvement: it stops the agent wasting training on choices that are never legal.</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Why this dataset: real and public, with enough variety. Why not the newer one: it is synthetic noise, and newer-but-fake is worse than older-but-real. Money is converted from pounds at 1 GBP = 105 rupees for display only.</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This is what makes a negative result meaningful. Three disjoint seed groups, tuned baselines, identical customers for every method.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 key design decision: the LLM only presents facts the simulator computed. Then every number in its output is checked against those facts. If it invented one, a fixed template is shown instead. Three free models via OpenRouter, tried in order, with retries.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 LLM's value here is imagination, not trust. We validate everything. The curriculum experiment is controlled: same seed, same settings, same steps.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Live demo starting point. The dashboard opens on the engine, the policy a buyer would actually run. Everything shown comes from a real episode run on demand; no number on the page is typed in.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Left: switch the policy to the challenger and the supplier bars change completely. This is the visual evidence for the error analysis. Right: the crisis switch injects the LLM-written disruption for the whole run.</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Before = the shop orders the same fixed amount every day, tuned as carefully as every other baseline. After = the system's engine. Same 30 unseen runs. The honest reading: forecasting plus safety stock does the heavy lifting; the RL challenger also beats the fixed order but trails the engine.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This is the explainer in action, live. The explanation is a restatement of computed facts, not an account of the neural network's reasoning, and we say so explicitly.</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Both tabs read the saved result files, so the dashboard cannot disagree with the report.</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State the result plainly: the classical engine wins by about 8 lakh per run, paired t of minus 6.45. The agent reaches 90.8% of its profit and beats EOQ and (s,S). The constant-order row is the 'no system' baseline.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Two controlled improvements, each measured: masking about 3x, tuning closes 38% of the remaining gap. The curves show learning progress on the checkpoint-selection seeds; reported scores come from separate held-out seeds.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Every method loses more than a third of its profit in a crisis; RL is not more adaptive than the tuned classical method. Our attempt to fix that with crisis training did not work. We report it as a negative result.</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Be upfront about both numbers. 83% is the model by itself; 100% is the system with the check. The finding is that the check is essential, not decoration.</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Close on the honest claim: the project works end to end, the comparison is fair, the classical method wins, and we know why. The next experiment is aimed straight at the cause.</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Same eight references as the report. The report has the full paper; this is the short list.</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Likely questions: why the classical method wins (fees from supplier fragmentation, no ordering memory); where the accuracy is (no accuracy in RL; relative profit 90.8%, explainer 100% delivered); is the data too old (stability test); what masking is.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endParaRPr lang="en-IN"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07E2F458-B665-432D-ACF1-3C56F813001B}" type="datetime1">
              <a:rPr lang="en-IN" smtClean="0"/>
            </a:fld>
            <a:endParaRPr lang="en-IN"/>
          </a:p>
        </p:txBody>
      </p:sp>
      <p:sp>
        <p:nvSpPr>
          <p:cNvPr id="5" name="Footer Placeholder 4"/>
          <p:cNvSpPr>
            <a:spLocks noGrp="1"/>
          </p:cNvSpPr>
          <p:nvPr>
            <p:ph type="ftr" sz="quarter" idx="11"/>
          </p:nvPr>
        </p:nvSpPr>
        <p:spPr/>
        <p:txBody>
          <a:bodyPr/>
          <a:lstStyle/>
          <a:p>
            <a:r>
              <a:rPr lang="en-IN" dirty="0"/>
              <a:t>Speech Processing</a:t>
            </a:r>
            <a:endParaRPr lang="en-IN" dirty="0"/>
          </a:p>
        </p:txBody>
      </p:sp>
      <p:sp>
        <p:nvSpPr>
          <p:cNvPr id="6" name="Slide Number Placeholder 5"/>
          <p:cNvSpPr>
            <a:spLocks noGrp="1"/>
          </p:cNvSpPr>
          <p:nvPr>
            <p:ph type="sldNum" sz="quarter" idx="12"/>
          </p:nvPr>
        </p:nvSpPr>
        <p:spPr/>
        <p:txBody>
          <a:bodyPr/>
          <a:lstStyle/>
          <a:p>
            <a:fld id="{C2216105-7B7A-4C42-B2A1-5E9A2FA4F8FD}"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646C15BD-94E4-4067-8A33-3C6EC4BD0B33}" type="datetime1">
              <a:rPr lang="en-IN" smtClean="0"/>
            </a:fld>
            <a:endParaRPr lang="en-IN"/>
          </a:p>
        </p:txBody>
      </p:sp>
      <p:sp>
        <p:nvSpPr>
          <p:cNvPr id="5" name="Footer Placeholder 4"/>
          <p:cNvSpPr>
            <a:spLocks noGrp="1"/>
          </p:cNvSpPr>
          <p:nvPr>
            <p:ph type="ftr" sz="quarter" idx="11"/>
          </p:nvPr>
        </p:nvSpPr>
        <p:spPr/>
        <p:txBody>
          <a:bodyPr/>
          <a:lstStyle/>
          <a:p>
            <a:r>
              <a:rPr lang="en-IN"/>
              <a:t>Speech Processing</a:t>
            </a:r>
            <a:endParaRPr lang="en-IN"/>
          </a:p>
        </p:txBody>
      </p:sp>
      <p:sp>
        <p:nvSpPr>
          <p:cNvPr id="6" name="Slide Number Placeholder 5"/>
          <p:cNvSpPr>
            <a:spLocks noGrp="1"/>
          </p:cNvSpPr>
          <p:nvPr>
            <p:ph type="sldNum" sz="quarter" idx="12"/>
          </p:nvPr>
        </p:nvSpPr>
        <p:spPr/>
        <p:txBody>
          <a:bodyPr/>
          <a:lstStyle/>
          <a:p>
            <a:fld id="{C2216105-7B7A-4C42-B2A1-5E9A2FA4F8FD}"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endParaRPr lang="en-US"/>
          </a:p>
        </p:txBody>
      </p:sp>
      <p:sp>
        <p:nvSpPr>
          <p:cNvPr id="4" name="Date Placeholder 3"/>
          <p:cNvSpPr>
            <a:spLocks noGrp="1"/>
          </p:cNvSpPr>
          <p:nvPr>
            <p:ph type="dt" sz="half" idx="10"/>
          </p:nvPr>
        </p:nvSpPr>
        <p:spPr/>
        <p:txBody>
          <a:bodyPr/>
          <a:lstStyle/>
          <a:p>
            <a:fld id="{5F634687-F519-4EB7-A5A2-8F32F570280C}" type="datetime1">
              <a:rPr lang="en-IN" smtClean="0"/>
            </a:fld>
            <a:endParaRPr lang="en-IN"/>
          </a:p>
        </p:txBody>
      </p:sp>
      <p:sp>
        <p:nvSpPr>
          <p:cNvPr id="5" name="Footer Placeholder 4"/>
          <p:cNvSpPr>
            <a:spLocks noGrp="1"/>
          </p:cNvSpPr>
          <p:nvPr>
            <p:ph type="ftr" sz="quarter" idx="11"/>
          </p:nvPr>
        </p:nvSpPr>
        <p:spPr/>
        <p:txBody>
          <a:bodyPr/>
          <a:lstStyle/>
          <a:p>
            <a:r>
              <a:rPr lang="en-IN"/>
              <a:t>Speech Processing</a:t>
            </a:r>
            <a:endParaRPr lang="en-IN"/>
          </a:p>
        </p:txBody>
      </p:sp>
      <p:sp>
        <p:nvSpPr>
          <p:cNvPr id="6" name="Slide Number Placeholder 5"/>
          <p:cNvSpPr>
            <a:spLocks noGrp="1"/>
          </p:cNvSpPr>
          <p:nvPr>
            <p:ph type="sldNum" sz="quarter" idx="12"/>
          </p:nvPr>
        </p:nvSpPr>
        <p:spPr/>
        <p:txBody>
          <a:bodyPr/>
          <a:lstStyle/>
          <a:p>
            <a:fld id="{C2216105-7B7A-4C42-B2A1-5E9A2FA4F8FD}"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lstStyle/>
          <a:p>
            <a:fld id="{CA9FD66B-7BF9-457E-8F34-7A62FFE4EC1F}" type="datetime1">
              <a:rPr lang="en-IN" smtClean="0"/>
            </a:fld>
            <a:endParaRPr lang="en-IN"/>
          </a:p>
        </p:txBody>
      </p:sp>
      <p:sp>
        <p:nvSpPr>
          <p:cNvPr id="6" name="Footer Placeholder 5"/>
          <p:cNvSpPr>
            <a:spLocks noGrp="1"/>
          </p:cNvSpPr>
          <p:nvPr>
            <p:ph type="ftr" sz="quarter" idx="11"/>
          </p:nvPr>
        </p:nvSpPr>
        <p:spPr/>
        <p:txBody>
          <a:bodyPr/>
          <a:lstStyle/>
          <a:p>
            <a:r>
              <a:rPr lang="en-IN"/>
              <a:t>Speech Processing</a:t>
            </a:r>
            <a:endParaRPr lang="en-IN"/>
          </a:p>
        </p:txBody>
      </p:sp>
      <p:sp>
        <p:nvSpPr>
          <p:cNvPr id="7" name="Slide Number Placeholder 6"/>
          <p:cNvSpPr>
            <a:spLocks noGrp="1"/>
          </p:cNvSpPr>
          <p:nvPr>
            <p:ph type="sldNum" sz="quarter" idx="12"/>
          </p:nvPr>
        </p:nvSpPr>
        <p:spPr/>
        <p:txBody>
          <a:bodyPr/>
          <a:lstStyle/>
          <a:p>
            <a:fld id="{C2216105-7B7A-4C42-B2A1-5E9A2FA4F8FD}"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lstStyle/>
          <a:p>
            <a:fld id="{EFAE7592-1B5F-45CD-B707-8D5A5E58EE31}" type="datetime1">
              <a:rPr lang="en-IN" smtClean="0"/>
            </a:fld>
            <a:endParaRPr lang="en-IN"/>
          </a:p>
        </p:txBody>
      </p:sp>
      <p:sp>
        <p:nvSpPr>
          <p:cNvPr id="8" name="Footer Placeholder 7"/>
          <p:cNvSpPr>
            <a:spLocks noGrp="1"/>
          </p:cNvSpPr>
          <p:nvPr>
            <p:ph type="ftr" sz="quarter" idx="11"/>
          </p:nvPr>
        </p:nvSpPr>
        <p:spPr/>
        <p:txBody>
          <a:bodyPr/>
          <a:lstStyle/>
          <a:p>
            <a:r>
              <a:rPr lang="en-IN"/>
              <a:t>Speech Processing</a:t>
            </a:r>
            <a:endParaRPr lang="en-IN"/>
          </a:p>
        </p:txBody>
      </p:sp>
      <p:sp>
        <p:nvSpPr>
          <p:cNvPr id="9" name="Slide Number Placeholder 8"/>
          <p:cNvSpPr>
            <a:spLocks noGrp="1"/>
          </p:cNvSpPr>
          <p:nvPr>
            <p:ph type="sldNum" sz="quarter" idx="12"/>
          </p:nvPr>
        </p:nvSpPr>
        <p:spPr/>
        <p:txBody>
          <a:bodyPr/>
          <a:lstStyle/>
          <a:p>
            <a:fld id="{C2216105-7B7A-4C42-B2A1-5E9A2FA4F8FD}"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990ABBB8-8A7F-45A3-83C4-4C9477351CC6}" type="datetime1">
              <a:rPr lang="en-IN" smtClean="0"/>
            </a:fld>
            <a:endParaRPr lang="en-IN"/>
          </a:p>
        </p:txBody>
      </p:sp>
      <p:sp>
        <p:nvSpPr>
          <p:cNvPr id="4" name="Footer Placeholder 3"/>
          <p:cNvSpPr>
            <a:spLocks noGrp="1"/>
          </p:cNvSpPr>
          <p:nvPr>
            <p:ph type="ftr" sz="quarter" idx="11"/>
          </p:nvPr>
        </p:nvSpPr>
        <p:spPr/>
        <p:txBody>
          <a:bodyPr/>
          <a:lstStyle/>
          <a:p>
            <a:r>
              <a:rPr lang="en-IN"/>
              <a:t>Speech Processing</a:t>
            </a:r>
            <a:endParaRPr lang="en-IN"/>
          </a:p>
        </p:txBody>
      </p:sp>
      <p:sp>
        <p:nvSpPr>
          <p:cNvPr id="5" name="Slide Number Placeholder 4"/>
          <p:cNvSpPr>
            <a:spLocks noGrp="1"/>
          </p:cNvSpPr>
          <p:nvPr>
            <p:ph type="sldNum" sz="quarter" idx="12"/>
          </p:nvPr>
        </p:nvSpPr>
        <p:spPr/>
        <p:txBody>
          <a:bodyPr/>
          <a:lstStyle/>
          <a:p>
            <a:fld id="{C2216105-7B7A-4C42-B2A1-5E9A2FA4F8FD}"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435D1B-80AA-466C-8316-5AE450E66A39}" type="datetime1">
              <a:rPr lang="en-IN" smtClean="0"/>
            </a:fld>
            <a:endParaRPr lang="en-IN"/>
          </a:p>
        </p:txBody>
      </p:sp>
      <p:sp>
        <p:nvSpPr>
          <p:cNvPr id="3" name="Footer Placeholder 2"/>
          <p:cNvSpPr>
            <a:spLocks noGrp="1"/>
          </p:cNvSpPr>
          <p:nvPr>
            <p:ph type="ftr" sz="quarter" idx="11"/>
          </p:nvPr>
        </p:nvSpPr>
        <p:spPr/>
        <p:txBody>
          <a:bodyPr/>
          <a:lstStyle/>
          <a:p>
            <a:r>
              <a:rPr lang="en-IN"/>
              <a:t>Speech Processing</a:t>
            </a:r>
            <a:endParaRPr lang="en-IN"/>
          </a:p>
        </p:txBody>
      </p:sp>
      <p:sp>
        <p:nvSpPr>
          <p:cNvPr id="4" name="Slide Number Placeholder 3"/>
          <p:cNvSpPr>
            <a:spLocks noGrp="1"/>
          </p:cNvSpPr>
          <p:nvPr>
            <p:ph type="sldNum" sz="quarter" idx="12"/>
          </p:nvPr>
        </p:nvSpPr>
        <p:spPr/>
        <p:txBody>
          <a:bodyPr/>
          <a:lstStyle/>
          <a:p>
            <a:fld id="{C2216105-7B7A-4C42-B2A1-5E9A2FA4F8FD}"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E3447488-929A-4615-A557-C0AD33B297D1}" type="datetime1">
              <a:rPr lang="en-IN" smtClean="0"/>
            </a:fld>
            <a:endParaRPr lang="en-IN"/>
          </a:p>
        </p:txBody>
      </p:sp>
      <p:sp>
        <p:nvSpPr>
          <p:cNvPr id="6" name="Footer Placeholder 5"/>
          <p:cNvSpPr>
            <a:spLocks noGrp="1"/>
          </p:cNvSpPr>
          <p:nvPr>
            <p:ph type="ftr" sz="quarter" idx="11"/>
          </p:nvPr>
        </p:nvSpPr>
        <p:spPr/>
        <p:txBody>
          <a:bodyPr/>
          <a:lstStyle/>
          <a:p>
            <a:r>
              <a:rPr lang="en-IN"/>
              <a:t>Speech Processing</a:t>
            </a:r>
            <a:endParaRPr lang="en-IN"/>
          </a:p>
        </p:txBody>
      </p:sp>
      <p:sp>
        <p:nvSpPr>
          <p:cNvPr id="7" name="Slide Number Placeholder 6"/>
          <p:cNvSpPr>
            <a:spLocks noGrp="1"/>
          </p:cNvSpPr>
          <p:nvPr>
            <p:ph type="sldNum" sz="quarter" idx="12"/>
          </p:nvPr>
        </p:nvSpPr>
        <p:spPr/>
        <p:txBody>
          <a:bodyPr/>
          <a:lstStyle/>
          <a:p>
            <a:fld id="{C2216105-7B7A-4C42-B2A1-5E9A2FA4F8FD}"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AABDCACE-EBE9-4116-B81B-E040F2D3F20E}" type="datetime1">
              <a:rPr lang="en-IN" smtClean="0"/>
            </a:fld>
            <a:endParaRPr lang="en-IN"/>
          </a:p>
        </p:txBody>
      </p:sp>
      <p:sp>
        <p:nvSpPr>
          <p:cNvPr id="6" name="Footer Placeholder 5"/>
          <p:cNvSpPr>
            <a:spLocks noGrp="1"/>
          </p:cNvSpPr>
          <p:nvPr>
            <p:ph type="ftr" sz="quarter" idx="11"/>
          </p:nvPr>
        </p:nvSpPr>
        <p:spPr/>
        <p:txBody>
          <a:bodyPr/>
          <a:lstStyle/>
          <a:p>
            <a:r>
              <a:rPr lang="en-IN"/>
              <a:t>Speech Processing</a:t>
            </a:r>
            <a:endParaRPr lang="en-IN"/>
          </a:p>
        </p:txBody>
      </p:sp>
      <p:sp>
        <p:nvSpPr>
          <p:cNvPr id="7" name="Slide Number Placeholder 6"/>
          <p:cNvSpPr>
            <a:spLocks noGrp="1"/>
          </p:cNvSpPr>
          <p:nvPr>
            <p:ph type="sldNum" sz="quarter" idx="12"/>
          </p:nvPr>
        </p:nvSpPr>
        <p:spPr/>
        <p:txBody>
          <a:bodyPr/>
          <a:lstStyle/>
          <a:p>
            <a:fld id="{C2216105-7B7A-4C42-B2A1-5E9A2FA4F8FD}"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479BF764-0E37-4886-B1E5-DFBF599A6490}" type="datetime1">
              <a:rPr lang="en-IN" smtClean="0"/>
            </a:fld>
            <a:endParaRPr lang="en-IN"/>
          </a:p>
        </p:txBody>
      </p:sp>
      <p:sp>
        <p:nvSpPr>
          <p:cNvPr id="5" name="Footer Placeholder 4"/>
          <p:cNvSpPr>
            <a:spLocks noGrp="1"/>
          </p:cNvSpPr>
          <p:nvPr>
            <p:ph type="ftr" sz="quarter" idx="11"/>
          </p:nvPr>
        </p:nvSpPr>
        <p:spPr/>
        <p:txBody>
          <a:bodyPr/>
          <a:lstStyle/>
          <a:p>
            <a:r>
              <a:rPr lang="en-IN"/>
              <a:t>Speech Processing</a:t>
            </a:r>
            <a:endParaRPr lang="en-IN"/>
          </a:p>
        </p:txBody>
      </p:sp>
      <p:sp>
        <p:nvSpPr>
          <p:cNvPr id="6" name="Slide Number Placeholder 5"/>
          <p:cNvSpPr>
            <a:spLocks noGrp="1"/>
          </p:cNvSpPr>
          <p:nvPr>
            <p:ph type="sldNum" sz="quarter" idx="12"/>
          </p:nvPr>
        </p:nvSpPr>
        <p:spPr/>
        <p:txBody>
          <a:bodyPr/>
          <a:lstStyle/>
          <a:p>
            <a:fld id="{C2216105-7B7A-4C42-B2A1-5E9A2FA4F8FD}"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E9A9FEB4-F282-4F07-B60D-731E94E7D45B}" type="datetime1">
              <a:rPr lang="en-IN" smtClean="0"/>
            </a:fld>
            <a:endParaRPr lang="en-IN"/>
          </a:p>
        </p:txBody>
      </p:sp>
      <p:sp>
        <p:nvSpPr>
          <p:cNvPr id="5" name="Footer Placeholder 4"/>
          <p:cNvSpPr>
            <a:spLocks noGrp="1"/>
          </p:cNvSpPr>
          <p:nvPr>
            <p:ph type="ftr" sz="quarter" idx="11"/>
          </p:nvPr>
        </p:nvSpPr>
        <p:spPr/>
        <p:txBody>
          <a:bodyPr/>
          <a:lstStyle/>
          <a:p>
            <a:r>
              <a:rPr lang="en-IN"/>
              <a:t>Speech Processing</a:t>
            </a:r>
            <a:endParaRPr lang="en-IN"/>
          </a:p>
        </p:txBody>
      </p:sp>
      <p:sp>
        <p:nvSpPr>
          <p:cNvPr id="6" name="Slide Number Placeholder 5"/>
          <p:cNvSpPr>
            <a:spLocks noGrp="1"/>
          </p:cNvSpPr>
          <p:nvPr>
            <p:ph type="sldNum" sz="quarter" idx="12"/>
          </p:nvPr>
        </p:nvSpPr>
        <p:spPr/>
        <p:txBody>
          <a:bodyPr/>
          <a:lstStyle/>
          <a:p>
            <a:fld id="{C2216105-7B7A-4C42-B2A1-5E9A2FA4F8FD}"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524EDEC-E80A-4952-9B8F-BFE95EE7B0BE}" type="datetime1">
              <a:rPr lang="en-IN" smtClean="0"/>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Speech Processing</a:t>
            </a:r>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216105-7B7A-4C42-B2A1-5E9A2FA4F8FD}"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slideLayout" Target="../slideLayouts/slideLayout2.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1" y="0"/>
            <a:ext cx="12191998" cy="1262131"/>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Google Shape;91;p1"/>
          <p:cNvSpPr txBox="1"/>
          <p:nvPr/>
        </p:nvSpPr>
        <p:spPr>
          <a:xfrm>
            <a:off x="-1" y="6416040"/>
            <a:ext cx="12191998" cy="441960"/>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None/>
            </a:pPr>
            <a:r>
              <a:rPr lang="en-IN" sz="1600" b="1" i="0" u="none" strike="noStrike" cap="none" dirty="0">
                <a:solidFill>
                  <a:srgbClr val="081271"/>
                </a:solidFill>
                <a:latin typeface="Times New Roman" panose="02020603050405020304"/>
                <a:ea typeface="Times New Roman" panose="02020603050405020304"/>
                <a:cs typeface="Times New Roman" panose="02020603050405020304"/>
                <a:sym typeface="Times New Roman" panose="02020603050405020304"/>
              </a:rPr>
              <a:t>[Final Project Review]</a:t>
            </a:r>
            <a:endParaRPr sz="1600" b="1" i="0" u="none" strike="noStrike" cap="none" dirty="0">
              <a:solidFill>
                <a:srgbClr val="08127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1" name="Title 3"/>
          <p:cNvSpPr txBox="1"/>
          <p:nvPr/>
        </p:nvSpPr>
        <p:spPr>
          <a:xfrm>
            <a:off x="594358" y="2312035"/>
            <a:ext cx="10972800" cy="1044156"/>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3600" dirty="0">
                <a:latin typeface="Times New Roman" panose="02020603050405020304" pitchFamily="18" charset="0"/>
                <a:cs typeface="Times New Roman" panose="02020603050405020304" pitchFamily="18" charset="0"/>
              </a:rPr>
              <a:t>SupplyAI-RL: Explainable Supply Chain Optimization</a:t>
            </a:r>
            <a:endParaRPr lang="en-IN" sz="3600" dirty="0">
              <a:latin typeface="Times New Roman" panose="02020603050405020304" pitchFamily="18" charset="0"/>
              <a:cs typeface="Times New Roman" panose="02020603050405020304" pitchFamily="18" charset="0"/>
            </a:endParaRPr>
          </a:p>
        </p:txBody>
      </p:sp>
      <p:sp>
        <p:nvSpPr>
          <p:cNvPr id="3" name="Rectangle 2"/>
          <p:cNvSpPr/>
          <p:nvPr/>
        </p:nvSpPr>
        <p:spPr>
          <a:xfrm>
            <a:off x="1935319" y="236845"/>
            <a:ext cx="7999556" cy="460375"/>
          </a:xfrm>
          <a:prstGeom prst="rect">
            <a:avLst/>
          </a:prstGeom>
        </p:spPr>
        <p:txBody>
          <a:bodyPr wrap="square">
            <a:spAutoFit/>
          </a:bodyPr>
          <a:lstStyle/>
          <a:p>
            <a:pPr algn="ctr"/>
            <a:r>
              <a:rPr lang="it-IT" sz="2400" b="1" dirty="0"/>
              <a:t>22AIE450 Reinforcement Learning</a:t>
            </a:r>
            <a:endParaRPr lang="en-IN" sz="2400" b="1" dirty="0">
              <a:solidFill>
                <a:srgbClr val="7030A0"/>
              </a:solidFill>
            </a:endParaRPr>
          </a:p>
        </p:txBody>
      </p:sp>
      <p:cxnSp>
        <p:nvCxnSpPr>
          <p:cNvPr id="16" name="Straight Connector 15"/>
          <p:cNvCxnSpPr/>
          <p:nvPr/>
        </p:nvCxnSpPr>
        <p:spPr>
          <a:xfrm>
            <a:off x="0" y="1260899"/>
            <a:ext cx="12192000" cy="0"/>
          </a:xfrm>
          <a:prstGeom prst="line">
            <a:avLst/>
          </a:prstGeom>
          <a:ln w="28575">
            <a:solidFill>
              <a:srgbClr val="1A9B46"/>
            </a:solidFill>
          </a:ln>
        </p:spPr>
        <p:style>
          <a:lnRef idx="1">
            <a:schemeClr val="accent1"/>
          </a:lnRef>
          <a:fillRef idx="0">
            <a:schemeClr val="accent1"/>
          </a:fillRef>
          <a:effectRef idx="0">
            <a:schemeClr val="accent1"/>
          </a:effectRef>
          <a:fontRef idx="minor">
            <a:schemeClr val="tx1"/>
          </a:fontRef>
        </p:style>
      </p:cxnSp>
      <p:sp>
        <p:nvSpPr>
          <p:cNvPr id="18" name="Rectangle 17"/>
          <p:cNvSpPr/>
          <p:nvPr/>
        </p:nvSpPr>
        <p:spPr>
          <a:xfrm>
            <a:off x="9077095" y="5597101"/>
            <a:ext cx="2636299" cy="369332"/>
          </a:xfrm>
          <a:prstGeom prst="rect">
            <a:avLst/>
          </a:prstGeom>
        </p:spPr>
        <p:txBody>
          <a:bodyPr wrap="none">
            <a:spAutoFit/>
          </a:bodyPr>
          <a:lstStyle/>
          <a:p>
            <a:r>
              <a:rPr lang="en-US" sz="1600" b="1" dirty="0">
                <a:latin typeface="Times New Roman" panose="02020603050405020304" pitchFamily="18" charset="0"/>
                <a:cs typeface="Times New Roman" panose="02020603050405020304" pitchFamily="18" charset="0"/>
              </a:rPr>
              <a:t>Date: ____________</a:t>
            </a:r>
            <a:endParaRPr lang="en-IN" dirty="0">
              <a:latin typeface="Times New Roman" panose="02020603050405020304" pitchFamily="18" charset="0"/>
              <a:cs typeface="Times New Roman" panose="02020603050405020304" pitchFamily="18" charset="0"/>
            </a:endParaRPr>
          </a:p>
        </p:txBody>
      </p:sp>
      <p:sp>
        <p:nvSpPr>
          <p:cNvPr id="19" name="Slide Number Placeholder 18"/>
          <p:cNvSpPr>
            <a:spLocks noGrp="1"/>
          </p:cNvSpPr>
          <p:nvPr>
            <p:ph type="sldNum" sz="quarter" idx="12"/>
          </p:nvPr>
        </p:nvSpPr>
        <p:spPr>
          <a:xfrm>
            <a:off x="10804848" y="6356350"/>
            <a:ext cx="548951" cy="365125"/>
          </a:xfrm>
        </p:spPr>
        <p:txBody>
          <a:bodyPr/>
          <a:lstStyle/>
          <a:p>
            <a:fld id="{C2216105-7B7A-4C42-B2A1-5E9A2FA4F8FD}" type="slidenum">
              <a:rPr lang="en-IN" smtClean="0"/>
            </a:fld>
            <a:endParaRPr lang="en-IN" dirty="0"/>
          </a:p>
        </p:txBody>
      </p:sp>
      <p:sp>
        <p:nvSpPr>
          <p:cNvPr id="2" name="Rectangle 1"/>
          <p:cNvSpPr/>
          <p:nvPr/>
        </p:nvSpPr>
        <p:spPr>
          <a:xfrm>
            <a:off x="150810" y="5675807"/>
            <a:ext cx="2854308" cy="369332"/>
          </a:xfrm>
          <a:prstGeom prst="rect">
            <a:avLst/>
          </a:prstGeom>
        </p:spPr>
        <p:txBody>
          <a:bodyPr wrap="none">
            <a:spAutoFit/>
          </a:bodyPr>
          <a:lstStyle/>
          <a:p>
            <a:r>
              <a:rPr lang="en-US" sz="1600" b="1" dirty="0">
                <a:latin typeface="Times New Roman" panose="02020603050405020304" pitchFamily="18" charset="0"/>
                <a:cs typeface="Times New Roman" panose="02020603050405020304" pitchFamily="18" charset="0"/>
              </a:rPr>
              <a:t>Batch and Group Number: ______</a:t>
            </a:r>
            <a:endParaRPr lang="en-IN" dirty="0">
              <a:latin typeface="Times New Roman" panose="02020603050405020304" pitchFamily="18" charset="0"/>
              <a:cs typeface="Times New Roman" panose="02020603050405020304" pitchFamily="18" charset="0"/>
            </a:endParaRPr>
          </a:p>
        </p:txBody>
      </p:sp>
      <p:graphicFrame>
        <p:nvGraphicFramePr>
          <p:cNvPr id="20" name="Table 19"/>
          <p:cNvGraphicFramePr>
            <a:graphicFrameLocks noGrp="1"/>
          </p:cNvGraphicFramePr>
          <p:nvPr/>
        </p:nvGraphicFramePr>
        <p:xfrm>
          <a:off x="3566160" y="4160520"/>
          <a:ext cx="5029200" cy="1554480"/>
        </p:xfrm>
        <a:graphic>
          <a:graphicData uri="http://schemas.openxmlformats.org/drawingml/2006/table">
            <a:tbl>
              <a:tblPr firstRow="1" bandRow="1">
                <a:tableStyleId>{5C22544A-7EE6-4342-B048-85BDC9FD1C3A}</a:tableStyleId>
              </a:tblPr>
              <a:tblGrid>
                <a:gridCol w="2514600"/>
                <a:gridCol w="2514600"/>
              </a:tblGrid>
              <a:tr h="310896">
                <a:tc>
                  <a:txBody>
                    <a:bodyPr wrap="square"/>
                    <a:lstStyle/>
                    <a:p>
                      <a:pPr algn="l"/>
                      <a:r>
                        <a:rPr sz="1500" b="1" i="0">
                          <a:solidFill>
                            <a:srgbClr val="FFFFFF"/>
                          </a:solidFill>
                          <a:latin typeface="Calibri" panose="020F0502020204030204"/>
                        </a:rPr>
                        <a:t>Name</a:t>
                      </a:r>
                      <a:endParaRPr sz="1500" b="1" i="0">
                        <a:solidFill>
                          <a:srgbClr val="FFFFFF"/>
                        </a:solidFill>
                        <a:latin typeface="Calibri" panose="020F0502020204030204"/>
                      </a:endParaRPr>
                    </a:p>
                  </a:txBody>
                  <a:tcPr marL="54864" marR="54864" marT="18288" marB="18288" anchor="ctr">
                    <a:solidFill>
                      <a:srgbClr val="2E8B57"/>
                    </a:solidFill>
                  </a:tcPr>
                </a:tc>
                <a:tc>
                  <a:txBody>
                    <a:bodyPr wrap="square"/>
                    <a:lstStyle/>
                    <a:p>
                      <a:pPr algn="ctr"/>
                      <a:r>
                        <a:rPr sz="1500" b="1" i="0">
                          <a:solidFill>
                            <a:srgbClr val="FFFFFF"/>
                          </a:solidFill>
                          <a:latin typeface="Calibri" panose="020F0502020204030204"/>
                        </a:rPr>
                        <a:t>Roll number</a:t>
                      </a:r>
                      <a:endParaRPr sz="1500" b="1" i="0">
                        <a:solidFill>
                          <a:srgbClr val="FFFFFF"/>
                        </a:solidFill>
                        <a:latin typeface="Calibri" panose="020F0502020204030204"/>
                      </a:endParaRPr>
                    </a:p>
                  </a:txBody>
                  <a:tcPr marL="54864" marR="54864" marT="18288" marB="18288" anchor="ctr">
                    <a:solidFill>
                      <a:srgbClr val="2E8B57"/>
                    </a:solidFill>
                  </a:tcPr>
                </a:tc>
              </a:tr>
              <a:tr h="310896">
                <a:tc>
                  <a:txBody>
                    <a:bodyPr wrap="square"/>
                    <a:lstStyle/>
                    <a:p>
                      <a:r>
                        <a:rPr sz="1500" b="0" i="0">
                          <a:solidFill>
                            <a:srgbClr val="1F2937"/>
                          </a:solidFill>
                          <a:latin typeface="Calibri" panose="020F0502020204030204"/>
                        </a:rPr>
                        <a:t>Koushik</a:t>
                      </a:r>
                      <a:endParaRPr sz="1500" b="0" i="0">
                        <a:solidFill>
                          <a:srgbClr val="1F2937"/>
                        </a:solidFill>
                        <a:latin typeface="Calibri" panose="020F0502020204030204"/>
                      </a:endParaRPr>
                    </a:p>
                  </a:txBody>
                  <a:tcPr marL="54864" marR="54864" marT="18288" marB="18288" anchor="ctr">
                    <a:solidFill>
                      <a:srgbClr val="FFFFFF"/>
                    </a:solidFill>
                  </a:tcPr>
                </a:tc>
                <a:tc>
                  <a:txBody>
                    <a:bodyPr wrap="square"/>
                    <a:lstStyle/>
                    <a:p>
                      <a:pPr algn="ctr"/>
                      <a:r>
                        <a:rPr sz="1500" b="0" i="0">
                          <a:solidFill>
                            <a:srgbClr val="1F2937"/>
                          </a:solidFill>
                          <a:latin typeface="Calibri" panose="020F0502020204030204"/>
                        </a:rPr>
                        <a:t>CB.SC.U4AIE23312</a:t>
                      </a:r>
                      <a:endParaRPr sz="1500" b="0" i="0">
                        <a:solidFill>
                          <a:srgbClr val="1F2937"/>
                        </a:solidFill>
                        <a:latin typeface="Calibri" panose="020F0502020204030204"/>
                      </a:endParaRPr>
                    </a:p>
                  </a:txBody>
                  <a:tcPr marL="54864" marR="54864" marT="18288" marB="18288" anchor="ctr">
                    <a:solidFill>
                      <a:srgbClr val="FFFFFF"/>
                    </a:solidFill>
                  </a:tcPr>
                </a:tc>
              </a:tr>
              <a:tr h="310896">
                <a:tc>
                  <a:txBody>
                    <a:bodyPr wrap="square"/>
                    <a:lstStyle/>
                    <a:p>
                      <a:r>
                        <a:rPr sz="1500" b="0" i="0">
                          <a:solidFill>
                            <a:srgbClr val="1F2937"/>
                          </a:solidFill>
                          <a:latin typeface="Calibri" panose="020F0502020204030204"/>
                        </a:rPr>
                        <a:t>Santosh</a:t>
                      </a:r>
                      <a:endParaRPr sz="1500" b="0" i="0">
                        <a:solidFill>
                          <a:srgbClr val="1F2937"/>
                        </a:solidFill>
                        <a:latin typeface="Calibri" panose="020F0502020204030204"/>
                      </a:endParaRPr>
                    </a:p>
                  </a:txBody>
                  <a:tcPr marL="54864" marR="54864" marT="18288" marB="18288" anchor="ctr">
                    <a:solidFill>
                      <a:srgbClr val="F1F5F9"/>
                    </a:solidFill>
                  </a:tcPr>
                </a:tc>
                <a:tc>
                  <a:txBody>
                    <a:bodyPr wrap="square"/>
                    <a:lstStyle/>
                    <a:p>
                      <a:pPr algn="ctr"/>
                      <a:r>
                        <a:rPr sz="1500" b="0" i="0">
                          <a:solidFill>
                            <a:srgbClr val="1F2937"/>
                          </a:solidFill>
                          <a:latin typeface="Calibri" panose="020F0502020204030204"/>
                        </a:rPr>
                        <a:t>CB.SC.U4AIE23310</a:t>
                      </a:r>
                      <a:endParaRPr sz="1500" b="0" i="0">
                        <a:solidFill>
                          <a:srgbClr val="1F2937"/>
                        </a:solidFill>
                        <a:latin typeface="Calibri" panose="020F0502020204030204"/>
                      </a:endParaRPr>
                    </a:p>
                  </a:txBody>
                  <a:tcPr marL="54864" marR="54864" marT="18288" marB="18288" anchor="ctr">
                    <a:solidFill>
                      <a:srgbClr val="F1F5F9"/>
                    </a:solidFill>
                  </a:tcPr>
                </a:tc>
              </a:tr>
              <a:tr h="310896">
                <a:tc>
                  <a:txBody>
                    <a:bodyPr wrap="square"/>
                    <a:lstStyle/>
                    <a:p>
                      <a:r>
                        <a:rPr sz="1500" b="0" i="0">
                          <a:solidFill>
                            <a:srgbClr val="1F2937"/>
                          </a:solidFill>
                          <a:latin typeface="Calibri" panose="020F0502020204030204"/>
                        </a:rPr>
                        <a:t>Srinith</a:t>
                      </a:r>
                      <a:endParaRPr sz="1500" b="0" i="0">
                        <a:solidFill>
                          <a:srgbClr val="1F2937"/>
                        </a:solidFill>
                        <a:latin typeface="Calibri" panose="020F0502020204030204"/>
                      </a:endParaRPr>
                    </a:p>
                  </a:txBody>
                  <a:tcPr marL="54864" marR="54864" marT="18288" marB="18288" anchor="ctr">
                    <a:solidFill>
                      <a:srgbClr val="FFFFFF"/>
                    </a:solidFill>
                  </a:tcPr>
                </a:tc>
                <a:tc>
                  <a:txBody>
                    <a:bodyPr wrap="square"/>
                    <a:lstStyle/>
                    <a:p>
                      <a:pPr algn="ctr"/>
                      <a:r>
                        <a:rPr sz="1500" b="0" i="0">
                          <a:solidFill>
                            <a:srgbClr val="1F2937"/>
                          </a:solidFill>
                          <a:latin typeface="Calibri" panose="020F0502020204030204"/>
                        </a:rPr>
                        <a:t>CB.SC.U4AIE23357</a:t>
                      </a:r>
                      <a:endParaRPr sz="1500" b="0" i="0">
                        <a:solidFill>
                          <a:srgbClr val="1F2937"/>
                        </a:solidFill>
                        <a:latin typeface="Calibri" panose="020F0502020204030204"/>
                      </a:endParaRPr>
                    </a:p>
                  </a:txBody>
                  <a:tcPr marL="54864" marR="54864" marT="18288" marB="18288" anchor="ctr">
                    <a:solidFill>
                      <a:srgbClr val="FFFFFF"/>
                    </a:solidFill>
                  </a:tcPr>
                </a:tc>
              </a:tr>
              <a:tr h="310896">
                <a:tc>
                  <a:txBody>
                    <a:bodyPr wrap="square"/>
                    <a:lstStyle/>
                    <a:p>
                      <a:r>
                        <a:rPr sz="1500" b="0" i="0">
                          <a:solidFill>
                            <a:srgbClr val="1F2937"/>
                          </a:solidFill>
                          <a:latin typeface="Calibri" panose="020F0502020204030204"/>
                        </a:rPr>
                        <a:t>Dharani Pratap</a:t>
                      </a:r>
                      <a:endParaRPr sz="1500" b="0" i="0">
                        <a:solidFill>
                          <a:srgbClr val="1F2937"/>
                        </a:solidFill>
                        <a:latin typeface="Calibri" panose="020F0502020204030204"/>
                      </a:endParaRPr>
                    </a:p>
                  </a:txBody>
                  <a:tcPr marL="54864" marR="54864" marT="18288" marB="18288" anchor="ctr">
                    <a:solidFill>
                      <a:srgbClr val="F1F5F9"/>
                    </a:solidFill>
                  </a:tcPr>
                </a:tc>
                <a:tc>
                  <a:txBody>
                    <a:bodyPr wrap="square"/>
                    <a:lstStyle/>
                    <a:p>
                      <a:pPr algn="ctr"/>
                      <a:r>
                        <a:rPr sz="1500" b="0" i="0">
                          <a:solidFill>
                            <a:srgbClr val="1F2937"/>
                          </a:solidFill>
                          <a:latin typeface="Calibri" panose="020F0502020204030204"/>
                        </a:rPr>
                        <a:t>CB.SC.U4AIE23330</a:t>
                      </a:r>
                      <a:endParaRPr sz="1500" b="0" i="0">
                        <a:solidFill>
                          <a:srgbClr val="1F2937"/>
                        </a:solidFill>
                        <a:latin typeface="Calibri" panose="020F0502020204030204"/>
                      </a:endParaRPr>
                    </a:p>
                  </a:txBody>
                  <a:tcPr marL="54864" marR="54864" marT="18288" marB="18288" anchor="ctr">
                    <a:solidFill>
                      <a:srgbClr val="F1F5F9"/>
                    </a:solidFill>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 name="Rectangle 16"/>
          <p:cNvSpPr/>
          <p:nvPr/>
        </p:nvSpPr>
        <p:spPr>
          <a:xfrm>
            <a:off x="-1" y="0"/>
            <a:ext cx="12191998" cy="1262131"/>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4400" dirty="0">
              <a:solidFill>
                <a:schemeClr val="accent1">
                  <a:lumMod val="50000"/>
                </a:schemeClr>
              </a:solidFill>
            </a:endParaRPr>
          </a:p>
        </p:txBody>
      </p:sp>
      <p:sp>
        <p:nvSpPr>
          <p:cNvPr id="10" name="Google Shape;91;p1"/>
          <p:cNvSpPr txBox="1"/>
          <p:nvPr/>
        </p:nvSpPr>
        <p:spPr>
          <a:xfrm>
            <a:off x="-1" y="6416040"/>
            <a:ext cx="12191998" cy="441960"/>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None/>
            </a:pPr>
            <a:r>
              <a:rPr lang="en-IN" sz="1600" b="1" i="0" u="none" strike="noStrike" cap="none" dirty="0">
                <a:solidFill>
                  <a:srgbClr val="081271"/>
                </a:solidFill>
                <a:latin typeface="Times New Roman" panose="02020603050405020304"/>
                <a:ea typeface="Times New Roman" panose="02020603050405020304"/>
                <a:cs typeface="Times New Roman" panose="02020603050405020304"/>
                <a:sym typeface="Times New Roman" panose="02020603050405020304"/>
              </a:rPr>
              <a:t>[Final Project Review]</a:t>
            </a:r>
            <a:endParaRPr sz="1600" b="1" i="0" u="none" strike="noStrike" cap="none" dirty="0">
              <a:solidFill>
                <a:srgbClr val="08127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16" name="Straight Connector 15"/>
          <p:cNvCxnSpPr/>
          <p:nvPr/>
        </p:nvCxnSpPr>
        <p:spPr>
          <a:xfrm>
            <a:off x="0" y="1260899"/>
            <a:ext cx="12192000" cy="0"/>
          </a:xfrm>
          <a:prstGeom prst="line">
            <a:avLst/>
          </a:prstGeom>
          <a:ln w="28575">
            <a:solidFill>
              <a:srgbClr val="1A9B46"/>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sz="3200"/>
              <a:t>Outline</a:t>
            </a:r>
            <a:endParaRPr sz="3200"/>
          </a:p>
        </p:txBody>
      </p:sp>
      <p:sp>
        <p:nvSpPr>
          <p:cNvPr id="19" name="Slide Number Placeholder 18"/>
          <p:cNvSpPr>
            <a:spLocks noGrp="1"/>
          </p:cNvSpPr>
          <p:nvPr>
            <p:ph type="sldNum" sz="quarter" idx="12"/>
          </p:nvPr>
        </p:nvSpPr>
        <p:spPr/>
        <p:txBody>
          <a:bodyPr/>
          <a:lstStyle/>
          <a:p>
            <a:fld id="{C2216105-7B7A-4C42-B2A1-5E9A2FA4F8FD}" type="slidenum">
              <a:rPr lang="en-IN" smtClean="0"/>
            </a:fld>
            <a:endParaRPr lang="en-IN" dirty="0"/>
          </a:p>
        </p:txBody>
      </p:sp>
      <p:sp>
        <p:nvSpPr>
          <p:cNvPr id="20" name="TextBox 19"/>
          <p:cNvSpPr txBox="1"/>
          <p:nvPr/>
        </p:nvSpPr>
        <p:spPr>
          <a:xfrm>
            <a:off x="822960" y="1554480"/>
            <a:ext cx="5212080" cy="4572000"/>
          </a:xfrm>
          <a:prstGeom prst="rect">
            <a:avLst/>
          </a:prstGeom>
          <a:noFill/>
        </p:spPr>
        <p:txBody>
          <a:bodyPr wrap="square" lIns="45720" tIns="27432" rIns="45720" bIns="27432" anchor="t">
            <a:spAutoFit/>
          </a:bodyPr>
          <a:lstStyle/>
          <a:p>
            <a:pPr algn="l">
              <a:spcAft>
                <a:spcPts val="1200"/>
              </a:spcAft>
            </a:pPr>
            <a:r>
              <a:rPr sz="2200" b="0" i="0">
                <a:solidFill>
                  <a:srgbClr val="1F2937"/>
                </a:solidFill>
                <a:latin typeface="Calibri" panose="020F0502020204030204"/>
              </a:rPr>
              <a:t>1  Introduction and motivation</a:t>
            </a:r>
            <a:endParaRPr sz="2200" b="0" i="0">
              <a:solidFill>
                <a:srgbClr val="1F2937"/>
              </a:solidFill>
              <a:latin typeface="Calibri" panose="020F0502020204030204"/>
            </a:endParaRPr>
          </a:p>
          <a:p>
            <a:pPr algn="l">
              <a:spcAft>
                <a:spcPts val="1200"/>
              </a:spcAft>
            </a:pPr>
            <a:r>
              <a:rPr sz="2200" b="0" i="0">
                <a:solidFill>
                  <a:srgbClr val="1F2937"/>
                </a:solidFill>
                <a:latin typeface="Calibri" panose="020F0502020204030204"/>
              </a:rPr>
              <a:t>2  Problem definition</a:t>
            </a:r>
            <a:endParaRPr sz="2200" b="0" i="0">
              <a:solidFill>
                <a:srgbClr val="1F2937"/>
              </a:solidFill>
              <a:latin typeface="Calibri" panose="020F0502020204030204"/>
            </a:endParaRPr>
          </a:p>
          <a:p>
            <a:pPr algn="l">
              <a:spcAft>
                <a:spcPts val="1200"/>
              </a:spcAft>
            </a:pPr>
            <a:r>
              <a:rPr sz="2200" b="0" i="0">
                <a:solidFill>
                  <a:srgbClr val="1F2937"/>
                </a:solidFill>
                <a:latin typeface="Calibri" panose="020F0502020204030204"/>
              </a:rPr>
              <a:t>3  Literature review and gaps</a:t>
            </a:r>
            <a:endParaRPr sz="2200" b="0" i="0">
              <a:solidFill>
                <a:srgbClr val="1F2937"/>
              </a:solidFill>
              <a:latin typeface="Calibri" panose="020F0502020204030204"/>
            </a:endParaRPr>
          </a:p>
          <a:p>
            <a:pPr algn="l">
              <a:spcAft>
                <a:spcPts val="1200"/>
              </a:spcAft>
            </a:pPr>
            <a:r>
              <a:rPr sz="2200" b="0" i="0">
                <a:solidFill>
                  <a:srgbClr val="1F2937"/>
                </a:solidFill>
                <a:latin typeface="Calibri" panose="020F0502020204030204"/>
              </a:rPr>
              <a:t>4  Objectives and status</a:t>
            </a:r>
            <a:endParaRPr sz="2200" b="0" i="0">
              <a:solidFill>
                <a:srgbClr val="1F2937"/>
              </a:solidFill>
              <a:latin typeface="Calibri" panose="020F0502020204030204"/>
            </a:endParaRPr>
          </a:p>
          <a:p>
            <a:pPr algn="l">
              <a:spcAft>
                <a:spcPts val="1200"/>
              </a:spcAft>
            </a:pPr>
            <a:r>
              <a:rPr sz="2200" b="0" i="0">
                <a:solidFill>
                  <a:srgbClr val="1F2937"/>
                </a:solidFill>
                <a:latin typeface="Calibri" panose="020F0502020204030204"/>
              </a:rPr>
              <a:t>5  System architecture</a:t>
            </a:r>
            <a:endParaRPr sz="2200" b="0" i="0">
              <a:solidFill>
                <a:srgbClr val="1F2937"/>
              </a:solidFill>
              <a:latin typeface="Calibri" panose="020F0502020204030204"/>
            </a:endParaRPr>
          </a:p>
          <a:p>
            <a:pPr algn="l">
              <a:spcAft>
                <a:spcPts val="1200"/>
              </a:spcAft>
            </a:pPr>
            <a:r>
              <a:rPr sz="2200" b="0" i="0">
                <a:solidFill>
                  <a:srgbClr val="1F2937"/>
                </a:solidFill>
                <a:latin typeface="Calibri" panose="020F0502020204030204"/>
              </a:rPr>
              <a:t>6  Methodology: the agent, the baselines</a:t>
            </a:r>
            <a:endParaRPr sz="2200" b="0" i="0">
              <a:solidFill>
                <a:srgbClr val="1F2937"/>
              </a:solidFill>
              <a:latin typeface="Calibri" panose="020F0502020204030204"/>
            </a:endParaRPr>
          </a:p>
          <a:p>
            <a:pPr algn="l">
              <a:spcAft>
                <a:spcPts val="1200"/>
              </a:spcAft>
            </a:pPr>
            <a:r>
              <a:rPr sz="2200" b="0" i="0">
                <a:solidFill>
                  <a:srgbClr val="1F2937"/>
                </a:solidFill>
                <a:latin typeface="Calibri" panose="020F0502020204030204"/>
              </a:rPr>
              <a:t>7  Dataset description</a:t>
            </a:r>
            <a:endParaRPr sz="2200" b="0" i="0">
              <a:solidFill>
                <a:srgbClr val="1F2937"/>
              </a:solidFill>
              <a:latin typeface="Calibri" panose="020F0502020204030204"/>
            </a:endParaRPr>
          </a:p>
          <a:p>
            <a:pPr algn="l">
              <a:spcAft>
                <a:spcPts val="1200"/>
              </a:spcAft>
            </a:pPr>
            <a:r>
              <a:rPr sz="2200" b="0" i="0">
                <a:solidFill>
                  <a:srgbClr val="1F2937"/>
                </a:solidFill>
                <a:latin typeface="Calibri" panose="020F0502020204030204"/>
              </a:rPr>
              <a:t>8  LLM explainer and crisis generator</a:t>
            </a:r>
            <a:endParaRPr sz="2200" b="0" i="0">
              <a:solidFill>
                <a:srgbClr val="1F2937"/>
              </a:solidFill>
              <a:latin typeface="Calibri" panose="020F0502020204030204"/>
            </a:endParaRPr>
          </a:p>
        </p:txBody>
      </p:sp>
      <p:sp>
        <p:nvSpPr>
          <p:cNvPr id="21" name="TextBox 20"/>
          <p:cNvSpPr txBox="1"/>
          <p:nvPr/>
        </p:nvSpPr>
        <p:spPr>
          <a:xfrm>
            <a:off x="6400800" y="1554480"/>
            <a:ext cx="5212080" cy="4572000"/>
          </a:xfrm>
          <a:prstGeom prst="rect">
            <a:avLst/>
          </a:prstGeom>
          <a:noFill/>
        </p:spPr>
        <p:txBody>
          <a:bodyPr wrap="square" lIns="45720" tIns="27432" rIns="45720" bIns="27432" anchor="t">
            <a:spAutoFit/>
          </a:bodyPr>
          <a:lstStyle/>
          <a:p>
            <a:pPr algn="l">
              <a:spcAft>
                <a:spcPts val="1200"/>
              </a:spcAft>
            </a:pPr>
            <a:r>
              <a:rPr sz="2200" b="0" i="0">
                <a:solidFill>
                  <a:srgbClr val="1F2937"/>
                </a:solidFill>
                <a:latin typeface="Calibri" panose="020F0502020204030204"/>
              </a:rPr>
              <a:t>9  Dashboard: screenshots</a:t>
            </a:r>
            <a:endParaRPr sz="2200" b="0" i="0">
              <a:solidFill>
                <a:srgbClr val="1F2937"/>
              </a:solidFill>
              <a:latin typeface="Calibri" panose="020F0502020204030204"/>
            </a:endParaRPr>
          </a:p>
          <a:p>
            <a:pPr algn="l">
              <a:spcAft>
                <a:spcPts val="1200"/>
              </a:spcAft>
            </a:pPr>
            <a:r>
              <a:rPr sz="2200" b="0" i="0">
                <a:solidFill>
                  <a:srgbClr val="1F2937"/>
                </a:solidFill>
                <a:latin typeface="Calibri" panose="020F0502020204030204"/>
              </a:rPr>
              <a:t>10  Results: comparison and ablation</a:t>
            </a:r>
            <a:endParaRPr sz="2200" b="0" i="0">
              <a:solidFill>
                <a:srgbClr val="1F2937"/>
              </a:solidFill>
              <a:latin typeface="Calibri" panose="020F0502020204030204"/>
            </a:endParaRPr>
          </a:p>
          <a:p>
            <a:pPr algn="l">
              <a:spcAft>
                <a:spcPts val="1200"/>
              </a:spcAft>
            </a:pPr>
            <a:r>
              <a:rPr sz="2200" b="0" i="0">
                <a:solidFill>
                  <a:srgbClr val="1F2937"/>
                </a:solidFill>
                <a:latin typeface="Calibri" panose="020F0502020204030204"/>
              </a:rPr>
              <a:t>11  Robustness to crises</a:t>
            </a:r>
            <a:endParaRPr sz="2200" b="0" i="0">
              <a:solidFill>
                <a:srgbClr val="1F2937"/>
              </a:solidFill>
              <a:latin typeface="Calibri" panose="020F0502020204030204"/>
            </a:endParaRPr>
          </a:p>
          <a:p>
            <a:pPr algn="l">
              <a:spcAft>
                <a:spcPts val="1200"/>
              </a:spcAft>
            </a:pPr>
            <a:r>
              <a:rPr sz="2200" b="0" i="0">
                <a:solidFill>
                  <a:srgbClr val="1F2937"/>
                </a:solidFill>
                <a:latin typeface="Calibri" panose="020F0502020204030204"/>
              </a:rPr>
              <a:t>12  Explainer accuracy</a:t>
            </a:r>
            <a:endParaRPr sz="2200" b="0" i="0">
              <a:solidFill>
                <a:srgbClr val="1F2937"/>
              </a:solidFill>
              <a:latin typeface="Calibri" panose="020F0502020204030204"/>
            </a:endParaRPr>
          </a:p>
          <a:p>
            <a:pPr algn="l">
              <a:spcAft>
                <a:spcPts val="1200"/>
              </a:spcAft>
            </a:pPr>
            <a:r>
              <a:rPr sz="2200" b="0" i="0">
                <a:solidFill>
                  <a:srgbClr val="1F2937"/>
                </a:solidFill>
                <a:latin typeface="Calibri" panose="020F0502020204030204"/>
              </a:rPr>
              <a:t>13  Conclusion and future work</a:t>
            </a:r>
            <a:endParaRPr sz="2200" b="0" i="0">
              <a:solidFill>
                <a:srgbClr val="1F2937"/>
              </a:solidFill>
              <a:latin typeface="Calibri" panose="020F050202020403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 name="Rectangle 16"/>
          <p:cNvSpPr/>
          <p:nvPr/>
        </p:nvSpPr>
        <p:spPr>
          <a:xfrm>
            <a:off x="-1" y="0"/>
            <a:ext cx="12191998" cy="1262131"/>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4400" dirty="0">
              <a:solidFill>
                <a:schemeClr val="accent1">
                  <a:lumMod val="50000"/>
                </a:schemeClr>
              </a:solidFill>
            </a:endParaRPr>
          </a:p>
        </p:txBody>
      </p:sp>
      <p:sp>
        <p:nvSpPr>
          <p:cNvPr id="10" name="Google Shape;91;p1"/>
          <p:cNvSpPr txBox="1"/>
          <p:nvPr/>
        </p:nvSpPr>
        <p:spPr>
          <a:xfrm>
            <a:off x="-1" y="6416040"/>
            <a:ext cx="12191998" cy="441960"/>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None/>
            </a:pPr>
            <a:r>
              <a:rPr lang="en-IN" sz="1600" b="1" i="0" u="none" strike="noStrike" cap="none" dirty="0">
                <a:solidFill>
                  <a:srgbClr val="081271"/>
                </a:solidFill>
                <a:latin typeface="Times New Roman" panose="02020603050405020304"/>
                <a:ea typeface="Times New Roman" panose="02020603050405020304"/>
                <a:cs typeface="Times New Roman" panose="02020603050405020304"/>
                <a:sym typeface="Times New Roman" panose="02020603050405020304"/>
              </a:rPr>
              <a:t>[Final Project Review]</a:t>
            </a:r>
            <a:endParaRPr sz="1600" b="1" i="0" u="none" strike="noStrike" cap="none" dirty="0">
              <a:solidFill>
                <a:srgbClr val="08127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16" name="Straight Connector 15"/>
          <p:cNvCxnSpPr/>
          <p:nvPr/>
        </p:nvCxnSpPr>
        <p:spPr>
          <a:xfrm>
            <a:off x="0" y="1260899"/>
            <a:ext cx="12192000" cy="0"/>
          </a:xfrm>
          <a:prstGeom prst="line">
            <a:avLst/>
          </a:prstGeom>
          <a:ln w="28575">
            <a:solidFill>
              <a:srgbClr val="1A9B46"/>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sz="3200"/>
              <a:t>Introduction and Motivation</a:t>
            </a:r>
            <a:endParaRPr sz="3200"/>
          </a:p>
        </p:txBody>
      </p:sp>
      <p:sp>
        <p:nvSpPr>
          <p:cNvPr id="19" name="Slide Number Placeholder 18"/>
          <p:cNvSpPr>
            <a:spLocks noGrp="1"/>
          </p:cNvSpPr>
          <p:nvPr>
            <p:ph type="sldNum" sz="quarter" idx="12"/>
          </p:nvPr>
        </p:nvSpPr>
        <p:spPr/>
        <p:txBody>
          <a:bodyPr/>
          <a:lstStyle/>
          <a:p>
            <a:fld id="{C2216105-7B7A-4C42-B2A1-5E9A2FA4F8FD}" type="slidenum">
              <a:rPr lang="en-IN" smtClean="0"/>
            </a:fld>
            <a:endParaRPr lang="en-IN" dirty="0"/>
          </a:p>
        </p:txBody>
      </p:sp>
      <p:sp>
        <p:nvSpPr>
          <p:cNvPr id="20" name="Rounded Rectangle 19"/>
          <p:cNvSpPr/>
          <p:nvPr/>
        </p:nvSpPr>
        <p:spPr>
          <a:xfrm>
            <a:off x="411480" y="1371600"/>
            <a:ext cx="3657600" cy="1600200"/>
          </a:xfrm>
          <a:prstGeom prst="roundRect">
            <a:avLst>
              <a:gd name="adj" fmla="val 7000"/>
            </a:avLst>
          </a:prstGeom>
          <a:solidFill>
            <a:srgbClr val="FDE8EF"/>
          </a:solidFill>
          <a:ln w="22225">
            <a:solidFill>
              <a:srgbClr val="D6336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21208" y="1444752"/>
            <a:ext cx="3438144" cy="1453896"/>
          </a:xfrm>
          <a:prstGeom prst="rect">
            <a:avLst/>
          </a:prstGeom>
          <a:noFill/>
        </p:spPr>
        <p:txBody>
          <a:bodyPr wrap="square" lIns="45720" tIns="27432" rIns="45720" bIns="27432" anchor="t">
            <a:spAutoFit/>
          </a:bodyPr>
          <a:lstStyle/>
          <a:p>
            <a:pPr algn="l">
              <a:spcAft>
                <a:spcPts val="500"/>
              </a:spcAft>
            </a:pPr>
            <a:r>
              <a:rPr sz="1700" b="1" i="0">
                <a:solidFill>
                  <a:srgbClr val="D6336C"/>
                </a:solidFill>
                <a:latin typeface="Calibri" panose="020F0502020204030204"/>
              </a:rPr>
              <a:t>Order too much</a:t>
            </a:r>
            <a:endParaRPr sz="1700" b="1" i="0">
              <a:solidFill>
                <a:srgbClr val="D6336C"/>
              </a:solidFill>
              <a:latin typeface="Calibri" panose="020F0502020204030204"/>
            </a:endParaRPr>
          </a:p>
          <a:p>
            <a:pPr algn="l">
              <a:spcAft>
                <a:spcPts val="300"/>
              </a:spcAft>
            </a:pPr>
            <a:r>
              <a:rPr sz="1400" b="0" i="0">
                <a:solidFill>
                  <a:srgbClr val="1F2937"/>
                </a:solidFill>
                <a:latin typeface="Calibri" panose="020F0502020204030204"/>
              </a:rPr>
              <a:t>•  Money is stuck in the warehouse</a:t>
            </a:r>
            <a:endParaRPr sz="1400" b="0" i="0">
              <a:solidFill>
                <a:srgbClr val="1F2937"/>
              </a:solidFill>
              <a:latin typeface="Calibri" panose="020F0502020204030204"/>
            </a:endParaRPr>
          </a:p>
          <a:p>
            <a:pPr algn="l">
              <a:spcAft>
                <a:spcPts val="300"/>
              </a:spcAft>
            </a:pPr>
            <a:r>
              <a:rPr sz="1400" b="0" i="0">
                <a:solidFill>
                  <a:srgbClr val="1F2937"/>
                </a:solidFill>
                <a:latin typeface="Calibri" panose="020F0502020204030204"/>
              </a:rPr>
              <a:t>•  Storage costs keep adding up</a:t>
            </a:r>
            <a:endParaRPr sz="1400" b="0" i="0">
              <a:solidFill>
                <a:srgbClr val="1F2937"/>
              </a:solidFill>
              <a:latin typeface="Calibri" panose="020F0502020204030204"/>
            </a:endParaRPr>
          </a:p>
          <a:p>
            <a:pPr algn="l">
              <a:spcAft>
                <a:spcPts val="300"/>
              </a:spcAft>
            </a:pPr>
            <a:r>
              <a:rPr sz="1400" b="0" i="0">
                <a:solidFill>
                  <a:srgbClr val="1F2937"/>
                </a:solidFill>
                <a:latin typeface="Calibri" panose="020F0502020204030204"/>
              </a:rPr>
              <a:t>•  Seasonal goods lose value</a:t>
            </a:r>
            <a:endParaRPr sz="1400" b="0" i="0">
              <a:solidFill>
                <a:srgbClr val="1F2937"/>
              </a:solidFill>
              <a:latin typeface="Calibri" panose="020F0502020204030204"/>
            </a:endParaRPr>
          </a:p>
        </p:txBody>
      </p:sp>
      <p:sp>
        <p:nvSpPr>
          <p:cNvPr id="22" name="Rounded Rectangle 21"/>
          <p:cNvSpPr/>
          <p:nvPr/>
        </p:nvSpPr>
        <p:spPr>
          <a:xfrm>
            <a:off x="4251960" y="1371600"/>
            <a:ext cx="3657600" cy="1600200"/>
          </a:xfrm>
          <a:prstGeom prst="roundRect">
            <a:avLst>
              <a:gd name="adj" fmla="val 7000"/>
            </a:avLst>
          </a:prstGeom>
          <a:solidFill>
            <a:srgbClr val="FDF3DC"/>
          </a:solidFill>
          <a:ln w="22225">
            <a:solidFill>
              <a:srgbClr val="B7791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361688" y="1444752"/>
            <a:ext cx="3438144" cy="1453896"/>
          </a:xfrm>
          <a:prstGeom prst="rect">
            <a:avLst/>
          </a:prstGeom>
          <a:noFill/>
        </p:spPr>
        <p:txBody>
          <a:bodyPr wrap="square" lIns="45720" tIns="27432" rIns="45720" bIns="27432" anchor="t">
            <a:spAutoFit/>
          </a:bodyPr>
          <a:lstStyle/>
          <a:p>
            <a:pPr algn="l">
              <a:spcAft>
                <a:spcPts val="500"/>
              </a:spcAft>
            </a:pPr>
            <a:r>
              <a:rPr sz="1700" b="1" i="0">
                <a:solidFill>
                  <a:srgbClr val="B7791F"/>
                </a:solidFill>
                <a:latin typeface="Calibri" panose="020F0502020204030204"/>
              </a:rPr>
              <a:t>Order too little</a:t>
            </a:r>
            <a:endParaRPr sz="1700" b="1" i="0">
              <a:solidFill>
                <a:srgbClr val="B7791F"/>
              </a:solidFill>
              <a:latin typeface="Calibri" panose="020F0502020204030204"/>
            </a:endParaRPr>
          </a:p>
          <a:p>
            <a:pPr algn="l">
              <a:spcAft>
                <a:spcPts val="300"/>
              </a:spcAft>
            </a:pPr>
            <a:r>
              <a:rPr sz="1400" b="0" i="0">
                <a:solidFill>
                  <a:srgbClr val="1F2937"/>
                </a:solidFill>
                <a:latin typeface="Calibri" panose="020F0502020204030204"/>
              </a:rPr>
              <a:t>•  The customer goes elsewhere</a:t>
            </a:r>
            <a:endParaRPr sz="1400" b="0" i="0">
              <a:solidFill>
                <a:srgbClr val="1F2937"/>
              </a:solidFill>
              <a:latin typeface="Calibri" panose="020F0502020204030204"/>
            </a:endParaRPr>
          </a:p>
          <a:p>
            <a:pPr algn="l">
              <a:spcAft>
                <a:spcPts val="300"/>
              </a:spcAft>
            </a:pPr>
            <a:r>
              <a:rPr sz="1400" b="0" i="0">
                <a:solidFill>
                  <a:srgbClr val="1F2937"/>
                </a:solidFill>
                <a:latin typeface="Calibri" panose="020F0502020204030204"/>
              </a:rPr>
              <a:t>•  The sale is lost for good</a:t>
            </a:r>
            <a:endParaRPr sz="1400" b="0" i="0">
              <a:solidFill>
                <a:srgbClr val="1F2937"/>
              </a:solidFill>
              <a:latin typeface="Calibri" panose="020F0502020204030204"/>
            </a:endParaRPr>
          </a:p>
          <a:p>
            <a:pPr algn="l">
              <a:spcAft>
                <a:spcPts val="300"/>
              </a:spcAft>
            </a:pPr>
            <a:r>
              <a:rPr sz="1400" b="0" i="0">
                <a:solidFill>
                  <a:srgbClr val="1F2937"/>
                </a:solidFill>
                <a:latin typeface="Calibri" panose="020F0502020204030204"/>
              </a:rPr>
              <a:t>•  We also pay a penalty</a:t>
            </a:r>
            <a:endParaRPr sz="1400" b="0" i="0">
              <a:solidFill>
                <a:srgbClr val="1F2937"/>
              </a:solidFill>
              <a:latin typeface="Calibri" panose="020F0502020204030204"/>
            </a:endParaRPr>
          </a:p>
        </p:txBody>
      </p:sp>
      <p:sp>
        <p:nvSpPr>
          <p:cNvPr id="24" name="Rounded Rectangle 23"/>
          <p:cNvSpPr/>
          <p:nvPr/>
        </p:nvSpPr>
        <p:spPr>
          <a:xfrm>
            <a:off x="8092440" y="1371600"/>
            <a:ext cx="3685032" cy="1600200"/>
          </a:xfrm>
          <a:prstGeom prst="roundRect">
            <a:avLst>
              <a:gd name="adj" fmla="val 7000"/>
            </a:avLst>
          </a:prstGeom>
          <a:solidFill>
            <a:srgbClr val="E7F0FA"/>
          </a:solidFill>
          <a:ln w="22225">
            <a:solidFill>
              <a:srgbClr val="2F6FB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202167" y="1444752"/>
            <a:ext cx="3465576" cy="1453896"/>
          </a:xfrm>
          <a:prstGeom prst="rect">
            <a:avLst/>
          </a:prstGeom>
          <a:noFill/>
        </p:spPr>
        <p:txBody>
          <a:bodyPr wrap="square" lIns="45720" tIns="27432" rIns="45720" bIns="27432" anchor="t">
            <a:spAutoFit/>
          </a:bodyPr>
          <a:lstStyle/>
          <a:p>
            <a:pPr algn="l">
              <a:spcAft>
                <a:spcPts val="500"/>
              </a:spcAft>
            </a:pPr>
            <a:r>
              <a:rPr sz="1700" b="1" i="0">
                <a:solidFill>
                  <a:srgbClr val="2F6FB5"/>
                </a:solidFill>
                <a:latin typeface="Calibri" panose="020F0502020204030204"/>
              </a:rPr>
              <a:t>Pick the wrong supplier</a:t>
            </a:r>
            <a:endParaRPr sz="1700" b="1" i="0">
              <a:solidFill>
                <a:srgbClr val="2F6FB5"/>
              </a:solidFill>
              <a:latin typeface="Calibri" panose="020F0502020204030204"/>
            </a:endParaRPr>
          </a:p>
          <a:p>
            <a:pPr algn="l">
              <a:spcAft>
                <a:spcPts val="300"/>
              </a:spcAft>
            </a:pPr>
            <a:r>
              <a:rPr sz="1400" b="0" i="0">
                <a:solidFill>
                  <a:srgbClr val="1F2937"/>
                </a:solidFill>
                <a:latin typeface="Calibri" panose="020F0502020204030204"/>
              </a:rPr>
              <a:t>•  Cheap but slow</a:t>
            </a:r>
            <a:endParaRPr sz="1400" b="0" i="0">
              <a:solidFill>
                <a:srgbClr val="1F2937"/>
              </a:solidFill>
              <a:latin typeface="Calibri" panose="020F0502020204030204"/>
            </a:endParaRPr>
          </a:p>
          <a:p>
            <a:pPr algn="l">
              <a:spcAft>
                <a:spcPts val="300"/>
              </a:spcAft>
            </a:pPr>
            <a:r>
              <a:rPr sz="1400" b="0" i="0">
                <a:solidFill>
                  <a:srgbClr val="1F2937"/>
                </a:solidFill>
                <a:latin typeface="Calibri" panose="020F0502020204030204"/>
              </a:rPr>
              <a:t>•  Fast but costly</a:t>
            </a:r>
            <a:endParaRPr sz="1400" b="0" i="0">
              <a:solidFill>
                <a:srgbClr val="1F2937"/>
              </a:solidFill>
              <a:latin typeface="Calibri" panose="020F0502020204030204"/>
            </a:endParaRPr>
          </a:p>
          <a:p>
            <a:pPr algn="l">
              <a:spcAft>
                <a:spcPts val="300"/>
              </a:spcAft>
            </a:pPr>
            <a:r>
              <a:rPr sz="1400" b="0" i="0">
                <a:solidFill>
                  <a:srgbClr val="1F2937"/>
                </a:solidFill>
                <a:latin typeface="Calibri" panose="020F0502020204030204"/>
              </a:rPr>
              <a:t>•  Looks fine but ships only 80%</a:t>
            </a:r>
            <a:endParaRPr sz="1400" b="0" i="0">
              <a:solidFill>
                <a:srgbClr val="1F2937"/>
              </a:solidFill>
              <a:latin typeface="Calibri" panose="020F0502020204030204"/>
            </a:endParaRPr>
          </a:p>
        </p:txBody>
      </p:sp>
      <p:sp>
        <p:nvSpPr>
          <p:cNvPr id="26" name="TextBox 25"/>
          <p:cNvSpPr txBox="1"/>
          <p:nvPr/>
        </p:nvSpPr>
        <p:spPr>
          <a:xfrm>
            <a:off x="411480" y="3154680"/>
            <a:ext cx="11365992" cy="3108960"/>
          </a:xfrm>
          <a:prstGeom prst="rect">
            <a:avLst/>
          </a:prstGeom>
          <a:noFill/>
        </p:spPr>
        <p:txBody>
          <a:bodyPr wrap="square" lIns="45720" tIns="27432" rIns="45720" bIns="27432" anchor="t">
            <a:spAutoFit/>
          </a:bodyPr>
          <a:lstStyle/>
          <a:p>
            <a:pPr algn="l">
              <a:spcAft>
                <a:spcPts val="800"/>
              </a:spcAft>
            </a:pPr>
            <a:r>
              <a:rPr sz="1800" b="1" i="0">
                <a:solidFill>
                  <a:srgbClr val="1F2937"/>
                </a:solidFill>
                <a:latin typeface="Calibri" panose="020F0502020204030204"/>
              </a:rPr>
              <a:t>•  A chain of decisions. </a:t>
            </a:r>
            <a:r>
              <a:rPr sz="1800" b="0" i="0">
                <a:solidFill>
                  <a:srgbClr val="1F2937"/>
                </a:solidFill>
                <a:latin typeface="Calibri" panose="020F0502020204030204"/>
              </a:rPr>
              <a:t>Today’s order becomes next week’s stock, so every choice affects the next ones.</a:t>
            </a:r>
            <a:endParaRPr sz="1800" b="0" i="0">
              <a:solidFill>
                <a:srgbClr val="1F2937"/>
              </a:solidFill>
              <a:latin typeface="Calibri" panose="020F0502020204030204"/>
            </a:endParaRPr>
          </a:p>
          <a:p>
            <a:pPr algn="l">
              <a:spcAft>
                <a:spcPts val="800"/>
              </a:spcAft>
            </a:pPr>
            <a:r>
              <a:rPr sz="1800" b="1" i="0">
                <a:solidFill>
                  <a:srgbClr val="1F2937"/>
                </a:solidFill>
                <a:latin typeface="Calibri" panose="020F0502020204030204"/>
              </a:rPr>
              <a:t>•  Old rules fall short. </a:t>
            </a:r>
            <a:r>
              <a:rPr sz="1800" b="0" i="0">
                <a:solidFill>
                  <a:srgbClr val="1F2937"/>
                </a:solidFill>
                <a:latin typeface="Calibri" panose="020F0502020204030204"/>
              </a:rPr>
              <a:t>Textbook rules (like (s,S) and EOQ) look at each product alone and expect steady demand. In our data, daily demand swings about 216× more than a simple model expects.</a:t>
            </a:r>
            <a:endParaRPr sz="1800" b="0" i="0">
              <a:solidFill>
                <a:srgbClr val="1F2937"/>
              </a:solidFill>
              <a:latin typeface="Calibri" panose="020F0502020204030204"/>
            </a:endParaRPr>
          </a:p>
          <a:p>
            <a:pPr algn="l">
              <a:spcAft>
                <a:spcPts val="800"/>
              </a:spcAft>
            </a:pPr>
            <a:r>
              <a:rPr sz="1800" b="1" i="0">
                <a:solidFill>
                  <a:srgbClr val="1F2937"/>
                </a:solidFill>
                <a:latin typeface="Calibri" panose="020F0502020204030204"/>
              </a:rPr>
              <a:t>•  Our idea. </a:t>
            </a:r>
            <a:r>
              <a:rPr sz="1800" b="0" i="0">
                <a:solidFill>
                  <a:srgbClr val="1F2937"/>
                </a:solidFill>
                <a:latin typeface="Calibri" panose="020F0502020204030204"/>
              </a:rPr>
              <a:t>A reinforcement learning (RL) agent can learn when to order and from whom, and adapt to the season and to supplier problems, which a fixed formula cannot.</a:t>
            </a:r>
            <a:endParaRPr sz="1800" b="0" i="0">
              <a:solidFill>
                <a:srgbClr val="1F2937"/>
              </a:solidFill>
              <a:latin typeface="Calibri" panose="020F0502020204030204"/>
            </a:endParaRPr>
          </a:p>
          <a:p>
            <a:pPr algn="l">
              <a:spcAft>
                <a:spcPts val="800"/>
              </a:spcAft>
            </a:pPr>
            <a:r>
              <a:rPr sz="1800" b="1" i="0">
                <a:solidFill>
                  <a:srgbClr val="1F2937"/>
                </a:solidFill>
                <a:latin typeface="Calibri" panose="020F0502020204030204"/>
              </a:rPr>
              <a:t>•  Trust matters. </a:t>
            </a:r>
            <a:r>
              <a:rPr sz="1800" b="0" i="0">
                <a:solidFill>
                  <a:srgbClr val="1F2937"/>
                </a:solidFill>
                <a:latin typeface="Calibri" panose="020F0502020204030204"/>
              </a:rPr>
              <a:t>A manager will not follow a number they cannot understand. So a language model (LLM) explains each order in plain words, and every number it quotes is checked.</a:t>
            </a:r>
            <a:endParaRPr sz="1800" b="0" i="0">
              <a:solidFill>
                <a:srgbClr val="1F2937"/>
              </a:solidFill>
              <a:latin typeface="Calibri" panose="020F050202020403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 name="Rectangle 16"/>
          <p:cNvSpPr/>
          <p:nvPr/>
        </p:nvSpPr>
        <p:spPr>
          <a:xfrm>
            <a:off x="-1" y="0"/>
            <a:ext cx="12191998" cy="1262131"/>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4400" dirty="0">
              <a:solidFill>
                <a:schemeClr val="accent1">
                  <a:lumMod val="50000"/>
                </a:schemeClr>
              </a:solidFill>
            </a:endParaRPr>
          </a:p>
        </p:txBody>
      </p:sp>
      <p:sp>
        <p:nvSpPr>
          <p:cNvPr id="10" name="Google Shape;91;p1"/>
          <p:cNvSpPr txBox="1"/>
          <p:nvPr/>
        </p:nvSpPr>
        <p:spPr>
          <a:xfrm>
            <a:off x="-1" y="6416040"/>
            <a:ext cx="12191998" cy="441960"/>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None/>
            </a:pPr>
            <a:r>
              <a:rPr lang="en-IN" sz="1600" b="1" i="0" u="none" strike="noStrike" cap="none" dirty="0">
                <a:solidFill>
                  <a:srgbClr val="081271"/>
                </a:solidFill>
                <a:latin typeface="Times New Roman" panose="02020603050405020304"/>
                <a:ea typeface="Times New Roman" panose="02020603050405020304"/>
                <a:cs typeface="Times New Roman" panose="02020603050405020304"/>
                <a:sym typeface="Times New Roman" panose="02020603050405020304"/>
              </a:rPr>
              <a:t>[Final Project Review]</a:t>
            </a:r>
            <a:endParaRPr sz="1600" b="1" i="0" u="none" strike="noStrike" cap="none" dirty="0">
              <a:solidFill>
                <a:srgbClr val="08127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16" name="Straight Connector 15"/>
          <p:cNvCxnSpPr/>
          <p:nvPr/>
        </p:nvCxnSpPr>
        <p:spPr>
          <a:xfrm>
            <a:off x="0" y="1260899"/>
            <a:ext cx="12192000" cy="0"/>
          </a:xfrm>
          <a:prstGeom prst="line">
            <a:avLst/>
          </a:prstGeom>
          <a:ln w="28575">
            <a:solidFill>
              <a:srgbClr val="1A9B46"/>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sz="3200"/>
              <a:t>Problem Definition</a:t>
            </a:r>
            <a:endParaRPr sz="3200"/>
          </a:p>
        </p:txBody>
      </p:sp>
      <p:sp>
        <p:nvSpPr>
          <p:cNvPr id="19" name="Slide Number Placeholder 18"/>
          <p:cNvSpPr>
            <a:spLocks noGrp="1"/>
          </p:cNvSpPr>
          <p:nvPr>
            <p:ph type="sldNum" sz="quarter" idx="12"/>
          </p:nvPr>
        </p:nvSpPr>
        <p:spPr/>
        <p:txBody>
          <a:bodyPr/>
          <a:lstStyle/>
          <a:p>
            <a:fld id="{C2216105-7B7A-4C42-B2A1-5E9A2FA4F8FD}" type="slidenum">
              <a:rPr lang="en-IN" smtClean="0"/>
            </a:fld>
            <a:endParaRPr lang="en-IN" dirty="0"/>
          </a:p>
        </p:txBody>
      </p:sp>
      <p:graphicFrame>
        <p:nvGraphicFramePr>
          <p:cNvPr id="20" name="Table 19"/>
          <p:cNvGraphicFramePr>
            <a:graphicFrameLocks noGrp="1"/>
          </p:cNvGraphicFramePr>
          <p:nvPr/>
        </p:nvGraphicFramePr>
        <p:xfrm>
          <a:off x="411480" y="1371600"/>
          <a:ext cx="6766559" cy="3200400"/>
        </p:xfrm>
        <a:graphic>
          <a:graphicData uri="http://schemas.openxmlformats.org/drawingml/2006/table">
            <a:tbl>
              <a:tblPr firstRow="1" bandRow="1">
                <a:tableStyleId>{5C22544A-7EE6-4342-B048-85BDC9FD1C3A}</a:tableStyleId>
              </a:tblPr>
              <a:tblGrid>
                <a:gridCol w="1205003"/>
                <a:gridCol w="5561556"/>
              </a:tblGrid>
              <a:tr h="457200">
                <a:tc>
                  <a:txBody>
                    <a:bodyPr wrap="square"/>
                    <a:lstStyle/>
                    <a:p>
                      <a:pPr algn="l"/>
                      <a:r>
                        <a:rPr sz="1400" b="1" i="0">
                          <a:solidFill>
                            <a:srgbClr val="FFFFFF"/>
                          </a:solidFill>
                          <a:latin typeface="Calibri" panose="020F0502020204030204"/>
                        </a:rPr>
                        <a:t>What</a:t>
                      </a:r>
                      <a:endParaRPr sz="1400" b="1" i="0">
                        <a:solidFill>
                          <a:srgbClr val="FFFFFF"/>
                        </a:solidFill>
                        <a:latin typeface="Calibri" panose="020F0502020204030204"/>
                      </a:endParaRPr>
                    </a:p>
                  </a:txBody>
                  <a:tcPr marL="54864" marR="54864" marT="18288" marB="18288" anchor="ctr">
                    <a:solidFill>
                      <a:srgbClr val="2E8B57"/>
                    </a:solidFill>
                  </a:tcPr>
                </a:tc>
                <a:tc>
                  <a:txBody>
                    <a:bodyPr wrap="square"/>
                    <a:lstStyle/>
                    <a:p>
                      <a:pPr algn="l"/>
                      <a:r>
                        <a:rPr sz="1400" b="1" i="0">
                          <a:solidFill>
                            <a:srgbClr val="FFFFFF"/>
                          </a:solidFill>
                          <a:latin typeface="Calibri" panose="020F0502020204030204"/>
                        </a:rPr>
                        <a:t>Details</a:t>
                      </a:r>
                      <a:endParaRPr sz="1400" b="1" i="0">
                        <a:solidFill>
                          <a:srgbClr val="FFFFFF"/>
                        </a:solidFill>
                        <a:latin typeface="Calibri" panose="020F0502020204030204"/>
                      </a:endParaRPr>
                    </a:p>
                  </a:txBody>
                  <a:tcPr marL="54864" marR="54864" marT="18288" marB="18288" anchor="ctr">
                    <a:solidFill>
                      <a:srgbClr val="2E8B57"/>
                    </a:solidFill>
                  </a:tcPr>
                </a:tc>
              </a:tr>
              <a:tr h="457200">
                <a:tc>
                  <a:txBody>
                    <a:bodyPr wrap="square"/>
                    <a:lstStyle/>
                    <a:p>
                      <a:r>
                        <a:rPr sz="1400" b="0" i="0">
                          <a:solidFill>
                            <a:srgbClr val="1F2937"/>
                          </a:solidFill>
                          <a:latin typeface="Calibri" panose="020F0502020204030204"/>
                        </a:rPr>
                        <a:t>Products</a:t>
                      </a:r>
                      <a:endParaRPr sz="1400" b="0" i="0">
                        <a:solidFill>
                          <a:srgbClr val="1F2937"/>
                        </a:solidFill>
                        <a:latin typeface="Calibri" panose="020F0502020204030204"/>
                      </a:endParaRPr>
                    </a:p>
                  </a:txBody>
                  <a:tcPr marL="54864" marR="54864" marT="18288" marB="18288" anchor="ctr">
                    <a:solidFill>
                      <a:srgbClr val="FFFFFF"/>
                    </a:solidFill>
                  </a:tcPr>
                </a:tc>
                <a:tc>
                  <a:txBody>
                    <a:bodyPr wrap="square"/>
                    <a:lstStyle/>
                    <a:p>
                      <a:r>
                        <a:rPr sz="1400" b="0" i="0">
                          <a:solidFill>
                            <a:srgbClr val="1F2937"/>
                          </a:solidFill>
                          <a:latin typeface="Calibri" panose="020F0502020204030204"/>
                        </a:rPr>
                        <a:t>10 real products from a UK shop’s sales data</a:t>
                      </a:r>
                      <a:endParaRPr sz="1400" b="0" i="0">
                        <a:solidFill>
                          <a:srgbClr val="1F2937"/>
                        </a:solidFill>
                        <a:latin typeface="Calibri" panose="020F0502020204030204"/>
                      </a:endParaRPr>
                    </a:p>
                  </a:txBody>
                  <a:tcPr marL="54864" marR="54864" marT="18288" marB="18288" anchor="ctr">
                    <a:solidFill>
                      <a:srgbClr val="FFFFFF"/>
                    </a:solidFill>
                  </a:tcPr>
                </a:tc>
              </a:tr>
              <a:tr h="457200">
                <a:tc>
                  <a:txBody>
                    <a:bodyPr wrap="square"/>
                    <a:lstStyle/>
                    <a:p>
                      <a:r>
                        <a:rPr sz="1400" b="0" i="0">
                          <a:solidFill>
                            <a:srgbClr val="1F2937"/>
                          </a:solidFill>
                          <a:latin typeface="Calibri" panose="020F0502020204030204"/>
                        </a:rPr>
                        <a:t>Suppliers</a:t>
                      </a:r>
                      <a:endParaRPr sz="1400" b="0" i="0">
                        <a:solidFill>
                          <a:srgbClr val="1F2937"/>
                        </a:solidFill>
                        <a:latin typeface="Calibri" panose="020F0502020204030204"/>
                      </a:endParaRPr>
                    </a:p>
                  </a:txBody>
                  <a:tcPr marL="54864" marR="54864" marT="18288" marB="18288" anchor="ctr">
                    <a:solidFill>
                      <a:srgbClr val="F1F5F9"/>
                    </a:solidFill>
                  </a:tcPr>
                </a:tc>
                <a:tc>
                  <a:txBody>
                    <a:bodyPr wrap="square"/>
                    <a:lstStyle/>
                    <a:p>
                      <a:r>
                        <a:rPr sz="1400" b="0" i="0">
                          <a:solidFill>
                            <a:srgbClr val="1F2937"/>
                          </a:solidFill>
                          <a:latin typeface="Calibri" panose="020F0502020204030204"/>
                        </a:rPr>
                        <a:t>3, made up by us (no public data on suppliers)</a:t>
                      </a:r>
                      <a:endParaRPr sz="1400" b="0" i="0">
                        <a:solidFill>
                          <a:srgbClr val="1F2937"/>
                        </a:solidFill>
                        <a:latin typeface="Calibri" panose="020F0502020204030204"/>
                      </a:endParaRPr>
                    </a:p>
                  </a:txBody>
                  <a:tcPr marL="54864" marR="54864" marT="18288" marB="18288" anchor="ctr">
                    <a:solidFill>
                      <a:srgbClr val="F1F5F9"/>
                    </a:solidFill>
                  </a:tcPr>
                </a:tc>
              </a:tr>
              <a:tr h="457200">
                <a:tc>
                  <a:txBody>
                    <a:bodyPr wrap="square"/>
                    <a:lstStyle/>
                    <a:p>
                      <a:r>
                        <a:rPr sz="1400" b="0" i="0">
                          <a:solidFill>
                            <a:srgbClr val="1F2937"/>
                          </a:solidFill>
                          <a:latin typeface="Calibri" panose="020F0502020204030204"/>
                        </a:rPr>
                        <a:t>Time</a:t>
                      </a:r>
                      <a:endParaRPr sz="1400" b="0" i="0">
                        <a:solidFill>
                          <a:srgbClr val="1F2937"/>
                        </a:solidFill>
                        <a:latin typeface="Calibri" panose="020F0502020204030204"/>
                      </a:endParaRPr>
                    </a:p>
                  </a:txBody>
                  <a:tcPr marL="54864" marR="54864" marT="18288" marB="18288" anchor="ctr">
                    <a:solidFill>
                      <a:srgbClr val="FFFFFF"/>
                    </a:solidFill>
                  </a:tcPr>
                </a:tc>
                <a:tc>
                  <a:txBody>
                    <a:bodyPr wrap="square"/>
                    <a:lstStyle/>
                    <a:p>
                      <a:r>
                        <a:rPr sz="1400" b="0" i="0">
                          <a:solidFill>
                            <a:srgbClr val="1F2937"/>
                          </a:solidFill>
                          <a:latin typeface="Calibri" panose="020F0502020204030204"/>
                        </a:rPr>
                        <a:t>180 days per run; the first 14 days are a warm-up and not counted</a:t>
                      </a:r>
                      <a:endParaRPr sz="1400" b="0" i="0">
                        <a:solidFill>
                          <a:srgbClr val="1F2937"/>
                        </a:solidFill>
                        <a:latin typeface="Calibri" panose="020F0502020204030204"/>
                      </a:endParaRPr>
                    </a:p>
                  </a:txBody>
                  <a:tcPr marL="54864" marR="54864" marT="18288" marB="18288" anchor="ctr">
                    <a:solidFill>
                      <a:srgbClr val="FFFFFF"/>
                    </a:solidFill>
                  </a:tcPr>
                </a:tc>
              </a:tr>
              <a:tr h="457200">
                <a:tc>
                  <a:txBody>
                    <a:bodyPr wrap="square"/>
                    <a:lstStyle/>
                    <a:p>
                      <a:r>
                        <a:rPr sz="1400" b="0" i="0">
                          <a:solidFill>
                            <a:srgbClr val="1F2937"/>
                          </a:solidFill>
                          <a:latin typeface="Calibri" panose="020F0502020204030204"/>
                        </a:rPr>
                        <a:t>Warehouse</a:t>
                      </a:r>
                      <a:endParaRPr sz="1400" b="0" i="0">
                        <a:solidFill>
                          <a:srgbClr val="1F2937"/>
                        </a:solidFill>
                        <a:latin typeface="Calibri" panose="020F0502020204030204"/>
                      </a:endParaRPr>
                    </a:p>
                  </a:txBody>
                  <a:tcPr marL="54864" marR="54864" marT="18288" marB="18288" anchor="ctr">
                    <a:solidFill>
                      <a:srgbClr val="F1F5F9"/>
                    </a:solidFill>
                  </a:tcPr>
                </a:tc>
                <a:tc>
                  <a:txBody>
                    <a:bodyPr wrap="square"/>
                    <a:lstStyle/>
                    <a:p>
                      <a:r>
                        <a:rPr sz="1400" b="0" i="0">
                          <a:solidFill>
                            <a:srgbClr val="1F2937"/>
                          </a:solidFill>
                          <a:latin typeface="Calibri" panose="020F0502020204030204"/>
                        </a:rPr>
                        <a:t>one shared store, 20,000 units; extra goods are turned away</a:t>
                      </a:r>
                      <a:endParaRPr sz="1400" b="0" i="0">
                        <a:solidFill>
                          <a:srgbClr val="1F2937"/>
                        </a:solidFill>
                        <a:latin typeface="Calibri" panose="020F0502020204030204"/>
                      </a:endParaRPr>
                    </a:p>
                  </a:txBody>
                  <a:tcPr marL="54864" marR="54864" marT="18288" marB="18288" anchor="ctr">
                    <a:solidFill>
                      <a:srgbClr val="F1F5F9"/>
                    </a:solidFill>
                  </a:tcPr>
                </a:tc>
              </a:tr>
              <a:tr h="457200">
                <a:tc>
                  <a:txBody>
                    <a:bodyPr wrap="square"/>
                    <a:lstStyle/>
                    <a:p>
                      <a:r>
                        <a:rPr sz="1400" b="0" i="0">
                          <a:solidFill>
                            <a:srgbClr val="1F2937"/>
                          </a:solidFill>
                          <a:latin typeface="Calibri" panose="020F0502020204030204"/>
                        </a:rPr>
                        <a:t>Decision</a:t>
                      </a:r>
                      <a:endParaRPr sz="1400" b="0" i="0">
                        <a:solidFill>
                          <a:srgbClr val="1F2937"/>
                        </a:solidFill>
                        <a:latin typeface="Calibri" panose="020F0502020204030204"/>
                      </a:endParaRPr>
                    </a:p>
                  </a:txBody>
                  <a:tcPr marL="54864" marR="54864" marT="18288" marB="18288" anchor="ctr">
                    <a:solidFill>
                      <a:srgbClr val="FFFFFF"/>
                    </a:solidFill>
                  </a:tcPr>
                </a:tc>
                <a:tc>
                  <a:txBody>
                    <a:bodyPr wrap="square"/>
                    <a:lstStyle/>
                    <a:p>
                      <a:r>
                        <a:rPr sz="1400" b="0" i="0">
                          <a:solidFill>
                            <a:srgbClr val="1F2937"/>
                          </a:solidFill>
                          <a:latin typeface="Calibri" panose="020F0502020204030204"/>
                        </a:rPr>
                        <a:t>every day, for each product: 7 quantities × 3 suppliers = 21 choices</a:t>
                      </a:r>
                      <a:endParaRPr sz="1400" b="0" i="0">
                        <a:solidFill>
                          <a:srgbClr val="1F2937"/>
                        </a:solidFill>
                        <a:latin typeface="Calibri" panose="020F0502020204030204"/>
                      </a:endParaRPr>
                    </a:p>
                  </a:txBody>
                  <a:tcPr marL="54864" marR="54864" marT="18288" marB="18288" anchor="ctr">
                    <a:solidFill>
                      <a:srgbClr val="FFFFFF"/>
                    </a:solidFill>
                  </a:tcPr>
                </a:tc>
              </a:tr>
              <a:tr h="457200">
                <a:tc>
                  <a:txBody>
                    <a:bodyPr wrap="square"/>
                    <a:lstStyle/>
                    <a:p>
                      <a:r>
                        <a:rPr sz="1400" b="0" i="0">
                          <a:solidFill>
                            <a:srgbClr val="1F2937"/>
                          </a:solidFill>
                          <a:latin typeface="Calibri" panose="020F0502020204030204"/>
                        </a:rPr>
                        <a:t>Goal</a:t>
                      </a:r>
                      <a:endParaRPr sz="1400" b="0" i="0">
                        <a:solidFill>
                          <a:srgbClr val="1F2937"/>
                        </a:solidFill>
                        <a:latin typeface="Calibri" panose="020F0502020204030204"/>
                      </a:endParaRPr>
                    </a:p>
                  </a:txBody>
                  <a:tcPr marL="54864" marR="54864" marT="18288" marB="18288" anchor="ctr">
                    <a:solidFill>
                      <a:srgbClr val="F1F5F9"/>
                    </a:solidFill>
                  </a:tcPr>
                </a:tc>
                <a:tc>
                  <a:txBody>
                    <a:bodyPr wrap="square"/>
                    <a:lstStyle/>
                    <a:p>
                      <a:r>
                        <a:rPr sz="1400" b="0" i="0">
                          <a:solidFill>
                            <a:srgbClr val="1F2937"/>
                          </a:solidFill>
                          <a:latin typeface="Calibri" panose="020F0502020204030204"/>
                        </a:rPr>
                        <a:t>maximise profit = sales − purchases − storage − fees − lost sales − wasted goods</a:t>
                      </a:r>
                      <a:endParaRPr sz="1400" b="0" i="0">
                        <a:solidFill>
                          <a:srgbClr val="1F2937"/>
                        </a:solidFill>
                        <a:latin typeface="Calibri" panose="020F0502020204030204"/>
                      </a:endParaRPr>
                    </a:p>
                  </a:txBody>
                  <a:tcPr marL="54864" marR="54864" marT="18288" marB="18288" anchor="ctr">
                    <a:solidFill>
                      <a:srgbClr val="F1F5F9"/>
                    </a:solidFill>
                  </a:tcPr>
                </a:tc>
              </a:tr>
            </a:tbl>
          </a:graphicData>
        </a:graphic>
      </p:graphicFrame>
      <p:graphicFrame>
        <p:nvGraphicFramePr>
          <p:cNvPr id="21" name="Table 20"/>
          <p:cNvGraphicFramePr>
            <a:graphicFrameLocks noGrp="1"/>
          </p:cNvGraphicFramePr>
          <p:nvPr/>
        </p:nvGraphicFramePr>
        <p:xfrm>
          <a:off x="7406640" y="1371600"/>
          <a:ext cx="4370828" cy="1645920"/>
        </p:xfrm>
        <a:graphic>
          <a:graphicData uri="http://schemas.openxmlformats.org/drawingml/2006/table">
            <a:tbl>
              <a:tblPr firstRow="1" bandRow="1">
                <a:tableStyleId>{5C22544A-7EE6-4342-B048-85BDC9FD1C3A}</a:tableStyleId>
              </a:tblPr>
              <a:tblGrid>
                <a:gridCol w="1285538"/>
                <a:gridCol w="685620"/>
                <a:gridCol w="857025"/>
                <a:gridCol w="685620"/>
                <a:gridCol w="857025"/>
              </a:tblGrid>
              <a:tr h="411480">
                <a:tc>
                  <a:txBody>
                    <a:bodyPr wrap="square"/>
                    <a:lstStyle/>
                    <a:p>
                      <a:pPr algn="l"/>
                      <a:r>
                        <a:rPr sz="1300" b="1" i="0">
                          <a:solidFill>
                            <a:srgbClr val="FFFFFF"/>
                          </a:solidFill>
                          <a:latin typeface="Calibri" panose="020F0502020204030204"/>
                        </a:rPr>
                        <a:t>Supplier</a:t>
                      </a:r>
                      <a:endParaRPr sz="1300" b="1" i="0">
                        <a:solidFill>
                          <a:srgbClr val="FFFFFF"/>
                        </a:solidFill>
                        <a:latin typeface="Calibri" panose="020F0502020204030204"/>
                      </a:endParaRPr>
                    </a:p>
                  </a:txBody>
                  <a:tcPr marL="54864" marR="54864" marT="18288" marB="18288" anchor="ctr">
                    <a:solidFill>
                      <a:srgbClr val="2E8B57"/>
                    </a:solidFill>
                  </a:tcPr>
                </a:tc>
                <a:tc>
                  <a:txBody>
                    <a:bodyPr wrap="square"/>
                    <a:lstStyle/>
                    <a:p>
                      <a:pPr algn="ctr"/>
                      <a:r>
                        <a:rPr sz="1300" b="1" i="0">
                          <a:solidFill>
                            <a:srgbClr val="FFFFFF"/>
                          </a:solidFill>
                          <a:latin typeface="Calibri" panose="020F0502020204030204"/>
                        </a:rPr>
                        <a:t>Price</a:t>
                      </a:r>
                      <a:endParaRPr sz="1300" b="1" i="0">
                        <a:solidFill>
                          <a:srgbClr val="FFFFFF"/>
                        </a:solidFill>
                        <a:latin typeface="Calibri" panose="020F0502020204030204"/>
                      </a:endParaRPr>
                    </a:p>
                  </a:txBody>
                  <a:tcPr marL="54864" marR="54864" marT="18288" marB="18288" anchor="ctr">
                    <a:solidFill>
                      <a:srgbClr val="2E8B57"/>
                    </a:solidFill>
                  </a:tcPr>
                </a:tc>
                <a:tc>
                  <a:txBody>
                    <a:bodyPr wrap="square"/>
                    <a:lstStyle/>
                    <a:p>
                      <a:pPr algn="ctr"/>
                      <a:r>
                        <a:rPr sz="1300" b="1" i="0">
                          <a:solidFill>
                            <a:srgbClr val="FFFFFF"/>
                          </a:solidFill>
                          <a:latin typeface="Calibri" panose="020F0502020204030204"/>
                        </a:rPr>
                        <a:t>Delivery</a:t>
                      </a:r>
                      <a:endParaRPr sz="1300" b="1" i="0">
                        <a:solidFill>
                          <a:srgbClr val="FFFFFF"/>
                        </a:solidFill>
                        <a:latin typeface="Calibri" panose="020F0502020204030204"/>
                      </a:endParaRPr>
                    </a:p>
                  </a:txBody>
                  <a:tcPr marL="54864" marR="54864" marT="18288" marB="18288" anchor="ctr">
                    <a:solidFill>
                      <a:srgbClr val="2E8B57"/>
                    </a:solidFill>
                  </a:tcPr>
                </a:tc>
                <a:tc>
                  <a:txBody>
                    <a:bodyPr wrap="square"/>
                    <a:lstStyle/>
                    <a:p>
                      <a:pPr algn="ctr"/>
                      <a:r>
                        <a:rPr sz="1300" b="1" i="0">
                          <a:solidFill>
                            <a:srgbClr val="FFFFFF"/>
                          </a:solidFill>
                          <a:latin typeface="Calibri" panose="020F0502020204030204"/>
                        </a:rPr>
                        <a:t>Delivers</a:t>
                      </a:r>
                      <a:endParaRPr sz="1300" b="1" i="0">
                        <a:solidFill>
                          <a:srgbClr val="FFFFFF"/>
                        </a:solidFill>
                        <a:latin typeface="Calibri" panose="020F0502020204030204"/>
                      </a:endParaRPr>
                    </a:p>
                  </a:txBody>
                  <a:tcPr marL="54864" marR="54864" marT="18288" marB="18288" anchor="ctr">
                    <a:solidFill>
                      <a:srgbClr val="2E8B57"/>
                    </a:solidFill>
                  </a:tcPr>
                </a:tc>
                <a:tc>
                  <a:txBody>
                    <a:bodyPr wrap="square"/>
                    <a:lstStyle/>
                    <a:p>
                      <a:pPr algn="ctr"/>
                      <a:r>
                        <a:rPr sz="1300" b="1" i="0">
                          <a:solidFill>
                            <a:srgbClr val="FFFFFF"/>
                          </a:solidFill>
                          <a:latin typeface="Calibri" panose="020F0502020204030204"/>
                        </a:rPr>
                        <a:t>Fee</a:t>
                      </a:r>
                      <a:endParaRPr sz="1300" b="1" i="0">
                        <a:solidFill>
                          <a:srgbClr val="FFFFFF"/>
                        </a:solidFill>
                        <a:latin typeface="Calibri" panose="020F0502020204030204"/>
                      </a:endParaRPr>
                    </a:p>
                  </a:txBody>
                  <a:tcPr marL="54864" marR="54864" marT="18288" marB="18288" anchor="ctr">
                    <a:solidFill>
                      <a:srgbClr val="2E8B57"/>
                    </a:solidFill>
                  </a:tcPr>
                </a:tc>
              </a:tr>
              <a:tr h="411480">
                <a:tc>
                  <a:txBody>
                    <a:bodyPr wrap="square"/>
                    <a:lstStyle/>
                    <a:p>
                      <a:r>
                        <a:rPr sz="1300" b="0" i="0">
                          <a:solidFill>
                            <a:srgbClr val="1F2937"/>
                          </a:solidFill>
                          <a:latin typeface="Calibri" panose="020F0502020204030204"/>
                        </a:rPr>
                        <a:t>EconoSource</a:t>
                      </a:r>
                      <a:endParaRPr sz="1300" b="0" i="0">
                        <a:solidFill>
                          <a:srgbClr val="1F2937"/>
                        </a:solidFill>
                        <a:latin typeface="Calibri" panose="020F0502020204030204"/>
                      </a:endParaRPr>
                    </a:p>
                  </a:txBody>
                  <a:tcPr marL="54864" marR="54864" marT="18288" marB="18288" anchor="ctr">
                    <a:solidFill>
                      <a:srgbClr val="FFFFFF"/>
                    </a:solidFill>
                  </a:tcPr>
                </a:tc>
                <a:tc>
                  <a:txBody>
                    <a:bodyPr wrap="square"/>
                    <a:lstStyle/>
                    <a:p>
                      <a:pPr algn="ctr"/>
                      <a:r>
                        <a:rPr sz="1300" b="0" i="0">
                          <a:solidFill>
                            <a:srgbClr val="1F2937"/>
                          </a:solidFill>
                          <a:latin typeface="Calibri" panose="020F0502020204030204"/>
                        </a:rPr>
                        <a:t>base</a:t>
                      </a:r>
                      <a:endParaRPr sz="1300" b="0" i="0">
                        <a:solidFill>
                          <a:srgbClr val="1F2937"/>
                        </a:solidFill>
                        <a:latin typeface="Calibri" panose="020F0502020204030204"/>
                      </a:endParaRPr>
                    </a:p>
                  </a:txBody>
                  <a:tcPr marL="54864" marR="54864" marT="18288" marB="18288" anchor="ctr">
                    <a:solidFill>
                      <a:srgbClr val="FFFFFF"/>
                    </a:solidFill>
                  </a:tcPr>
                </a:tc>
                <a:tc>
                  <a:txBody>
                    <a:bodyPr wrap="square"/>
                    <a:lstStyle/>
                    <a:p>
                      <a:pPr algn="ctr"/>
                      <a:r>
                        <a:rPr sz="1300" b="0" i="0">
                          <a:solidFill>
                            <a:srgbClr val="1F2937"/>
                          </a:solidFill>
                          <a:latin typeface="Calibri" panose="020F0502020204030204"/>
                        </a:rPr>
                        <a:t>5–8 d</a:t>
                      </a:r>
                      <a:endParaRPr sz="1300" b="0" i="0">
                        <a:solidFill>
                          <a:srgbClr val="1F2937"/>
                        </a:solidFill>
                        <a:latin typeface="Calibri" panose="020F0502020204030204"/>
                      </a:endParaRPr>
                    </a:p>
                  </a:txBody>
                  <a:tcPr marL="54864" marR="54864" marT="18288" marB="18288" anchor="ctr">
                    <a:solidFill>
                      <a:srgbClr val="FFFFFF"/>
                    </a:solidFill>
                  </a:tcPr>
                </a:tc>
                <a:tc>
                  <a:txBody>
                    <a:bodyPr wrap="square"/>
                    <a:lstStyle/>
                    <a:p>
                      <a:pPr algn="ctr"/>
                      <a:r>
                        <a:rPr sz="1300" b="0" i="0">
                          <a:solidFill>
                            <a:srgbClr val="1F2937"/>
                          </a:solidFill>
                          <a:latin typeface="Calibri" panose="020F0502020204030204"/>
                        </a:rPr>
                        <a:t>90%</a:t>
                      </a:r>
                      <a:endParaRPr sz="1300" b="0" i="0">
                        <a:solidFill>
                          <a:srgbClr val="1F2937"/>
                        </a:solidFill>
                        <a:latin typeface="Calibri" panose="020F0502020204030204"/>
                      </a:endParaRPr>
                    </a:p>
                  </a:txBody>
                  <a:tcPr marL="54864" marR="54864" marT="18288" marB="18288" anchor="ctr">
                    <a:solidFill>
                      <a:srgbClr val="FFFFFF"/>
                    </a:solidFill>
                  </a:tcPr>
                </a:tc>
                <a:tc>
                  <a:txBody>
                    <a:bodyPr wrap="square"/>
                    <a:lstStyle/>
                    <a:p>
                      <a:pPr algn="ctr"/>
                      <a:r>
                        <a:rPr sz="1300" b="0" i="0">
                          <a:solidFill>
                            <a:srgbClr val="1F2937"/>
                          </a:solidFill>
                          <a:latin typeface="Calibri" panose="020F0502020204030204"/>
                        </a:rPr>
                        <a:t>₹2,100</a:t>
                      </a:r>
                      <a:endParaRPr sz="1300" b="0" i="0">
                        <a:solidFill>
                          <a:srgbClr val="1F2937"/>
                        </a:solidFill>
                        <a:latin typeface="Calibri" panose="020F0502020204030204"/>
                      </a:endParaRPr>
                    </a:p>
                  </a:txBody>
                  <a:tcPr marL="54864" marR="54864" marT="18288" marB="18288" anchor="ctr">
                    <a:solidFill>
                      <a:srgbClr val="FFFFFF"/>
                    </a:solidFill>
                  </a:tcPr>
                </a:tc>
              </a:tr>
              <a:tr h="411480">
                <a:tc>
                  <a:txBody>
                    <a:bodyPr wrap="square"/>
                    <a:lstStyle/>
                    <a:p>
                      <a:r>
                        <a:rPr sz="1300" b="0" i="0">
                          <a:solidFill>
                            <a:srgbClr val="1F2937"/>
                          </a:solidFill>
                          <a:latin typeface="Calibri" panose="020F0502020204030204"/>
                        </a:rPr>
                        <a:t>RapidTrade</a:t>
                      </a:r>
                      <a:endParaRPr sz="1300" b="0" i="0">
                        <a:solidFill>
                          <a:srgbClr val="1F2937"/>
                        </a:solidFill>
                        <a:latin typeface="Calibri" panose="020F0502020204030204"/>
                      </a:endParaRPr>
                    </a:p>
                  </a:txBody>
                  <a:tcPr marL="54864" marR="54864" marT="18288" marB="18288" anchor="ctr">
                    <a:solidFill>
                      <a:srgbClr val="F1F5F9"/>
                    </a:solidFill>
                  </a:tcPr>
                </a:tc>
                <a:tc>
                  <a:txBody>
                    <a:bodyPr wrap="square"/>
                    <a:lstStyle/>
                    <a:p>
                      <a:pPr algn="ctr"/>
                      <a:r>
                        <a:rPr sz="1300" b="0" i="0">
                          <a:solidFill>
                            <a:srgbClr val="1F2937"/>
                          </a:solidFill>
                          <a:latin typeface="Calibri" panose="020F0502020204030204"/>
                        </a:rPr>
                        <a:t>+35%</a:t>
                      </a:r>
                      <a:endParaRPr sz="1300" b="0" i="0">
                        <a:solidFill>
                          <a:srgbClr val="1F2937"/>
                        </a:solidFill>
                        <a:latin typeface="Calibri" panose="020F0502020204030204"/>
                      </a:endParaRPr>
                    </a:p>
                  </a:txBody>
                  <a:tcPr marL="54864" marR="54864" marT="18288" marB="18288" anchor="ctr">
                    <a:solidFill>
                      <a:srgbClr val="F1F5F9"/>
                    </a:solidFill>
                  </a:tcPr>
                </a:tc>
                <a:tc>
                  <a:txBody>
                    <a:bodyPr wrap="square"/>
                    <a:lstStyle/>
                    <a:p>
                      <a:pPr algn="ctr"/>
                      <a:r>
                        <a:rPr sz="1300" b="0" i="0">
                          <a:solidFill>
                            <a:srgbClr val="1F2937"/>
                          </a:solidFill>
                          <a:latin typeface="Calibri" panose="020F0502020204030204"/>
                        </a:rPr>
                        <a:t>1–3 d</a:t>
                      </a:r>
                      <a:endParaRPr sz="1300" b="0" i="0">
                        <a:solidFill>
                          <a:srgbClr val="1F2937"/>
                        </a:solidFill>
                        <a:latin typeface="Calibri" panose="020F0502020204030204"/>
                      </a:endParaRPr>
                    </a:p>
                  </a:txBody>
                  <a:tcPr marL="54864" marR="54864" marT="18288" marB="18288" anchor="ctr">
                    <a:solidFill>
                      <a:srgbClr val="F1F5F9"/>
                    </a:solidFill>
                  </a:tcPr>
                </a:tc>
                <a:tc>
                  <a:txBody>
                    <a:bodyPr wrap="square"/>
                    <a:lstStyle/>
                    <a:p>
                      <a:pPr algn="ctr"/>
                      <a:r>
                        <a:rPr sz="1300" b="0" i="0">
                          <a:solidFill>
                            <a:srgbClr val="1F2937"/>
                          </a:solidFill>
                          <a:latin typeface="Calibri" panose="020F0502020204030204"/>
                        </a:rPr>
                        <a:t>98%</a:t>
                      </a:r>
                      <a:endParaRPr sz="1300" b="0" i="0">
                        <a:solidFill>
                          <a:srgbClr val="1F2937"/>
                        </a:solidFill>
                        <a:latin typeface="Calibri" panose="020F0502020204030204"/>
                      </a:endParaRPr>
                    </a:p>
                  </a:txBody>
                  <a:tcPr marL="54864" marR="54864" marT="18288" marB="18288" anchor="ctr">
                    <a:solidFill>
                      <a:srgbClr val="F1F5F9"/>
                    </a:solidFill>
                  </a:tcPr>
                </a:tc>
                <a:tc>
                  <a:txBody>
                    <a:bodyPr wrap="square"/>
                    <a:lstStyle/>
                    <a:p>
                      <a:pPr algn="ctr"/>
                      <a:r>
                        <a:rPr sz="1300" b="0" i="0">
                          <a:solidFill>
                            <a:srgbClr val="1F2937"/>
                          </a:solidFill>
                          <a:latin typeface="Calibri" panose="020F0502020204030204"/>
                        </a:rPr>
                        <a:t>₹4,725</a:t>
                      </a:r>
                      <a:endParaRPr sz="1300" b="0" i="0">
                        <a:solidFill>
                          <a:srgbClr val="1F2937"/>
                        </a:solidFill>
                        <a:latin typeface="Calibri" panose="020F0502020204030204"/>
                      </a:endParaRPr>
                    </a:p>
                  </a:txBody>
                  <a:tcPr marL="54864" marR="54864" marT="18288" marB="18288" anchor="ctr">
                    <a:solidFill>
                      <a:srgbClr val="F1F5F9"/>
                    </a:solidFill>
                  </a:tcPr>
                </a:tc>
              </a:tr>
              <a:tr h="411480">
                <a:tc>
                  <a:txBody>
                    <a:bodyPr wrap="square"/>
                    <a:lstStyle/>
                    <a:p>
                      <a:r>
                        <a:rPr sz="1300" b="0" i="0">
                          <a:solidFill>
                            <a:srgbClr val="1F2937"/>
                          </a:solidFill>
                          <a:latin typeface="Calibri" panose="020F0502020204030204"/>
                        </a:rPr>
                        <a:t>MidWay</a:t>
                      </a:r>
                      <a:endParaRPr sz="1300" b="0" i="0">
                        <a:solidFill>
                          <a:srgbClr val="1F2937"/>
                        </a:solidFill>
                        <a:latin typeface="Calibri" panose="020F0502020204030204"/>
                      </a:endParaRPr>
                    </a:p>
                  </a:txBody>
                  <a:tcPr marL="54864" marR="54864" marT="18288" marB="18288" anchor="ctr">
                    <a:solidFill>
                      <a:srgbClr val="FFFFFF"/>
                    </a:solidFill>
                  </a:tcPr>
                </a:tc>
                <a:tc>
                  <a:txBody>
                    <a:bodyPr wrap="square"/>
                    <a:lstStyle/>
                    <a:p>
                      <a:pPr algn="ctr"/>
                      <a:r>
                        <a:rPr sz="1300" b="0" i="0">
                          <a:solidFill>
                            <a:srgbClr val="1F2937"/>
                          </a:solidFill>
                          <a:latin typeface="Calibri" panose="020F0502020204030204"/>
                        </a:rPr>
                        <a:t>+15%</a:t>
                      </a:r>
                      <a:endParaRPr sz="1300" b="0" i="0">
                        <a:solidFill>
                          <a:srgbClr val="1F2937"/>
                        </a:solidFill>
                        <a:latin typeface="Calibri" panose="020F0502020204030204"/>
                      </a:endParaRPr>
                    </a:p>
                  </a:txBody>
                  <a:tcPr marL="54864" marR="54864" marT="18288" marB="18288" anchor="ctr">
                    <a:solidFill>
                      <a:srgbClr val="FFFFFF"/>
                    </a:solidFill>
                  </a:tcPr>
                </a:tc>
                <a:tc>
                  <a:txBody>
                    <a:bodyPr wrap="square"/>
                    <a:lstStyle/>
                    <a:p>
                      <a:pPr algn="ctr"/>
                      <a:r>
                        <a:rPr sz="1300" b="0" i="0">
                          <a:solidFill>
                            <a:srgbClr val="1F2937"/>
                          </a:solidFill>
                          <a:latin typeface="Calibri" panose="020F0502020204030204"/>
                        </a:rPr>
                        <a:t>3–5 d</a:t>
                      </a:r>
                      <a:endParaRPr sz="1300" b="0" i="0">
                        <a:solidFill>
                          <a:srgbClr val="1F2937"/>
                        </a:solidFill>
                        <a:latin typeface="Calibri" panose="020F0502020204030204"/>
                      </a:endParaRPr>
                    </a:p>
                  </a:txBody>
                  <a:tcPr marL="54864" marR="54864" marT="18288" marB="18288" anchor="ctr">
                    <a:solidFill>
                      <a:srgbClr val="FFFFFF"/>
                    </a:solidFill>
                  </a:tcPr>
                </a:tc>
                <a:tc>
                  <a:txBody>
                    <a:bodyPr wrap="square"/>
                    <a:lstStyle/>
                    <a:p>
                      <a:pPr algn="ctr"/>
                      <a:r>
                        <a:rPr sz="1300" b="0" i="0">
                          <a:solidFill>
                            <a:srgbClr val="1F2937"/>
                          </a:solidFill>
                          <a:latin typeface="Calibri" panose="020F0502020204030204"/>
                        </a:rPr>
                        <a:t>80%</a:t>
                      </a:r>
                      <a:endParaRPr sz="1300" b="0" i="0">
                        <a:solidFill>
                          <a:srgbClr val="1F2937"/>
                        </a:solidFill>
                        <a:latin typeface="Calibri" panose="020F0502020204030204"/>
                      </a:endParaRPr>
                    </a:p>
                  </a:txBody>
                  <a:tcPr marL="54864" marR="54864" marT="18288" marB="18288" anchor="ctr">
                    <a:solidFill>
                      <a:srgbClr val="FFFFFF"/>
                    </a:solidFill>
                  </a:tcPr>
                </a:tc>
                <a:tc>
                  <a:txBody>
                    <a:bodyPr wrap="square"/>
                    <a:lstStyle/>
                    <a:p>
                      <a:pPr algn="ctr"/>
                      <a:r>
                        <a:rPr sz="1300" b="0" i="0">
                          <a:solidFill>
                            <a:srgbClr val="1F2937"/>
                          </a:solidFill>
                          <a:latin typeface="Calibri" panose="020F0502020204030204"/>
                        </a:rPr>
                        <a:t>₹3,150</a:t>
                      </a:r>
                      <a:endParaRPr sz="1300" b="0" i="0">
                        <a:solidFill>
                          <a:srgbClr val="1F2937"/>
                        </a:solidFill>
                        <a:latin typeface="Calibri" panose="020F0502020204030204"/>
                      </a:endParaRPr>
                    </a:p>
                  </a:txBody>
                  <a:tcPr marL="54864" marR="54864" marT="18288" marB="18288" anchor="ctr">
                    <a:solidFill>
                      <a:srgbClr val="FFFFFF"/>
                    </a:solidFill>
                  </a:tcPr>
                </a:tc>
              </a:tr>
            </a:tbl>
          </a:graphicData>
        </a:graphic>
      </p:graphicFrame>
      <p:sp>
        <p:nvSpPr>
          <p:cNvPr id="22" name="TextBox 21"/>
          <p:cNvSpPr txBox="1"/>
          <p:nvPr/>
        </p:nvSpPr>
        <p:spPr>
          <a:xfrm>
            <a:off x="7406640" y="3108960"/>
            <a:ext cx="4370832" cy="914400"/>
          </a:xfrm>
          <a:prstGeom prst="rect">
            <a:avLst/>
          </a:prstGeom>
          <a:noFill/>
        </p:spPr>
        <p:txBody>
          <a:bodyPr wrap="square" lIns="45720" tIns="27432" rIns="45720" bIns="27432" anchor="t">
            <a:spAutoFit/>
          </a:bodyPr>
          <a:lstStyle/>
          <a:p>
            <a:pPr algn="l">
              <a:spcAft>
                <a:spcPts val="400"/>
              </a:spcAft>
            </a:pPr>
            <a:r>
              <a:rPr sz="1400" b="0" i="0">
                <a:solidFill>
                  <a:srgbClr val="5B6573"/>
                </a:solidFill>
                <a:latin typeface="Calibri" panose="020F0502020204030204"/>
              </a:rPr>
              <a:t>No supplier is best: the cheap one is slow, the fast one costs more, and the middle one is unreliable.</a:t>
            </a:r>
            <a:endParaRPr sz="1400" b="0" i="0">
              <a:solidFill>
                <a:srgbClr val="5B6573"/>
              </a:solidFill>
              <a:latin typeface="Calibri" panose="020F0502020204030204"/>
            </a:endParaRPr>
          </a:p>
        </p:txBody>
      </p:sp>
      <p:sp>
        <p:nvSpPr>
          <p:cNvPr id="23" name="Rounded Rectangle 22"/>
          <p:cNvSpPr/>
          <p:nvPr/>
        </p:nvSpPr>
        <p:spPr>
          <a:xfrm>
            <a:off x="411480" y="4800600"/>
            <a:ext cx="3566160" cy="1188720"/>
          </a:xfrm>
          <a:prstGeom prst="roundRect">
            <a:avLst>
              <a:gd name="adj" fmla="val 12000"/>
            </a:avLst>
          </a:prstGeom>
          <a:solidFill>
            <a:srgbClr val="D633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4632" y="4846320"/>
            <a:ext cx="3419856" cy="1097280"/>
          </a:xfrm>
          <a:prstGeom prst="rect">
            <a:avLst/>
          </a:prstGeom>
          <a:noFill/>
        </p:spPr>
        <p:txBody>
          <a:bodyPr wrap="square" lIns="45720" tIns="27432" rIns="45720" bIns="27432" anchor="ctr">
            <a:spAutoFit/>
          </a:bodyPr>
          <a:lstStyle/>
          <a:p>
            <a:pPr algn="ctr">
              <a:spcAft>
                <a:spcPts val="100"/>
              </a:spcAft>
            </a:pPr>
            <a:r>
              <a:rPr sz="3000" b="1" i="0">
                <a:solidFill>
                  <a:srgbClr val="FFFFFF"/>
                </a:solidFill>
                <a:latin typeface="Calibri" panose="020F0502020204030204"/>
              </a:rPr>
              <a:t>≈ 17 trillion</a:t>
            </a:r>
            <a:endParaRPr sz="3000" b="1" i="0">
              <a:solidFill>
                <a:srgbClr val="FFFFFF"/>
              </a:solidFill>
              <a:latin typeface="Calibri" panose="020F0502020204030204"/>
            </a:endParaRPr>
          </a:p>
          <a:p>
            <a:pPr algn="ctr">
              <a:spcAft>
                <a:spcPts val="400"/>
              </a:spcAft>
            </a:pPr>
            <a:r>
              <a:rPr sz="1300" b="0" i="0">
                <a:solidFill>
                  <a:srgbClr val="FFFFFF"/>
                </a:solidFill>
                <a:latin typeface="Calibri" panose="020F0502020204030204"/>
              </a:rPr>
              <a:t>different order combinations every day</a:t>
            </a:r>
            <a:endParaRPr sz="1300" b="0" i="0">
              <a:solidFill>
                <a:srgbClr val="FFFFFF"/>
              </a:solidFill>
              <a:latin typeface="Calibri" panose="020F0502020204030204"/>
            </a:endParaRPr>
          </a:p>
        </p:txBody>
      </p:sp>
      <p:sp>
        <p:nvSpPr>
          <p:cNvPr id="25" name="Rounded Rectangle 24"/>
          <p:cNvSpPr/>
          <p:nvPr/>
        </p:nvSpPr>
        <p:spPr>
          <a:xfrm>
            <a:off x="4206240" y="4800600"/>
            <a:ext cx="3566160" cy="1188720"/>
          </a:xfrm>
          <a:prstGeom prst="roundRect">
            <a:avLst>
              <a:gd name="adj" fmla="val 12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279392" y="4846320"/>
            <a:ext cx="3419856" cy="1097280"/>
          </a:xfrm>
          <a:prstGeom prst="rect">
            <a:avLst/>
          </a:prstGeom>
          <a:noFill/>
        </p:spPr>
        <p:txBody>
          <a:bodyPr wrap="square" lIns="45720" tIns="27432" rIns="45720" bIns="27432" anchor="ctr">
            <a:spAutoFit/>
          </a:bodyPr>
          <a:lstStyle/>
          <a:p>
            <a:pPr algn="ctr">
              <a:spcAft>
                <a:spcPts val="100"/>
              </a:spcAft>
            </a:pPr>
            <a:r>
              <a:rPr sz="3000" b="1" i="0">
                <a:solidFill>
                  <a:srgbClr val="FFFFFF"/>
                </a:solidFill>
                <a:latin typeface="Calibri" panose="020F0502020204030204"/>
              </a:rPr>
              <a:t>216×</a:t>
            </a:r>
            <a:endParaRPr sz="3000" b="1" i="0">
              <a:solidFill>
                <a:srgbClr val="FFFFFF"/>
              </a:solidFill>
              <a:latin typeface="Calibri" panose="020F0502020204030204"/>
            </a:endParaRPr>
          </a:p>
          <a:p>
            <a:pPr algn="ctr">
              <a:spcAft>
                <a:spcPts val="400"/>
              </a:spcAft>
            </a:pPr>
            <a:r>
              <a:rPr sz="1300" b="0" i="0">
                <a:solidFill>
                  <a:srgbClr val="FFFFFF"/>
                </a:solidFill>
                <a:latin typeface="Calibri" panose="020F0502020204030204"/>
              </a:rPr>
              <a:t>how much more daily demand swings than a simple model expects</a:t>
            </a:r>
            <a:endParaRPr sz="1300" b="0" i="0">
              <a:solidFill>
                <a:srgbClr val="FFFFFF"/>
              </a:solidFill>
              <a:latin typeface="Calibri" panose="020F0502020204030204"/>
            </a:endParaRPr>
          </a:p>
        </p:txBody>
      </p:sp>
      <p:sp>
        <p:nvSpPr>
          <p:cNvPr id="27" name="Rounded Rectangle 26"/>
          <p:cNvSpPr/>
          <p:nvPr/>
        </p:nvSpPr>
        <p:spPr>
          <a:xfrm>
            <a:off x="8001000" y="4800600"/>
            <a:ext cx="3776472" cy="1188720"/>
          </a:xfrm>
          <a:prstGeom prst="roundRect">
            <a:avLst>
              <a:gd name="adj" fmla="val 12000"/>
            </a:avLst>
          </a:prstGeom>
          <a:solidFill>
            <a:srgbClr val="2F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74152" y="4846320"/>
            <a:ext cx="3630168" cy="1097280"/>
          </a:xfrm>
          <a:prstGeom prst="rect">
            <a:avLst/>
          </a:prstGeom>
          <a:noFill/>
        </p:spPr>
        <p:txBody>
          <a:bodyPr wrap="square" lIns="45720" tIns="27432" rIns="45720" bIns="27432" anchor="ctr">
            <a:spAutoFit/>
          </a:bodyPr>
          <a:lstStyle/>
          <a:p>
            <a:pPr algn="ctr">
              <a:spcAft>
                <a:spcPts val="100"/>
              </a:spcAft>
            </a:pPr>
            <a:r>
              <a:rPr sz="3000" b="1" i="0">
                <a:solidFill>
                  <a:srgbClr val="FFFFFF"/>
                </a:solidFill>
                <a:latin typeface="Calibri" panose="020F0502020204030204"/>
              </a:rPr>
              <a:t>Joint choice</a:t>
            </a:r>
            <a:endParaRPr sz="3000" b="1" i="0">
              <a:solidFill>
                <a:srgbClr val="FFFFFF"/>
              </a:solidFill>
              <a:latin typeface="Calibri" panose="020F0502020204030204"/>
            </a:endParaRPr>
          </a:p>
          <a:p>
            <a:pPr algn="ctr">
              <a:spcAft>
                <a:spcPts val="400"/>
              </a:spcAft>
            </a:pPr>
            <a:r>
              <a:rPr sz="1300" b="0" i="0">
                <a:solidFill>
                  <a:srgbClr val="FFFFFF"/>
                </a:solidFill>
                <a:latin typeface="Calibri" panose="020F0502020204030204"/>
              </a:rPr>
              <a:t>quantity and supplier are chosen together</a:t>
            </a:r>
            <a:endParaRPr sz="1300" b="0" i="0">
              <a:solidFill>
                <a:srgbClr val="FFFFFF"/>
              </a:solidFill>
              <a:latin typeface="Calibri" panose="020F050202020403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 name="Rectangle 16"/>
          <p:cNvSpPr/>
          <p:nvPr/>
        </p:nvSpPr>
        <p:spPr>
          <a:xfrm>
            <a:off x="-1" y="0"/>
            <a:ext cx="12191998" cy="1262131"/>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4400" dirty="0">
              <a:solidFill>
                <a:schemeClr val="accent1">
                  <a:lumMod val="50000"/>
                </a:schemeClr>
              </a:solidFill>
            </a:endParaRPr>
          </a:p>
        </p:txBody>
      </p:sp>
      <p:sp>
        <p:nvSpPr>
          <p:cNvPr id="10" name="Google Shape;91;p1"/>
          <p:cNvSpPr txBox="1"/>
          <p:nvPr/>
        </p:nvSpPr>
        <p:spPr>
          <a:xfrm>
            <a:off x="-1" y="6416040"/>
            <a:ext cx="12191998" cy="441960"/>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None/>
            </a:pPr>
            <a:r>
              <a:rPr lang="en-IN" sz="1600" b="1" i="0" u="none" strike="noStrike" cap="none" dirty="0">
                <a:solidFill>
                  <a:srgbClr val="081271"/>
                </a:solidFill>
                <a:latin typeface="Times New Roman" panose="02020603050405020304"/>
                <a:ea typeface="Times New Roman" panose="02020603050405020304"/>
                <a:cs typeface="Times New Roman" panose="02020603050405020304"/>
                <a:sym typeface="Times New Roman" panose="02020603050405020304"/>
              </a:rPr>
              <a:t>[Final Project Review]</a:t>
            </a:r>
            <a:endParaRPr sz="1600" b="1" i="0" u="none" strike="noStrike" cap="none" dirty="0">
              <a:solidFill>
                <a:srgbClr val="08127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16" name="Straight Connector 15"/>
          <p:cNvCxnSpPr/>
          <p:nvPr/>
        </p:nvCxnSpPr>
        <p:spPr>
          <a:xfrm>
            <a:off x="0" y="1260899"/>
            <a:ext cx="12192000" cy="0"/>
          </a:xfrm>
          <a:prstGeom prst="line">
            <a:avLst/>
          </a:prstGeom>
          <a:ln w="28575">
            <a:solidFill>
              <a:srgbClr val="1A9B46"/>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sz="3200"/>
              <a:t>Literature Review</a:t>
            </a:r>
            <a:endParaRPr sz="3200"/>
          </a:p>
        </p:txBody>
      </p:sp>
      <p:sp>
        <p:nvSpPr>
          <p:cNvPr id="19" name="Slide Number Placeholder 18"/>
          <p:cNvSpPr>
            <a:spLocks noGrp="1"/>
          </p:cNvSpPr>
          <p:nvPr>
            <p:ph type="sldNum" sz="quarter" idx="12"/>
          </p:nvPr>
        </p:nvSpPr>
        <p:spPr/>
        <p:txBody>
          <a:bodyPr/>
          <a:lstStyle/>
          <a:p>
            <a:fld id="{C2216105-7B7A-4C42-B2A1-5E9A2FA4F8FD}" type="slidenum">
              <a:rPr lang="en-IN" smtClean="0"/>
            </a:fld>
            <a:endParaRPr lang="en-IN" dirty="0"/>
          </a:p>
        </p:txBody>
      </p:sp>
      <p:graphicFrame>
        <p:nvGraphicFramePr>
          <p:cNvPr id="20" name="Table 19"/>
          <p:cNvGraphicFramePr>
            <a:graphicFrameLocks noGrp="1"/>
          </p:cNvGraphicFramePr>
          <p:nvPr/>
        </p:nvGraphicFramePr>
        <p:xfrm>
          <a:off x="411480" y="1371600"/>
          <a:ext cx="11365989" cy="4663440"/>
        </p:xfrm>
        <a:graphic>
          <a:graphicData uri="http://schemas.openxmlformats.org/drawingml/2006/table">
            <a:tbl>
              <a:tblPr firstRow="1" bandRow="1">
                <a:tableStyleId>{5C22544A-7EE6-4342-B048-85BDC9FD1C3A}</a:tableStyleId>
              </a:tblPr>
              <a:tblGrid>
                <a:gridCol w="366644"/>
                <a:gridCol w="2749836"/>
                <a:gridCol w="2108208"/>
                <a:gridCol w="3116481"/>
                <a:gridCol w="3024820"/>
              </a:tblGrid>
              <a:tr h="777240">
                <a:tc>
                  <a:txBody>
                    <a:bodyPr wrap="square"/>
                    <a:lstStyle/>
                    <a:p>
                      <a:pPr algn="l"/>
                      <a:r>
                        <a:rPr sz="1300" b="1" i="0">
                          <a:solidFill>
                            <a:srgbClr val="FFFFFF"/>
                          </a:solidFill>
                          <a:latin typeface="Calibri" panose="020F0502020204030204"/>
                        </a:rPr>
                        <a:t>#</a:t>
                      </a:r>
                      <a:endParaRPr sz="1300" b="1" i="0">
                        <a:solidFill>
                          <a:srgbClr val="FFFFFF"/>
                        </a:solidFill>
                        <a:latin typeface="Calibri" panose="020F0502020204030204"/>
                      </a:endParaRPr>
                    </a:p>
                  </a:txBody>
                  <a:tcPr marL="54864" marR="54864" marT="18288" marB="18288" anchor="ctr">
                    <a:solidFill>
                      <a:srgbClr val="2E8B57"/>
                    </a:solidFill>
                  </a:tcPr>
                </a:tc>
                <a:tc>
                  <a:txBody>
                    <a:bodyPr wrap="square"/>
                    <a:lstStyle/>
                    <a:p>
                      <a:pPr algn="l"/>
                      <a:r>
                        <a:rPr sz="1300" b="1" i="0">
                          <a:solidFill>
                            <a:srgbClr val="FFFFFF"/>
                          </a:solidFill>
                          <a:latin typeface="Calibri" panose="020F0502020204030204"/>
                        </a:rPr>
                        <a:t>Work</a:t>
                      </a:r>
                      <a:endParaRPr sz="1300" b="1" i="0">
                        <a:solidFill>
                          <a:srgbClr val="FFFFFF"/>
                        </a:solidFill>
                        <a:latin typeface="Calibri" panose="020F0502020204030204"/>
                      </a:endParaRPr>
                    </a:p>
                  </a:txBody>
                  <a:tcPr marL="54864" marR="54864" marT="18288" marB="18288" anchor="ctr">
                    <a:solidFill>
                      <a:srgbClr val="2E8B57"/>
                    </a:solidFill>
                  </a:tcPr>
                </a:tc>
                <a:tc>
                  <a:txBody>
                    <a:bodyPr wrap="square"/>
                    <a:lstStyle/>
                    <a:p>
                      <a:pPr algn="l"/>
                      <a:r>
                        <a:rPr sz="1300" b="1" i="0">
                          <a:solidFill>
                            <a:srgbClr val="FFFFFF"/>
                          </a:solidFill>
                          <a:latin typeface="Calibri" panose="020F0502020204030204"/>
                        </a:rPr>
                        <a:t>Approach</a:t>
                      </a:r>
                      <a:endParaRPr sz="1300" b="1" i="0">
                        <a:solidFill>
                          <a:srgbClr val="FFFFFF"/>
                        </a:solidFill>
                        <a:latin typeface="Calibri" panose="020F0502020204030204"/>
                      </a:endParaRPr>
                    </a:p>
                  </a:txBody>
                  <a:tcPr marL="54864" marR="54864" marT="18288" marB="18288" anchor="ctr">
                    <a:solidFill>
                      <a:srgbClr val="2E8B57"/>
                    </a:solidFill>
                  </a:tcPr>
                </a:tc>
                <a:tc>
                  <a:txBody>
                    <a:bodyPr wrap="square"/>
                    <a:lstStyle/>
                    <a:p>
                      <a:pPr algn="l"/>
                      <a:r>
                        <a:rPr sz="1300" b="1" i="0">
                          <a:solidFill>
                            <a:srgbClr val="FFFFFF"/>
                          </a:solidFill>
                          <a:latin typeface="Calibri" panose="020F0502020204030204"/>
                        </a:rPr>
                        <a:t>Key finding</a:t>
                      </a:r>
                      <a:endParaRPr sz="1300" b="1" i="0">
                        <a:solidFill>
                          <a:srgbClr val="FFFFFF"/>
                        </a:solidFill>
                        <a:latin typeface="Calibri" panose="020F0502020204030204"/>
                      </a:endParaRPr>
                    </a:p>
                  </a:txBody>
                  <a:tcPr marL="54864" marR="54864" marT="18288" marB="18288" anchor="ctr">
                    <a:solidFill>
                      <a:srgbClr val="2E8B57"/>
                    </a:solidFill>
                  </a:tcPr>
                </a:tc>
                <a:tc>
                  <a:txBody>
                    <a:bodyPr wrap="square"/>
                    <a:lstStyle/>
                    <a:p>
                      <a:pPr algn="l"/>
                      <a:r>
                        <a:rPr sz="1300" b="1" i="0">
                          <a:solidFill>
                            <a:srgbClr val="FFFFFF"/>
                          </a:solidFill>
                          <a:latin typeface="Calibri" panose="020F0502020204030204"/>
                        </a:rPr>
                        <a:t>Limitation</a:t>
                      </a:r>
                      <a:endParaRPr sz="1300" b="1" i="0">
                        <a:solidFill>
                          <a:srgbClr val="FFFFFF"/>
                        </a:solidFill>
                        <a:latin typeface="Calibri" panose="020F0502020204030204"/>
                      </a:endParaRPr>
                    </a:p>
                  </a:txBody>
                  <a:tcPr marL="54864" marR="54864" marT="18288" marB="18288" anchor="ctr">
                    <a:solidFill>
                      <a:srgbClr val="2E8B57"/>
                    </a:solidFill>
                  </a:tcPr>
                </a:tc>
              </a:tr>
              <a:tr h="777240">
                <a:tc>
                  <a:txBody>
                    <a:bodyPr wrap="square"/>
                    <a:lstStyle/>
                    <a:p>
                      <a:r>
                        <a:rPr sz="1300" b="0" i="0">
                          <a:solidFill>
                            <a:srgbClr val="1F2937"/>
                          </a:solidFill>
                          <a:latin typeface="Calibri" panose="020F0502020204030204"/>
                        </a:rPr>
                        <a:t>1</a:t>
                      </a:r>
                      <a:endParaRPr sz="1300" b="0" i="0">
                        <a:solidFill>
                          <a:srgbClr val="1F2937"/>
                        </a:solidFill>
                        <a:latin typeface="Calibri" panose="020F0502020204030204"/>
                      </a:endParaRPr>
                    </a:p>
                  </a:txBody>
                  <a:tcPr marL="54864" marR="54864" marT="18288" marB="18288" anchor="ctr">
                    <a:solidFill>
                      <a:srgbClr val="FFFFFF"/>
                    </a:solidFill>
                  </a:tcPr>
                </a:tc>
                <a:tc>
                  <a:txBody>
                    <a:bodyPr wrap="square"/>
                    <a:lstStyle/>
                    <a:p>
                      <a:r>
                        <a:rPr sz="1300" b="0" i="0">
                          <a:solidFill>
                            <a:srgbClr val="1F2937"/>
                          </a:solidFill>
                          <a:latin typeface="Calibri" panose="020F0502020204030204"/>
                        </a:rPr>
                        <a:t>Proximal Policy Optimization (2017)</a:t>
                      </a:r>
                      <a:endParaRPr sz="1300" b="0" i="0">
                        <a:solidFill>
                          <a:srgbClr val="1F2937"/>
                        </a:solidFill>
                        <a:latin typeface="Calibri" panose="020F0502020204030204"/>
                      </a:endParaRPr>
                    </a:p>
                  </a:txBody>
                  <a:tcPr marL="54864" marR="54864" marT="18288" marB="18288" anchor="ctr">
                    <a:solidFill>
                      <a:srgbClr val="FFFFFF"/>
                    </a:solidFill>
                  </a:tcPr>
                </a:tc>
                <a:tc>
                  <a:txBody>
                    <a:bodyPr wrap="square"/>
                    <a:lstStyle/>
                    <a:p>
                      <a:r>
                        <a:rPr sz="1300" b="0" i="0">
                          <a:solidFill>
                            <a:srgbClr val="1F2937"/>
                          </a:solidFill>
                          <a:latin typeface="Calibri" panose="020F0502020204030204"/>
                        </a:rPr>
                        <a:t>A stable way to train an RL agent</a:t>
                      </a:r>
                      <a:endParaRPr sz="1300" b="0" i="0">
                        <a:solidFill>
                          <a:srgbClr val="1F2937"/>
                        </a:solidFill>
                        <a:latin typeface="Calibri" panose="020F0502020204030204"/>
                      </a:endParaRPr>
                    </a:p>
                  </a:txBody>
                  <a:tcPr marL="54864" marR="54864" marT="18288" marB="18288" anchor="ctr">
                    <a:solidFill>
                      <a:srgbClr val="FFFFFF"/>
                    </a:solidFill>
                  </a:tcPr>
                </a:tc>
                <a:tc>
                  <a:txBody>
                    <a:bodyPr wrap="square"/>
                    <a:lstStyle/>
                    <a:p>
                      <a:r>
                        <a:rPr sz="1300" b="0" i="0">
                          <a:solidFill>
                            <a:srgbClr val="1F2937"/>
                          </a:solidFill>
                          <a:latin typeface="Calibri" panose="020F0502020204030204"/>
                        </a:rPr>
                        <a:t>Reliable; a common default</a:t>
                      </a:r>
                      <a:endParaRPr sz="1300" b="0" i="0">
                        <a:solidFill>
                          <a:srgbClr val="1F2937"/>
                        </a:solidFill>
                        <a:latin typeface="Calibri" panose="020F0502020204030204"/>
                      </a:endParaRPr>
                    </a:p>
                  </a:txBody>
                  <a:tcPr marL="54864" marR="54864" marT="18288" marB="18288" anchor="ctr">
                    <a:solidFill>
                      <a:srgbClr val="FFFFFF"/>
                    </a:solidFill>
                  </a:tcPr>
                </a:tc>
                <a:tc>
                  <a:txBody>
                    <a:bodyPr wrap="square"/>
                    <a:lstStyle/>
                    <a:p>
                      <a:r>
                        <a:rPr sz="1300" b="0" i="0">
                          <a:solidFill>
                            <a:srgbClr val="1F2937"/>
                          </a:solidFill>
                          <a:latin typeface="Calibri" panose="020F0502020204030204"/>
                        </a:rPr>
                        <a:t>General purpose; not built for supply chains</a:t>
                      </a:r>
                      <a:endParaRPr sz="1300" b="0" i="0">
                        <a:solidFill>
                          <a:srgbClr val="1F2937"/>
                        </a:solidFill>
                        <a:latin typeface="Calibri" panose="020F0502020204030204"/>
                      </a:endParaRPr>
                    </a:p>
                  </a:txBody>
                  <a:tcPr marL="54864" marR="54864" marT="18288" marB="18288" anchor="ctr">
                    <a:solidFill>
                      <a:srgbClr val="FFFFFF"/>
                    </a:solidFill>
                  </a:tcPr>
                </a:tc>
              </a:tr>
              <a:tr h="777240">
                <a:tc>
                  <a:txBody>
                    <a:bodyPr wrap="square"/>
                    <a:lstStyle/>
                    <a:p>
                      <a:r>
                        <a:rPr sz="1300" b="0" i="0">
                          <a:solidFill>
                            <a:srgbClr val="1F2937"/>
                          </a:solidFill>
                          <a:latin typeface="Calibri" panose="020F0502020204030204"/>
                        </a:rPr>
                        <a:t>2</a:t>
                      </a:r>
                      <a:endParaRPr sz="1300" b="0" i="0">
                        <a:solidFill>
                          <a:srgbClr val="1F2937"/>
                        </a:solidFill>
                        <a:latin typeface="Calibri" panose="020F0502020204030204"/>
                      </a:endParaRPr>
                    </a:p>
                  </a:txBody>
                  <a:tcPr marL="54864" marR="54864" marT="18288" marB="18288" anchor="ctr">
                    <a:solidFill>
                      <a:srgbClr val="F1F5F9"/>
                    </a:solidFill>
                  </a:tcPr>
                </a:tc>
                <a:tc>
                  <a:txBody>
                    <a:bodyPr wrap="square"/>
                    <a:lstStyle/>
                    <a:p>
                      <a:r>
                        <a:rPr sz="1300" b="0" i="0">
                          <a:solidFill>
                            <a:srgbClr val="1F2937"/>
                          </a:solidFill>
                          <a:latin typeface="Calibri" panose="020F0502020204030204"/>
                        </a:rPr>
                        <a:t>A Deep Q-Network for the Beer Game (2022)</a:t>
                      </a:r>
                      <a:endParaRPr sz="1300" b="0" i="0">
                        <a:solidFill>
                          <a:srgbClr val="1F2937"/>
                        </a:solidFill>
                        <a:latin typeface="Calibri" panose="020F0502020204030204"/>
                      </a:endParaRPr>
                    </a:p>
                  </a:txBody>
                  <a:tcPr marL="54864" marR="54864" marT="18288" marB="18288" anchor="ctr">
                    <a:solidFill>
                      <a:srgbClr val="F1F5F9"/>
                    </a:solidFill>
                  </a:tcPr>
                </a:tc>
                <a:tc>
                  <a:txBody>
                    <a:bodyPr wrap="square"/>
                    <a:lstStyle/>
                    <a:p>
                      <a:r>
                        <a:rPr sz="1300" b="0" i="0">
                          <a:solidFill>
                            <a:srgbClr val="1F2937"/>
                          </a:solidFill>
                          <a:latin typeface="Calibri" panose="020F0502020204030204"/>
                        </a:rPr>
                        <a:t>Deep RL on a simple supply chain</a:t>
                      </a:r>
                      <a:endParaRPr sz="1300" b="0" i="0">
                        <a:solidFill>
                          <a:srgbClr val="1F2937"/>
                        </a:solidFill>
                        <a:latin typeface="Calibri" panose="020F0502020204030204"/>
                      </a:endParaRPr>
                    </a:p>
                  </a:txBody>
                  <a:tcPr marL="54864" marR="54864" marT="18288" marB="18288" anchor="ctr">
                    <a:solidFill>
                      <a:srgbClr val="F1F5F9"/>
                    </a:solidFill>
                  </a:tcPr>
                </a:tc>
                <a:tc>
                  <a:txBody>
                    <a:bodyPr wrap="square"/>
                    <a:lstStyle/>
                    <a:p>
                      <a:r>
                        <a:rPr sz="1300" b="0" i="0">
                          <a:solidFill>
                            <a:srgbClr val="1F2937"/>
                          </a:solidFill>
                          <a:latin typeface="Calibri" panose="020F0502020204030204"/>
                        </a:rPr>
                        <a:t>Matches or beats standard ordering rules when teams cooperate</a:t>
                      </a:r>
                      <a:endParaRPr sz="1300" b="0" i="0">
                        <a:solidFill>
                          <a:srgbClr val="1F2937"/>
                        </a:solidFill>
                        <a:latin typeface="Calibri" panose="020F0502020204030204"/>
                      </a:endParaRPr>
                    </a:p>
                  </a:txBody>
                  <a:tcPr marL="54864" marR="54864" marT="18288" marB="18288" anchor="ctr">
                    <a:solidFill>
                      <a:srgbClr val="F1F5F9"/>
                    </a:solidFill>
                  </a:tcPr>
                </a:tc>
                <a:tc>
                  <a:txBody>
                    <a:bodyPr wrap="square"/>
                    <a:lstStyle/>
                    <a:p>
                      <a:r>
                        <a:rPr sz="1300" b="0" i="0">
                          <a:solidFill>
                            <a:srgbClr val="1F2937"/>
                          </a:solidFill>
                          <a:latin typeface="Calibri" panose="020F0502020204030204"/>
                        </a:rPr>
                        <a:t>One product, no supplier choice</a:t>
                      </a:r>
                      <a:endParaRPr sz="1300" b="0" i="0">
                        <a:solidFill>
                          <a:srgbClr val="1F2937"/>
                        </a:solidFill>
                        <a:latin typeface="Calibri" panose="020F0502020204030204"/>
                      </a:endParaRPr>
                    </a:p>
                  </a:txBody>
                  <a:tcPr marL="54864" marR="54864" marT="18288" marB="18288" anchor="ctr">
                    <a:solidFill>
                      <a:srgbClr val="F1F5F9"/>
                    </a:solidFill>
                  </a:tcPr>
                </a:tc>
              </a:tr>
              <a:tr h="777240">
                <a:tc>
                  <a:txBody>
                    <a:bodyPr wrap="square"/>
                    <a:lstStyle/>
                    <a:p>
                      <a:r>
                        <a:rPr sz="1300" b="0" i="0">
                          <a:solidFill>
                            <a:srgbClr val="1F2937"/>
                          </a:solidFill>
                          <a:latin typeface="Calibri" panose="020F0502020204030204"/>
                        </a:rPr>
                        <a:t>3</a:t>
                      </a:r>
                      <a:endParaRPr sz="1300" b="0" i="0">
                        <a:solidFill>
                          <a:srgbClr val="1F2937"/>
                        </a:solidFill>
                        <a:latin typeface="Calibri" panose="020F0502020204030204"/>
                      </a:endParaRPr>
                    </a:p>
                  </a:txBody>
                  <a:tcPr marL="54864" marR="54864" marT="18288" marB="18288" anchor="ctr">
                    <a:solidFill>
                      <a:srgbClr val="FFFFFF"/>
                    </a:solidFill>
                  </a:tcPr>
                </a:tc>
                <a:tc>
                  <a:txBody>
                    <a:bodyPr wrap="square"/>
                    <a:lstStyle/>
                    <a:p>
                      <a:r>
                        <a:rPr sz="1300" b="0" i="0">
                          <a:solidFill>
                            <a:srgbClr val="1F2937"/>
                          </a:solidFill>
                          <a:latin typeface="Calibri" panose="020F0502020204030204"/>
                        </a:rPr>
                        <a:t>Can Deep RL Improve Inventory Management? (2022)</a:t>
                      </a:r>
                      <a:endParaRPr sz="1300" b="0" i="0">
                        <a:solidFill>
                          <a:srgbClr val="1F2937"/>
                        </a:solidFill>
                        <a:latin typeface="Calibri" panose="020F0502020204030204"/>
                      </a:endParaRPr>
                    </a:p>
                  </a:txBody>
                  <a:tcPr marL="54864" marR="54864" marT="18288" marB="18288" anchor="ctr">
                    <a:solidFill>
                      <a:srgbClr val="FFFFFF"/>
                    </a:solidFill>
                  </a:tcPr>
                </a:tc>
                <a:tc>
                  <a:txBody>
                    <a:bodyPr wrap="square"/>
                    <a:lstStyle/>
                    <a:p>
                      <a:r>
                        <a:rPr sz="1300" b="0" i="0">
                          <a:solidFill>
                            <a:srgbClr val="1F2937"/>
                          </a:solidFill>
                          <a:latin typeface="Calibri" panose="020F0502020204030204"/>
                        </a:rPr>
                        <a:t>Deep RL on lost sales and two suppliers</a:t>
                      </a:r>
                      <a:endParaRPr sz="1300" b="0" i="0">
                        <a:solidFill>
                          <a:srgbClr val="1F2937"/>
                        </a:solidFill>
                        <a:latin typeface="Calibri" panose="020F0502020204030204"/>
                      </a:endParaRPr>
                    </a:p>
                  </a:txBody>
                  <a:tcPr marL="54864" marR="54864" marT="18288" marB="18288" anchor="ctr">
                    <a:solidFill>
                      <a:srgbClr val="FFFFFF"/>
                    </a:solidFill>
                  </a:tcPr>
                </a:tc>
                <a:tc>
                  <a:txBody>
                    <a:bodyPr wrap="square"/>
                    <a:lstStyle/>
                    <a:p>
                      <a:r>
                        <a:rPr sz="1300" b="0" i="0">
                          <a:solidFill>
                            <a:srgbClr val="1F2937"/>
                          </a:solidFill>
                          <a:latin typeface="Calibri" panose="020F0502020204030204"/>
                        </a:rPr>
                        <a:t>As good as well-tuned rules, not clearly better</a:t>
                      </a:r>
                      <a:endParaRPr sz="1300" b="0" i="0">
                        <a:solidFill>
                          <a:srgbClr val="1F2937"/>
                        </a:solidFill>
                        <a:latin typeface="Calibri" panose="020F0502020204030204"/>
                      </a:endParaRPr>
                    </a:p>
                  </a:txBody>
                  <a:tcPr marL="54864" marR="54864" marT="18288" marB="18288" anchor="ctr">
                    <a:solidFill>
                      <a:srgbClr val="FFFFFF"/>
                    </a:solidFill>
                  </a:tcPr>
                </a:tc>
                <a:tc>
                  <a:txBody>
                    <a:bodyPr wrap="square"/>
                    <a:lstStyle/>
                    <a:p>
                      <a:r>
                        <a:rPr sz="1300" b="0" i="0">
                          <a:solidFill>
                            <a:srgbClr val="1F2937"/>
                          </a:solidFill>
                          <a:latin typeface="Calibri" panose="020F0502020204030204"/>
                        </a:rPr>
                        <a:t>Needs a lot of tuning; no explanations</a:t>
                      </a:r>
                      <a:endParaRPr sz="1300" b="0" i="0">
                        <a:solidFill>
                          <a:srgbClr val="1F2937"/>
                        </a:solidFill>
                        <a:latin typeface="Calibri" panose="020F0502020204030204"/>
                      </a:endParaRPr>
                    </a:p>
                  </a:txBody>
                  <a:tcPr marL="54864" marR="54864" marT="18288" marB="18288" anchor="ctr">
                    <a:solidFill>
                      <a:srgbClr val="FFFFFF"/>
                    </a:solidFill>
                  </a:tcPr>
                </a:tc>
              </a:tr>
              <a:tr h="777240">
                <a:tc>
                  <a:txBody>
                    <a:bodyPr wrap="square"/>
                    <a:lstStyle/>
                    <a:p>
                      <a:r>
                        <a:rPr sz="1300" b="0" i="0">
                          <a:solidFill>
                            <a:srgbClr val="1F2937"/>
                          </a:solidFill>
                          <a:latin typeface="Calibri" panose="020F0502020204030204"/>
                        </a:rPr>
                        <a:t>4</a:t>
                      </a:r>
                      <a:endParaRPr sz="1300" b="0" i="0">
                        <a:solidFill>
                          <a:srgbClr val="1F2937"/>
                        </a:solidFill>
                        <a:latin typeface="Calibri" panose="020F0502020204030204"/>
                      </a:endParaRPr>
                    </a:p>
                  </a:txBody>
                  <a:tcPr marL="54864" marR="54864" marT="18288" marB="18288" anchor="ctr">
                    <a:solidFill>
                      <a:srgbClr val="F1F5F9"/>
                    </a:solidFill>
                  </a:tcPr>
                </a:tc>
                <a:tc>
                  <a:txBody>
                    <a:bodyPr wrap="square"/>
                    <a:lstStyle/>
                    <a:p>
                      <a:r>
                        <a:rPr sz="1300" b="0" i="0">
                          <a:solidFill>
                            <a:srgbClr val="1F2937"/>
                          </a:solidFill>
                          <a:latin typeface="Calibri" panose="020F0502020204030204"/>
                        </a:rPr>
                        <a:t>Deep RL for Inventory Control: A Roadmap (2022)</a:t>
                      </a:r>
                      <a:endParaRPr sz="1300" b="0" i="0">
                        <a:solidFill>
                          <a:srgbClr val="1F2937"/>
                        </a:solidFill>
                        <a:latin typeface="Calibri" panose="020F0502020204030204"/>
                      </a:endParaRPr>
                    </a:p>
                  </a:txBody>
                  <a:tcPr marL="54864" marR="54864" marT="18288" marB="18288" anchor="ctr">
                    <a:solidFill>
                      <a:srgbClr val="F1F5F9"/>
                    </a:solidFill>
                  </a:tcPr>
                </a:tc>
                <a:tc>
                  <a:txBody>
                    <a:bodyPr wrap="square"/>
                    <a:lstStyle/>
                    <a:p>
                      <a:r>
                        <a:rPr sz="1300" b="0" i="0">
                          <a:solidFill>
                            <a:srgbClr val="1F2937"/>
                          </a:solidFill>
                          <a:latin typeface="Calibri" panose="020F0502020204030204"/>
                        </a:rPr>
                        <a:t>Survey of the field</a:t>
                      </a:r>
                      <a:endParaRPr sz="1300" b="0" i="0">
                        <a:solidFill>
                          <a:srgbClr val="1F2937"/>
                        </a:solidFill>
                        <a:latin typeface="Calibri" panose="020F0502020204030204"/>
                      </a:endParaRPr>
                    </a:p>
                  </a:txBody>
                  <a:tcPr marL="54864" marR="54864" marT="18288" marB="18288" anchor="ctr">
                    <a:solidFill>
                      <a:srgbClr val="F1F5F9"/>
                    </a:solidFill>
                  </a:tcPr>
                </a:tc>
                <a:tc>
                  <a:txBody>
                    <a:bodyPr wrap="square"/>
                    <a:lstStyle/>
                    <a:p>
                      <a:r>
                        <a:rPr sz="1300" b="0" i="0">
                          <a:solidFill>
                            <a:srgbClr val="1F2937"/>
                          </a:solidFill>
                          <a:latin typeface="Calibri" panose="020F0502020204030204"/>
                        </a:rPr>
                        <a:t>Says fair comparisons and explanations are still open problems</a:t>
                      </a:r>
                      <a:endParaRPr sz="1300" b="0" i="0">
                        <a:solidFill>
                          <a:srgbClr val="1F2937"/>
                        </a:solidFill>
                        <a:latin typeface="Calibri" panose="020F0502020204030204"/>
                      </a:endParaRPr>
                    </a:p>
                  </a:txBody>
                  <a:tcPr marL="54864" marR="54864" marT="18288" marB="18288" anchor="ctr">
                    <a:solidFill>
                      <a:srgbClr val="F1F5F9"/>
                    </a:solidFill>
                  </a:tcPr>
                </a:tc>
                <a:tc>
                  <a:txBody>
                    <a:bodyPr wrap="square"/>
                    <a:lstStyle/>
                    <a:p>
                      <a:r>
                        <a:rPr sz="1300" b="0" i="0">
                          <a:solidFill>
                            <a:srgbClr val="1F2937"/>
                          </a:solidFill>
                          <a:latin typeface="Calibri" panose="020F0502020204030204"/>
                        </a:rPr>
                        <a:t>Ideas only; no experiments</a:t>
                      </a:r>
                      <a:endParaRPr sz="1300" b="0" i="0">
                        <a:solidFill>
                          <a:srgbClr val="1F2937"/>
                        </a:solidFill>
                        <a:latin typeface="Calibri" panose="020F0502020204030204"/>
                      </a:endParaRPr>
                    </a:p>
                  </a:txBody>
                  <a:tcPr marL="54864" marR="54864" marT="18288" marB="18288" anchor="ctr">
                    <a:solidFill>
                      <a:srgbClr val="F1F5F9"/>
                    </a:solidFill>
                  </a:tcPr>
                </a:tc>
              </a:tr>
              <a:tr h="777240">
                <a:tc>
                  <a:txBody>
                    <a:bodyPr wrap="square"/>
                    <a:lstStyle/>
                    <a:p>
                      <a:r>
                        <a:rPr sz="1300" b="0" i="0">
                          <a:solidFill>
                            <a:srgbClr val="1F2937"/>
                          </a:solidFill>
                          <a:latin typeface="Calibri" panose="020F0502020204030204"/>
                        </a:rPr>
                        <a:t>5</a:t>
                      </a:r>
                      <a:endParaRPr sz="1300" b="0" i="0">
                        <a:solidFill>
                          <a:srgbClr val="1F2937"/>
                        </a:solidFill>
                        <a:latin typeface="Calibri" panose="020F0502020204030204"/>
                      </a:endParaRPr>
                    </a:p>
                  </a:txBody>
                  <a:tcPr marL="54864" marR="54864" marT="18288" marB="18288" anchor="ctr">
                    <a:solidFill>
                      <a:srgbClr val="FFFFFF"/>
                    </a:solidFill>
                  </a:tcPr>
                </a:tc>
                <a:tc>
                  <a:txBody>
                    <a:bodyPr wrap="square"/>
                    <a:lstStyle/>
                    <a:p>
                      <a:r>
                        <a:rPr sz="1300" b="0" i="0">
                          <a:solidFill>
                            <a:srgbClr val="1F2937"/>
                          </a:solidFill>
                          <a:latin typeface="Calibri" panose="020F0502020204030204"/>
                        </a:rPr>
                        <a:t>A Closer Look at Invalid Action Masking (2022)</a:t>
                      </a:r>
                      <a:endParaRPr sz="1300" b="0" i="0">
                        <a:solidFill>
                          <a:srgbClr val="1F2937"/>
                        </a:solidFill>
                        <a:latin typeface="Calibri" panose="020F0502020204030204"/>
                      </a:endParaRPr>
                    </a:p>
                  </a:txBody>
                  <a:tcPr marL="54864" marR="54864" marT="18288" marB="18288" anchor="ctr">
                    <a:solidFill>
                      <a:srgbClr val="FFFFFF"/>
                    </a:solidFill>
                  </a:tcPr>
                </a:tc>
                <a:tc>
                  <a:txBody>
                    <a:bodyPr wrap="square"/>
                    <a:lstStyle/>
                    <a:p>
                      <a:r>
                        <a:rPr sz="1300" b="0" i="0">
                          <a:solidFill>
                            <a:srgbClr val="1F2937"/>
                          </a:solidFill>
                          <a:latin typeface="Calibri" panose="020F0502020204030204"/>
                        </a:rPr>
                        <a:t>Blocking impossible actions during training</a:t>
                      </a:r>
                      <a:endParaRPr sz="1300" b="0" i="0">
                        <a:solidFill>
                          <a:srgbClr val="1F2937"/>
                        </a:solidFill>
                        <a:latin typeface="Calibri" panose="020F0502020204030204"/>
                      </a:endParaRPr>
                    </a:p>
                  </a:txBody>
                  <a:tcPr marL="54864" marR="54864" marT="18288" marB="18288" anchor="ctr">
                    <a:solidFill>
                      <a:srgbClr val="FFFFFF"/>
                    </a:solidFill>
                  </a:tcPr>
                </a:tc>
                <a:tc>
                  <a:txBody>
                    <a:bodyPr wrap="square"/>
                    <a:lstStyle/>
                    <a:p>
                      <a:r>
                        <a:rPr sz="1300" b="0" i="0">
                          <a:solidFill>
                            <a:srgbClr val="1F2937"/>
                          </a:solidFill>
                          <a:latin typeface="Calibri" panose="020F0502020204030204"/>
                        </a:rPr>
                        <a:t>Works well even with very many actions</a:t>
                      </a:r>
                      <a:endParaRPr sz="1300" b="0" i="0">
                        <a:solidFill>
                          <a:srgbClr val="1F2937"/>
                        </a:solidFill>
                        <a:latin typeface="Calibri" panose="020F0502020204030204"/>
                      </a:endParaRPr>
                    </a:p>
                  </a:txBody>
                  <a:tcPr marL="54864" marR="54864" marT="18288" marB="18288" anchor="ctr">
                    <a:solidFill>
                      <a:srgbClr val="FFFFFF"/>
                    </a:solidFill>
                  </a:tcPr>
                </a:tc>
                <a:tc>
                  <a:txBody>
                    <a:bodyPr wrap="square"/>
                    <a:lstStyle/>
                    <a:p>
                      <a:r>
                        <a:rPr sz="1300" b="0" i="0">
                          <a:solidFill>
                            <a:srgbClr val="1F2937"/>
                          </a:solidFill>
                          <a:latin typeface="Calibri" panose="020F0502020204030204"/>
                        </a:rPr>
                        <a:t>Not tried on inventory</a:t>
                      </a:r>
                      <a:endParaRPr sz="1300" b="0" i="0">
                        <a:solidFill>
                          <a:srgbClr val="1F2937"/>
                        </a:solidFill>
                        <a:latin typeface="Calibri" panose="020F0502020204030204"/>
                      </a:endParaRPr>
                    </a:p>
                  </a:txBody>
                  <a:tcPr marL="54864" marR="54864" marT="18288" marB="18288" anchor="ctr">
                    <a:solidFill>
                      <a:srgbClr val="FFFFFF"/>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 name="Rectangle 16"/>
          <p:cNvSpPr/>
          <p:nvPr/>
        </p:nvSpPr>
        <p:spPr>
          <a:xfrm>
            <a:off x="-1" y="0"/>
            <a:ext cx="12191998" cy="1262131"/>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4400" dirty="0">
              <a:solidFill>
                <a:schemeClr val="accent1">
                  <a:lumMod val="50000"/>
                </a:schemeClr>
              </a:solidFill>
            </a:endParaRPr>
          </a:p>
        </p:txBody>
      </p:sp>
      <p:sp>
        <p:nvSpPr>
          <p:cNvPr id="10" name="Google Shape;91;p1"/>
          <p:cNvSpPr txBox="1"/>
          <p:nvPr/>
        </p:nvSpPr>
        <p:spPr>
          <a:xfrm>
            <a:off x="-1" y="6416040"/>
            <a:ext cx="12191998" cy="441960"/>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None/>
            </a:pPr>
            <a:r>
              <a:rPr lang="en-IN" sz="1600" b="1" i="0" u="none" strike="noStrike" cap="none" dirty="0">
                <a:solidFill>
                  <a:srgbClr val="081271"/>
                </a:solidFill>
                <a:latin typeface="Times New Roman" panose="02020603050405020304"/>
                <a:ea typeface="Times New Roman" panose="02020603050405020304"/>
                <a:cs typeface="Times New Roman" panose="02020603050405020304"/>
                <a:sym typeface="Times New Roman" panose="02020603050405020304"/>
              </a:rPr>
              <a:t>[Final Project Review]</a:t>
            </a:r>
            <a:endParaRPr sz="1600" b="1" i="0" u="none" strike="noStrike" cap="none" dirty="0">
              <a:solidFill>
                <a:srgbClr val="08127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16" name="Straight Connector 15"/>
          <p:cNvCxnSpPr/>
          <p:nvPr/>
        </p:nvCxnSpPr>
        <p:spPr>
          <a:xfrm>
            <a:off x="0" y="1260899"/>
            <a:ext cx="12192000" cy="0"/>
          </a:xfrm>
          <a:prstGeom prst="line">
            <a:avLst/>
          </a:prstGeom>
          <a:ln w="28575">
            <a:solidFill>
              <a:srgbClr val="1A9B46"/>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sz="3200"/>
              <a:t>Gaps Identified, and What We Did</a:t>
            </a:r>
            <a:endParaRPr sz="3200"/>
          </a:p>
        </p:txBody>
      </p:sp>
      <p:sp>
        <p:nvSpPr>
          <p:cNvPr id="19" name="Slide Number Placeholder 18"/>
          <p:cNvSpPr>
            <a:spLocks noGrp="1"/>
          </p:cNvSpPr>
          <p:nvPr>
            <p:ph type="sldNum" sz="quarter" idx="12"/>
          </p:nvPr>
        </p:nvSpPr>
        <p:spPr/>
        <p:txBody>
          <a:bodyPr/>
          <a:lstStyle/>
          <a:p>
            <a:fld id="{C2216105-7B7A-4C42-B2A1-5E9A2FA4F8FD}" type="slidenum">
              <a:rPr lang="en-IN" smtClean="0"/>
            </a:fld>
            <a:endParaRPr lang="en-IN" dirty="0"/>
          </a:p>
        </p:txBody>
      </p:sp>
      <p:sp>
        <p:nvSpPr>
          <p:cNvPr id="20" name="Oval 19"/>
          <p:cNvSpPr/>
          <p:nvPr/>
        </p:nvSpPr>
        <p:spPr>
          <a:xfrm>
            <a:off x="411480" y="1481328"/>
            <a:ext cx="329184" cy="329184"/>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i="0">
                <a:solidFill>
                  <a:srgbClr val="FFFFFF"/>
                </a:solidFill>
                <a:latin typeface="Calibri" panose="020F0502020204030204"/>
              </a:rPr>
              <a:t>1</a:t>
            </a:r>
            <a:endParaRPr sz="1300" b="1" i="0">
              <a:solidFill>
                <a:srgbClr val="FFFFFF"/>
              </a:solidFill>
              <a:latin typeface="Calibri" panose="020F0502020204030204"/>
            </a:endParaRPr>
          </a:p>
        </p:txBody>
      </p:sp>
      <p:sp>
        <p:nvSpPr>
          <p:cNvPr id="21" name="TextBox 20"/>
          <p:cNvSpPr txBox="1"/>
          <p:nvPr/>
        </p:nvSpPr>
        <p:spPr>
          <a:xfrm>
            <a:off x="868680" y="1371600"/>
            <a:ext cx="4937760" cy="1097280"/>
          </a:xfrm>
          <a:prstGeom prst="rect">
            <a:avLst/>
          </a:prstGeom>
          <a:noFill/>
        </p:spPr>
        <p:txBody>
          <a:bodyPr wrap="square" lIns="45720" tIns="27432" rIns="45720" bIns="27432" anchor="t">
            <a:spAutoFit/>
          </a:bodyPr>
          <a:lstStyle/>
          <a:p>
            <a:pPr algn="l">
              <a:spcAft>
                <a:spcPts val="200"/>
              </a:spcAft>
            </a:pPr>
            <a:r>
              <a:rPr sz="1700" b="1" i="0">
                <a:solidFill>
                  <a:srgbClr val="1B5E3A"/>
                </a:solidFill>
                <a:latin typeface="Calibri" panose="020F0502020204030204"/>
              </a:rPr>
              <a:t>Problems are too simple</a:t>
            </a:r>
            <a:endParaRPr sz="1700" b="1" i="0">
              <a:solidFill>
                <a:srgbClr val="1B5E3A"/>
              </a:solidFill>
              <a:latin typeface="Calibri" panose="020F0502020204030204"/>
            </a:endParaRPr>
          </a:p>
          <a:p>
            <a:pPr algn="l">
              <a:spcAft>
                <a:spcPts val="400"/>
              </a:spcAft>
            </a:pPr>
            <a:r>
              <a:rPr sz="1400" b="0" i="0">
                <a:solidFill>
                  <a:srgbClr val="1F2937"/>
                </a:solidFill>
                <a:latin typeface="Calibri" panose="020F0502020204030204"/>
              </a:rPr>
              <a:t>Most studies use one product or a simple chain. Choosing quantity and supplier together, with one shared warehouse, is rarely studied.</a:t>
            </a:r>
            <a:endParaRPr sz="1400" b="0" i="0">
              <a:solidFill>
                <a:srgbClr val="1F2937"/>
              </a:solidFill>
              <a:latin typeface="Calibri" panose="020F0502020204030204"/>
            </a:endParaRPr>
          </a:p>
        </p:txBody>
      </p:sp>
      <p:sp>
        <p:nvSpPr>
          <p:cNvPr id="22" name="Rounded Rectangle 21"/>
          <p:cNvSpPr/>
          <p:nvPr/>
        </p:nvSpPr>
        <p:spPr>
          <a:xfrm>
            <a:off x="6080760" y="1371600"/>
            <a:ext cx="5696712" cy="1051560"/>
          </a:xfrm>
          <a:prstGeom prst="roundRect">
            <a:avLst>
              <a:gd name="adj" fmla="val 7000"/>
            </a:avLst>
          </a:prstGeom>
          <a:solidFill>
            <a:srgbClr val="E6F4EA"/>
          </a:solidFill>
          <a:ln w="22225">
            <a:solidFill>
              <a:srgbClr val="2E8B5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190488" y="1444752"/>
            <a:ext cx="5477256" cy="905255"/>
          </a:xfrm>
          <a:prstGeom prst="rect">
            <a:avLst/>
          </a:prstGeom>
          <a:noFill/>
        </p:spPr>
        <p:txBody>
          <a:bodyPr wrap="square" lIns="45720" tIns="27432" rIns="45720" bIns="27432" anchor="t">
            <a:spAutoFit/>
          </a:bodyPr>
          <a:lstStyle/>
          <a:p>
            <a:pPr algn="l">
              <a:spcAft>
                <a:spcPts val="500"/>
              </a:spcAft>
            </a:pPr>
            <a:r>
              <a:rPr sz="1400" b="1" i="0">
                <a:solidFill>
                  <a:srgbClr val="2E8B57"/>
                </a:solidFill>
                <a:latin typeface="Calibri" panose="020F0502020204030204"/>
              </a:rPr>
              <a:t>What we did</a:t>
            </a:r>
            <a:endParaRPr sz="1400" b="1" i="0">
              <a:solidFill>
                <a:srgbClr val="2E8B57"/>
              </a:solidFill>
              <a:latin typeface="Calibri" panose="020F0502020204030204"/>
            </a:endParaRPr>
          </a:p>
          <a:p>
            <a:pPr algn="l">
              <a:spcAft>
                <a:spcPts val="200"/>
              </a:spcAft>
            </a:pPr>
            <a:r>
              <a:rPr sz="1400" b="0" i="0">
                <a:solidFill>
                  <a:srgbClr val="1F2937"/>
                </a:solidFill>
                <a:latin typeface="Calibri" panose="020F0502020204030204"/>
              </a:rPr>
              <a:t>We model 10 products, 3 suppliers and one shared warehouse, and choose both together.</a:t>
            </a:r>
            <a:endParaRPr sz="1400" b="0" i="0">
              <a:solidFill>
                <a:srgbClr val="1F2937"/>
              </a:solidFill>
              <a:latin typeface="Calibri" panose="020F0502020204030204"/>
            </a:endParaRPr>
          </a:p>
        </p:txBody>
      </p:sp>
      <p:sp>
        <p:nvSpPr>
          <p:cNvPr id="24" name="Oval 23"/>
          <p:cNvSpPr/>
          <p:nvPr/>
        </p:nvSpPr>
        <p:spPr>
          <a:xfrm>
            <a:off x="411480" y="2697480"/>
            <a:ext cx="329184" cy="329184"/>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i="0">
                <a:solidFill>
                  <a:srgbClr val="FFFFFF"/>
                </a:solidFill>
                <a:latin typeface="Calibri" panose="020F0502020204030204"/>
              </a:rPr>
              <a:t>2</a:t>
            </a:r>
            <a:endParaRPr sz="1300" b="1" i="0">
              <a:solidFill>
                <a:srgbClr val="FFFFFF"/>
              </a:solidFill>
              <a:latin typeface="Calibri" panose="020F0502020204030204"/>
            </a:endParaRPr>
          </a:p>
        </p:txBody>
      </p:sp>
      <p:sp>
        <p:nvSpPr>
          <p:cNvPr id="25" name="TextBox 24"/>
          <p:cNvSpPr txBox="1"/>
          <p:nvPr/>
        </p:nvSpPr>
        <p:spPr>
          <a:xfrm>
            <a:off x="868680" y="2587752"/>
            <a:ext cx="4937760" cy="1097280"/>
          </a:xfrm>
          <a:prstGeom prst="rect">
            <a:avLst/>
          </a:prstGeom>
          <a:noFill/>
        </p:spPr>
        <p:txBody>
          <a:bodyPr wrap="square" lIns="45720" tIns="27432" rIns="45720" bIns="27432" anchor="t">
            <a:spAutoFit/>
          </a:bodyPr>
          <a:lstStyle/>
          <a:p>
            <a:pPr algn="l">
              <a:spcAft>
                <a:spcPts val="200"/>
              </a:spcAft>
            </a:pPr>
            <a:r>
              <a:rPr sz="1700" b="1" i="0">
                <a:solidFill>
                  <a:srgbClr val="1B5E3A"/>
                </a:solidFill>
                <a:latin typeface="Calibri" panose="020F0502020204030204"/>
              </a:rPr>
              <a:t>No explanations</a:t>
            </a:r>
            <a:endParaRPr sz="1700" b="1" i="0">
              <a:solidFill>
                <a:srgbClr val="1B5E3A"/>
              </a:solidFill>
              <a:latin typeface="Calibri" panose="020F0502020204030204"/>
            </a:endParaRPr>
          </a:p>
          <a:p>
            <a:pPr algn="l">
              <a:spcAft>
                <a:spcPts val="400"/>
              </a:spcAft>
            </a:pPr>
            <a:r>
              <a:rPr sz="1400" b="0" i="0">
                <a:solidFill>
                  <a:srgbClr val="1F2937"/>
                </a:solidFill>
                <a:latin typeface="Calibri" panose="020F0502020204030204"/>
              </a:rPr>
              <a:t>A learned agent gives a number, not a reason, so it stays in simulation.</a:t>
            </a:r>
            <a:endParaRPr sz="1400" b="0" i="0">
              <a:solidFill>
                <a:srgbClr val="1F2937"/>
              </a:solidFill>
              <a:latin typeface="Calibri" panose="020F0502020204030204"/>
            </a:endParaRPr>
          </a:p>
        </p:txBody>
      </p:sp>
      <p:sp>
        <p:nvSpPr>
          <p:cNvPr id="26" name="Rounded Rectangle 25"/>
          <p:cNvSpPr/>
          <p:nvPr/>
        </p:nvSpPr>
        <p:spPr>
          <a:xfrm>
            <a:off x="6080760" y="2587752"/>
            <a:ext cx="5696712" cy="1051560"/>
          </a:xfrm>
          <a:prstGeom prst="roundRect">
            <a:avLst>
              <a:gd name="adj" fmla="val 7000"/>
            </a:avLst>
          </a:prstGeom>
          <a:solidFill>
            <a:srgbClr val="E6F4EA"/>
          </a:solidFill>
          <a:ln w="22225">
            <a:solidFill>
              <a:srgbClr val="2E8B5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190488" y="2660904"/>
            <a:ext cx="5477256" cy="905255"/>
          </a:xfrm>
          <a:prstGeom prst="rect">
            <a:avLst/>
          </a:prstGeom>
          <a:noFill/>
        </p:spPr>
        <p:txBody>
          <a:bodyPr wrap="square" lIns="45720" tIns="27432" rIns="45720" bIns="27432" anchor="t">
            <a:spAutoFit/>
          </a:bodyPr>
          <a:lstStyle/>
          <a:p>
            <a:pPr algn="l">
              <a:spcAft>
                <a:spcPts val="500"/>
              </a:spcAft>
            </a:pPr>
            <a:r>
              <a:rPr sz="1400" b="1" i="0">
                <a:solidFill>
                  <a:srgbClr val="2E8B57"/>
                </a:solidFill>
                <a:latin typeface="Calibri" panose="020F0502020204030204"/>
              </a:rPr>
              <a:t>What we did</a:t>
            </a:r>
            <a:endParaRPr sz="1400" b="1" i="0">
              <a:solidFill>
                <a:srgbClr val="2E8B57"/>
              </a:solidFill>
              <a:latin typeface="Calibri" panose="020F0502020204030204"/>
            </a:endParaRPr>
          </a:p>
          <a:p>
            <a:pPr algn="l">
              <a:spcAft>
                <a:spcPts val="200"/>
              </a:spcAft>
            </a:pPr>
            <a:r>
              <a:rPr sz="1400" b="0" i="0">
                <a:solidFill>
                  <a:srgbClr val="1F2937"/>
                </a:solidFill>
                <a:latin typeface="Calibri" panose="020F0502020204030204"/>
              </a:rPr>
              <a:t>An LLM explains each decision using facts from the simulator, and every number is checked.</a:t>
            </a:r>
            <a:endParaRPr sz="1400" b="0" i="0">
              <a:solidFill>
                <a:srgbClr val="1F2937"/>
              </a:solidFill>
              <a:latin typeface="Calibri" panose="020F0502020204030204"/>
            </a:endParaRPr>
          </a:p>
        </p:txBody>
      </p:sp>
      <p:sp>
        <p:nvSpPr>
          <p:cNvPr id="28" name="Oval 27"/>
          <p:cNvSpPr/>
          <p:nvPr/>
        </p:nvSpPr>
        <p:spPr>
          <a:xfrm>
            <a:off x="411480" y="3913632"/>
            <a:ext cx="329184" cy="329184"/>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i="0">
                <a:solidFill>
                  <a:srgbClr val="FFFFFF"/>
                </a:solidFill>
                <a:latin typeface="Calibri" panose="020F0502020204030204"/>
              </a:rPr>
              <a:t>3</a:t>
            </a:r>
            <a:endParaRPr sz="1300" b="1" i="0">
              <a:solidFill>
                <a:srgbClr val="FFFFFF"/>
              </a:solidFill>
              <a:latin typeface="Calibri" panose="020F0502020204030204"/>
            </a:endParaRPr>
          </a:p>
        </p:txBody>
      </p:sp>
      <p:sp>
        <p:nvSpPr>
          <p:cNvPr id="29" name="TextBox 28"/>
          <p:cNvSpPr txBox="1"/>
          <p:nvPr/>
        </p:nvSpPr>
        <p:spPr>
          <a:xfrm>
            <a:off x="868680" y="3803904"/>
            <a:ext cx="4937760" cy="1097280"/>
          </a:xfrm>
          <a:prstGeom prst="rect">
            <a:avLst/>
          </a:prstGeom>
          <a:noFill/>
        </p:spPr>
        <p:txBody>
          <a:bodyPr wrap="square" lIns="45720" tIns="27432" rIns="45720" bIns="27432" anchor="t">
            <a:spAutoFit/>
          </a:bodyPr>
          <a:lstStyle/>
          <a:p>
            <a:pPr algn="l">
              <a:spcAft>
                <a:spcPts val="200"/>
              </a:spcAft>
            </a:pPr>
            <a:r>
              <a:rPr sz="1700" b="1" i="0">
                <a:solidFill>
                  <a:srgbClr val="1B5E3A"/>
                </a:solidFill>
                <a:latin typeface="Calibri" panose="020F0502020204030204"/>
              </a:rPr>
              <a:t>Stress tests are made by hand</a:t>
            </a:r>
            <a:endParaRPr sz="1700" b="1" i="0">
              <a:solidFill>
                <a:srgbClr val="1B5E3A"/>
              </a:solidFill>
              <a:latin typeface="Calibri" panose="020F0502020204030204"/>
            </a:endParaRPr>
          </a:p>
          <a:p>
            <a:pPr algn="l">
              <a:spcAft>
                <a:spcPts val="400"/>
              </a:spcAft>
            </a:pPr>
            <a:r>
              <a:rPr sz="1400" b="0" i="0">
                <a:solidFill>
                  <a:srgbClr val="1F2937"/>
                </a:solidFill>
                <a:latin typeface="Calibri" panose="020F0502020204030204"/>
              </a:rPr>
              <a:t>Crises are coded one by one, so only a few are ever tested.</a:t>
            </a:r>
            <a:endParaRPr sz="1400" b="0" i="0">
              <a:solidFill>
                <a:srgbClr val="1F2937"/>
              </a:solidFill>
              <a:latin typeface="Calibri" panose="020F0502020204030204"/>
            </a:endParaRPr>
          </a:p>
        </p:txBody>
      </p:sp>
      <p:sp>
        <p:nvSpPr>
          <p:cNvPr id="30" name="Rounded Rectangle 29"/>
          <p:cNvSpPr/>
          <p:nvPr/>
        </p:nvSpPr>
        <p:spPr>
          <a:xfrm>
            <a:off x="6080760" y="3803904"/>
            <a:ext cx="5696712" cy="1051560"/>
          </a:xfrm>
          <a:prstGeom prst="roundRect">
            <a:avLst>
              <a:gd name="adj" fmla="val 7000"/>
            </a:avLst>
          </a:prstGeom>
          <a:solidFill>
            <a:srgbClr val="E6F4EA"/>
          </a:solidFill>
          <a:ln w="22225">
            <a:solidFill>
              <a:srgbClr val="2E8B5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190488" y="3877056"/>
            <a:ext cx="5477256" cy="905255"/>
          </a:xfrm>
          <a:prstGeom prst="rect">
            <a:avLst/>
          </a:prstGeom>
          <a:noFill/>
        </p:spPr>
        <p:txBody>
          <a:bodyPr wrap="square" lIns="45720" tIns="27432" rIns="45720" bIns="27432" anchor="t">
            <a:spAutoFit/>
          </a:bodyPr>
          <a:lstStyle/>
          <a:p>
            <a:pPr algn="l">
              <a:spcAft>
                <a:spcPts val="500"/>
              </a:spcAft>
            </a:pPr>
            <a:r>
              <a:rPr sz="1400" b="1" i="0">
                <a:solidFill>
                  <a:srgbClr val="2E8B57"/>
                </a:solidFill>
                <a:latin typeface="Calibri" panose="020F0502020204030204"/>
              </a:rPr>
              <a:t>What we did</a:t>
            </a:r>
            <a:endParaRPr sz="1400" b="1" i="0">
              <a:solidFill>
                <a:srgbClr val="2E8B57"/>
              </a:solidFill>
              <a:latin typeface="Calibri" panose="020F0502020204030204"/>
            </a:endParaRPr>
          </a:p>
          <a:p>
            <a:pPr algn="l">
              <a:spcAft>
                <a:spcPts val="200"/>
              </a:spcAft>
            </a:pPr>
            <a:r>
              <a:rPr sz="1400" b="0" i="0">
                <a:solidFill>
                  <a:srgbClr val="1F2937"/>
                </a:solidFill>
                <a:latin typeface="Calibri" panose="020F0502020204030204"/>
              </a:rPr>
              <a:t>An LLM writes crises that overlap; each is checked and kept within safe ranges.</a:t>
            </a:r>
            <a:endParaRPr sz="1400" b="0" i="0">
              <a:solidFill>
                <a:srgbClr val="1F2937"/>
              </a:solidFill>
              <a:latin typeface="Calibri" panose="020F0502020204030204"/>
            </a:endParaRPr>
          </a:p>
        </p:txBody>
      </p:sp>
      <p:sp>
        <p:nvSpPr>
          <p:cNvPr id="32" name="Oval 31"/>
          <p:cNvSpPr/>
          <p:nvPr/>
        </p:nvSpPr>
        <p:spPr>
          <a:xfrm>
            <a:off x="411480" y="5129784"/>
            <a:ext cx="329184" cy="329184"/>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i="0">
                <a:solidFill>
                  <a:srgbClr val="FFFFFF"/>
                </a:solidFill>
                <a:latin typeface="Calibri" panose="020F0502020204030204"/>
              </a:rPr>
              <a:t>4</a:t>
            </a:r>
            <a:endParaRPr sz="1300" b="1" i="0">
              <a:solidFill>
                <a:srgbClr val="FFFFFF"/>
              </a:solidFill>
              <a:latin typeface="Calibri" panose="020F0502020204030204"/>
            </a:endParaRPr>
          </a:p>
        </p:txBody>
      </p:sp>
      <p:sp>
        <p:nvSpPr>
          <p:cNvPr id="33" name="TextBox 32"/>
          <p:cNvSpPr txBox="1"/>
          <p:nvPr/>
        </p:nvSpPr>
        <p:spPr>
          <a:xfrm>
            <a:off x="868680" y="5020056"/>
            <a:ext cx="4937760" cy="1097280"/>
          </a:xfrm>
          <a:prstGeom prst="rect">
            <a:avLst/>
          </a:prstGeom>
          <a:noFill/>
        </p:spPr>
        <p:txBody>
          <a:bodyPr wrap="square" lIns="45720" tIns="27432" rIns="45720" bIns="27432" anchor="t">
            <a:spAutoFit/>
          </a:bodyPr>
          <a:lstStyle/>
          <a:p>
            <a:pPr algn="l">
              <a:spcAft>
                <a:spcPts val="200"/>
              </a:spcAft>
            </a:pPr>
            <a:r>
              <a:rPr sz="1700" b="1" i="0">
                <a:solidFill>
                  <a:srgbClr val="1B5E3A"/>
                </a:solidFill>
                <a:latin typeface="Calibri" panose="020F0502020204030204"/>
              </a:rPr>
              <a:t>Weak comparisons</a:t>
            </a:r>
            <a:endParaRPr sz="1700" b="1" i="0">
              <a:solidFill>
                <a:srgbClr val="1B5E3A"/>
              </a:solidFill>
              <a:latin typeface="Calibri" panose="020F0502020204030204"/>
            </a:endParaRPr>
          </a:p>
          <a:p>
            <a:pPr algn="l">
              <a:spcAft>
                <a:spcPts val="400"/>
              </a:spcAft>
            </a:pPr>
            <a:r>
              <a:rPr sz="1400" b="0" i="0">
                <a:solidFill>
                  <a:srgbClr val="1F2937"/>
                </a:solidFill>
                <a:latin typeface="Calibri" panose="020F0502020204030204"/>
              </a:rPr>
              <a:t>Old rules are often left untuned, so a new method looks good for free.</a:t>
            </a:r>
            <a:endParaRPr sz="1400" b="0" i="0">
              <a:solidFill>
                <a:srgbClr val="1F2937"/>
              </a:solidFill>
              <a:latin typeface="Calibri" panose="020F0502020204030204"/>
            </a:endParaRPr>
          </a:p>
        </p:txBody>
      </p:sp>
      <p:sp>
        <p:nvSpPr>
          <p:cNvPr id="34" name="Rounded Rectangle 33"/>
          <p:cNvSpPr/>
          <p:nvPr/>
        </p:nvSpPr>
        <p:spPr>
          <a:xfrm>
            <a:off x="6080760" y="5020056"/>
            <a:ext cx="5696712" cy="1051560"/>
          </a:xfrm>
          <a:prstGeom prst="roundRect">
            <a:avLst>
              <a:gd name="adj" fmla="val 7000"/>
            </a:avLst>
          </a:prstGeom>
          <a:solidFill>
            <a:srgbClr val="E6F4EA"/>
          </a:solidFill>
          <a:ln w="22225">
            <a:solidFill>
              <a:srgbClr val="2E8B5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190488" y="5093208"/>
            <a:ext cx="5477256" cy="905255"/>
          </a:xfrm>
          <a:prstGeom prst="rect">
            <a:avLst/>
          </a:prstGeom>
          <a:noFill/>
        </p:spPr>
        <p:txBody>
          <a:bodyPr wrap="square" lIns="45720" tIns="27432" rIns="45720" bIns="27432" anchor="t">
            <a:spAutoFit/>
          </a:bodyPr>
          <a:lstStyle/>
          <a:p>
            <a:pPr algn="l">
              <a:spcAft>
                <a:spcPts val="500"/>
              </a:spcAft>
            </a:pPr>
            <a:r>
              <a:rPr sz="1400" b="1" i="0">
                <a:solidFill>
                  <a:srgbClr val="2E8B57"/>
                </a:solidFill>
                <a:latin typeface="Calibri" panose="020F0502020204030204"/>
              </a:rPr>
              <a:t>What we did</a:t>
            </a:r>
            <a:endParaRPr sz="1400" b="1" i="0">
              <a:solidFill>
                <a:srgbClr val="2E8B57"/>
              </a:solidFill>
              <a:latin typeface="Calibri" panose="020F0502020204030204"/>
            </a:endParaRPr>
          </a:p>
          <a:p>
            <a:pPr algn="l">
              <a:spcAft>
                <a:spcPts val="200"/>
              </a:spcAft>
            </a:pPr>
            <a:r>
              <a:rPr sz="1400" b="0" i="0">
                <a:solidFill>
                  <a:srgbClr val="1F2937"/>
                </a:solidFill>
                <a:latin typeface="Calibri" panose="020F0502020204030204"/>
              </a:rPr>
              <a:t>We tuned all four classical methods first, on separate test runs.</a:t>
            </a:r>
            <a:endParaRPr sz="1400" b="0" i="0">
              <a:solidFill>
                <a:srgbClr val="1F2937"/>
              </a:solidFill>
              <a:latin typeface="Calibri" panose="020F050202020403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 name="Rectangle 16"/>
          <p:cNvSpPr/>
          <p:nvPr/>
        </p:nvSpPr>
        <p:spPr>
          <a:xfrm>
            <a:off x="-1" y="0"/>
            <a:ext cx="12191998" cy="1262131"/>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4400" dirty="0">
              <a:solidFill>
                <a:schemeClr val="accent1">
                  <a:lumMod val="50000"/>
                </a:schemeClr>
              </a:solidFill>
            </a:endParaRPr>
          </a:p>
        </p:txBody>
      </p:sp>
      <p:sp>
        <p:nvSpPr>
          <p:cNvPr id="10" name="Google Shape;91;p1"/>
          <p:cNvSpPr txBox="1"/>
          <p:nvPr/>
        </p:nvSpPr>
        <p:spPr>
          <a:xfrm>
            <a:off x="-1" y="6416040"/>
            <a:ext cx="12191998" cy="441960"/>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None/>
            </a:pPr>
            <a:r>
              <a:rPr lang="en-IN" sz="1600" b="1" i="0" u="none" strike="noStrike" cap="none" dirty="0">
                <a:solidFill>
                  <a:srgbClr val="081271"/>
                </a:solidFill>
                <a:latin typeface="Times New Roman" panose="02020603050405020304"/>
                <a:ea typeface="Times New Roman" panose="02020603050405020304"/>
                <a:cs typeface="Times New Roman" panose="02020603050405020304"/>
                <a:sym typeface="Times New Roman" panose="02020603050405020304"/>
              </a:rPr>
              <a:t>[Final Project Review]</a:t>
            </a:r>
            <a:endParaRPr sz="1600" b="1" i="0" u="none" strike="noStrike" cap="none" dirty="0">
              <a:solidFill>
                <a:srgbClr val="08127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16" name="Straight Connector 15"/>
          <p:cNvCxnSpPr/>
          <p:nvPr/>
        </p:nvCxnSpPr>
        <p:spPr>
          <a:xfrm>
            <a:off x="0" y="1260899"/>
            <a:ext cx="12192000" cy="0"/>
          </a:xfrm>
          <a:prstGeom prst="line">
            <a:avLst/>
          </a:prstGeom>
          <a:ln w="28575">
            <a:solidFill>
              <a:srgbClr val="1A9B46"/>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sz="3200"/>
              <a:t>Objectives and Status</a:t>
            </a:r>
            <a:endParaRPr sz="3200"/>
          </a:p>
        </p:txBody>
      </p:sp>
      <p:sp>
        <p:nvSpPr>
          <p:cNvPr id="19" name="Slide Number Placeholder 18"/>
          <p:cNvSpPr>
            <a:spLocks noGrp="1"/>
          </p:cNvSpPr>
          <p:nvPr>
            <p:ph type="sldNum" sz="quarter" idx="12"/>
          </p:nvPr>
        </p:nvSpPr>
        <p:spPr/>
        <p:txBody>
          <a:bodyPr/>
          <a:lstStyle/>
          <a:p>
            <a:fld id="{C2216105-7B7A-4C42-B2A1-5E9A2FA4F8FD}" type="slidenum">
              <a:rPr lang="en-IN" smtClean="0"/>
            </a:fld>
            <a:endParaRPr lang="en-IN" dirty="0"/>
          </a:p>
        </p:txBody>
      </p:sp>
      <p:graphicFrame>
        <p:nvGraphicFramePr>
          <p:cNvPr id="20" name="Table 19"/>
          <p:cNvGraphicFramePr>
            <a:graphicFrameLocks noGrp="1"/>
          </p:cNvGraphicFramePr>
          <p:nvPr/>
        </p:nvGraphicFramePr>
        <p:xfrm>
          <a:off x="411480" y="1371600"/>
          <a:ext cx="11365990" cy="3401568"/>
        </p:xfrm>
        <a:graphic>
          <a:graphicData uri="http://schemas.openxmlformats.org/drawingml/2006/table">
            <a:tbl>
              <a:tblPr firstRow="1" bandRow="1">
                <a:tableStyleId>{5C22544A-7EE6-4342-B048-85BDC9FD1C3A}</a:tableStyleId>
              </a:tblPr>
              <a:tblGrid>
                <a:gridCol w="382050"/>
                <a:gridCol w="4393576"/>
                <a:gridCol w="859612"/>
                <a:gridCol w="5730752"/>
              </a:tblGrid>
              <a:tr h="566928">
                <a:tc>
                  <a:txBody>
                    <a:bodyPr wrap="square"/>
                    <a:lstStyle/>
                    <a:p>
                      <a:pPr algn="l"/>
                      <a:r>
                        <a:rPr sz="1400" b="1" i="0">
                          <a:solidFill>
                            <a:srgbClr val="FFFFFF"/>
                          </a:solidFill>
                          <a:latin typeface="Calibri" panose="020F0502020204030204"/>
                        </a:rPr>
                        <a:t>#</a:t>
                      </a:r>
                      <a:endParaRPr sz="1400" b="1" i="0">
                        <a:solidFill>
                          <a:srgbClr val="FFFFFF"/>
                        </a:solidFill>
                        <a:latin typeface="Calibri" panose="020F0502020204030204"/>
                      </a:endParaRPr>
                    </a:p>
                  </a:txBody>
                  <a:tcPr marL="54864" marR="54864" marT="18288" marB="18288" anchor="ctr">
                    <a:solidFill>
                      <a:srgbClr val="2E8B57"/>
                    </a:solidFill>
                  </a:tcPr>
                </a:tc>
                <a:tc>
                  <a:txBody>
                    <a:bodyPr wrap="square"/>
                    <a:lstStyle/>
                    <a:p>
                      <a:pPr algn="l"/>
                      <a:r>
                        <a:rPr sz="1400" b="1" i="0">
                          <a:solidFill>
                            <a:srgbClr val="FFFFFF"/>
                          </a:solidFill>
                          <a:latin typeface="Calibri" panose="020F0502020204030204"/>
                        </a:rPr>
                        <a:t>Objective</a:t>
                      </a:r>
                      <a:endParaRPr sz="1400" b="1" i="0">
                        <a:solidFill>
                          <a:srgbClr val="FFFFFF"/>
                        </a:solidFill>
                        <a:latin typeface="Calibri" panose="020F0502020204030204"/>
                      </a:endParaRPr>
                    </a:p>
                  </a:txBody>
                  <a:tcPr marL="54864" marR="54864" marT="18288" marB="18288" anchor="ctr">
                    <a:solidFill>
                      <a:srgbClr val="2E8B57"/>
                    </a:solidFill>
                  </a:tcPr>
                </a:tc>
                <a:tc>
                  <a:txBody>
                    <a:bodyPr wrap="square"/>
                    <a:lstStyle/>
                    <a:p>
                      <a:pPr algn="ctr"/>
                      <a:r>
                        <a:rPr sz="1400" b="1" i="0">
                          <a:solidFill>
                            <a:srgbClr val="FFFFFF"/>
                          </a:solidFill>
                          <a:latin typeface="Calibri" panose="020F0502020204030204"/>
                        </a:rPr>
                        <a:t>Status</a:t>
                      </a:r>
                      <a:endParaRPr sz="1400" b="1" i="0">
                        <a:solidFill>
                          <a:srgbClr val="FFFFFF"/>
                        </a:solidFill>
                        <a:latin typeface="Calibri" panose="020F0502020204030204"/>
                      </a:endParaRPr>
                    </a:p>
                  </a:txBody>
                  <a:tcPr marL="54864" marR="54864" marT="18288" marB="18288" anchor="ctr">
                    <a:solidFill>
                      <a:srgbClr val="2E8B57"/>
                    </a:solidFill>
                  </a:tcPr>
                </a:tc>
                <a:tc>
                  <a:txBody>
                    <a:bodyPr wrap="square"/>
                    <a:lstStyle/>
                    <a:p>
                      <a:pPr algn="ctr"/>
                      <a:r>
                        <a:rPr sz="1400" b="1" i="0">
                          <a:solidFill>
                            <a:srgbClr val="FFFFFF"/>
                          </a:solidFill>
                          <a:latin typeface="Calibri" panose="020F0502020204030204"/>
                        </a:rPr>
                        <a:t>Evidence</a:t>
                      </a:r>
                      <a:endParaRPr sz="1400" b="1" i="0">
                        <a:solidFill>
                          <a:srgbClr val="FFFFFF"/>
                        </a:solidFill>
                        <a:latin typeface="Calibri" panose="020F0502020204030204"/>
                      </a:endParaRPr>
                    </a:p>
                  </a:txBody>
                  <a:tcPr marL="54864" marR="54864" marT="18288" marB="18288" anchor="ctr">
                    <a:solidFill>
                      <a:srgbClr val="2E8B57"/>
                    </a:solidFill>
                  </a:tcPr>
                </a:tc>
              </a:tr>
              <a:tr h="566928">
                <a:tc>
                  <a:txBody>
                    <a:bodyPr wrap="square"/>
                    <a:lstStyle/>
                    <a:p>
                      <a:r>
                        <a:rPr sz="1400" b="0" i="0">
                          <a:solidFill>
                            <a:srgbClr val="1F2937"/>
                          </a:solidFill>
                          <a:latin typeface="Calibri" panose="020F0502020204030204"/>
                        </a:rPr>
                        <a:t>1</a:t>
                      </a:r>
                      <a:endParaRPr sz="1400" b="0" i="0">
                        <a:solidFill>
                          <a:srgbClr val="1F2937"/>
                        </a:solidFill>
                        <a:latin typeface="Calibri" panose="020F0502020204030204"/>
                      </a:endParaRPr>
                    </a:p>
                  </a:txBody>
                  <a:tcPr marL="54864" marR="54864" marT="18288" marB="18288" anchor="ctr">
                    <a:solidFill>
                      <a:srgbClr val="FFFFFF"/>
                    </a:solidFill>
                  </a:tcPr>
                </a:tc>
                <a:tc>
                  <a:txBody>
                    <a:bodyPr wrap="square"/>
                    <a:lstStyle/>
                    <a:p>
                      <a:r>
                        <a:rPr sz="1400" b="0" i="0">
                          <a:solidFill>
                            <a:srgbClr val="1F2937"/>
                          </a:solidFill>
                          <a:latin typeface="Calibri" panose="020F0502020204030204"/>
                        </a:rPr>
                        <a:t>Build a supply-chain simulation from real data</a:t>
                      </a:r>
                      <a:endParaRPr sz="1400" b="0" i="0">
                        <a:solidFill>
                          <a:srgbClr val="1F2937"/>
                        </a:solidFill>
                        <a:latin typeface="Calibri" panose="020F0502020204030204"/>
                      </a:endParaRPr>
                    </a:p>
                  </a:txBody>
                  <a:tcPr marL="54864" marR="54864" marT="18288" marB="18288" anchor="ctr">
                    <a:solidFill>
                      <a:srgbClr val="FFFFFF"/>
                    </a:solidFill>
                  </a:tcPr>
                </a:tc>
                <a:tc>
                  <a:txBody>
                    <a:bodyPr wrap="square"/>
                    <a:lstStyle/>
                    <a:p>
                      <a:pPr algn="ctr"/>
                      <a:r>
                        <a:rPr sz="1400" b="0" i="0">
                          <a:solidFill>
                            <a:srgbClr val="1F2937"/>
                          </a:solidFill>
                          <a:latin typeface="Calibri" panose="020F0502020204030204"/>
                        </a:rPr>
                        <a:t>Done</a:t>
                      </a:r>
                      <a:endParaRPr sz="1400" b="0" i="0">
                        <a:solidFill>
                          <a:srgbClr val="1F2937"/>
                        </a:solidFill>
                        <a:latin typeface="Calibri" panose="020F0502020204030204"/>
                      </a:endParaRPr>
                    </a:p>
                  </a:txBody>
                  <a:tcPr marL="54864" marR="54864" marT="18288" marB="18288" anchor="ctr">
                    <a:solidFill>
                      <a:srgbClr val="FFFFFF"/>
                    </a:solidFill>
                  </a:tcPr>
                </a:tc>
                <a:tc>
                  <a:txBody>
                    <a:bodyPr wrap="square"/>
                    <a:lstStyle/>
                    <a:p>
                      <a:pPr algn="ctr"/>
                      <a:r>
                        <a:rPr sz="1400" b="0" i="0">
                          <a:solidFill>
                            <a:srgbClr val="1F2937"/>
                          </a:solidFill>
                          <a:latin typeface="Calibri" panose="020F0502020204030204"/>
                        </a:rPr>
                        <a:t>Built from 1.07M real sales; sensible ordering earns profit, silly ordering loses</a:t>
                      </a:r>
                      <a:endParaRPr sz="1400" b="0" i="0">
                        <a:solidFill>
                          <a:srgbClr val="1F2937"/>
                        </a:solidFill>
                        <a:latin typeface="Calibri" panose="020F0502020204030204"/>
                      </a:endParaRPr>
                    </a:p>
                  </a:txBody>
                  <a:tcPr marL="54864" marR="54864" marT="18288" marB="18288" anchor="ctr">
                    <a:solidFill>
                      <a:srgbClr val="FFFFFF"/>
                    </a:solidFill>
                  </a:tcPr>
                </a:tc>
              </a:tr>
              <a:tr h="566928">
                <a:tc>
                  <a:txBody>
                    <a:bodyPr wrap="square"/>
                    <a:lstStyle/>
                    <a:p>
                      <a:r>
                        <a:rPr sz="1400" b="0" i="0">
                          <a:solidFill>
                            <a:srgbClr val="1F2937"/>
                          </a:solidFill>
                          <a:latin typeface="Calibri" panose="020F0502020204030204"/>
                        </a:rPr>
                        <a:t>2</a:t>
                      </a:r>
                      <a:endParaRPr sz="1400" b="0" i="0">
                        <a:solidFill>
                          <a:srgbClr val="1F2937"/>
                        </a:solidFill>
                        <a:latin typeface="Calibri" panose="020F0502020204030204"/>
                      </a:endParaRPr>
                    </a:p>
                  </a:txBody>
                  <a:tcPr marL="54864" marR="54864" marT="18288" marB="18288" anchor="ctr">
                    <a:solidFill>
                      <a:srgbClr val="F1F5F9"/>
                    </a:solidFill>
                  </a:tcPr>
                </a:tc>
                <a:tc>
                  <a:txBody>
                    <a:bodyPr wrap="square"/>
                    <a:lstStyle/>
                    <a:p>
                      <a:r>
                        <a:rPr sz="1400" b="0" i="0">
                          <a:solidFill>
                            <a:srgbClr val="1F2937"/>
                          </a:solidFill>
                          <a:latin typeface="Calibri" panose="020F0502020204030204"/>
                        </a:rPr>
                        <a:t>Train an RL agent to choose quantity and supplier</a:t>
                      </a:r>
                      <a:endParaRPr sz="1400" b="0" i="0">
                        <a:solidFill>
                          <a:srgbClr val="1F2937"/>
                        </a:solidFill>
                        <a:latin typeface="Calibri" panose="020F0502020204030204"/>
                      </a:endParaRPr>
                    </a:p>
                  </a:txBody>
                  <a:tcPr marL="54864" marR="54864" marT="18288" marB="18288" anchor="ctr">
                    <a:solidFill>
                      <a:srgbClr val="F1F5F9"/>
                    </a:solidFill>
                  </a:tcPr>
                </a:tc>
                <a:tc>
                  <a:txBody>
                    <a:bodyPr wrap="square"/>
                    <a:lstStyle/>
                    <a:p>
                      <a:pPr algn="ctr"/>
                      <a:r>
                        <a:rPr sz="1400" b="0" i="0">
                          <a:solidFill>
                            <a:srgbClr val="1F2937"/>
                          </a:solidFill>
                          <a:latin typeface="Calibri" panose="020F0502020204030204"/>
                        </a:rPr>
                        <a:t>Done</a:t>
                      </a:r>
                      <a:endParaRPr sz="1400" b="0" i="0">
                        <a:solidFill>
                          <a:srgbClr val="1F2937"/>
                        </a:solidFill>
                        <a:latin typeface="Calibri" panose="020F0502020204030204"/>
                      </a:endParaRPr>
                    </a:p>
                  </a:txBody>
                  <a:tcPr marL="54864" marR="54864" marT="18288" marB="18288" anchor="ctr">
                    <a:solidFill>
                      <a:srgbClr val="F1F5F9"/>
                    </a:solidFill>
                  </a:tcPr>
                </a:tc>
                <a:tc>
                  <a:txBody>
                    <a:bodyPr wrap="square"/>
                    <a:lstStyle/>
                    <a:p>
                      <a:pPr algn="ctr"/>
                      <a:r>
                        <a:rPr sz="1400" b="0" i="0">
                          <a:solidFill>
                            <a:srgbClr val="1F2937"/>
                          </a:solidFill>
                          <a:latin typeface="Calibri" panose="020F0502020204030204"/>
                        </a:rPr>
                        <a:t>Tuned agent, 2M training steps; earns 90.8% of the best classical method</a:t>
                      </a:r>
                      <a:endParaRPr sz="1400" b="0" i="0">
                        <a:solidFill>
                          <a:srgbClr val="1F2937"/>
                        </a:solidFill>
                        <a:latin typeface="Calibri" panose="020F0502020204030204"/>
                      </a:endParaRPr>
                    </a:p>
                  </a:txBody>
                  <a:tcPr marL="54864" marR="54864" marT="18288" marB="18288" anchor="ctr">
                    <a:solidFill>
                      <a:srgbClr val="F1F5F9"/>
                    </a:solidFill>
                  </a:tcPr>
                </a:tc>
              </a:tr>
              <a:tr h="566928">
                <a:tc>
                  <a:txBody>
                    <a:bodyPr wrap="square"/>
                    <a:lstStyle/>
                    <a:p>
                      <a:r>
                        <a:rPr sz="1400" b="0" i="0">
                          <a:solidFill>
                            <a:srgbClr val="1F2937"/>
                          </a:solidFill>
                          <a:latin typeface="Calibri" panose="020F0502020204030204"/>
                        </a:rPr>
                        <a:t>3</a:t>
                      </a:r>
                      <a:endParaRPr sz="1400" b="0" i="0">
                        <a:solidFill>
                          <a:srgbClr val="1F2937"/>
                        </a:solidFill>
                        <a:latin typeface="Calibri" panose="020F0502020204030204"/>
                      </a:endParaRPr>
                    </a:p>
                  </a:txBody>
                  <a:tcPr marL="54864" marR="54864" marT="18288" marB="18288" anchor="ctr">
                    <a:solidFill>
                      <a:srgbClr val="FFFFFF"/>
                    </a:solidFill>
                  </a:tcPr>
                </a:tc>
                <a:tc>
                  <a:txBody>
                    <a:bodyPr wrap="square"/>
                    <a:lstStyle/>
                    <a:p>
                      <a:r>
                        <a:rPr sz="1400" b="0" i="0">
                          <a:solidFill>
                            <a:srgbClr val="1F2937"/>
                          </a:solidFill>
                          <a:latin typeface="Calibri" panose="020F0502020204030204"/>
                        </a:rPr>
                        <a:t>LLM explains each decision in plain business language</a:t>
                      </a:r>
                      <a:endParaRPr sz="1400" b="0" i="0">
                        <a:solidFill>
                          <a:srgbClr val="1F2937"/>
                        </a:solidFill>
                        <a:latin typeface="Calibri" panose="020F0502020204030204"/>
                      </a:endParaRPr>
                    </a:p>
                  </a:txBody>
                  <a:tcPr marL="54864" marR="54864" marT="18288" marB="18288" anchor="ctr">
                    <a:solidFill>
                      <a:srgbClr val="FFFFFF"/>
                    </a:solidFill>
                  </a:tcPr>
                </a:tc>
                <a:tc>
                  <a:txBody>
                    <a:bodyPr wrap="square"/>
                    <a:lstStyle/>
                    <a:p>
                      <a:pPr algn="ctr"/>
                      <a:r>
                        <a:rPr sz="1400" b="0" i="0">
                          <a:solidFill>
                            <a:srgbClr val="1F2937"/>
                          </a:solidFill>
                          <a:latin typeface="Calibri" panose="020F0502020204030204"/>
                        </a:rPr>
                        <a:t>Done</a:t>
                      </a:r>
                      <a:endParaRPr sz="1400" b="0" i="0">
                        <a:solidFill>
                          <a:srgbClr val="1F2937"/>
                        </a:solidFill>
                        <a:latin typeface="Calibri" panose="020F0502020204030204"/>
                      </a:endParaRPr>
                    </a:p>
                  </a:txBody>
                  <a:tcPr marL="54864" marR="54864" marT="18288" marB="18288" anchor="ctr">
                    <a:solidFill>
                      <a:srgbClr val="FFFFFF"/>
                    </a:solidFill>
                  </a:tcPr>
                </a:tc>
                <a:tc>
                  <a:txBody>
                    <a:bodyPr wrap="square"/>
                    <a:lstStyle/>
                    <a:p>
                      <a:pPr algn="ctr"/>
                      <a:r>
                        <a:rPr sz="1400" b="0" i="0">
                          <a:solidFill>
                            <a:srgbClr val="1F2937"/>
                          </a:solidFill>
                          <a:latin typeface="Calibri" panose="020F0502020204030204"/>
                        </a:rPr>
                        <a:t>100% of explanations shown were correct; 83% before our check, which caught every invented number</a:t>
                      </a:r>
                      <a:endParaRPr sz="1400" b="0" i="0">
                        <a:solidFill>
                          <a:srgbClr val="1F2937"/>
                        </a:solidFill>
                        <a:latin typeface="Calibri" panose="020F0502020204030204"/>
                      </a:endParaRPr>
                    </a:p>
                  </a:txBody>
                  <a:tcPr marL="54864" marR="54864" marT="18288" marB="18288" anchor="ctr">
                    <a:solidFill>
                      <a:srgbClr val="FFFFFF"/>
                    </a:solidFill>
                  </a:tcPr>
                </a:tc>
              </a:tr>
              <a:tr h="566928">
                <a:tc>
                  <a:txBody>
                    <a:bodyPr wrap="square"/>
                    <a:lstStyle/>
                    <a:p>
                      <a:r>
                        <a:rPr sz="1400" b="0" i="0">
                          <a:solidFill>
                            <a:srgbClr val="1F2937"/>
                          </a:solidFill>
                          <a:latin typeface="Calibri" panose="020F0502020204030204"/>
                        </a:rPr>
                        <a:t>4</a:t>
                      </a:r>
                      <a:endParaRPr sz="1400" b="0" i="0">
                        <a:solidFill>
                          <a:srgbClr val="1F2937"/>
                        </a:solidFill>
                        <a:latin typeface="Calibri" panose="020F0502020204030204"/>
                      </a:endParaRPr>
                    </a:p>
                  </a:txBody>
                  <a:tcPr marL="54864" marR="54864" marT="18288" marB="18288" anchor="ctr">
                    <a:solidFill>
                      <a:srgbClr val="F1F5F9"/>
                    </a:solidFill>
                  </a:tcPr>
                </a:tc>
                <a:tc>
                  <a:txBody>
                    <a:bodyPr wrap="square"/>
                    <a:lstStyle/>
                    <a:p>
                      <a:r>
                        <a:rPr sz="1400" b="0" i="0">
                          <a:solidFill>
                            <a:srgbClr val="1F2937"/>
                          </a:solidFill>
                          <a:latin typeface="Calibri" panose="020F0502020204030204"/>
                        </a:rPr>
                        <a:t>LLM creates demand-spike and supplier-delay scenarios</a:t>
                      </a:r>
                      <a:endParaRPr sz="1400" b="0" i="0">
                        <a:solidFill>
                          <a:srgbClr val="1F2937"/>
                        </a:solidFill>
                        <a:latin typeface="Calibri" panose="020F0502020204030204"/>
                      </a:endParaRPr>
                    </a:p>
                  </a:txBody>
                  <a:tcPr marL="54864" marR="54864" marT="18288" marB="18288" anchor="ctr">
                    <a:solidFill>
                      <a:srgbClr val="F1F5F9"/>
                    </a:solidFill>
                  </a:tcPr>
                </a:tc>
                <a:tc>
                  <a:txBody>
                    <a:bodyPr wrap="square"/>
                    <a:lstStyle/>
                    <a:p>
                      <a:pPr algn="ctr"/>
                      <a:r>
                        <a:rPr sz="1400" b="0" i="0">
                          <a:solidFill>
                            <a:srgbClr val="1F2937"/>
                          </a:solidFill>
                          <a:latin typeface="Calibri" panose="020F0502020204030204"/>
                        </a:rPr>
                        <a:t>Done</a:t>
                      </a:r>
                      <a:endParaRPr sz="1400" b="0" i="0">
                        <a:solidFill>
                          <a:srgbClr val="1F2937"/>
                        </a:solidFill>
                        <a:latin typeface="Calibri" panose="020F0502020204030204"/>
                      </a:endParaRPr>
                    </a:p>
                  </a:txBody>
                  <a:tcPr marL="54864" marR="54864" marT="18288" marB="18288" anchor="ctr">
                    <a:solidFill>
                      <a:srgbClr val="F1F5F9"/>
                    </a:solidFill>
                  </a:tcPr>
                </a:tc>
                <a:tc>
                  <a:txBody>
                    <a:bodyPr wrap="square"/>
                    <a:lstStyle/>
                    <a:p>
                      <a:pPr algn="ctr"/>
                      <a:r>
                        <a:rPr sz="1400" b="0" i="0">
                          <a:solidFill>
                            <a:srgbClr val="1F2937"/>
                          </a:solidFill>
                          <a:latin typeface="Calibri" panose="020F0502020204030204"/>
                        </a:rPr>
                        <a:t>6 unseen crises used for testing; crisis training also tried</a:t>
                      </a:r>
                      <a:endParaRPr sz="1400" b="0" i="0">
                        <a:solidFill>
                          <a:srgbClr val="1F2937"/>
                        </a:solidFill>
                        <a:latin typeface="Calibri" panose="020F0502020204030204"/>
                      </a:endParaRPr>
                    </a:p>
                  </a:txBody>
                  <a:tcPr marL="54864" marR="54864" marT="18288" marB="18288" anchor="ctr">
                    <a:solidFill>
                      <a:srgbClr val="F1F5F9"/>
                    </a:solidFill>
                  </a:tcPr>
                </a:tc>
              </a:tr>
              <a:tr h="566928">
                <a:tc>
                  <a:txBody>
                    <a:bodyPr wrap="square"/>
                    <a:lstStyle/>
                    <a:p>
                      <a:r>
                        <a:rPr sz="1400" b="0" i="0">
                          <a:solidFill>
                            <a:srgbClr val="1F2937"/>
                          </a:solidFill>
                          <a:latin typeface="Calibri" panose="020F0502020204030204"/>
                        </a:rPr>
                        <a:t>5</a:t>
                      </a:r>
                      <a:endParaRPr sz="1400" b="0" i="0">
                        <a:solidFill>
                          <a:srgbClr val="1F2937"/>
                        </a:solidFill>
                        <a:latin typeface="Calibri" panose="020F0502020204030204"/>
                      </a:endParaRPr>
                    </a:p>
                  </a:txBody>
                  <a:tcPr marL="54864" marR="54864" marT="18288" marB="18288" anchor="ctr">
                    <a:solidFill>
                      <a:srgbClr val="FFFFFF"/>
                    </a:solidFill>
                  </a:tcPr>
                </a:tc>
                <a:tc>
                  <a:txBody>
                    <a:bodyPr wrap="square"/>
                    <a:lstStyle/>
                    <a:p>
                      <a:r>
                        <a:rPr sz="1400" b="0" i="0">
                          <a:solidFill>
                            <a:srgbClr val="1F2937"/>
                          </a:solidFill>
                          <a:latin typeface="Calibri" panose="020F0502020204030204"/>
                        </a:rPr>
                        <a:t>Compare the RL agent with traditional policies</a:t>
                      </a:r>
                      <a:endParaRPr sz="1400" b="0" i="0">
                        <a:solidFill>
                          <a:srgbClr val="1F2937"/>
                        </a:solidFill>
                        <a:latin typeface="Calibri" panose="020F0502020204030204"/>
                      </a:endParaRPr>
                    </a:p>
                  </a:txBody>
                  <a:tcPr marL="54864" marR="54864" marT="18288" marB="18288" anchor="ctr">
                    <a:solidFill>
                      <a:srgbClr val="FFFFFF"/>
                    </a:solidFill>
                  </a:tcPr>
                </a:tc>
                <a:tc>
                  <a:txBody>
                    <a:bodyPr wrap="square"/>
                    <a:lstStyle/>
                    <a:p>
                      <a:pPr algn="ctr"/>
                      <a:r>
                        <a:rPr sz="1400" b="0" i="0">
                          <a:solidFill>
                            <a:srgbClr val="1F2937"/>
                          </a:solidFill>
                          <a:latin typeface="Calibri" panose="020F0502020204030204"/>
                        </a:rPr>
                        <a:t>Done</a:t>
                      </a:r>
                      <a:endParaRPr sz="1400" b="0" i="0">
                        <a:solidFill>
                          <a:srgbClr val="1F2937"/>
                        </a:solidFill>
                        <a:latin typeface="Calibri" panose="020F0502020204030204"/>
                      </a:endParaRPr>
                    </a:p>
                  </a:txBody>
                  <a:tcPr marL="54864" marR="54864" marT="18288" marB="18288" anchor="ctr">
                    <a:solidFill>
                      <a:srgbClr val="FFFFFF"/>
                    </a:solidFill>
                  </a:tcPr>
                </a:tc>
                <a:tc>
                  <a:txBody>
                    <a:bodyPr wrap="square"/>
                    <a:lstStyle/>
                    <a:p>
                      <a:pPr algn="ctr"/>
                      <a:r>
                        <a:rPr sz="1400" b="0" i="0">
                          <a:solidFill>
                            <a:srgbClr val="1F2937"/>
                          </a:solidFill>
                          <a:latin typeface="Calibri" panose="020F0502020204030204"/>
                        </a:rPr>
                        <a:t>30 unseen test runs: the classical method still wins</a:t>
                      </a:r>
                      <a:endParaRPr sz="1400" b="0" i="0">
                        <a:solidFill>
                          <a:srgbClr val="1F2937"/>
                        </a:solidFill>
                        <a:latin typeface="Calibri" panose="020F0502020204030204"/>
                      </a:endParaRPr>
                    </a:p>
                  </a:txBody>
                  <a:tcPr marL="54864" marR="54864" marT="18288" marB="18288" anchor="ctr">
                    <a:solidFill>
                      <a:srgbClr val="FFFFFF"/>
                    </a:solidFill>
                  </a:tcPr>
                </a:tc>
              </a:tr>
            </a:tbl>
          </a:graphicData>
        </a:graphic>
      </p:graphicFrame>
      <p:sp>
        <p:nvSpPr>
          <p:cNvPr id="21" name="TextBox 20"/>
          <p:cNvSpPr txBox="1"/>
          <p:nvPr/>
        </p:nvSpPr>
        <p:spPr>
          <a:xfrm>
            <a:off x="411480" y="5029200"/>
            <a:ext cx="11365992" cy="1280160"/>
          </a:xfrm>
          <a:prstGeom prst="rect">
            <a:avLst/>
          </a:prstGeom>
          <a:noFill/>
        </p:spPr>
        <p:txBody>
          <a:bodyPr wrap="square" lIns="45720" tIns="27432" rIns="45720" bIns="27432" anchor="t">
            <a:spAutoFit/>
          </a:bodyPr>
          <a:lstStyle/>
          <a:p>
            <a:pPr algn="l">
              <a:spcAft>
                <a:spcPts val="400"/>
              </a:spcAft>
            </a:pPr>
            <a:r>
              <a:rPr sz="1700" b="1" i="0">
                <a:solidFill>
                  <a:srgbClr val="1B5E3A"/>
                </a:solidFill>
                <a:latin typeface="Calibri" panose="020F0502020204030204"/>
              </a:rPr>
              <a:t>Objective 5 says compare, not win. </a:t>
            </a:r>
            <a:r>
              <a:rPr sz="1700" b="0" i="0">
                <a:solidFill>
                  <a:srgbClr val="1F2937"/>
                </a:solidFill>
                <a:latin typeface="Calibri" panose="020F0502020204030204"/>
              </a:rPr>
              <a:t>The result went against the AI, and we say so. What we can defend: RL reaches 90.8% of a strong, well-tuned baseline, and we know why it falls short.</a:t>
            </a:r>
            <a:endParaRPr sz="1700" b="0" i="0">
              <a:solidFill>
                <a:srgbClr val="1F2937"/>
              </a:solidFill>
              <a:latin typeface="Calibri" panose="020F050202020403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 name="Rectangle 16"/>
          <p:cNvSpPr/>
          <p:nvPr/>
        </p:nvSpPr>
        <p:spPr>
          <a:xfrm>
            <a:off x="-1" y="0"/>
            <a:ext cx="12191998" cy="1262131"/>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4400" dirty="0">
              <a:solidFill>
                <a:schemeClr val="accent1">
                  <a:lumMod val="50000"/>
                </a:schemeClr>
              </a:solidFill>
            </a:endParaRPr>
          </a:p>
        </p:txBody>
      </p:sp>
      <p:sp>
        <p:nvSpPr>
          <p:cNvPr id="10" name="Google Shape;91;p1"/>
          <p:cNvSpPr txBox="1"/>
          <p:nvPr/>
        </p:nvSpPr>
        <p:spPr>
          <a:xfrm>
            <a:off x="-1" y="6416040"/>
            <a:ext cx="12191998" cy="441960"/>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None/>
            </a:pPr>
            <a:r>
              <a:rPr lang="en-IN" sz="1600" b="1" i="0" u="none" strike="noStrike" cap="none" dirty="0">
                <a:solidFill>
                  <a:srgbClr val="081271"/>
                </a:solidFill>
                <a:latin typeface="Times New Roman" panose="02020603050405020304"/>
                <a:ea typeface="Times New Roman" panose="02020603050405020304"/>
                <a:cs typeface="Times New Roman" panose="02020603050405020304"/>
                <a:sym typeface="Times New Roman" panose="02020603050405020304"/>
              </a:rPr>
              <a:t>[Final Project Review]</a:t>
            </a:r>
            <a:endParaRPr sz="1600" b="1" i="0" u="none" strike="noStrike" cap="none" dirty="0">
              <a:solidFill>
                <a:srgbClr val="08127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16" name="Straight Connector 15"/>
          <p:cNvCxnSpPr/>
          <p:nvPr/>
        </p:nvCxnSpPr>
        <p:spPr>
          <a:xfrm>
            <a:off x="0" y="1260899"/>
            <a:ext cx="12192000" cy="0"/>
          </a:xfrm>
          <a:prstGeom prst="line">
            <a:avLst/>
          </a:prstGeom>
          <a:ln w="28575">
            <a:solidFill>
              <a:srgbClr val="1A9B46"/>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sz="3200"/>
              <a:t>System Architecture</a:t>
            </a:r>
            <a:endParaRPr sz="3200"/>
          </a:p>
        </p:txBody>
      </p:sp>
      <p:sp>
        <p:nvSpPr>
          <p:cNvPr id="19" name="Slide Number Placeholder 18"/>
          <p:cNvSpPr>
            <a:spLocks noGrp="1"/>
          </p:cNvSpPr>
          <p:nvPr>
            <p:ph type="sldNum" sz="quarter" idx="12"/>
          </p:nvPr>
        </p:nvSpPr>
        <p:spPr/>
        <p:txBody>
          <a:bodyPr/>
          <a:lstStyle/>
          <a:p>
            <a:fld id="{C2216105-7B7A-4C42-B2A1-5E9A2FA4F8FD}" type="slidenum">
              <a:rPr lang="en-IN" smtClean="0"/>
            </a:fld>
            <a:endParaRPr lang="en-IN" dirty="0"/>
          </a:p>
        </p:txBody>
      </p:sp>
      <p:pic>
        <p:nvPicPr>
          <p:cNvPr id="20" name="Picture 19" descr="architecture.png"/>
          <p:cNvPicPr>
            <a:picLocks noChangeAspect="1"/>
          </p:cNvPicPr>
          <p:nvPr/>
        </p:nvPicPr>
        <p:blipFill>
          <a:blip r:embed="rId1"/>
          <a:stretch>
            <a:fillRect/>
          </a:stretch>
        </p:blipFill>
        <p:spPr>
          <a:xfrm>
            <a:off x="1800601" y="1325880"/>
            <a:ext cx="8587748" cy="50292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 name="Rectangle 16"/>
          <p:cNvSpPr/>
          <p:nvPr/>
        </p:nvSpPr>
        <p:spPr>
          <a:xfrm>
            <a:off x="-1" y="0"/>
            <a:ext cx="12191998" cy="1262131"/>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4400" dirty="0">
              <a:solidFill>
                <a:schemeClr val="accent1">
                  <a:lumMod val="50000"/>
                </a:schemeClr>
              </a:solidFill>
            </a:endParaRPr>
          </a:p>
        </p:txBody>
      </p:sp>
      <p:sp>
        <p:nvSpPr>
          <p:cNvPr id="10" name="Google Shape;91;p1"/>
          <p:cNvSpPr txBox="1"/>
          <p:nvPr/>
        </p:nvSpPr>
        <p:spPr>
          <a:xfrm>
            <a:off x="-1" y="6416040"/>
            <a:ext cx="12191998" cy="441960"/>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None/>
            </a:pPr>
            <a:r>
              <a:rPr lang="en-IN" sz="1600" b="1" i="0" u="none" strike="noStrike" cap="none" dirty="0">
                <a:solidFill>
                  <a:srgbClr val="081271"/>
                </a:solidFill>
                <a:latin typeface="Times New Roman" panose="02020603050405020304"/>
                <a:ea typeface="Times New Roman" panose="02020603050405020304"/>
                <a:cs typeface="Times New Roman" panose="02020603050405020304"/>
                <a:sym typeface="Times New Roman" panose="02020603050405020304"/>
              </a:rPr>
              <a:t>[Final Project Review]</a:t>
            </a:r>
            <a:endParaRPr sz="1600" b="1" i="0" u="none" strike="noStrike" cap="none" dirty="0">
              <a:solidFill>
                <a:srgbClr val="08127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16" name="Straight Connector 15"/>
          <p:cNvCxnSpPr/>
          <p:nvPr/>
        </p:nvCxnSpPr>
        <p:spPr>
          <a:xfrm>
            <a:off x="0" y="1260899"/>
            <a:ext cx="12192000" cy="0"/>
          </a:xfrm>
          <a:prstGeom prst="line">
            <a:avLst/>
          </a:prstGeom>
          <a:ln w="28575">
            <a:solidFill>
              <a:srgbClr val="1A9B46"/>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sz="3200"/>
              <a:t>Methodology: How the Agent Learns</a:t>
            </a:r>
            <a:endParaRPr sz="3200"/>
          </a:p>
        </p:txBody>
      </p:sp>
      <p:sp>
        <p:nvSpPr>
          <p:cNvPr id="19" name="Slide Number Placeholder 18"/>
          <p:cNvSpPr>
            <a:spLocks noGrp="1"/>
          </p:cNvSpPr>
          <p:nvPr>
            <p:ph type="sldNum" sz="quarter" idx="12"/>
          </p:nvPr>
        </p:nvSpPr>
        <p:spPr/>
        <p:txBody>
          <a:bodyPr/>
          <a:lstStyle/>
          <a:p>
            <a:fld id="{C2216105-7B7A-4C42-B2A1-5E9A2FA4F8FD}" type="slidenum">
              <a:rPr lang="en-IN" smtClean="0"/>
            </a:fld>
            <a:endParaRPr lang="en-IN" dirty="0"/>
          </a:p>
        </p:txBody>
      </p:sp>
      <p:pic>
        <p:nvPicPr>
          <p:cNvPr id="20" name="Picture 19" descr="agent_loop.png"/>
          <p:cNvPicPr>
            <a:picLocks noChangeAspect="1"/>
          </p:cNvPicPr>
          <p:nvPr/>
        </p:nvPicPr>
        <p:blipFill>
          <a:blip r:embed="rId1"/>
          <a:stretch>
            <a:fillRect/>
          </a:stretch>
        </p:blipFill>
        <p:spPr>
          <a:xfrm>
            <a:off x="365760" y="1234440"/>
            <a:ext cx="11457432" cy="3523160"/>
          </a:xfrm>
          <a:prstGeom prst="rect">
            <a:avLst/>
          </a:prstGeom>
        </p:spPr>
      </p:pic>
      <p:sp>
        <p:nvSpPr>
          <p:cNvPr id="21" name="Rounded Rectangle 20"/>
          <p:cNvSpPr/>
          <p:nvPr/>
        </p:nvSpPr>
        <p:spPr>
          <a:xfrm>
            <a:off x="411480" y="4892040"/>
            <a:ext cx="3657600" cy="1417320"/>
          </a:xfrm>
          <a:prstGeom prst="roundRect">
            <a:avLst>
              <a:gd name="adj" fmla="val 7000"/>
            </a:avLst>
          </a:prstGeom>
          <a:solidFill>
            <a:srgbClr val="FDE8EF"/>
          </a:solidFill>
          <a:ln w="22225">
            <a:solidFill>
              <a:srgbClr val="D6336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21208" y="4965192"/>
            <a:ext cx="3438144" cy="1271016"/>
          </a:xfrm>
          <a:prstGeom prst="rect">
            <a:avLst/>
          </a:prstGeom>
          <a:noFill/>
        </p:spPr>
        <p:txBody>
          <a:bodyPr wrap="square" lIns="45720" tIns="27432" rIns="45720" bIns="27432" anchor="t">
            <a:spAutoFit/>
          </a:bodyPr>
          <a:lstStyle/>
          <a:p>
            <a:pPr algn="l">
              <a:spcAft>
                <a:spcPts val="500"/>
              </a:spcAft>
            </a:pPr>
            <a:r>
              <a:rPr sz="1700" b="1" i="0">
                <a:solidFill>
                  <a:srgbClr val="D6336C"/>
                </a:solidFill>
                <a:latin typeface="Calibri" panose="020F0502020204030204"/>
              </a:rPr>
              <a:t>Why masking</a:t>
            </a:r>
            <a:endParaRPr sz="1700" b="1" i="0">
              <a:solidFill>
                <a:srgbClr val="D6336C"/>
              </a:solidFill>
              <a:latin typeface="Calibri" panose="020F0502020204030204"/>
            </a:endParaRPr>
          </a:p>
          <a:p>
            <a:pPr algn="l">
              <a:spcAft>
                <a:spcPts val="300"/>
              </a:spcAft>
            </a:pPr>
            <a:r>
              <a:rPr sz="1400" b="0" i="0">
                <a:solidFill>
                  <a:srgbClr val="1F2937"/>
                </a:solidFill>
                <a:latin typeface="Calibri" panose="020F0502020204030204"/>
              </a:rPr>
              <a:t>•  Masking blocks impossible choices first</a:t>
            </a:r>
            <a:endParaRPr sz="1400" b="0" i="0">
              <a:solidFill>
                <a:srgbClr val="1F2937"/>
              </a:solidFill>
              <a:latin typeface="Calibri" panose="020F0502020204030204"/>
            </a:endParaRPr>
          </a:p>
          <a:p>
            <a:pPr algn="l">
              <a:spcAft>
                <a:spcPts val="300"/>
              </a:spcAft>
            </a:pPr>
            <a:r>
              <a:rPr sz="1400" b="0" i="0">
                <a:solidFill>
                  <a:srgbClr val="1F2937"/>
                </a:solidFill>
                <a:latin typeface="Calibri" panose="020F0502020204030204"/>
              </a:rPr>
              <a:t>•  Score: ₹24.9 lakh → ₹76.4 lakh (3×)</a:t>
            </a:r>
            <a:endParaRPr sz="1400" b="0" i="0">
              <a:solidFill>
                <a:srgbClr val="1F2937"/>
              </a:solidFill>
              <a:latin typeface="Calibri" panose="020F0502020204030204"/>
            </a:endParaRPr>
          </a:p>
        </p:txBody>
      </p:sp>
      <p:sp>
        <p:nvSpPr>
          <p:cNvPr id="23" name="Rounded Rectangle 22"/>
          <p:cNvSpPr/>
          <p:nvPr/>
        </p:nvSpPr>
        <p:spPr>
          <a:xfrm>
            <a:off x="4251960" y="4892040"/>
            <a:ext cx="3657600" cy="1417320"/>
          </a:xfrm>
          <a:prstGeom prst="roundRect">
            <a:avLst>
              <a:gd name="adj" fmla="val 7000"/>
            </a:avLst>
          </a:prstGeom>
          <a:solidFill>
            <a:srgbClr val="E6F4EA"/>
          </a:solidFill>
          <a:ln w="22225">
            <a:solidFill>
              <a:srgbClr val="2E8B5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4361688" y="4965192"/>
            <a:ext cx="3438144" cy="1271016"/>
          </a:xfrm>
          <a:prstGeom prst="rect">
            <a:avLst/>
          </a:prstGeom>
          <a:noFill/>
        </p:spPr>
        <p:txBody>
          <a:bodyPr wrap="square" lIns="45720" tIns="27432" rIns="45720" bIns="27432" anchor="t">
            <a:spAutoFit/>
          </a:bodyPr>
          <a:lstStyle/>
          <a:p>
            <a:pPr algn="l">
              <a:spcAft>
                <a:spcPts val="500"/>
              </a:spcAft>
            </a:pPr>
            <a:r>
              <a:rPr sz="1700" b="1" i="0">
                <a:solidFill>
                  <a:srgbClr val="2E8B57"/>
                </a:solidFill>
                <a:latin typeface="Calibri" panose="020F0502020204030204"/>
              </a:rPr>
              <a:t>Why one joint choice</a:t>
            </a:r>
            <a:endParaRPr sz="1700" b="1" i="0">
              <a:solidFill>
                <a:srgbClr val="2E8B57"/>
              </a:solidFill>
              <a:latin typeface="Calibri" panose="020F0502020204030204"/>
            </a:endParaRPr>
          </a:p>
          <a:p>
            <a:pPr algn="l">
              <a:spcAft>
                <a:spcPts val="300"/>
              </a:spcAft>
            </a:pPr>
            <a:r>
              <a:rPr sz="1400" b="0" i="0">
                <a:solidFill>
                  <a:srgbClr val="1F2937"/>
                </a:solidFill>
                <a:latin typeface="Calibri" panose="020F0502020204030204"/>
              </a:rPr>
              <a:t>•  Quantity and supplier chosen together</a:t>
            </a:r>
            <a:endParaRPr sz="1400" b="0" i="0">
              <a:solidFill>
                <a:srgbClr val="1F2937"/>
              </a:solidFill>
              <a:latin typeface="Calibri" panose="020F0502020204030204"/>
            </a:endParaRPr>
          </a:p>
          <a:p>
            <a:pPr algn="l">
              <a:spcAft>
                <a:spcPts val="300"/>
              </a:spcAft>
            </a:pPr>
            <a:r>
              <a:rPr sz="1400" b="0" i="0">
                <a:solidFill>
                  <a:srgbClr val="1F2937"/>
                </a:solidFill>
                <a:latin typeface="Calibri" panose="020F0502020204030204"/>
              </a:rPr>
              <a:t>•  Trains 2.8× faster, fits real life</a:t>
            </a:r>
            <a:endParaRPr sz="1400" b="0" i="0">
              <a:solidFill>
                <a:srgbClr val="1F2937"/>
              </a:solidFill>
              <a:latin typeface="Calibri" panose="020F0502020204030204"/>
            </a:endParaRPr>
          </a:p>
        </p:txBody>
      </p:sp>
      <p:sp>
        <p:nvSpPr>
          <p:cNvPr id="25" name="Rounded Rectangle 24"/>
          <p:cNvSpPr/>
          <p:nvPr/>
        </p:nvSpPr>
        <p:spPr>
          <a:xfrm>
            <a:off x="8092440" y="4892040"/>
            <a:ext cx="3685032" cy="1417320"/>
          </a:xfrm>
          <a:prstGeom prst="roundRect">
            <a:avLst>
              <a:gd name="adj" fmla="val 7000"/>
            </a:avLst>
          </a:prstGeom>
          <a:solidFill>
            <a:srgbClr val="E7F0FA"/>
          </a:solidFill>
          <a:ln w="22225">
            <a:solidFill>
              <a:srgbClr val="2F6FB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202167" y="4965192"/>
            <a:ext cx="3465576" cy="1271016"/>
          </a:xfrm>
          <a:prstGeom prst="rect">
            <a:avLst/>
          </a:prstGeom>
          <a:noFill/>
        </p:spPr>
        <p:txBody>
          <a:bodyPr wrap="square" lIns="45720" tIns="27432" rIns="45720" bIns="27432" anchor="t">
            <a:spAutoFit/>
          </a:bodyPr>
          <a:lstStyle/>
          <a:p>
            <a:pPr algn="l">
              <a:spcAft>
                <a:spcPts val="500"/>
              </a:spcAft>
            </a:pPr>
            <a:r>
              <a:rPr sz="1700" b="1" i="0">
                <a:solidFill>
                  <a:srgbClr val="2F6FB5"/>
                </a:solidFill>
                <a:latin typeface="Calibri" panose="020F0502020204030204"/>
              </a:rPr>
              <a:t>Why tuning</a:t>
            </a:r>
            <a:endParaRPr sz="1700" b="1" i="0">
              <a:solidFill>
                <a:srgbClr val="2F6FB5"/>
              </a:solidFill>
              <a:latin typeface="Calibri" panose="020F0502020204030204"/>
            </a:endParaRPr>
          </a:p>
          <a:p>
            <a:pPr algn="l">
              <a:spcAft>
                <a:spcPts val="300"/>
              </a:spcAft>
            </a:pPr>
            <a:r>
              <a:rPr sz="1400" b="0" i="0">
                <a:solidFill>
                  <a:srgbClr val="1F2937"/>
                </a:solidFill>
                <a:latin typeface="Calibri" panose="020F0502020204030204"/>
              </a:rPr>
              <a:t>•  Tried 8 settings, ran the best 2 longer</a:t>
            </a:r>
            <a:endParaRPr sz="1400" b="0" i="0">
              <a:solidFill>
                <a:srgbClr val="1F2937"/>
              </a:solidFill>
              <a:latin typeface="Calibri" panose="020F0502020204030204"/>
            </a:endParaRPr>
          </a:p>
          <a:p>
            <a:pPr algn="l">
              <a:spcAft>
                <a:spcPts val="300"/>
              </a:spcAft>
            </a:pPr>
            <a:r>
              <a:rPr sz="1400" b="0" i="0">
                <a:solidFill>
                  <a:srgbClr val="1F2937"/>
                </a:solidFill>
                <a:latin typeface="Calibri" panose="020F0502020204030204"/>
              </a:rPr>
              <a:t>•  A slower learning rate worked best</a:t>
            </a:r>
            <a:endParaRPr sz="1400" b="0" i="0">
              <a:solidFill>
                <a:srgbClr val="1F2937"/>
              </a:solidFill>
              <a:latin typeface="Calibri" panose="020F050202020403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 name="Rectangle 16"/>
          <p:cNvSpPr/>
          <p:nvPr/>
        </p:nvSpPr>
        <p:spPr>
          <a:xfrm>
            <a:off x="-1" y="0"/>
            <a:ext cx="12191998" cy="1262131"/>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4400" dirty="0">
              <a:solidFill>
                <a:schemeClr val="accent1">
                  <a:lumMod val="50000"/>
                </a:schemeClr>
              </a:solidFill>
            </a:endParaRPr>
          </a:p>
        </p:txBody>
      </p:sp>
      <p:sp>
        <p:nvSpPr>
          <p:cNvPr id="10" name="Google Shape;91;p1"/>
          <p:cNvSpPr txBox="1"/>
          <p:nvPr/>
        </p:nvSpPr>
        <p:spPr>
          <a:xfrm>
            <a:off x="-1" y="6416040"/>
            <a:ext cx="12191998" cy="441960"/>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None/>
            </a:pPr>
            <a:r>
              <a:rPr lang="en-IN" sz="1600" b="1" i="0" u="none" strike="noStrike" cap="none" dirty="0">
                <a:solidFill>
                  <a:srgbClr val="081271"/>
                </a:solidFill>
                <a:latin typeface="Times New Roman" panose="02020603050405020304"/>
                <a:ea typeface="Times New Roman" panose="02020603050405020304"/>
                <a:cs typeface="Times New Roman" panose="02020603050405020304"/>
                <a:sym typeface="Times New Roman" panose="02020603050405020304"/>
              </a:rPr>
              <a:t>[Final Project Review]</a:t>
            </a:r>
            <a:endParaRPr sz="1600" b="1" i="0" u="none" strike="noStrike" cap="none" dirty="0">
              <a:solidFill>
                <a:srgbClr val="08127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16" name="Straight Connector 15"/>
          <p:cNvCxnSpPr/>
          <p:nvPr/>
        </p:nvCxnSpPr>
        <p:spPr>
          <a:xfrm>
            <a:off x="0" y="1260899"/>
            <a:ext cx="12192000" cy="0"/>
          </a:xfrm>
          <a:prstGeom prst="line">
            <a:avLst/>
          </a:prstGeom>
          <a:ln w="28575">
            <a:solidFill>
              <a:srgbClr val="1A9B46"/>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sz="3200"/>
              <a:t>Dataset Description</a:t>
            </a:r>
            <a:endParaRPr sz="3200"/>
          </a:p>
        </p:txBody>
      </p:sp>
      <p:sp>
        <p:nvSpPr>
          <p:cNvPr id="19" name="Slide Number Placeholder 18"/>
          <p:cNvSpPr>
            <a:spLocks noGrp="1"/>
          </p:cNvSpPr>
          <p:nvPr>
            <p:ph type="sldNum" sz="quarter" idx="12"/>
          </p:nvPr>
        </p:nvSpPr>
        <p:spPr/>
        <p:txBody>
          <a:bodyPr/>
          <a:lstStyle/>
          <a:p>
            <a:fld id="{C2216105-7B7A-4C42-B2A1-5E9A2FA4F8FD}" type="slidenum">
              <a:rPr lang="en-IN" smtClean="0"/>
            </a:fld>
            <a:endParaRPr lang="en-IN" dirty="0"/>
          </a:p>
        </p:txBody>
      </p:sp>
      <p:pic>
        <p:nvPicPr>
          <p:cNvPr id="20" name="Picture 19" descr="04_demand_regimes.png"/>
          <p:cNvPicPr>
            <a:picLocks noChangeAspect="1"/>
          </p:cNvPicPr>
          <p:nvPr/>
        </p:nvPicPr>
        <p:blipFill>
          <a:blip r:embed="rId1"/>
          <a:stretch>
            <a:fillRect/>
          </a:stretch>
        </p:blipFill>
        <p:spPr>
          <a:xfrm>
            <a:off x="660545" y="1371600"/>
            <a:ext cx="4988269" cy="3273552"/>
          </a:xfrm>
          <a:prstGeom prst="rect">
            <a:avLst/>
          </a:prstGeom>
          <a:ln w="12700">
            <a:solidFill>
              <a:srgbClr val="CBD5E1"/>
            </a:solidFill>
          </a:ln>
        </p:spPr>
      </p:pic>
      <p:sp>
        <p:nvSpPr>
          <p:cNvPr id="21" name="TextBox 20"/>
          <p:cNvSpPr txBox="1"/>
          <p:nvPr/>
        </p:nvSpPr>
        <p:spPr>
          <a:xfrm>
            <a:off x="411480" y="4672584"/>
            <a:ext cx="5486400" cy="292608"/>
          </a:xfrm>
          <a:prstGeom prst="rect">
            <a:avLst/>
          </a:prstGeom>
          <a:noFill/>
        </p:spPr>
        <p:txBody>
          <a:bodyPr wrap="square" lIns="45720" tIns="27432" rIns="45720" bIns="27432" anchor="t">
            <a:spAutoFit/>
          </a:bodyPr>
          <a:lstStyle/>
          <a:p>
            <a:pPr algn="ctr">
              <a:spcAft>
                <a:spcPts val="400"/>
              </a:spcAft>
            </a:pPr>
            <a:r>
              <a:rPr sz="1200" b="0" i="0">
                <a:solidFill>
                  <a:srgbClr val="5B6573"/>
                </a:solidFill>
                <a:latin typeface="Calibri" panose="020F0502020204030204"/>
              </a:rPr>
              <a:t>Three kinds of demand: steady, moderate, bursty</a:t>
            </a:r>
            <a:endParaRPr sz="1200" b="0" i="0">
              <a:solidFill>
                <a:srgbClr val="5B6573"/>
              </a:solidFill>
              <a:latin typeface="Calibri" panose="020F0502020204030204"/>
            </a:endParaRPr>
          </a:p>
        </p:txBody>
      </p:sp>
      <p:sp>
        <p:nvSpPr>
          <p:cNvPr id="22" name="TextBox 21"/>
          <p:cNvSpPr txBox="1"/>
          <p:nvPr/>
        </p:nvSpPr>
        <p:spPr>
          <a:xfrm>
            <a:off x="6172200" y="1371600"/>
            <a:ext cx="5577840" cy="2644775"/>
          </a:xfrm>
          <a:prstGeom prst="rect">
            <a:avLst/>
          </a:prstGeom>
          <a:noFill/>
        </p:spPr>
        <p:txBody>
          <a:bodyPr wrap="square" lIns="45720" tIns="27432" rIns="45720" bIns="27432" anchor="t">
            <a:spAutoFit/>
          </a:bodyPr>
          <a:lstStyle/>
          <a:p>
            <a:pPr algn="l">
              <a:spcAft>
                <a:spcPts val="400"/>
              </a:spcAft>
            </a:pPr>
            <a:r>
              <a:rPr sz="2000" b="1" i="0">
                <a:solidFill>
                  <a:srgbClr val="1B5E3A"/>
                </a:solidFill>
                <a:latin typeface="Calibri" panose="020F0502020204030204"/>
              </a:rPr>
              <a:t>UCI Online Retail II</a:t>
            </a:r>
            <a:endParaRPr sz="2000" b="1" i="0">
              <a:solidFill>
                <a:srgbClr val="1B5E3A"/>
              </a:solidFill>
              <a:latin typeface="Calibri" panose="020F0502020204030204"/>
            </a:endParaRPr>
          </a:p>
          <a:p>
            <a:pPr algn="l">
              <a:spcAft>
                <a:spcPts val="400"/>
              </a:spcAft>
            </a:pPr>
            <a:r>
              <a:rPr sz="1500" b="0" i="0">
                <a:solidFill>
                  <a:srgbClr val="1F2937"/>
                </a:solidFill>
                <a:latin typeface="Calibri" panose="020F0502020204030204"/>
              </a:rPr>
              <a:t>•  1,067,371 sales records from a UK online gift shop</a:t>
            </a:r>
            <a:endParaRPr sz="1500" b="0" i="0">
              <a:solidFill>
                <a:srgbClr val="1F2937"/>
              </a:solidFill>
              <a:latin typeface="Calibri" panose="020F0502020204030204"/>
            </a:endParaRPr>
          </a:p>
          <a:p>
            <a:pPr algn="l">
              <a:spcAft>
                <a:spcPts val="400"/>
              </a:spcAft>
            </a:pPr>
            <a:r>
              <a:rPr sz="1500" b="0" i="0">
                <a:solidFill>
                  <a:srgbClr val="1F2937"/>
                </a:solidFill>
                <a:latin typeface="Calibri" panose="020F0502020204030204"/>
              </a:rPr>
              <a:t>•  Cleaned: cancellations, returns and bad rows removed; one row per product per day; Saturdays dropped (the shop never opened)</a:t>
            </a:r>
            <a:endParaRPr sz="1500" b="0" i="0">
              <a:solidFill>
                <a:srgbClr val="1F2937"/>
              </a:solidFill>
              <a:latin typeface="Calibri" panose="020F0502020204030204"/>
            </a:endParaRPr>
          </a:p>
          <a:p>
            <a:pPr algn="l">
              <a:spcAft>
                <a:spcPts val="400"/>
              </a:spcAft>
            </a:pPr>
            <a:r>
              <a:rPr sz="1500" b="0" i="0">
                <a:solidFill>
                  <a:srgbClr val="1F2937"/>
                </a:solidFill>
                <a:latin typeface="Calibri" panose="020F0502020204030204"/>
              </a:rPr>
              <a:t>•  10 products picked on purpose: 4 steady, 3 moderate, 3 bursty (very spiky sales)</a:t>
            </a:r>
            <a:endParaRPr sz="1500" b="0" i="0">
              <a:solidFill>
                <a:srgbClr val="1F2937"/>
              </a:solidFill>
              <a:latin typeface="Calibri" panose="020F0502020204030204"/>
            </a:endParaRPr>
          </a:p>
          <a:p>
            <a:pPr algn="l">
              <a:spcAft>
                <a:spcPts val="400"/>
              </a:spcAft>
            </a:pPr>
            <a:r>
              <a:rPr sz="1500" b="0" i="0">
                <a:solidFill>
                  <a:srgbClr val="1F2937"/>
                </a:solidFill>
                <a:latin typeface="Calibri" panose="020F0502020204030204"/>
              </a:rPr>
              <a:t>•  The agent never sees the raw sales. We measure five things (average, ups and downs, weekday pattern, month pattern, zero-sale days) and the simulator recreates them</a:t>
            </a:r>
            <a:endParaRPr sz="1500" b="0" i="0">
              <a:solidFill>
                <a:srgbClr val="D6336C"/>
              </a:solidFill>
              <a:latin typeface="Calibri" panose="020F0502020204030204"/>
            </a:endParaRPr>
          </a:p>
        </p:txBody>
      </p:sp>
      <p:sp>
        <p:nvSpPr>
          <p:cNvPr id="23" name="TextBox 22"/>
          <p:cNvSpPr txBox="1"/>
          <p:nvPr/>
        </p:nvSpPr>
        <p:spPr>
          <a:xfrm>
            <a:off x="411480" y="5120640"/>
            <a:ext cx="5486400" cy="1097280"/>
          </a:xfrm>
          <a:prstGeom prst="rect">
            <a:avLst/>
          </a:prstGeom>
          <a:noFill/>
        </p:spPr>
        <p:txBody>
          <a:bodyPr wrap="square" lIns="45720" tIns="27432" rIns="45720" bIns="27432" anchor="t">
            <a:spAutoFit/>
          </a:bodyPr>
          <a:lstStyle/>
          <a:p>
            <a:pPr algn="l">
              <a:spcAft>
                <a:spcPts val="400"/>
              </a:spcAft>
            </a:pPr>
            <a:r>
              <a:rPr sz="1400" b="0" i="0">
                <a:solidFill>
                  <a:srgbClr val="5B6573"/>
                </a:solidFill>
                <a:latin typeface="Calibri" panose="020F0502020204030204"/>
              </a:rPr>
              <a:t>If all ten products behaved the same, one simple rule would work for all and an AI would have nothing to learn.</a:t>
            </a:r>
            <a:endParaRPr sz="1400" b="0" i="0">
              <a:solidFill>
                <a:srgbClr val="5B6573"/>
              </a:solidFill>
              <a:latin typeface="Calibri" panose="020F050202020403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 name="Rectangle 16"/>
          <p:cNvSpPr/>
          <p:nvPr/>
        </p:nvSpPr>
        <p:spPr>
          <a:xfrm>
            <a:off x="-1" y="0"/>
            <a:ext cx="12191998" cy="1262131"/>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4400" dirty="0">
              <a:solidFill>
                <a:schemeClr val="accent1">
                  <a:lumMod val="50000"/>
                </a:schemeClr>
              </a:solidFill>
            </a:endParaRPr>
          </a:p>
        </p:txBody>
      </p:sp>
      <p:sp>
        <p:nvSpPr>
          <p:cNvPr id="10" name="Google Shape;91;p1"/>
          <p:cNvSpPr txBox="1"/>
          <p:nvPr/>
        </p:nvSpPr>
        <p:spPr>
          <a:xfrm>
            <a:off x="-1" y="6416040"/>
            <a:ext cx="12191998" cy="441960"/>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None/>
            </a:pPr>
            <a:r>
              <a:rPr lang="en-IN" sz="1600" b="1" i="0" u="none" strike="noStrike" cap="none" dirty="0">
                <a:solidFill>
                  <a:srgbClr val="081271"/>
                </a:solidFill>
                <a:latin typeface="Times New Roman" panose="02020603050405020304"/>
                <a:ea typeface="Times New Roman" panose="02020603050405020304"/>
                <a:cs typeface="Times New Roman" panose="02020603050405020304"/>
                <a:sym typeface="Times New Roman" panose="02020603050405020304"/>
              </a:rPr>
              <a:t>[Final Project Review]</a:t>
            </a:r>
            <a:endParaRPr sz="1600" b="1" i="0" u="none" strike="noStrike" cap="none" dirty="0">
              <a:solidFill>
                <a:srgbClr val="08127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16" name="Straight Connector 15"/>
          <p:cNvCxnSpPr/>
          <p:nvPr/>
        </p:nvCxnSpPr>
        <p:spPr>
          <a:xfrm>
            <a:off x="0" y="1260899"/>
            <a:ext cx="12192000" cy="0"/>
          </a:xfrm>
          <a:prstGeom prst="line">
            <a:avLst/>
          </a:prstGeom>
          <a:ln w="28575">
            <a:solidFill>
              <a:srgbClr val="1A9B46"/>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sz="3200"/>
              <a:t>Classical Methods and a Fair Test</a:t>
            </a:r>
            <a:endParaRPr sz="3200"/>
          </a:p>
        </p:txBody>
      </p:sp>
      <p:sp>
        <p:nvSpPr>
          <p:cNvPr id="19" name="Slide Number Placeholder 18"/>
          <p:cNvSpPr>
            <a:spLocks noGrp="1"/>
          </p:cNvSpPr>
          <p:nvPr>
            <p:ph type="sldNum" sz="quarter" idx="12"/>
          </p:nvPr>
        </p:nvSpPr>
        <p:spPr/>
        <p:txBody>
          <a:bodyPr/>
          <a:lstStyle/>
          <a:p>
            <a:fld id="{C2216105-7B7A-4C42-B2A1-5E9A2FA4F8FD}" type="slidenum">
              <a:rPr lang="en-IN" smtClean="0"/>
            </a:fld>
            <a:endParaRPr lang="en-IN" dirty="0"/>
          </a:p>
        </p:txBody>
      </p:sp>
      <p:graphicFrame>
        <p:nvGraphicFramePr>
          <p:cNvPr id="20" name="Table 19"/>
          <p:cNvGraphicFramePr>
            <a:graphicFrameLocks noGrp="1"/>
          </p:cNvGraphicFramePr>
          <p:nvPr/>
        </p:nvGraphicFramePr>
        <p:xfrm>
          <a:off x="411480" y="1371600"/>
          <a:ext cx="5852159" cy="2286000"/>
        </p:xfrm>
        <a:graphic>
          <a:graphicData uri="http://schemas.openxmlformats.org/drawingml/2006/table">
            <a:tbl>
              <a:tblPr firstRow="1" bandRow="1">
                <a:tableStyleId>{5C22544A-7EE6-4342-B048-85BDC9FD1C3A}</a:tableStyleId>
              </a:tblPr>
              <a:tblGrid>
                <a:gridCol w="2103120"/>
                <a:gridCol w="3749039"/>
              </a:tblGrid>
              <a:tr h="457200">
                <a:tc>
                  <a:txBody>
                    <a:bodyPr wrap="square"/>
                    <a:lstStyle/>
                    <a:p>
                      <a:pPr algn="l"/>
                      <a:r>
                        <a:rPr sz="1300" b="1" i="0">
                          <a:solidFill>
                            <a:srgbClr val="FFFFFF"/>
                          </a:solidFill>
                          <a:latin typeface="Calibri" panose="020F0502020204030204"/>
                        </a:rPr>
                        <a:t>Method</a:t>
                      </a:r>
                      <a:endParaRPr sz="1300" b="1" i="0">
                        <a:solidFill>
                          <a:srgbClr val="FFFFFF"/>
                        </a:solidFill>
                        <a:latin typeface="Calibri" panose="020F0502020204030204"/>
                      </a:endParaRPr>
                    </a:p>
                  </a:txBody>
                  <a:tcPr marL="54864" marR="54864" marT="18288" marB="18288" anchor="ctr">
                    <a:solidFill>
                      <a:srgbClr val="2E8B57"/>
                    </a:solidFill>
                  </a:tcPr>
                </a:tc>
                <a:tc>
                  <a:txBody>
                    <a:bodyPr wrap="square"/>
                    <a:lstStyle/>
                    <a:p>
                      <a:pPr algn="l"/>
                      <a:r>
                        <a:rPr sz="1300" b="1" i="0">
                          <a:solidFill>
                            <a:srgbClr val="FFFFFF"/>
                          </a:solidFill>
                          <a:latin typeface="Calibri" panose="020F0502020204030204"/>
                        </a:rPr>
                        <a:t>Tuned settings</a:t>
                      </a:r>
                      <a:endParaRPr sz="1300" b="1" i="0">
                        <a:solidFill>
                          <a:srgbClr val="FFFFFF"/>
                        </a:solidFill>
                        <a:latin typeface="Calibri" panose="020F0502020204030204"/>
                      </a:endParaRPr>
                    </a:p>
                  </a:txBody>
                  <a:tcPr marL="54864" marR="54864" marT="18288" marB="18288" anchor="ctr">
                    <a:solidFill>
                      <a:srgbClr val="2E8B57"/>
                    </a:solidFill>
                  </a:tcPr>
                </a:tc>
              </a:tr>
              <a:tr h="457200">
                <a:tc>
                  <a:txBody>
                    <a:bodyPr wrap="square"/>
                    <a:lstStyle/>
                    <a:p>
                      <a:r>
                        <a:rPr sz="1300" b="0" i="0">
                          <a:solidFill>
                            <a:srgbClr val="1F2937"/>
                          </a:solidFill>
                          <a:latin typeface="Calibri" panose="020F0502020204030204"/>
                        </a:rPr>
                        <a:t>(s, S)</a:t>
                      </a:r>
                      <a:endParaRPr sz="1300" b="0" i="0">
                        <a:solidFill>
                          <a:srgbClr val="1F2937"/>
                        </a:solidFill>
                        <a:latin typeface="Calibri" panose="020F0502020204030204"/>
                      </a:endParaRPr>
                    </a:p>
                  </a:txBody>
                  <a:tcPr marL="54864" marR="54864" marT="18288" marB="18288" anchor="ctr">
                    <a:solidFill>
                      <a:srgbClr val="FFFFFF"/>
                    </a:solidFill>
                  </a:tcPr>
                </a:tc>
                <a:tc>
                  <a:txBody>
                    <a:bodyPr wrap="square"/>
                    <a:lstStyle/>
                    <a:p>
                      <a:r>
                        <a:rPr sz="1300" b="0" i="0">
                          <a:solidFill>
                            <a:srgbClr val="1F2937"/>
                          </a:solidFill>
                          <a:latin typeface="Calibri" panose="020F0502020204030204"/>
                        </a:rPr>
                        <a:t>order when stock covers under 11 days; refill up to 16 days</a:t>
                      </a:r>
                      <a:endParaRPr sz="1300" b="0" i="0">
                        <a:solidFill>
                          <a:srgbClr val="1F2937"/>
                        </a:solidFill>
                        <a:latin typeface="Calibri" panose="020F0502020204030204"/>
                      </a:endParaRPr>
                    </a:p>
                  </a:txBody>
                  <a:tcPr marL="54864" marR="54864" marT="18288" marB="18288" anchor="ctr">
                    <a:solidFill>
                      <a:srgbClr val="FFFFFF"/>
                    </a:solidFill>
                  </a:tcPr>
                </a:tc>
              </a:tr>
              <a:tr h="457200">
                <a:tc>
                  <a:txBody>
                    <a:bodyPr wrap="square"/>
                    <a:lstStyle/>
                    <a:p>
                      <a:r>
                        <a:rPr sz="1300" b="0" i="0">
                          <a:solidFill>
                            <a:srgbClr val="1F2937"/>
                          </a:solidFill>
                          <a:latin typeface="Calibri" panose="020F0502020204030204"/>
                        </a:rPr>
                        <a:t>EOQ + reorder point</a:t>
                      </a:r>
                      <a:endParaRPr sz="1300" b="0" i="0">
                        <a:solidFill>
                          <a:srgbClr val="1F2937"/>
                        </a:solidFill>
                        <a:latin typeface="Calibri" panose="020F0502020204030204"/>
                      </a:endParaRPr>
                    </a:p>
                  </a:txBody>
                  <a:tcPr marL="54864" marR="54864" marT="18288" marB="18288" anchor="ctr">
                    <a:solidFill>
                      <a:srgbClr val="F1F5F9"/>
                    </a:solidFill>
                  </a:tcPr>
                </a:tc>
                <a:tc>
                  <a:txBody>
                    <a:bodyPr wrap="square"/>
                    <a:lstStyle/>
                    <a:p>
                      <a:r>
                        <a:rPr sz="1300" b="0" i="0">
                          <a:solidFill>
                            <a:srgbClr val="1F2937"/>
                          </a:solidFill>
                          <a:latin typeface="Calibri" panose="020F0502020204030204"/>
                        </a:rPr>
                        <a:t>order at 8 days of stock left, with a safety margin of 1.6</a:t>
                      </a:r>
                      <a:endParaRPr sz="1300" b="0" i="0">
                        <a:solidFill>
                          <a:srgbClr val="1F2937"/>
                        </a:solidFill>
                        <a:latin typeface="Calibri" panose="020F0502020204030204"/>
                      </a:endParaRPr>
                    </a:p>
                  </a:txBody>
                  <a:tcPr marL="54864" marR="54864" marT="18288" marB="18288" anchor="ctr">
                    <a:solidFill>
                      <a:srgbClr val="F1F5F9"/>
                    </a:solidFill>
                  </a:tcPr>
                </a:tc>
              </a:tr>
              <a:tr h="457200">
                <a:tc>
                  <a:txBody>
                    <a:bodyPr wrap="square"/>
                    <a:lstStyle/>
                    <a:p>
                      <a:r>
                        <a:rPr sz="1300" b="0" i="0">
                          <a:solidFill>
                            <a:srgbClr val="1F2937"/>
                          </a:solidFill>
                          <a:latin typeface="Calibri" panose="020F0502020204030204"/>
                        </a:rPr>
                        <a:t>Newsvendor</a:t>
                      </a:r>
                      <a:endParaRPr sz="1300" b="0" i="0">
                        <a:solidFill>
                          <a:srgbClr val="1F2937"/>
                        </a:solidFill>
                        <a:latin typeface="Calibri" panose="020F0502020204030204"/>
                      </a:endParaRPr>
                    </a:p>
                  </a:txBody>
                  <a:tcPr marL="54864" marR="54864" marT="18288" marB="18288" anchor="ctr">
                    <a:solidFill>
                      <a:srgbClr val="FFFFFF"/>
                    </a:solidFill>
                  </a:tcPr>
                </a:tc>
                <a:tc>
                  <a:txBody>
                    <a:bodyPr wrap="square"/>
                    <a:lstStyle/>
                    <a:p>
                      <a:r>
                        <a:rPr sz="1300" b="0" i="0">
                          <a:solidFill>
                            <a:srgbClr val="1F2937"/>
                          </a:solidFill>
                          <a:latin typeface="Calibri" panose="020F0502020204030204"/>
                        </a:rPr>
                        <a:t>plan 3 days ahead, use the cheapest supplier</a:t>
                      </a:r>
                      <a:endParaRPr sz="1300" b="0" i="0">
                        <a:solidFill>
                          <a:srgbClr val="1F2937"/>
                        </a:solidFill>
                        <a:latin typeface="Calibri" panose="020F0502020204030204"/>
                      </a:endParaRPr>
                    </a:p>
                  </a:txBody>
                  <a:tcPr marL="54864" marR="54864" marT="18288" marB="18288" anchor="ctr">
                    <a:solidFill>
                      <a:srgbClr val="FFFFFF"/>
                    </a:solidFill>
                  </a:tcPr>
                </a:tc>
              </a:tr>
              <a:tr h="457200">
                <a:tc>
                  <a:txBody>
                    <a:bodyPr wrap="square"/>
                    <a:lstStyle/>
                    <a:p>
                      <a:r>
                        <a:rPr sz="1300" b="0" i="0">
                          <a:solidFill>
                            <a:srgbClr val="1F2937"/>
                          </a:solidFill>
                          <a:latin typeface="Calibri" panose="020F0502020204030204"/>
                        </a:rPr>
                        <a:t>Forecast + safety stock</a:t>
                      </a:r>
                      <a:endParaRPr sz="1300" b="0" i="0">
                        <a:solidFill>
                          <a:srgbClr val="1F2937"/>
                        </a:solidFill>
                        <a:latin typeface="Calibri" panose="020F0502020204030204"/>
                      </a:endParaRPr>
                    </a:p>
                  </a:txBody>
                  <a:tcPr marL="54864" marR="54864" marT="18288" marB="18288" anchor="ctr">
                    <a:solidFill>
                      <a:srgbClr val="F1F5F9"/>
                    </a:solidFill>
                  </a:tcPr>
                </a:tc>
                <a:tc>
                  <a:txBody>
                    <a:bodyPr wrap="square"/>
                    <a:lstStyle/>
                    <a:p>
                      <a:r>
                        <a:rPr sz="1300" b="0" i="0">
                          <a:solidFill>
                            <a:srgbClr val="1F2937"/>
                          </a:solidFill>
                          <a:latin typeface="Calibri" panose="020F0502020204030204"/>
                        </a:rPr>
                        <a:t>forecast from yesterday, extra safety stock (about 90% service), check every 4 days</a:t>
                      </a:r>
                      <a:endParaRPr sz="1300" b="0" i="0">
                        <a:solidFill>
                          <a:srgbClr val="1F2937"/>
                        </a:solidFill>
                        <a:latin typeface="Calibri" panose="020F0502020204030204"/>
                      </a:endParaRPr>
                    </a:p>
                  </a:txBody>
                  <a:tcPr marL="54864" marR="54864" marT="18288" marB="18288" anchor="ctr">
                    <a:solidFill>
                      <a:srgbClr val="F1F5F9"/>
                    </a:solidFill>
                  </a:tcPr>
                </a:tc>
              </a:tr>
            </a:tbl>
          </a:graphicData>
        </a:graphic>
      </p:graphicFrame>
      <p:graphicFrame>
        <p:nvGraphicFramePr>
          <p:cNvPr id="21" name="Table 20"/>
          <p:cNvGraphicFramePr>
            <a:graphicFrameLocks noGrp="1"/>
          </p:cNvGraphicFramePr>
          <p:nvPr/>
        </p:nvGraphicFramePr>
        <p:xfrm>
          <a:off x="6537960" y="1371600"/>
          <a:ext cx="5239511" cy="1828800"/>
        </p:xfrm>
        <a:graphic>
          <a:graphicData uri="http://schemas.openxmlformats.org/drawingml/2006/table">
            <a:tbl>
              <a:tblPr firstRow="1" bandRow="1">
                <a:tableStyleId>{5C22544A-7EE6-4342-B048-85BDC9FD1C3A}</a:tableStyleId>
              </a:tblPr>
              <a:tblGrid>
                <a:gridCol w="1286897"/>
                <a:gridCol w="3952614"/>
              </a:tblGrid>
              <a:tr h="457200">
                <a:tc>
                  <a:txBody>
                    <a:bodyPr wrap="square"/>
                    <a:lstStyle/>
                    <a:p>
                      <a:pPr algn="l"/>
                      <a:r>
                        <a:rPr sz="1300" b="1" i="0">
                          <a:solidFill>
                            <a:srgbClr val="FFFFFF"/>
                          </a:solidFill>
                          <a:latin typeface="Calibri" panose="020F0502020204030204"/>
                        </a:rPr>
                        <a:t>Seeds (test runs)</a:t>
                      </a:r>
                      <a:endParaRPr sz="1300" b="1" i="0">
                        <a:solidFill>
                          <a:srgbClr val="FFFFFF"/>
                        </a:solidFill>
                        <a:latin typeface="Calibri" panose="020F0502020204030204"/>
                      </a:endParaRPr>
                    </a:p>
                  </a:txBody>
                  <a:tcPr marL="54864" marR="54864" marT="18288" marB="18288" anchor="ctr">
                    <a:solidFill>
                      <a:srgbClr val="2E8B57"/>
                    </a:solidFill>
                  </a:tcPr>
                </a:tc>
                <a:tc>
                  <a:txBody>
                    <a:bodyPr wrap="square"/>
                    <a:lstStyle/>
                    <a:p>
                      <a:pPr algn="l"/>
                      <a:r>
                        <a:rPr sz="1300" b="1" i="0">
                          <a:solidFill>
                            <a:srgbClr val="FFFFFF"/>
                          </a:solidFill>
                          <a:latin typeface="Calibri" panose="020F0502020204030204"/>
                        </a:rPr>
                        <a:t>Used for</a:t>
                      </a:r>
                      <a:endParaRPr sz="1300" b="1" i="0">
                        <a:solidFill>
                          <a:srgbClr val="FFFFFF"/>
                        </a:solidFill>
                        <a:latin typeface="Calibri" panose="020F0502020204030204"/>
                      </a:endParaRPr>
                    </a:p>
                  </a:txBody>
                  <a:tcPr marL="54864" marR="54864" marT="18288" marB="18288" anchor="ctr">
                    <a:solidFill>
                      <a:srgbClr val="2E8B57"/>
                    </a:solidFill>
                  </a:tcPr>
                </a:tc>
              </a:tr>
              <a:tr h="457200">
                <a:tc>
                  <a:txBody>
                    <a:bodyPr wrap="square"/>
                    <a:lstStyle/>
                    <a:p>
                      <a:r>
                        <a:rPr sz="1300" b="0" i="0">
                          <a:solidFill>
                            <a:srgbClr val="1F2937"/>
                          </a:solidFill>
                          <a:latin typeface="Calibri" panose="020F0502020204030204"/>
                        </a:rPr>
                        <a:t>100–111</a:t>
                      </a:r>
                      <a:endParaRPr sz="1300" b="0" i="0">
                        <a:solidFill>
                          <a:srgbClr val="1F2937"/>
                        </a:solidFill>
                        <a:latin typeface="Calibri" panose="020F0502020204030204"/>
                      </a:endParaRPr>
                    </a:p>
                  </a:txBody>
                  <a:tcPr marL="54864" marR="54864" marT="18288" marB="18288" anchor="ctr">
                    <a:solidFill>
                      <a:srgbClr val="FFFFFF"/>
                    </a:solidFill>
                  </a:tcPr>
                </a:tc>
                <a:tc>
                  <a:txBody>
                    <a:bodyPr wrap="square"/>
                    <a:lstStyle/>
                    <a:p>
                      <a:r>
                        <a:rPr sz="1300" b="0" i="0">
                          <a:solidFill>
                            <a:srgbClr val="1F2937"/>
                          </a:solidFill>
                          <a:latin typeface="Calibri" panose="020F0502020204030204"/>
                        </a:rPr>
                        <a:t>tuning the classical methods</a:t>
                      </a:r>
                      <a:endParaRPr sz="1300" b="0" i="0">
                        <a:solidFill>
                          <a:srgbClr val="1F2937"/>
                        </a:solidFill>
                        <a:latin typeface="Calibri" panose="020F0502020204030204"/>
                      </a:endParaRPr>
                    </a:p>
                  </a:txBody>
                  <a:tcPr marL="54864" marR="54864" marT="18288" marB="18288" anchor="ctr">
                    <a:solidFill>
                      <a:srgbClr val="FFFFFF"/>
                    </a:solidFill>
                  </a:tcPr>
                </a:tc>
              </a:tr>
              <a:tr h="457200">
                <a:tc>
                  <a:txBody>
                    <a:bodyPr wrap="square"/>
                    <a:lstStyle/>
                    <a:p>
                      <a:r>
                        <a:rPr sz="1300" b="0" i="0">
                          <a:solidFill>
                            <a:srgbClr val="1F2937"/>
                          </a:solidFill>
                          <a:latin typeface="Calibri" panose="020F0502020204030204"/>
                        </a:rPr>
                        <a:t>900–905</a:t>
                      </a:r>
                      <a:endParaRPr sz="1300" b="0" i="0">
                        <a:solidFill>
                          <a:srgbClr val="1F2937"/>
                        </a:solidFill>
                        <a:latin typeface="Calibri" panose="020F0502020204030204"/>
                      </a:endParaRPr>
                    </a:p>
                  </a:txBody>
                  <a:tcPr marL="54864" marR="54864" marT="18288" marB="18288" anchor="ctr">
                    <a:solidFill>
                      <a:srgbClr val="F1F5F9"/>
                    </a:solidFill>
                  </a:tcPr>
                </a:tc>
                <a:tc>
                  <a:txBody>
                    <a:bodyPr wrap="square"/>
                    <a:lstStyle/>
                    <a:p>
                      <a:r>
                        <a:rPr sz="1300" b="0" i="0">
                          <a:solidFill>
                            <a:srgbClr val="1F2937"/>
                          </a:solidFill>
                          <a:latin typeface="Calibri" panose="020F0502020204030204"/>
                        </a:rPr>
                        <a:t>choosing the best RL version</a:t>
                      </a:r>
                      <a:endParaRPr sz="1300" b="0" i="0">
                        <a:solidFill>
                          <a:srgbClr val="1F2937"/>
                        </a:solidFill>
                        <a:latin typeface="Calibri" panose="020F0502020204030204"/>
                      </a:endParaRPr>
                    </a:p>
                  </a:txBody>
                  <a:tcPr marL="54864" marR="54864" marT="18288" marB="18288" anchor="ctr">
                    <a:solidFill>
                      <a:srgbClr val="F1F5F9"/>
                    </a:solidFill>
                  </a:tcPr>
                </a:tc>
              </a:tr>
              <a:tr h="457200">
                <a:tc>
                  <a:txBody>
                    <a:bodyPr wrap="square"/>
                    <a:lstStyle/>
                    <a:p>
                      <a:r>
                        <a:rPr sz="1300" b="0" i="0">
                          <a:solidFill>
                            <a:srgbClr val="1F2937"/>
                          </a:solidFill>
                          <a:latin typeface="Calibri" panose="020F0502020204030204"/>
                        </a:rPr>
                        <a:t>500–529</a:t>
                      </a:r>
                      <a:endParaRPr sz="1300" b="0" i="0">
                        <a:solidFill>
                          <a:srgbClr val="1F2937"/>
                        </a:solidFill>
                        <a:latin typeface="Calibri" panose="020F0502020204030204"/>
                      </a:endParaRPr>
                    </a:p>
                  </a:txBody>
                  <a:tcPr marL="54864" marR="54864" marT="18288" marB="18288" anchor="ctr">
                    <a:solidFill>
                      <a:srgbClr val="E6F4EA"/>
                    </a:solidFill>
                  </a:tcPr>
                </a:tc>
                <a:tc>
                  <a:txBody>
                    <a:bodyPr wrap="square"/>
                    <a:lstStyle/>
                    <a:p>
                      <a:r>
                        <a:rPr sz="1300" b="0" i="0">
                          <a:solidFill>
                            <a:srgbClr val="1F2937"/>
                          </a:solidFill>
                          <a:latin typeface="Calibri" panose="020F0502020204030204"/>
                        </a:rPr>
                        <a:t>final results only; never used to make any choice</a:t>
                      </a:r>
                      <a:endParaRPr sz="1300" b="0" i="0">
                        <a:solidFill>
                          <a:srgbClr val="1F2937"/>
                        </a:solidFill>
                        <a:latin typeface="Calibri" panose="020F0502020204030204"/>
                      </a:endParaRPr>
                    </a:p>
                  </a:txBody>
                  <a:tcPr marL="54864" marR="54864" marT="18288" marB="18288" anchor="ctr">
                    <a:solidFill>
                      <a:srgbClr val="E6F4EA"/>
                    </a:solidFill>
                  </a:tcPr>
                </a:tc>
              </a:tr>
            </a:tbl>
          </a:graphicData>
        </a:graphic>
      </p:graphicFrame>
      <p:sp>
        <p:nvSpPr>
          <p:cNvPr id="22" name="TextBox 21"/>
          <p:cNvSpPr txBox="1"/>
          <p:nvPr/>
        </p:nvSpPr>
        <p:spPr>
          <a:xfrm>
            <a:off x="411480" y="4023360"/>
            <a:ext cx="11365992" cy="2286000"/>
          </a:xfrm>
          <a:prstGeom prst="rect">
            <a:avLst/>
          </a:prstGeom>
          <a:noFill/>
        </p:spPr>
        <p:txBody>
          <a:bodyPr wrap="square" lIns="45720" tIns="27432" rIns="45720" bIns="27432" anchor="t">
            <a:spAutoFit/>
          </a:bodyPr>
          <a:lstStyle/>
          <a:p>
            <a:pPr algn="l">
              <a:spcAft>
                <a:spcPts val="600"/>
              </a:spcAft>
            </a:pPr>
            <a:r>
              <a:rPr sz="1600" b="1" i="0">
                <a:solidFill>
                  <a:srgbClr val="1F2937"/>
                </a:solidFill>
                <a:latin typeface="Calibri" panose="020F0502020204030204"/>
              </a:rPr>
              <a:t>•  Tuning mattered a lot. </a:t>
            </a:r>
            <a:r>
              <a:rPr sz="1600" b="0" i="0">
                <a:solidFill>
                  <a:srgbClr val="1F2937"/>
                </a:solidFill>
                <a:latin typeface="Calibri" panose="020F0502020204030204"/>
              </a:rPr>
              <a:t>Better settings lifted the best classical method from ₹69.7 lakh to ₹89.2 lakh. Without tuning, the AI would have looked better than it really is.</a:t>
            </a:r>
            <a:endParaRPr sz="1600" b="0" i="0">
              <a:solidFill>
                <a:srgbClr val="1F2937"/>
              </a:solidFill>
              <a:latin typeface="Calibri" panose="020F0502020204030204"/>
            </a:endParaRPr>
          </a:p>
          <a:p>
            <a:pPr algn="l">
              <a:spcAft>
                <a:spcPts val="600"/>
              </a:spcAft>
            </a:pPr>
            <a:r>
              <a:rPr sz="1600" b="1" i="0">
                <a:solidFill>
                  <a:srgbClr val="1F2937"/>
                </a:solidFill>
                <a:latin typeface="Calibri" panose="020F0502020204030204"/>
              </a:rPr>
              <a:t>•  Same choices for all. </a:t>
            </a:r>
            <a:r>
              <a:rPr sz="1600" b="0" i="0">
                <a:solidFill>
                  <a:srgbClr val="1F2937"/>
                </a:solidFill>
                <a:latin typeface="Calibri" panose="020F0502020204030204"/>
              </a:rPr>
              <a:t>Every classical method picks from the same 21 options per product as the AI.</a:t>
            </a:r>
            <a:endParaRPr sz="1600" b="0" i="0">
              <a:solidFill>
                <a:srgbClr val="1F2937"/>
              </a:solidFill>
              <a:latin typeface="Calibri" panose="020F0502020204030204"/>
            </a:endParaRPr>
          </a:p>
          <a:p>
            <a:pPr algn="l">
              <a:spcAft>
                <a:spcPts val="400"/>
              </a:spcAft>
            </a:pPr>
            <a:r>
              <a:rPr sz="1600" b="1" i="0">
                <a:solidFill>
                  <a:srgbClr val="1F2937"/>
                </a:solidFill>
                <a:latin typeface="Calibri" panose="020F0502020204030204"/>
              </a:rPr>
              <a:t>•  Same customers for all. </a:t>
            </a:r>
            <a:r>
              <a:rPr sz="1600" b="0" i="0">
                <a:solidFill>
                  <a:srgbClr val="1F2937"/>
                </a:solidFill>
                <a:latin typeface="Calibri" panose="020F0502020204030204"/>
              </a:rPr>
              <a:t>Every method faces the same customers and delays on each test run, so we compare them run by run.</a:t>
            </a:r>
            <a:endParaRPr sz="1600" b="0" i="0">
              <a:solidFill>
                <a:srgbClr val="1F2937"/>
              </a:solidFill>
              <a:latin typeface="Calibri" panose="020F050202020403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 name="Rectangle 16"/>
          <p:cNvSpPr/>
          <p:nvPr/>
        </p:nvSpPr>
        <p:spPr>
          <a:xfrm>
            <a:off x="-1" y="0"/>
            <a:ext cx="12191998" cy="1262131"/>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4400" dirty="0">
              <a:solidFill>
                <a:schemeClr val="accent1">
                  <a:lumMod val="50000"/>
                </a:schemeClr>
              </a:solidFill>
            </a:endParaRPr>
          </a:p>
        </p:txBody>
      </p:sp>
      <p:sp>
        <p:nvSpPr>
          <p:cNvPr id="10" name="Google Shape;91;p1"/>
          <p:cNvSpPr txBox="1"/>
          <p:nvPr/>
        </p:nvSpPr>
        <p:spPr>
          <a:xfrm>
            <a:off x="-1" y="6416040"/>
            <a:ext cx="12191998" cy="441960"/>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None/>
            </a:pPr>
            <a:r>
              <a:rPr lang="en-IN" sz="1600" b="1" i="0" u="none" strike="noStrike" cap="none" dirty="0">
                <a:solidFill>
                  <a:srgbClr val="081271"/>
                </a:solidFill>
                <a:latin typeface="Times New Roman" panose="02020603050405020304"/>
                <a:ea typeface="Times New Roman" panose="02020603050405020304"/>
                <a:cs typeface="Times New Roman" panose="02020603050405020304"/>
                <a:sym typeface="Times New Roman" panose="02020603050405020304"/>
              </a:rPr>
              <a:t>[Final Project Review]</a:t>
            </a:r>
            <a:endParaRPr sz="1600" b="1" i="0" u="none" strike="noStrike" cap="none" dirty="0">
              <a:solidFill>
                <a:srgbClr val="08127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16" name="Straight Connector 15"/>
          <p:cNvCxnSpPr/>
          <p:nvPr/>
        </p:nvCxnSpPr>
        <p:spPr>
          <a:xfrm>
            <a:off x="0" y="1260899"/>
            <a:ext cx="12192000" cy="0"/>
          </a:xfrm>
          <a:prstGeom prst="line">
            <a:avLst/>
          </a:prstGeom>
          <a:ln w="28575">
            <a:solidFill>
              <a:srgbClr val="1A9B46"/>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sz="3200"/>
              <a:t>LLM Explainer: Facts In, Checked Sentences Out</a:t>
            </a:r>
            <a:endParaRPr sz="3200"/>
          </a:p>
        </p:txBody>
      </p:sp>
      <p:sp>
        <p:nvSpPr>
          <p:cNvPr id="19" name="Slide Number Placeholder 18"/>
          <p:cNvSpPr>
            <a:spLocks noGrp="1"/>
          </p:cNvSpPr>
          <p:nvPr>
            <p:ph type="sldNum" sz="quarter" idx="12"/>
          </p:nvPr>
        </p:nvSpPr>
        <p:spPr/>
        <p:txBody>
          <a:bodyPr/>
          <a:lstStyle/>
          <a:p>
            <a:fld id="{C2216105-7B7A-4C42-B2A1-5E9A2FA4F8FD}" type="slidenum">
              <a:rPr lang="en-IN" smtClean="0"/>
            </a:fld>
            <a:endParaRPr lang="en-IN" dirty="0"/>
          </a:p>
        </p:txBody>
      </p:sp>
      <p:pic>
        <p:nvPicPr>
          <p:cNvPr id="20" name="Picture 19" descr="explainer_pipeline.png"/>
          <p:cNvPicPr>
            <a:picLocks noChangeAspect="1"/>
          </p:cNvPicPr>
          <p:nvPr/>
        </p:nvPicPr>
        <p:blipFill>
          <a:blip r:embed="rId1"/>
          <a:stretch>
            <a:fillRect/>
          </a:stretch>
        </p:blipFill>
        <p:spPr>
          <a:xfrm>
            <a:off x="365760" y="1280160"/>
            <a:ext cx="11457432" cy="3884785"/>
          </a:xfrm>
          <a:prstGeom prst="rect">
            <a:avLst/>
          </a:prstGeom>
        </p:spPr>
      </p:pic>
      <p:sp>
        <p:nvSpPr>
          <p:cNvPr id="21" name="TextBox 20"/>
          <p:cNvSpPr txBox="1"/>
          <p:nvPr/>
        </p:nvSpPr>
        <p:spPr>
          <a:xfrm>
            <a:off x="411480" y="5760720"/>
            <a:ext cx="11365992" cy="640080"/>
          </a:xfrm>
          <a:prstGeom prst="rect">
            <a:avLst/>
          </a:prstGeom>
          <a:noFill/>
        </p:spPr>
        <p:txBody>
          <a:bodyPr wrap="square" lIns="45720" tIns="27432" rIns="45720" bIns="27432" anchor="t">
            <a:spAutoFit/>
          </a:bodyPr>
          <a:lstStyle/>
          <a:p>
            <a:pPr algn="l">
              <a:spcAft>
                <a:spcPts val="400"/>
              </a:spcAft>
            </a:pPr>
            <a:r>
              <a:rPr sz="1500" b="1" i="0">
                <a:solidFill>
                  <a:srgbClr val="D6336C"/>
                </a:solidFill>
                <a:latin typeface="Calibri" panose="020F0502020204030204"/>
              </a:rPr>
              <a:t>The rule: </a:t>
            </a:r>
            <a:r>
              <a:rPr sz="1500" b="0" i="0">
                <a:solidFill>
                  <a:srgbClr val="1F2937"/>
                </a:solidFill>
                <a:latin typeface="Calibri" panose="020F0502020204030204"/>
              </a:rPr>
              <a:t>the LLM is never asked why. The agent’s real reason is hidden inside a neural network, so any “because” from the LLM would just be a believable story.</a:t>
            </a:r>
            <a:endParaRPr sz="1500" b="0" i="0">
              <a:solidFill>
                <a:srgbClr val="1F2937"/>
              </a:solidFill>
              <a:latin typeface="Calibri" panose="020F050202020403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 name="Rectangle 16"/>
          <p:cNvSpPr/>
          <p:nvPr/>
        </p:nvSpPr>
        <p:spPr>
          <a:xfrm>
            <a:off x="-1" y="0"/>
            <a:ext cx="12191998" cy="1262131"/>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4400" dirty="0">
              <a:solidFill>
                <a:schemeClr val="accent1">
                  <a:lumMod val="50000"/>
                </a:schemeClr>
              </a:solidFill>
            </a:endParaRPr>
          </a:p>
        </p:txBody>
      </p:sp>
      <p:sp>
        <p:nvSpPr>
          <p:cNvPr id="10" name="Google Shape;91;p1"/>
          <p:cNvSpPr txBox="1"/>
          <p:nvPr/>
        </p:nvSpPr>
        <p:spPr>
          <a:xfrm>
            <a:off x="-1" y="6416040"/>
            <a:ext cx="12191998" cy="441960"/>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None/>
            </a:pPr>
            <a:r>
              <a:rPr lang="en-IN" sz="1600" b="1" i="0" u="none" strike="noStrike" cap="none" dirty="0">
                <a:solidFill>
                  <a:srgbClr val="081271"/>
                </a:solidFill>
                <a:latin typeface="Times New Roman" panose="02020603050405020304"/>
                <a:ea typeface="Times New Roman" panose="02020603050405020304"/>
                <a:cs typeface="Times New Roman" panose="02020603050405020304"/>
                <a:sym typeface="Times New Roman" panose="02020603050405020304"/>
              </a:rPr>
              <a:t>[Final Project Review]</a:t>
            </a:r>
            <a:endParaRPr sz="1600" b="1" i="0" u="none" strike="noStrike" cap="none" dirty="0">
              <a:solidFill>
                <a:srgbClr val="08127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16" name="Straight Connector 15"/>
          <p:cNvCxnSpPr/>
          <p:nvPr/>
        </p:nvCxnSpPr>
        <p:spPr>
          <a:xfrm>
            <a:off x="0" y="1260899"/>
            <a:ext cx="12192000" cy="0"/>
          </a:xfrm>
          <a:prstGeom prst="line">
            <a:avLst/>
          </a:prstGeom>
          <a:ln w="28575">
            <a:solidFill>
              <a:srgbClr val="1A9B46"/>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sz="3200"/>
              <a:t>LLM Crisis Generator and Training on Crises</a:t>
            </a:r>
            <a:endParaRPr sz="3200"/>
          </a:p>
        </p:txBody>
      </p:sp>
      <p:sp>
        <p:nvSpPr>
          <p:cNvPr id="19" name="Slide Number Placeholder 18"/>
          <p:cNvSpPr>
            <a:spLocks noGrp="1"/>
          </p:cNvSpPr>
          <p:nvPr>
            <p:ph type="sldNum" sz="quarter" idx="12"/>
          </p:nvPr>
        </p:nvSpPr>
        <p:spPr/>
        <p:txBody>
          <a:bodyPr/>
          <a:lstStyle/>
          <a:p>
            <a:fld id="{C2216105-7B7A-4C42-B2A1-5E9A2FA4F8FD}" type="slidenum">
              <a:rPr lang="en-IN" smtClean="0"/>
            </a:fld>
            <a:endParaRPr lang="en-IN" dirty="0"/>
          </a:p>
        </p:txBody>
      </p:sp>
      <p:graphicFrame>
        <p:nvGraphicFramePr>
          <p:cNvPr id="20" name="Table 19"/>
          <p:cNvGraphicFramePr>
            <a:graphicFrameLocks noGrp="1"/>
          </p:cNvGraphicFramePr>
          <p:nvPr/>
        </p:nvGraphicFramePr>
        <p:xfrm>
          <a:off x="411480" y="1371600"/>
          <a:ext cx="6675120" cy="2286000"/>
        </p:xfrm>
        <a:graphic>
          <a:graphicData uri="http://schemas.openxmlformats.org/drawingml/2006/table">
            <a:tbl>
              <a:tblPr firstRow="1" bandRow="1">
                <a:tableStyleId>{5C22544A-7EE6-4342-B048-85BDC9FD1C3A}</a:tableStyleId>
              </a:tblPr>
              <a:tblGrid>
                <a:gridCol w="822960"/>
                <a:gridCol w="3108960"/>
                <a:gridCol w="2743200"/>
              </a:tblGrid>
              <a:tr h="457200">
                <a:tc>
                  <a:txBody>
                    <a:bodyPr wrap="square"/>
                    <a:lstStyle/>
                    <a:p>
                      <a:pPr algn="l"/>
                      <a:r>
                        <a:rPr sz="1300" b="1" i="0">
                          <a:solidFill>
                            <a:srgbClr val="FFFFFF"/>
                          </a:solidFill>
                          <a:latin typeface="Calibri" panose="020F0502020204030204"/>
                        </a:rPr>
                        <a:t>Days</a:t>
                      </a:r>
                      <a:endParaRPr sz="1300" b="1" i="0">
                        <a:solidFill>
                          <a:srgbClr val="FFFFFF"/>
                        </a:solidFill>
                        <a:latin typeface="Calibri" panose="020F0502020204030204"/>
                      </a:endParaRPr>
                    </a:p>
                  </a:txBody>
                  <a:tcPr marL="54864" marR="54864" marT="18288" marB="18288" anchor="ctr">
                    <a:solidFill>
                      <a:srgbClr val="2E8B57"/>
                    </a:solidFill>
                  </a:tcPr>
                </a:tc>
                <a:tc>
                  <a:txBody>
                    <a:bodyPr wrap="square"/>
                    <a:lstStyle/>
                    <a:p>
                      <a:pPr algn="l"/>
                      <a:r>
                        <a:rPr sz="1300" b="1" i="0">
                          <a:solidFill>
                            <a:srgbClr val="FFFFFF"/>
                          </a:solidFill>
                          <a:latin typeface="Calibri" panose="020F0502020204030204"/>
                        </a:rPr>
                        <a:t>Event (written by the LLM)</a:t>
                      </a:r>
                      <a:endParaRPr sz="1300" b="1" i="0">
                        <a:solidFill>
                          <a:srgbClr val="FFFFFF"/>
                        </a:solidFill>
                        <a:latin typeface="Calibri" panose="020F0502020204030204"/>
                      </a:endParaRPr>
                    </a:p>
                  </a:txBody>
                  <a:tcPr marL="54864" marR="54864" marT="18288" marB="18288" anchor="ctr">
                    <a:solidFill>
                      <a:srgbClr val="2E8B57"/>
                    </a:solidFill>
                  </a:tcPr>
                </a:tc>
                <a:tc>
                  <a:txBody>
                    <a:bodyPr wrap="square"/>
                    <a:lstStyle/>
                    <a:p>
                      <a:pPr algn="l"/>
                      <a:r>
                        <a:rPr sz="1300" b="1" i="0">
                          <a:solidFill>
                            <a:srgbClr val="FFFFFF"/>
                          </a:solidFill>
                          <a:latin typeface="Calibri" panose="020F0502020204030204"/>
                        </a:rPr>
                        <a:t>Cause it gave</a:t>
                      </a:r>
                      <a:endParaRPr sz="1300" b="1" i="0">
                        <a:solidFill>
                          <a:srgbClr val="FFFFFF"/>
                        </a:solidFill>
                        <a:latin typeface="Calibri" panose="020F0502020204030204"/>
                      </a:endParaRPr>
                    </a:p>
                  </a:txBody>
                  <a:tcPr marL="54864" marR="54864" marT="18288" marB="18288" anchor="ctr">
                    <a:solidFill>
                      <a:srgbClr val="2E8B57"/>
                    </a:solidFill>
                  </a:tcPr>
                </a:tc>
              </a:tr>
              <a:tr h="457200">
                <a:tc>
                  <a:txBody>
                    <a:bodyPr wrap="square"/>
                    <a:lstStyle/>
                    <a:p>
                      <a:r>
                        <a:rPr sz="1300" b="0" i="0">
                          <a:solidFill>
                            <a:srgbClr val="1F2937"/>
                          </a:solidFill>
                          <a:latin typeface="Calibri" panose="020F0502020204030204"/>
                        </a:rPr>
                        <a:t>45–65</a:t>
                      </a:r>
                      <a:endParaRPr sz="1300" b="0" i="0">
                        <a:solidFill>
                          <a:srgbClr val="1F2937"/>
                        </a:solidFill>
                        <a:latin typeface="Calibri" panose="020F0502020204030204"/>
                      </a:endParaRPr>
                    </a:p>
                  </a:txBody>
                  <a:tcPr marL="54864" marR="54864" marT="18288" marB="18288" anchor="ctr">
                    <a:solidFill>
                      <a:srgbClr val="FFFFFF"/>
                    </a:solidFill>
                  </a:tcPr>
                </a:tc>
                <a:tc>
                  <a:txBody>
                    <a:bodyPr wrap="square"/>
                    <a:lstStyle/>
                    <a:p>
                      <a:r>
                        <a:rPr sz="1300" b="0" i="0">
                          <a:solidFill>
                            <a:srgbClr val="1F2937"/>
                          </a:solidFill>
                          <a:latin typeface="Calibri" panose="020F0502020204030204"/>
                        </a:rPr>
                        <a:t>demand triples on four products</a:t>
                      </a:r>
                      <a:endParaRPr sz="1300" b="0" i="0">
                        <a:solidFill>
                          <a:srgbClr val="1F2937"/>
                        </a:solidFill>
                        <a:latin typeface="Calibri" panose="020F0502020204030204"/>
                      </a:endParaRPr>
                    </a:p>
                  </a:txBody>
                  <a:tcPr marL="54864" marR="54864" marT="18288" marB="18288" anchor="ctr">
                    <a:solidFill>
                      <a:srgbClr val="FFFFFF"/>
                    </a:solidFill>
                  </a:tcPr>
                </a:tc>
                <a:tc>
                  <a:txBody>
                    <a:bodyPr wrap="square"/>
                    <a:lstStyle/>
                    <a:p>
                      <a:r>
                        <a:rPr sz="1300" b="0" i="0">
                          <a:solidFill>
                            <a:srgbClr val="1F2937"/>
                          </a:solidFill>
                          <a:latin typeface="Calibri" panose="020F0502020204030204"/>
                        </a:rPr>
                        <a:t>viral social media trend</a:t>
                      </a:r>
                      <a:endParaRPr sz="1300" b="0" i="0">
                        <a:solidFill>
                          <a:srgbClr val="1F2937"/>
                        </a:solidFill>
                        <a:latin typeface="Calibri" panose="020F0502020204030204"/>
                      </a:endParaRPr>
                    </a:p>
                  </a:txBody>
                  <a:tcPr marL="54864" marR="54864" marT="18288" marB="18288" anchor="ctr">
                    <a:solidFill>
                      <a:srgbClr val="FFFFFF"/>
                    </a:solidFill>
                  </a:tcPr>
                </a:tc>
              </a:tr>
              <a:tr h="457200">
                <a:tc>
                  <a:txBody>
                    <a:bodyPr wrap="square"/>
                    <a:lstStyle/>
                    <a:p>
                      <a:r>
                        <a:rPr sz="1300" b="0" i="0">
                          <a:solidFill>
                            <a:srgbClr val="1F2937"/>
                          </a:solidFill>
                          <a:latin typeface="Calibri" panose="020F0502020204030204"/>
                        </a:rPr>
                        <a:t>50–63</a:t>
                      </a:r>
                      <a:endParaRPr sz="1300" b="0" i="0">
                        <a:solidFill>
                          <a:srgbClr val="1F2937"/>
                        </a:solidFill>
                        <a:latin typeface="Calibri" panose="020F0502020204030204"/>
                      </a:endParaRPr>
                    </a:p>
                  </a:txBody>
                  <a:tcPr marL="54864" marR="54864" marT="18288" marB="18288" anchor="ctr">
                    <a:solidFill>
                      <a:srgbClr val="F1F5F9"/>
                    </a:solidFill>
                  </a:tcPr>
                </a:tc>
                <a:tc>
                  <a:txBody>
                    <a:bodyPr wrap="square"/>
                    <a:lstStyle/>
                    <a:p>
                      <a:r>
                        <a:rPr sz="1300" b="0" i="0">
                          <a:solidFill>
                            <a:srgbClr val="1F2937"/>
                          </a:solidFill>
                          <a:latin typeface="Calibri" panose="020F0502020204030204"/>
                        </a:rPr>
                        <a:t>supplier 2 goes offline</a:t>
                      </a:r>
                      <a:endParaRPr sz="1300" b="0" i="0">
                        <a:solidFill>
                          <a:srgbClr val="1F2937"/>
                        </a:solidFill>
                        <a:latin typeface="Calibri" panose="020F0502020204030204"/>
                      </a:endParaRPr>
                    </a:p>
                  </a:txBody>
                  <a:tcPr marL="54864" marR="54864" marT="18288" marB="18288" anchor="ctr">
                    <a:solidFill>
                      <a:srgbClr val="F1F5F9"/>
                    </a:solidFill>
                  </a:tcPr>
                </a:tc>
                <a:tc>
                  <a:txBody>
                    <a:bodyPr wrap="square"/>
                    <a:lstStyle/>
                    <a:p>
                      <a:r>
                        <a:rPr sz="1300" b="0" i="0">
                          <a:solidFill>
                            <a:srgbClr val="1F2937"/>
                          </a:solidFill>
                          <a:latin typeface="Calibri" panose="020F0502020204030204"/>
                        </a:rPr>
                        <a:t>cyberattack on mid-tier supplier</a:t>
                      </a:r>
                      <a:endParaRPr sz="1300" b="0" i="0">
                        <a:solidFill>
                          <a:srgbClr val="1F2937"/>
                        </a:solidFill>
                        <a:latin typeface="Calibri" panose="020F0502020204030204"/>
                      </a:endParaRPr>
                    </a:p>
                  </a:txBody>
                  <a:tcPr marL="54864" marR="54864" marT="18288" marB="18288" anchor="ctr">
                    <a:solidFill>
                      <a:srgbClr val="F1F5F9"/>
                    </a:solidFill>
                  </a:tcPr>
                </a:tc>
              </a:tr>
              <a:tr h="457200">
                <a:tc>
                  <a:txBody>
                    <a:bodyPr wrap="square"/>
                    <a:lstStyle/>
                    <a:p>
                      <a:r>
                        <a:rPr sz="1300" b="0" i="0">
                          <a:solidFill>
                            <a:srgbClr val="1F2937"/>
                          </a:solidFill>
                          <a:latin typeface="Calibri" panose="020F0502020204030204"/>
                        </a:rPr>
                        <a:t>55–72</a:t>
                      </a:r>
                      <a:endParaRPr sz="1300" b="0" i="0">
                        <a:solidFill>
                          <a:srgbClr val="1F2937"/>
                        </a:solidFill>
                        <a:latin typeface="Calibri" panose="020F0502020204030204"/>
                      </a:endParaRPr>
                    </a:p>
                  </a:txBody>
                  <a:tcPr marL="54864" marR="54864" marT="18288" marB="18288" anchor="ctr">
                    <a:solidFill>
                      <a:srgbClr val="FFFFFF"/>
                    </a:solidFill>
                  </a:tcPr>
                </a:tc>
                <a:tc>
                  <a:txBody>
                    <a:bodyPr wrap="square"/>
                    <a:lstStyle/>
                    <a:p>
                      <a:r>
                        <a:rPr sz="1300" b="0" i="0">
                          <a:solidFill>
                            <a:srgbClr val="1F2937"/>
                          </a:solidFill>
                          <a:latin typeface="Calibri" panose="020F0502020204030204"/>
                        </a:rPr>
                        <a:t>supplier 0 delayed by 6 days</a:t>
                      </a:r>
                      <a:endParaRPr sz="1300" b="0" i="0">
                        <a:solidFill>
                          <a:srgbClr val="1F2937"/>
                        </a:solidFill>
                        <a:latin typeface="Calibri" panose="020F0502020204030204"/>
                      </a:endParaRPr>
                    </a:p>
                  </a:txBody>
                  <a:tcPr marL="54864" marR="54864" marT="18288" marB="18288" anchor="ctr">
                    <a:solidFill>
                      <a:srgbClr val="FFFFFF"/>
                    </a:solidFill>
                  </a:tcPr>
                </a:tc>
                <a:tc>
                  <a:txBody>
                    <a:bodyPr wrap="square"/>
                    <a:lstStyle/>
                    <a:p>
                      <a:r>
                        <a:rPr sz="1300" b="0" i="0">
                          <a:solidFill>
                            <a:srgbClr val="1F2937"/>
                          </a:solidFill>
                          <a:latin typeface="Calibri" panose="020F0502020204030204"/>
                        </a:rPr>
                        <a:t>port congestion at major hub</a:t>
                      </a:r>
                      <a:endParaRPr sz="1300" b="0" i="0">
                        <a:solidFill>
                          <a:srgbClr val="1F2937"/>
                        </a:solidFill>
                        <a:latin typeface="Calibri" panose="020F0502020204030204"/>
                      </a:endParaRPr>
                    </a:p>
                  </a:txBody>
                  <a:tcPr marL="54864" marR="54864" marT="18288" marB="18288" anchor="ctr">
                    <a:solidFill>
                      <a:srgbClr val="FFFFFF"/>
                    </a:solidFill>
                  </a:tcPr>
                </a:tc>
              </a:tr>
              <a:tr h="457200">
                <a:tc>
                  <a:txBody>
                    <a:bodyPr wrap="square"/>
                    <a:lstStyle/>
                    <a:p>
                      <a:r>
                        <a:rPr sz="1300" b="0" i="0">
                          <a:solidFill>
                            <a:srgbClr val="1F2937"/>
                          </a:solidFill>
                          <a:latin typeface="Calibri" panose="020F0502020204030204"/>
                        </a:rPr>
                        <a:t>60–84</a:t>
                      </a:r>
                      <a:endParaRPr sz="1300" b="0" i="0">
                        <a:solidFill>
                          <a:srgbClr val="1F2937"/>
                        </a:solidFill>
                        <a:latin typeface="Calibri" panose="020F0502020204030204"/>
                      </a:endParaRPr>
                    </a:p>
                  </a:txBody>
                  <a:tcPr marL="54864" marR="54864" marT="18288" marB="18288" anchor="ctr">
                    <a:solidFill>
                      <a:srgbClr val="F1F5F9"/>
                    </a:solidFill>
                  </a:tcPr>
                </a:tc>
                <a:tc>
                  <a:txBody>
                    <a:bodyPr wrap="square"/>
                    <a:lstStyle/>
                    <a:p>
                      <a:r>
                        <a:rPr sz="1300" b="0" i="0">
                          <a:solidFill>
                            <a:srgbClr val="1F2937"/>
                          </a:solidFill>
                          <a:latin typeface="Calibri" panose="020F0502020204030204"/>
                        </a:rPr>
                        <a:t>costs rise 1.6×</a:t>
                      </a:r>
                      <a:endParaRPr sz="1300" b="0" i="0">
                        <a:solidFill>
                          <a:srgbClr val="1F2937"/>
                        </a:solidFill>
                        <a:latin typeface="Calibri" panose="020F0502020204030204"/>
                      </a:endParaRPr>
                    </a:p>
                  </a:txBody>
                  <a:tcPr marL="54864" marR="54864" marT="18288" marB="18288" anchor="ctr">
                    <a:solidFill>
                      <a:srgbClr val="F1F5F9"/>
                    </a:solidFill>
                  </a:tcPr>
                </a:tc>
                <a:tc>
                  <a:txBody>
                    <a:bodyPr wrap="square"/>
                    <a:lstStyle/>
                    <a:p>
                      <a:r>
                        <a:rPr sz="1300" b="0" i="0">
                          <a:solidFill>
                            <a:srgbClr val="1F2937"/>
                          </a:solidFill>
                          <a:latin typeface="Calibri" panose="020F0502020204030204"/>
                        </a:rPr>
                        <a:t>raw material shortage</a:t>
                      </a:r>
                      <a:endParaRPr sz="1300" b="0" i="0">
                        <a:solidFill>
                          <a:srgbClr val="1F2937"/>
                        </a:solidFill>
                        <a:latin typeface="Calibri" panose="020F0502020204030204"/>
                      </a:endParaRPr>
                    </a:p>
                  </a:txBody>
                  <a:tcPr marL="54864" marR="54864" marT="18288" marB="18288" anchor="ctr">
                    <a:solidFill>
                      <a:srgbClr val="F1F5F9"/>
                    </a:solidFill>
                  </a:tcPr>
                </a:tc>
              </a:tr>
            </a:tbl>
          </a:graphicData>
        </a:graphic>
      </p:graphicFrame>
      <p:sp>
        <p:nvSpPr>
          <p:cNvPr id="21" name="TextBox 20"/>
          <p:cNvSpPr txBox="1"/>
          <p:nvPr/>
        </p:nvSpPr>
        <p:spPr>
          <a:xfrm>
            <a:off x="411480" y="3749039"/>
            <a:ext cx="6675120" cy="731520"/>
          </a:xfrm>
          <a:prstGeom prst="rect">
            <a:avLst/>
          </a:prstGeom>
          <a:noFill/>
        </p:spPr>
        <p:txBody>
          <a:bodyPr wrap="square" lIns="45720" tIns="27432" rIns="45720" bIns="27432" anchor="t">
            <a:spAutoFit/>
          </a:bodyPr>
          <a:lstStyle/>
          <a:p>
            <a:pPr algn="l">
              <a:spcAft>
                <a:spcPts val="400"/>
              </a:spcAft>
            </a:pPr>
            <a:r>
              <a:rPr sz="1400" b="0" i="0">
                <a:solidFill>
                  <a:srgbClr val="5B6573"/>
                </a:solidFill>
                <a:latin typeface="Calibri" panose="020F0502020204030204"/>
              </a:rPr>
              <a:t>These events overlap: a supplier fails during the demand spike. A one-event test never checks that combination.</a:t>
            </a:r>
            <a:endParaRPr sz="1400" b="0" i="0">
              <a:solidFill>
                <a:srgbClr val="5B6573"/>
              </a:solidFill>
              <a:latin typeface="Calibri" panose="020F0502020204030204"/>
            </a:endParaRPr>
          </a:p>
        </p:txBody>
      </p:sp>
      <p:sp>
        <p:nvSpPr>
          <p:cNvPr id="22" name="Rounded Rectangle 21"/>
          <p:cNvSpPr/>
          <p:nvPr/>
        </p:nvSpPr>
        <p:spPr>
          <a:xfrm>
            <a:off x="7360919" y="1371600"/>
            <a:ext cx="4416552" cy="2926080"/>
          </a:xfrm>
          <a:prstGeom prst="roundRect">
            <a:avLst>
              <a:gd name="adj" fmla="val 7000"/>
            </a:avLst>
          </a:prstGeom>
          <a:solidFill>
            <a:srgbClr val="E7F0FA"/>
          </a:solidFill>
          <a:ln w="22225">
            <a:solidFill>
              <a:srgbClr val="2F6FB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470647" y="1444752"/>
            <a:ext cx="4197096" cy="2779776"/>
          </a:xfrm>
          <a:prstGeom prst="rect">
            <a:avLst/>
          </a:prstGeom>
          <a:noFill/>
        </p:spPr>
        <p:txBody>
          <a:bodyPr wrap="square" lIns="45720" tIns="27432" rIns="45720" bIns="27432" anchor="t">
            <a:spAutoFit/>
          </a:bodyPr>
          <a:lstStyle/>
          <a:p>
            <a:pPr algn="l">
              <a:spcAft>
                <a:spcPts val="500"/>
              </a:spcAft>
            </a:pPr>
            <a:r>
              <a:rPr sz="1700" b="1" i="0">
                <a:solidFill>
                  <a:srgbClr val="2F6FB5"/>
                </a:solidFill>
                <a:latin typeface="Calibri" panose="020F0502020204030204"/>
              </a:rPr>
              <a:t>We do not trust what the LLM writes</a:t>
            </a:r>
            <a:endParaRPr sz="1700" b="1" i="0">
              <a:solidFill>
                <a:srgbClr val="2F6FB5"/>
              </a:solidFill>
              <a:latin typeface="Calibri" panose="020F0502020204030204"/>
            </a:endParaRPr>
          </a:p>
          <a:p>
            <a:pPr algn="l">
              <a:spcAft>
                <a:spcPts val="300"/>
              </a:spcAft>
            </a:pPr>
            <a:r>
              <a:rPr sz="1400" b="0" i="0">
                <a:solidFill>
                  <a:srgbClr val="1F2937"/>
                </a:solidFill>
                <a:latin typeface="Calibri" panose="020F0502020204030204"/>
              </a:rPr>
              <a:t>•  The event type must be one we know</a:t>
            </a:r>
            <a:endParaRPr sz="1400" b="0" i="0">
              <a:solidFill>
                <a:srgbClr val="1F2937"/>
              </a:solidFill>
              <a:latin typeface="Calibri" panose="020F0502020204030204"/>
            </a:endParaRPr>
          </a:p>
          <a:p>
            <a:pPr algn="l">
              <a:spcAft>
                <a:spcPts val="300"/>
              </a:spcAft>
            </a:pPr>
            <a:r>
              <a:rPr sz="1400" b="0" i="0">
                <a:solidFill>
                  <a:srgbClr val="1F2937"/>
                </a:solidFill>
                <a:latin typeface="Calibri" panose="020F0502020204030204"/>
              </a:rPr>
              <a:t>•  Suppliers and products must exist (wrong ones are dropped)</a:t>
            </a:r>
            <a:endParaRPr sz="1400" b="0" i="0">
              <a:solidFill>
                <a:srgbClr val="1F2937"/>
              </a:solidFill>
              <a:latin typeface="Calibri" panose="020F0502020204030204"/>
            </a:endParaRPr>
          </a:p>
          <a:p>
            <a:pPr algn="l">
              <a:spcAft>
                <a:spcPts val="300"/>
              </a:spcAft>
            </a:pPr>
            <a:r>
              <a:rPr sz="1400" b="0" i="0">
                <a:solidFill>
                  <a:srgbClr val="1F2937"/>
                </a:solidFill>
                <a:latin typeface="Calibri" panose="020F0502020204030204"/>
              </a:rPr>
              <a:t>•  Numbers are kept within safe ranges</a:t>
            </a:r>
            <a:endParaRPr sz="1400" b="0" i="0">
              <a:solidFill>
                <a:srgbClr val="1F2937"/>
              </a:solidFill>
              <a:latin typeface="Calibri" panose="020F0502020204030204"/>
            </a:endParaRPr>
          </a:p>
          <a:p>
            <a:pPr algn="l">
              <a:spcAft>
                <a:spcPts val="300"/>
              </a:spcAft>
            </a:pPr>
            <a:r>
              <a:rPr sz="1400" b="0" i="0">
                <a:solidFill>
                  <a:srgbClr val="1F2937"/>
                </a:solidFill>
                <a:latin typeface="Calibri" panose="020F0502020204030204"/>
              </a:rPr>
              <a:t>•  Events are moved to fit inside the 180 days</a:t>
            </a:r>
            <a:endParaRPr sz="1400" b="0" i="0">
              <a:solidFill>
                <a:srgbClr val="1F2937"/>
              </a:solidFill>
              <a:latin typeface="Calibri" panose="020F0502020204030204"/>
            </a:endParaRPr>
          </a:p>
          <a:p>
            <a:pPr algn="l">
              <a:spcAft>
                <a:spcPts val="300"/>
              </a:spcAft>
            </a:pPr>
            <a:r>
              <a:rPr sz="1400" b="0" i="0">
                <a:solidFill>
                  <a:srgbClr val="1F2937"/>
                </a:solidFill>
                <a:latin typeface="Calibri" panose="020F0502020204030204"/>
              </a:rPr>
              <a:t>•  6 deliberately bad inputs: none got through as written</a:t>
            </a:r>
            <a:endParaRPr sz="1400" b="0" i="0">
              <a:solidFill>
                <a:srgbClr val="1F2937"/>
              </a:solidFill>
              <a:latin typeface="Calibri" panose="020F0502020204030204"/>
            </a:endParaRPr>
          </a:p>
        </p:txBody>
      </p:sp>
      <p:sp>
        <p:nvSpPr>
          <p:cNvPr id="24" name="Rounded Rectangle 23"/>
          <p:cNvSpPr/>
          <p:nvPr/>
        </p:nvSpPr>
        <p:spPr>
          <a:xfrm>
            <a:off x="411480" y="4526280"/>
            <a:ext cx="11365992" cy="1783080"/>
          </a:xfrm>
          <a:prstGeom prst="roundRect">
            <a:avLst>
              <a:gd name="adj" fmla="val 7000"/>
            </a:avLst>
          </a:prstGeom>
          <a:solidFill>
            <a:srgbClr val="E6F4EA"/>
          </a:solidFill>
          <a:ln w="22225">
            <a:solidFill>
              <a:srgbClr val="2E8B5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21208" y="4599432"/>
            <a:ext cx="11146536" cy="1636776"/>
          </a:xfrm>
          <a:prstGeom prst="rect">
            <a:avLst/>
          </a:prstGeom>
          <a:noFill/>
        </p:spPr>
        <p:txBody>
          <a:bodyPr wrap="square" lIns="45720" tIns="27432" rIns="45720" bIns="27432" anchor="t">
            <a:spAutoFit/>
          </a:bodyPr>
          <a:lstStyle/>
          <a:p>
            <a:pPr algn="l">
              <a:spcAft>
                <a:spcPts val="500"/>
              </a:spcAft>
            </a:pPr>
            <a:r>
              <a:rPr sz="1700" b="1" i="0">
                <a:solidFill>
                  <a:srgbClr val="2E8B57"/>
                </a:solidFill>
                <a:latin typeface="Calibri" panose="020F0502020204030204"/>
              </a:rPr>
              <a:t>Training on crises</a:t>
            </a:r>
            <a:endParaRPr sz="1700" b="1" i="0">
              <a:solidFill>
                <a:srgbClr val="2E8B57"/>
              </a:solidFill>
              <a:latin typeface="Calibri" panose="020F0502020204030204"/>
            </a:endParaRPr>
          </a:p>
          <a:p>
            <a:pPr algn="l">
              <a:spcAft>
                <a:spcPts val="300"/>
              </a:spcAft>
            </a:pPr>
            <a:r>
              <a:rPr sz="1400" b="0" i="0">
                <a:solidFill>
                  <a:srgbClr val="1F2937"/>
                </a:solidFill>
                <a:latin typeface="Calibri" panose="020F0502020204030204"/>
              </a:rPr>
              <a:t>•  16 sets of crises (from 19 LLM scenarios): 10 for training, 6 for testing</a:t>
            </a:r>
            <a:endParaRPr sz="1400" b="0" i="0">
              <a:solidFill>
                <a:srgbClr val="1F2937"/>
              </a:solidFill>
              <a:latin typeface="Calibri" panose="020F0502020204030204"/>
            </a:endParaRPr>
          </a:p>
          <a:p>
            <a:pPr algn="l">
              <a:spcAft>
                <a:spcPts val="300"/>
              </a:spcAft>
            </a:pPr>
            <a:r>
              <a:rPr sz="1400" b="0" i="0">
                <a:solidFill>
                  <a:srgbClr val="1F2937"/>
                </a:solidFill>
                <a:latin typeface="Calibri" panose="020F0502020204030204"/>
              </a:rPr>
              <a:t>•  The agent trains on the 10 and is tested on the 6 it never saw. Everything else matches the plain agent, so crises are the only difference</a:t>
            </a:r>
            <a:endParaRPr sz="1400" b="0" i="0">
              <a:solidFill>
                <a:srgbClr val="1F2937"/>
              </a:solidFill>
              <a:latin typeface="Calibri" panose="020F0502020204030204"/>
            </a:endParaRPr>
          </a:p>
          <a:p>
            <a:pPr algn="l">
              <a:spcAft>
                <a:spcPts val="300"/>
              </a:spcAft>
            </a:pPr>
            <a:r>
              <a:rPr sz="1400" b="0" i="0">
                <a:solidFill>
                  <a:srgbClr val="1F2937"/>
                </a:solidFill>
                <a:latin typeface="Calibri" panose="020F0502020204030204"/>
              </a:rPr>
              <a:t>•  The split matters: testing on crises it trained on would only prove it memorised them</a:t>
            </a:r>
            <a:endParaRPr sz="1400" b="0" i="0">
              <a:solidFill>
                <a:srgbClr val="1F2937"/>
              </a:solidFill>
              <a:latin typeface="Calibri" panose="020F050202020403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 name="Rectangle 16"/>
          <p:cNvSpPr/>
          <p:nvPr/>
        </p:nvSpPr>
        <p:spPr>
          <a:xfrm>
            <a:off x="-1" y="0"/>
            <a:ext cx="12191998" cy="1262131"/>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4400" dirty="0">
              <a:solidFill>
                <a:schemeClr val="accent1">
                  <a:lumMod val="50000"/>
                </a:schemeClr>
              </a:solidFill>
            </a:endParaRPr>
          </a:p>
        </p:txBody>
      </p:sp>
      <p:sp>
        <p:nvSpPr>
          <p:cNvPr id="10" name="Google Shape;91;p1"/>
          <p:cNvSpPr txBox="1"/>
          <p:nvPr/>
        </p:nvSpPr>
        <p:spPr>
          <a:xfrm>
            <a:off x="-1" y="6416040"/>
            <a:ext cx="12191998" cy="441960"/>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None/>
            </a:pPr>
            <a:r>
              <a:rPr lang="en-IN" sz="1600" b="1" i="0" u="none" strike="noStrike" cap="none" dirty="0">
                <a:solidFill>
                  <a:srgbClr val="081271"/>
                </a:solidFill>
                <a:latin typeface="Times New Roman" panose="02020603050405020304"/>
                <a:ea typeface="Times New Roman" panose="02020603050405020304"/>
                <a:cs typeface="Times New Roman" panose="02020603050405020304"/>
                <a:sym typeface="Times New Roman" panose="02020603050405020304"/>
              </a:rPr>
              <a:t>[Final Project Review]</a:t>
            </a:r>
            <a:endParaRPr sz="1600" b="1" i="0" u="none" strike="noStrike" cap="none" dirty="0">
              <a:solidFill>
                <a:srgbClr val="08127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16" name="Straight Connector 15"/>
          <p:cNvCxnSpPr/>
          <p:nvPr/>
        </p:nvCxnSpPr>
        <p:spPr>
          <a:xfrm>
            <a:off x="0" y="1260899"/>
            <a:ext cx="12192000" cy="0"/>
          </a:xfrm>
          <a:prstGeom prst="line">
            <a:avLst/>
          </a:prstGeom>
          <a:ln w="28575">
            <a:solidFill>
              <a:srgbClr val="1A9B46"/>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sz="3200"/>
              <a:t>Dashboard (1/5): Episode View, Engine</a:t>
            </a:r>
            <a:endParaRPr sz="3200"/>
          </a:p>
        </p:txBody>
      </p:sp>
      <p:sp>
        <p:nvSpPr>
          <p:cNvPr id="19" name="Slide Number Placeholder 18"/>
          <p:cNvSpPr>
            <a:spLocks noGrp="1"/>
          </p:cNvSpPr>
          <p:nvPr>
            <p:ph type="sldNum" sz="quarter" idx="12"/>
          </p:nvPr>
        </p:nvSpPr>
        <p:spPr/>
        <p:txBody>
          <a:bodyPr/>
          <a:lstStyle/>
          <a:p>
            <a:fld id="{C2216105-7B7A-4C42-B2A1-5E9A2FA4F8FD}" type="slidenum">
              <a:rPr lang="en-IN" smtClean="0"/>
            </a:fld>
            <a:endParaRPr lang="en-IN" dirty="0"/>
          </a:p>
        </p:txBody>
      </p:sp>
      <p:pic>
        <p:nvPicPr>
          <p:cNvPr id="20" name="Picture 19" descr="_crop_episode_engine_17333593.png"/>
          <p:cNvPicPr>
            <a:picLocks noChangeAspect="1"/>
          </p:cNvPicPr>
          <p:nvPr/>
        </p:nvPicPr>
        <p:blipFill>
          <a:blip r:embed="rId1"/>
          <a:stretch>
            <a:fillRect/>
          </a:stretch>
        </p:blipFill>
        <p:spPr>
          <a:xfrm>
            <a:off x="532912" y="1325880"/>
            <a:ext cx="7255215" cy="4690872"/>
          </a:xfrm>
          <a:prstGeom prst="rect">
            <a:avLst/>
          </a:prstGeom>
          <a:ln w="12700">
            <a:solidFill>
              <a:srgbClr val="CBD5E1"/>
            </a:solidFill>
          </a:ln>
        </p:spPr>
      </p:pic>
      <p:sp>
        <p:nvSpPr>
          <p:cNvPr id="21" name="TextBox 20"/>
          <p:cNvSpPr txBox="1"/>
          <p:nvPr/>
        </p:nvSpPr>
        <p:spPr>
          <a:xfrm>
            <a:off x="411480" y="6044184"/>
            <a:ext cx="7498079" cy="292608"/>
          </a:xfrm>
          <a:prstGeom prst="rect">
            <a:avLst/>
          </a:prstGeom>
          <a:noFill/>
        </p:spPr>
        <p:txBody>
          <a:bodyPr wrap="square" lIns="45720" tIns="27432" rIns="45720" bIns="27432" anchor="t">
            <a:spAutoFit/>
          </a:bodyPr>
          <a:lstStyle/>
          <a:p>
            <a:pPr algn="ctr">
              <a:spcAft>
                <a:spcPts val="400"/>
              </a:spcAft>
            </a:pPr>
            <a:r>
              <a:rPr sz="1200" b="0" i="0">
                <a:solidFill>
                  <a:srgbClr val="5B6573"/>
                </a:solidFill>
                <a:latin typeface="Calibri" panose="020F0502020204030204"/>
              </a:rPr>
              <a:t>Dashboard: forecast + safety stock policy, test run 500</a:t>
            </a:r>
            <a:endParaRPr sz="1200" b="0" i="0">
              <a:solidFill>
                <a:srgbClr val="5B6573"/>
              </a:solidFill>
              <a:latin typeface="Calibri" panose="020F0502020204030204"/>
            </a:endParaRPr>
          </a:p>
        </p:txBody>
      </p:sp>
      <p:sp>
        <p:nvSpPr>
          <p:cNvPr id="22" name="Oval 21"/>
          <p:cNvSpPr/>
          <p:nvPr/>
        </p:nvSpPr>
        <p:spPr>
          <a:xfrm>
            <a:off x="8183879" y="1417320"/>
            <a:ext cx="329184" cy="329184"/>
          </a:xfrm>
          <a:prstGeom prst="ellipse">
            <a:avLst/>
          </a:prstGeom>
          <a:solidFill>
            <a:srgbClr val="D6336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i="0">
                <a:solidFill>
                  <a:srgbClr val="FFFFFF"/>
                </a:solidFill>
                <a:latin typeface="Calibri" panose="020F0502020204030204"/>
              </a:rPr>
              <a:t>1</a:t>
            </a:r>
            <a:endParaRPr sz="1300" b="1" i="0">
              <a:solidFill>
                <a:srgbClr val="FFFFFF"/>
              </a:solidFill>
              <a:latin typeface="Calibri" panose="020F0502020204030204"/>
            </a:endParaRPr>
          </a:p>
        </p:txBody>
      </p:sp>
      <p:sp>
        <p:nvSpPr>
          <p:cNvPr id="23" name="TextBox 22"/>
          <p:cNvSpPr txBox="1"/>
          <p:nvPr/>
        </p:nvSpPr>
        <p:spPr>
          <a:xfrm>
            <a:off x="8595359" y="1353312"/>
            <a:ext cx="3200400" cy="1188720"/>
          </a:xfrm>
          <a:prstGeom prst="rect">
            <a:avLst/>
          </a:prstGeom>
          <a:noFill/>
        </p:spPr>
        <p:txBody>
          <a:bodyPr wrap="square" lIns="45720" tIns="27432" rIns="45720" bIns="27432" anchor="t">
            <a:spAutoFit/>
          </a:bodyPr>
          <a:lstStyle/>
          <a:p>
            <a:pPr algn="l">
              <a:spcAft>
                <a:spcPts val="100"/>
              </a:spcAft>
            </a:pPr>
            <a:r>
              <a:rPr sz="1600" b="1" i="0">
                <a:solidFill>
                  <a:srgbClr val="1B5E3A"/>
                </a:solidFill>
                <a:latin typeface="Calibri" panose="020F0502020204030204"/>
              </a:rPr>
              <a:t>Choose the policy and test run</a:t>
            </a:r>
            <a:endParaRPr sz="1600" b="1" i="0">
              <a:solidFill>
                <a:srgbClr val="1B5E3A"/>
              </a:solidFill>
              <a:latin typeface="Calibri" panose="020F0502020204030204"/>
            </a:endParaRPr>
          </a:p>
          <a:p>
            <a:pPr algn="l">
              <a:spcAft>
                <a:spcPts val="400"/>
              </a:spcAft>
            </a:pPr>
            <a:r>
              <a:rPr sz="1400" b="0" i="0">
                <a:solidFill>
                  <a:srgbClr val="1F2937"/>
                </a:solidFill>
                <a:latin typeface="Calibri" panose="020F0502020204030204"/>
              </a:rPr>
              <a:t>Sidebar: any policy, any test run, with or without a crisis.</a:t>
            </a:r>
            <a:endParaRPr sz="1400" b="0" i="0">
              <a:solidFill>
                <a:srgbClr val="1F2937"/>
              </a:solidFill>
              <a:latin typeface="Calibri" panose="020F0502020204030204"/>
            </a:endParaRPr>
          </a:p>
        </p:txBody>
      </p:sp>
      <p:sp>
        <p:nvSpPr>
          <p:cNvPr id="24" name="Oval 23"/>
          <p:cNvSpPr/>
          <p:nvPr/>
        </p:nvSpPr>
        <p:spPr>
          <a:xfrm>
            <a:off x="8183879" y="2651760"/>
            <a:ext cx="329184" cy="329184"/>
          </a:xfrm>
          <a:prstGeom prst="ellipse">
            <a:avLst/>
          </a:prstGeom>
          <a:solidFill>
            <a:srgbClr val="D6336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i="0">
                <a:solidFill>
                  <a:srgbClr val="FFFFFF"/>
                </a:solidFill>
                <a:latin typeface="Calibri" panose="020F0502020204030204"/>
              </a:rPr>
              <a:t>2</a:t>
            </a:r>
            <a:endParaRPr sz="1300" b="1" i="0">
              <a:solidFill>
                <a:srgbClr val="FFFFFF"/>
              </a:solidFill>
              <a:latin typeface="Calibri" panose="020F0502020204030204"/>
            </a:endParaRPr>
          </a:p>
        </p:txBody>
      </p:sp>
      <p:sp>
        <p:nvSpPr>
          <p:cNvPr id="25" name="TextBox 24"/>
          <p:cNvSpPr txBox="1"/>
          <p:nvPr/>
        </p:nvSpPr>
        <p:spPr>
          <a:xfrm>
            <a:off x="8595359" y="2587752"/>
            <a:ext cx="3200400" cy="1188720"/>
          </a:xfrm>
          <a:prstGeom prst="rect">
            <a:avLst/>
          </a:prstGeom>
          <a:noFill/>
        </p:spPr>
        <p:txBody>
          <a:bodyPr wrap="square" lIns="45720" tIns="27432" rIns="45720" bIns="27432" anchor="t">
            <a:spAutoFit/>
          </a:bodyPr>
          <a:lstStyle/>
          <a:p>
            <a:pPr algn="l">
              <a:spcAft>
                <a:spcPts val="100"/>
              </a:spcAft>
            </a:pPr>
            <a:r>
              <a:rPr sz="1600" b="1" i="0">
                <a:solidFill>
                  <a:srgbClr val="1B5E3A"/>
                </a:solidFill>
                <a:latin typeface="Calibri" panose="020F0502020204030204"/>
              </a:rPr>
              <a:t>Five outcome cards</a:t>
            </a:r>
            <a:endParaRPr sz="1600" b="1" i="0">
              <a:solidFill>
                <a:srgbClr val="1B5E3A"/>
              </a:solidFill>
              <a:latin typeface="Calibri" panose="020F0502020204030204"/>
            </a:endParaRPr>
          </a:p>
          <a:p>
            <a:pPr algn="l">
              <a:spcAft>
                <a:spcPts val="400"/>
              </a:spcAft>
            </a:pPr>
            <a:r>
              <a:rPr sz="1400" b="0" i="0">
                <a:solidFill>
                  <a:srgbClr val="1F2937"/>
                </a:solidFill>
                <a:latin typeface="Calibri" panose="020F0502020204030204"/>
              </a:rPr>
              <a:t>Profit ₹87.8 lakh, share of demand served, order fees, lost sales, wasted goods.</a:t>
            </a:r>
            <a:endParaRPr sz="1400" b="0" i="0">
              <a:solidFill>
                <a:srgbClr val="1F2937"/>
              </a:solidFill>
              <a:latin typeface="Calibri" panose="020F0502020204030204"/>
            </a:endParaRPr>
          </a:p>
        </p:txBody>
      </p:sp>
      <p:sp>
        <p:nvSpPr>
          <p:cNvPr id="26" name="Oval 25"/>
          <p:cNvSpPr/>
          <p:nvPr/>
        </p:nvSpPr>
        <p:spPr>
          <a:xfrm>
            <a:off x="8183879" y="3886200"/>
            <a:ext cx="329184" cy="329184"/>
          </a:xfrm>
          <a:prstGeom prst="ellipse">
            <a:avLst/>
          </a:prstGeom>
          <a:solidFill>
            <a:srgbClr val="D6336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i="0">
                <a:solidFill>
                  <a:srgbClr val="FFFFFF"/>
                </a:solidFill>
                <a:latin typeface="Calibri" panose="020F0502020204030204"/>
              </a:rPr>
              <a:t>3</a:t>
            </a:r>
            <a:endParaRPr sz="1300" b="1" i="0">
              <a:solidFill>
                <a:srgbClr val="FFFFFF"/>
              </a:solidFill>
              <a:latin typeface="Calibri" panose="020F0502020204030204"/>
            </a:endParaRPr>
          </a:p>
        </p:txBody>
      </p:sp>
      <p:sp>
        <p:nvSpPr>
          <p:cNvPr id="27" name="TextBox 26"/>
          <p:cNvSpPr txBox="1"/>
          <p:nvPr/>
        </p:nvSpPr>
        <p:spPr>
          <a:xfrm>
            <a:off x="8595359" y="3822192"/>
            <a:ext cx="3200400" cy="1188720"/>
          </a:xfrm>
          <a:prstGeom prst="rect">
            <a:avLst/>
          </a:prstGeom>
          <a:noFill/>
        </p:spPr>
        <p:txBody>
          <a:bodyPr wrap="square" lIns="45720" tIns="27432" rIns="45720" bIns="27432" anchor="t">
            <a:spAutoFit/>
          </a:bodyPr>
          <a:lstStyle/>
          <a:p>
            <a:pPr algn="l">
              <a:spcAft>
                <a:spcPts val="100"/>
              </a:spcAft>
            </a:pPr>
            <a:r>
              <a:rPr sz="1600" b="1" i="0">
                <a:solidFill>
                  <a:srgbClr val="1B5E3A"/>
                </a:solidFill>
                <a:latin typeface="Calibri" panose="020F0502020204030204"/>
              </a:rPr>
              <a:t>Stock and profit over 180 days</a:t>
            </a:r>
            <a:endParaRPr sz="1600" b="1" i="0">
              <a:solidFill>
                <a:srgbClr val="1B5E3A"/>
              </a:solidFill>
              <a:latin typeface="Calibri" panose="020F0502020204030204"/>
            </a:endParaRPr>
          </a:p>
          <a:p>
            <a:pPr algn="l">
              <a:spcAft>
                <a:spcPts val="400"/>
              </a:spcAft>
            </a:pPr>
            <a:r>
              <a:rPr sz="1400" b="0" i="0">
                <a:solidFill>
                  <a:srgbClr val="1F2937"/>
                </a:solidFill>
                <a:latin typeface="Calibri" panose="020F0502020204030204"/>
              </a:rPr>
              <a:t>Two simple charts, each with its own scale.</a:t>
            </a:r>
            <a:endParaRPr sz="1400" b="0" i="0">
              <a:solidFill>
                <a:srgbClr val="1F2937"/>
              </a:solidFill>
              <a:latin typeface="Calibri" panose="020F0502020204030204"/>
            </a:endParaRPr>
          </a:p>
        </p:txBody>
      </p:sp>
      <p:sp>
        <p:nvSpPr>
          <p:cNvPr id="28" name="Oval 27"/>
          <p:cNvSpPr/>
          <p:nvPr/>
        </p:nvSpPr>
        <p:spPr>
          <a:xfrm>
            <a:off x="8183879" y="5120640"/>
            <a:ext cx="329184" cy="329184"/>
          </a:xfrm>
          <a:prstGeom prst="ellipse">
            <a:avLst/>
          </a:prstGeom>
          <a:solidFill>
            <a:srgbClr val="D6336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i="0">
                <a:solidFill>
                  <a:srgbClr val="FFFFFF"/>
                </a:solidFill>
                <a:latin typeface="Calibri" panose="020F0502020204030204"/>
              </a:rPr>
              <a:t>4</a:t>
            </a:r>
            <a:endParaRPr sz="1300" b="1" i="0">
              <a:solidFill>
                <a:srgbClr val="FFFFFF"/>
              </a:solidFill>
              <a:latin typeface="Calibri" panose="020F0502020204030204"/>
            </a:endParaRPr>
          </a:p>
        </p:txBody>
      </p:sp>
      <p:sp>
        <p:nvSpPr>
          <p:cNvPr id="29" name="TextBox 28"/>
          <p:cNvSpPr txBox="1"/>
          <p:nvPr/>
        </p:nvSpPr>
        <p:spPr>
          <a:xfrm>
            <a:off x="8595359" y="5056632"/>
            <a:ext cx="3200400" cy="1188720"/>
          </a:xfrm>
          <a:prstGeom prst="rect">
            <a:avLst/>
          </a:prstGeom>
          <a:noFill/>
        </p:spPr>
        <p:txBody>
          <a:bodyPr wrap="square" lIns="45720" tIns="27432" rIns="45720" bIns="27432" anchor="t">
            <a:spAutoFit/>
          </a:bodyPr>
          <a:lstStyle/>
          <a:p>
            <a:pPr algn="l">
              <a:spcAft>
                <a:spcPts val="100"/>
              </a:spcAft>
            </a:pPr>
            <a:r>
              <a:rPr sz="1600" b="1" i="0">
                <a:solidFill>
                  <a:srgbClr val="1B5E3A"/>
                </a:solidFill>
                <a:latin typeface="Calibri" panose="020F0502020204030204"/>
              </a:rPr>
              <a:t>Which supplier was used</a:t>
            </a:r>
            <a:endParaRPr sz="1600" b="1" i="0">
              <a:solidFill>
                <a:srgbClr val="1B5E3A"/>
              </a:solidFill>
              <a:latin typeface="Calibri" panose="020F0502020204030204"/>
            </a:endParaRPr>
          </a:p>
          <a:p>
            <a:pPr algn="l">
              <a:spcAft>
                <a:spcPts val="400"/>
              </a:spcAft>
            </a:pPr>
            <a:r>
              <a:rPr sz="1400" b="0" i="0">
                <a:solidFill>
                  <a:srgbClr val="1F2937"/>
                </a:solidFill>
                <a:latin typeface="Calibri" panose="020F0502020204030204"/>
              </a:rPr>
              <a:t>The engine sends almost every order to the cheap supplier.</a:t>
            </a:r>
            <a:endParaRPr sz="1400" b="0" i="0">
              <a:solidFill>
                <a:srgbClr val="1F2937"/>
              </a:solidFill>
              <a:latin typeface="Calibri" panose="020F05020202040302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 name="Rectangle 16"/>
          <p:cNvSpPr/>
          <p:nvPr/>
        </p:nvSpPr>
        <p:spPr>
          <a:xfrm>
            <a:off x="-1" y="0"/>
            <a:ext cx="12191998" cy="1262131"/>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4400" dirty="0">
              <a:solidFill>
                <a:schemeClr val="accent1">
                  <a:lumMod val="50000"/>
                </a:schemeClr>
              </a:solidFill>
            </a:endParaRPr>
          </a:p>
        </p:txBody>
      </p:sp>
      <p:sp>
        <p:nvSpPr>
          <p:cNvPr id="10" name="Google Shape;91;p1"/>
          <p:cNvSpPr txBox="1"/>
          <p:nvPr/>
        </p:nvSpPr>
        <p:spPr>
          <a:xfrm>
            <a:off x="-1" y="6416040"/>
            <a:ext cx="12191998" cy="441960"/>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None/>
            </a:pPr>
            <a:r>
              <a:rPr lang="en-IN" sz="1600" b="1" i="0" u="none" strike="noStrike" cap="none" dirty="0">
                <a:solidFill>
                  <a:srgbClr val="081271"/>
                </a:solidFill>
                <a:latin typeface="Times New Roman" panose="02020603050405020304"/>
                <a:ea typeface="Times New Roman" panose="02020603050405020304"/>
                <a:cs typeface="Times New Roman" panose="02020603050405020304"/>
                <a:sym typeface="Times New Roman" panose="02020603050405020304"/>
              </a:rPr>
              <a:t>[Final Project Review]</a:t>
            </a:r>
            <a:endParaRPr sz="1600" b="1" i="0" u="none" strike="noStrike" cap="none" dirty="0">
              <a:solidFill>
                <a:srgbClr val="08127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16" name="Straight Connector 15"/>
          <p:cNvCxnSpPr/>
          <p:nvPr/>
        </p:nvCxnSpPr>
        <p:spPr>
          <a:xfrm>
            <a:off x="0" y="1260899"/>
            <a:ext cx="12192000" cy="0"/>
          </a:xfrm>
          <a:prstGeom prst="line">
            <a:avLst/>
          </a:prstGeom>
          <a:ln w="28575">
            <a:solidFill>
              <a:srgbClr val="1A9B46"/>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sz="3200"/>
              <a:t>Dashboard (2/5): The Challenger, and a Crisis</a:t>
            </a:r>
            <a:endParaRPr sz="3200"/>
          </a:p>
        </p:txBody>
      </p:sp>
      <p:sp>
        <p:nvSpPr>
          <p:cNvPr id="19" name="Slide Number Placeholder 18"/>
          <p:cNvSpPr>
            <a:spLocks noGrp="1"/>
          </p:cNvSpPr>
          <p:nvPr>
            <p:ph type="sldNum" sz="quarter" idx="12"/>
          </p:nvPr>
        </p:nvSpPr>
        <p:spPr/>
        <p:txBody>
          <a:bodyPr/>
          <a:lstStyle/>
          <a:p>
            <a:fld id="{C2216105-7B7A-4C42-B2A1-5E9A2FA4F8FD}" type="slidenum">
              <a:rPr lang="en-IN" smtClean="0"/>
            </a:fld>
            <a:endParaRPr lang="en-IN" dirty="0"/>
          </a:p>
        </p:txBody>
      </p:sp>
      <p:pic>
        <p:nvPicPr>
          <p:cNvPr id="20" name="Picture 19" descr="_crop_episode_challenger_17333593.png"/>
          <p:cNvPicPr>
            <a:picLocks noChangeAspect="1"/>
          </p:cNvPicPr>
          <p:nvPr/>
        </p:nvPicPr>
        <p:blipFill>
          <a:blip r:embed="rId1"/>
          <a:stretch>
            <a:fillRect/>
          </a:stretch>
        </p:blipFill>
        <p:spPr>
          <a:xfrm>
            <a:off x="633496" y="1371600"/>
            <a:ext cx="5133807" cy="3319272"/>
          </a:xfrm>
          <a:prstGeom prst="rect">
            <a:avLst/>
          </a:prstGeom>
          <a:ln w="12700">
            <a:solidFill>
              <a:srgbClr val="CBD5E1"/>
            </a:solidFill>
          </a:ln>
        </p:spPr>
      </p:pic>
      <p:sp>
        <p:nvSpPr>
          <p:cNvPr id="21" name="TextBox 20"/>
          <p:cNvSpPr txBox="1"/>
          <p:nvPr/>
        </p:nvSpPr>
        <p:spPr>
          <a:xfrm>
            <a:off x="411480" y="4718304"/>
            <a:ext cx="5577840" cy="292608"/>
          </a:xfrm>
          <a:prstGeom prst="rect">
            <a:avLst/>
          </a:prstGeom>
          <a:noFill/>
        </p:spPr>
        <p:txBody>
          <a:bodyPr wrap="square" lIns="45720" tIns="27432" rIns="45720" bIns="27432" anchor="t">
            <a:spAutoFit/>
          </a:bodyPr>
          <a:lstStyle/>
          <a:p>
            <a:pPr algn="ctr">
              <a:spcAft>
                <a:spcPts val="400"/>
              </a:spcAft>
            </a:pPr>
            <a:r>
              <a:rPr sz="1200" b="0" i="0">
                <a:solidFill>
                  <a:srgbClr val="5B6573"/>
                </a:solidFill>
                <a:latin typeface="Calibri" panose="020F0502020204030204"/>
              </a:rPr>
              <a:t>RL challenger: orders spread across all three suppliers</a:t>
            </a:r>
            <a:endParaRPr sz="1200" b="0" i="0">
              <a:solidFill>
                <a:srgbClr val="5B6573"/>
              </a:solidFill>
              <a:latin typeface="Calibri" panose="020F0502020204030204"/>
            </a:endParaRPr>
          </a:p>
        </p:txBody>
      </p:sp>
      <p:pic>
        <p:nvPicPr>
          <p:cNvPr id="22" name="Picture 21" descr="_crop_episode_crisis_17333593.png"/>
          <p:cNvPicPr>
            <a:picLocks noChangeAspect="1"/>
          </p:cNvPicPr>
          <p:nvPr/>
        </p:nvPicPr>
        <p:blipFill>
          <a:blip r:embed="rId2"/>
          <a:stretch>
            <a:fillRect/>
          </a:stretch>
        </p:blipFill>
        <p:spPr>
          <a:xfrm>
            <a:off x="6421648" y="1371600"/>
            <a:ext cx="5133807" cy="3319272"/>
          </a:xfrm>
          <a:prstGeom prst="rect">
            <a:avLst/>
          </a:prstGeom>
          <a:ln w="12700">
            <a:solidFill>
              <a:srgbClr val="CBD5E1"/>
            </a:solidFill>
          </a:ln>
        </p:spPr>
      </p:pic>
      <p:sp>
        <p:nvSpPr>
          <p:cNvPr id="23" name="TextBox 22"/>
          <p:cNvSpPr txBox="1"/>
          <p:nvPr/>
        </p:nvSpPr>
        <p:spPr>
          <a:xfrm>
            <a:off x="6199632" y="4718304"/>
            <a:ext cx="5577840" cy="292608"/>
          </a:xfrm>
          <a:prstGeom prst="rect">
            <a:avLst/>
          </a:prstGeom>
          <a:noFill/>
        </p:spPr>
        <p:txBody>
          <a:bodyPr wrap="square" lIns="45720" tIns="27432" rIns="45720" bIns="27432" anchor="t">
            <a:spAutoFit/>
          </a:bodyPr>
          <a:lstStyle/>
          <a:p>
            <a:pPr algn="ctr">
              <a:spcAft>
                <a:spcPts val="400"/>
              </a:spcAft>
            </a:pPr>
            <a:r>
              <a:rPr sz="1200" b="0" i="0">
                <a:solidFill>
                  <a:srgbClr val="5B6573"/>
                </a:solidFill>
                <a:latin typeface="Calibri" panose="020F0502020204030204"/>
              </a:rPr>
              <a:t>Engine with a crisis added: shaded band = disruption</a:t>
            </a:r>
            <a:endParaRPr sz="1200" b="0" i="0">
              <a:solidFill>
                <a:srgbClr val="5B6573"/>
              </a:solidFill>
              <a:latin typeface="Calibri" panose="020F0502020204030204"/>
            </a:endParaRPr>
          </a:p>
        </p:txBody>
      </p:sp>
      <p:sp>
        <p:nvSpPr>
          <p:cNvPr id="24" name="TextBox 23"/>
          <p:cNvSpPr txBox="1"/>
          <p:nvPr/>
        </p:nvSpPr>
        <p:spPr>
          <a:xfrm>
            <a:off x="411480" y="5120640"/>
            <a:ext cx="11365992" cy="1188720"/>
          </a:xfrm>
          <a:prstGeom prst="rect">
            <a:avLst/>
          </a:prstGeom>
          <a:noFill/>
        </p:spPr>
        <p:txBody>
          <a:bodyPr wrap="square" lIns="45720" tIns="27432" rIns="45720" bIns="27432" anchor="t">
            <a:spAutoFit/>
          </a:bodyPr>
          <a:lstStyle/>
          <a:p>
            <a:pPr algn="l">
              <a:spcAft>
                <a:spcPts val="400"/>
              </a:spcAft>
            </a:pPr>
            <a:r>
              <a:rPr sz="1400" b="1" i="0">
                <a:solidFill>
                  <a:srgbClr val="D6336C"/>
                </a:solidFill>
                <a:latin typeface="Calibri" panose="020F0502020204030204"/>
              </a:rPr>
              <a:t>Challenger (left): </a:t>
            </a:r>
            <a:r>
              <a:rPr sz="1400" b="0" i="0">
                <a:solidFill>
                  <a:srgbClr val="1F2937"/>
                </a:solidFill>
                <a:latin typeface="Calibri" panose="020F0502020204030204"/>
              </a:rPr>
              <a:t>602 orders spread over all three suppliers, against 323 for the engine. This splitting is why the agent pays about double the order fees.   </a:t>
            </a:r>
            <a:r>
              <a:rPr sz="1400" b="1" i="0">
                <a:solidFill>
                  <a:srgbClr val="1B5E3A"/>
                </a:solidFill>
                <a:latin typeface="Calibri" panose="020F0502020204030204"/>
              </a:rPr>
              <a:t>Crisis (right): </a:t>
            </a:r>
            <a:r>
              <a:rPr sz="1400" b="0" i="0">
                <a:solidFill>
                  <a:srgbClr val="1F2937"/>
                </a:solidFill>
                <a:latin typeface="Calibri" panose="020F0502020204030204"/>
              </a:rPr>
              <a:t>the shaded band shows the days of the disruption, so you can read stock and profit against it.</a:t>
            </a:r>
            <a:endParaRPr sz="1400" b="0" i="0">
              <a:solidFill>
                <a:srgbClr val="1F2937"/>
              </a:solidFill>
              <a:latin typeface="Calibri" panose="020F05020202040302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 name="Rectangle 16"/>
          <p:cNvSpPr/>
          <p:nvPr/>
        </p:nvSpPr>
        <p:spPr>
          <a:xfrm>
            <a:off x="-1" y="0"/>
            <a:ext cx="12191998" cy="1262131"/>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4400" dirty="0">
              <a:solidFill>
                <a:schemeClr val="accent1">
                  <a:lumMod val="50000"/>
                </a:schemeClr>
              </a:solidFill>
            </a:endParaRPr>
          </a:p>
        </p:txBody>
      </p:sp>
      <p:sp>
        <p:nvSpPr>
          <p:cNvPr id="10" name="Google Shape;91;p1"/>
          <p:cNvSpPr txBox="1"/>
          <p:nvPr/>
        </p:nvSpPr>
        <p:spPr>
          <a:xfrm>
            <a:off x="-1" y="6416040"/>
            <a:ext cx="12191998" cy="441960"/>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None/>
            </a:pPr>
            <a:r>
              <a:rPr lang="en-IN" sz="1600" b="1" i="0" u="none" strike="noStrike" cap="none" dirty="0">
                <a:solidFill>
                  <a:srgbClr val="081271"/>
                </a:solidFill>
                <a:latin typeface="Times New Roman" panose="02020603050405020304"/>
                <a:ea typeface="Times New Roman" panose="02020603050405020304"/>
                <a:cs typeface="Times New Roman" panose="02020603050405020304"/>
                <a:sym typeface="Times New Roman" panose="02020603050405020304"/>
              </a:rPr>
              <a:t>[Final Project Review]</a:t>
            </a:r>
            <a:endParaRPr sz="1600" b="1" i="0" u="none" strike="noStrike" cap="none" dirty="0">
              <a:solidFill>
                <a:srgbClr val="08127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16" name="Straight Connector 15"/>
          <p:cNvCxnSpPr/>
          <p:nvPr/>
        </p:nvCxnSpPr>
        <p:spPr>
          <a:xfrm>
            <a:off x="0" y="1260899"/>
            <a:ext cx="12192000" cy="0"/>
          </a:xfrm>
          <a:prstGeom prst="line">
            <a:avLst/>
          </a:prstGeom>
          <a:ln w="28575">
            <a:solidFill>
              <a:srgbClr val="1A9B46"/>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sz="3200"/>
              <a:t>Dashboard (3/5): Before vs After the System</a:t>
            </a:r>
            <a:endParaRPr sz="3200"/>
          </a:p>
        </p:txBody>
      </p:sp>
      <p:sp>
        <p:nvSpPr>
          <p:cNvPr id="19" name="Slide Number Placeholder 18"/>
          <p:cNvSpPr>
            <a:spLocks noGrp="1"/>
          </p:cNvSpPr>
          <p:nvPr>
            <p:ph type="sldNum" sz="quarter" idx="12"/>
          </p:nvPr>
        </p:nvSpPr>
        <p:spPr/>
        <p:txBody>
          <a:bodyPr/>
          <a:lstStyle/>
          <a:p>
            <a:fld id="{C2216105-7B7A-4C42-B2A1-5E9A2FA4F8FD}" type="slidenum">
              <a:rPr lang="en-IN" smtClean="0"/>
            </a:fld>
            <a:endParaRPr lang="en-IN" dirty="0"/>
          </a:p>
        </p:txBody>
      </p:sp>
      <p:pic>
        <p:nvPicPr>
          <p:cNvPr id="20" name="Picture 19" descr="_crop_before_after_93631529.png"/>
          <p:cNvPicPr>
            <a:picLocks noChangeAspect="1"/>
          </p:cNvPicPr>
          <p:nvPr/>
        </p:nvPicPr>
        <p:blipFill>
          <a:blip r:embed="rId1"/>
          <a:stretch>
            <a:fillRect/>
          </a:stretch>
        </p:blipFill>
        <p:spPr>
          <a:xfrm>
            <a:off x="411480" y="1371600"/>
            <a:ext cx="7223760" cy="4229295"/>
          </a:xfrm>
          <a:prstGeom prst="rect">
            <a:avLst/>
          </a:prstGeom>
          <a:ln w="12700">
            <a:solidFill>
              <a:srgbClr val="CBD5E1"/>
            </a:solidFill>
          </a:ln>
        </p:spPr>
      </p:pic>
      <p:sp>
        <p:nvSpPr>
          <p:cNvPr id="21" name="TextBox 20"/>
          <p:cNvSpPr txBox="1"/>
          <p:nvPr/>
        </p:nvSpPr>
        <p:spPr>
          <a:xfrm>
            <a:off x="411480" y="5628327"/>
            <a:ext cx="7223760" cy="292608"/>
          </a:xfrm>
          <a:prstGeom prst="rect">
            <a:avLst/>
          </a:prstGeom>
          <a:noFill/>
        </p:spPr>
        <p:txBody>
          <a:bodyPr wrap="square" lIns="45720" tIns="27432" rIns="45720" bIns="27432" anchor="t">
            <a:spAutoFit/>
          </a:bodyPr>
          <a:lstStyle/>
          <a:p>
            <a:pPr algn="ctr">
              <a:spcAft>
                <a:spcPts val="400"/>
              </a:spcAft>
            </a:pPr>
            <a:r>
              <a:rPr sz="1200" b="0" i="0">
                <a:solidFill>
                  <a:srgbClr val="5B6573"/>
                </a:solidFill>
                <a:latin typeface="Calibri" panose="020F0502020204030204"/>
              </a:rPr>
              <a:t>“Before”: the same fixed order every day.  “After”: our engine, with the RL challenger beside it.</a:t>
            </a:r>
            <a:endParaRPr sz="1200" b="0" i="0">
              <a:solidFill>
                <a:srgbClr val="5B6573"/>
              </a:solidFill>
              <a:latin typeface="Calibri" panose="020F0502020204030204"/>
            </a:endParaRPr>
          </a:p>
        </p:txBody>
      </p:sp>
      <p:sp>
        <p:nvSpPr>
          <p:cNvPr id="22" name="Rounded Rectangle 21"/>
          <p:cNvSpPr/>
          <p:nvPr/>
        </p:nvSpPr>
        <p:spPr>
          <a:xfrm>
            <a:off x="7909559" y="1371600"/>
            <a:ext cx="3867912" cy="1188720"/>
          </a:xfrm>
          <a:prstGeom prst="roundRect">
            <a:avLst>
              <a:gd name="adj" fmla="val 12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82711" y="1417320"/>
            <a:ext cx="3721608" cy="1097280"/>
          </a:xfrm>
          <a:prstGeom prst="rect">
            <a:avLst/>
          </a:prstGeom>
          <a:noFill/>
        </p:spPr>
        <p:txBody>
          <a:bodyPr wrap="square" lIns="45720" tIns="27432" rIns="45720" bIns="27432" anchor="ctr">
            <a:spAutoFit/>
          </a:bodyPr>
          <a:lstStyle/>
          <a:p>
            <a:pPr algn="ctr">
              <a:spcAft>
                <a:spcPts val="100"/>
              </a:spcAft>
            </a:pPr>
            <a:r>
              <a:rPr sz="2200" b="1" i="0">
                <a:solidFill>
                  <a:srgbClr val="FFFFFF"/>
                </a:solidFill>
                <a:latin typeface="Calibri" panose="020F0502020204030204"/>
              </a:rPr>
              <a:t>₹53.3 lakh → ₹87.8 lakh</a:t>
            </a:r>
            <a:endParaRPr sz="2200" b="1" i="0">
              <a:solidFill>
                <a:srgbClr val="FFFFFF"/>
              </a:solidFill>
              <a:latin typeface="Calibri" panose="020F0502020204030204"/>
            </a:endParaRPr>
          </a:p>
          <a:p>
            <a:pPr algn="ctr">
              <a:spcAft>
                <a:spcPts val="400"/>
              </a:spcAft>
            </a:pPr>
            <a:r>
              <a:rPr sz="1300" b="0" i="0">
                <a:solidFill>
                  <a:srgbClr val="FFFFFF"/>
                </a:solidFill>
                <a:latin typeface="Calibri" panose="020F0502020204030204"/>
              </a:rPr>
              <a:t>Profit per run   +65%</a:t>
            </a:r>
            <a:endParaRPr sz="1300" b="0" i="0">
              <a:solidFill>
                <a:srgbClr val="FFFFFF"/>
              </a:solidFill>
              <a:latin typeface="Calibri" panose="020F0502020204030204"/>
            </a:endParaRPr>
          </a:p>
        </p:txBody>
      </p:sp>
      <p:sp>
        <p:nvSpPr>
          <p:cNvPr id="24" name="Rounded Rectangle 23"/>
          <p:cNvSpPr/>
          <p:nvPr/>
        </p:nvSpPr>
        <p:spPr>
          <a:xfrm>
            <a:off x="7909559" y="2697480"/>
            <a:ext cx="3867912" cy="1188720"/>
          </a:xfrm>
          <a:prstGeom prst="roundRect">
            <a:avLst>
              <a:gd name="adj" fmla="val 12000"/>
            </a:avLst>
          </a:prstGeom>
          <a:solidFill>
            <a:srgbClr val="2F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82711" y="2743200"/>
            <a:ext cx="3721608" cy="1097280"/>
          </a:xfrm>
          <a:prstGeom prst="rect">
            <a:avLst/>
          </a:prstGeom>
          <a:noFill/>
        </p:spPr>
        <p:txBody>
          <a:bodyPr wrap="square" lIns="45720" tIns="27432" rIns="45720" bIns="27432" anchor="ctr">
            <a:spAutoFit/>
          </a:bodyPr>
          <a:lstStyle/>
          <a:p>
            <a:pPr algn="ctr">
              <a:spcAft>
                <a:spcPts val="100"/>
              </a:spcAft>
            </a:pPr>
            <a:r>
              <a:rPr sz="2200" b="1" i="0">
                <a:solidFill>
                  <a:srgbClr val="FFFFFF"/>
                </a:solidFill>
                <a:latin typeface="Calibri" panose="020F0502020204030204"/>
              </a:rPr>
              <a:t>92.3% → 97.9%</a:t>
            </a:r>
            <a:endParaRPr sz="2200" b="1" i="0">
              <a:solidFill>
                <a:srgbClr val="FFFFFF"/>
              </a:solidFill>
              <a:latin typeface="Calibri" panose="020F0502020204030204"/>
            </a:endParaRPr>
          </a:p>
          <a:p>
            <a:pPr algn="ctr">
              <a:spcAft>
                <a:spcPts val="400"/>
              </a:spcAft>
            </a:pPr>
            <a:r>
              <a:rPr sz="1300" b="0" i="0">
                <a:solidFill>
                  <a:srgbClr val="FFFFFF"/>
                </a:solidFill>
                <a:latin typeface="Calibri" panose="020F0502020204030204"/>
              </a:rPr>
              <a:t>Share of demand served   +5.6 points</a:t>
            </a:r>
            <a:endParaRPr sz="1300" b="0" i="0">
              <a:solidFill>
                <a:srgbClr val="FFFFFF"/>
              </a:solidFill>
              <a:latin typeface="Calibri" panose="020F0502020204030204"/>
            </a:endParaRPr>
          </a:p>
        </p:txBody>
      </p:sp>
      <p:sp>
        <p:nvSpPr>
          <p:cNvPr id="26" name="Rounded Rectangle 25"/>
          <p:cNvSpPr/>
          <p:nvPr/>
        </p:nvSpPr>
        <p:spPr>
          <a:xfrm>
            <a:off x="7909559" y="4023360"/>
            <a:ext cx="3867912" cy="1188720"/>
          </a:xfrm>
          <a:prstGeom prst="roundRect">
            <a:avLst>
              <a:gd name="adj" fmla="val 12000"/>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82711" y="4069080"/>
            <a:ext cx="3721608" cy="1097280"/>
          </a:xfrm>
          <a:prstGeom prst="rect">
            <a:avLst/>
          </a:prstGeom>
          <a:noFill/>
        </p:spPr>
        <p:txBody>
          <a:bodyPr wrap="square" lIns="45720" tIns="27432" rIns="45720" bIns="27432" anchor="ctr">
            <a:spAutoFit/>
          </a:bodyPr>
          <a:lstStyle/>
          <a:p>
            <a:pPr algn="ctr">
              <a:spcAft>
                <a:spcPts val="100"/>
              </a:spcAft>
            </a:pPr>
            <a:r>
              <a:rPr sz="2200" b="1" i="0">
                <a:solidFill>
                  <a:srgbClr val="FFFFFF"/>
                </a:solidFill>
                <a:latin typeface="Calibri" panose="020F0502020204030204"/>
              </a:rPr>
              <a:t>₹29.0 lakh → ₹6.1 lakh</a:t>
            </a:r>
            <a:endParaRPr sz="2200" b="1" i="0">
              <a:solidFill>
                <a:srgbClr val="FFFFFF"/>
              </a:solidFill>
              <a:latin typeface="Calibri" panose="020F0502020204030204"/>
            </a:endParaRPr>
          </a:p>
          <a:p>
            <a:pPr algn="ctr">
              <a:spcAft>
                <a:spcPts val="400"/>
              </a:spcAft>
            </a:pPr>
            <a:r>
              <a:rPr sz="1300" b="0" i="0">
                <a:solidFill>
                  <a:srgbClr val="FFFFFF"/>
                </a:solidFill>
                <a:latin typeface="Calibri" panose="020F0502020204030204"/>
              </a:rPr>
              <a:t>Lost-sales cost   -79%</a:t>
            </a:r>
            <a:endParaRPr sz="1300" b="0" i="0">
              <a:solidFill>
                <a:srgbClr val="FFFFFF"/>
              </a:solidFill>
              <a:latin typeface="Calibri" panose="020F0502020204030204"/>
            </a:endParaRPr>
          </a:p>
        </p:txBody>
      </p:sp>
      <p:sp>
        <p:nvSpPr>
          <p:cNvPr id="28" name="TextBox 27"/>
          <p:cNvSpPr txBox="1"/>
          <p:nvPr/>
        </p:nvSpPr>
        <p:spPr>
          <a:xfrm>
            <a:off x="7909559" y="5349240"/>
            <a:ext cx="3867912" cy="1097280"/>
          </a:xfrm>
          <a:prstGeom prst="rect">
            <a:avLst/>
          </a:prstGeom>
          <a:noFill/>
        </p:spPr>
        <p:txBody>
          <a:bodyPr wrap="square" lIns="45720" tIns="27432" rIns="45720" bIns="27432" anchor="t">
            <a:spAutoFit/>
          </a:bodyPr>
          <a:lstStyle/>
          <a:p>
            <a:pPr algn="l">
              <a:spcAft>
                <a:spcPts val="400"/>
              </a:spcAft>
            </a:pPr>
            <a:r>
              <a:rPr sz="1300" b="0" i="1">
                <a:solidFill>
                  <a:srgbClr val="5B6573"/>
                </a:solidFill>
                <a:latin typeface="Calibri" panose="020F0502020204030204"/>
              </a:rPr>
              <a:t>Most of this gain comes from smart forecasting with safety stock (the engine), not from RL.</a:t>
            </a:r>
            <a:endParaRPr sz="1300" b="0" i="1">
              <a:solidFill>
                <a:srgbClr val="5B6573"/>
              </a:solidFill>
              <a:latin typeface="Calibri" panose="020F05020202040302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 name="Rectangle 16"/>
          <p:cNvSpPr/>
          <p:nvPr/>
        </p:nvSpPr>
        <p:spPr>
          <a:xfrm>
            <a:off x="-1" y="0"/>
            <a:ext cx="12191998" cy="1262131"/>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4400" dirty="0">
              <a:solidFill>
                <a:schemeClr val="accent1">
                  <a:lumMod val="50000"/>
                </a:schemeClr>
              </a:solidFill>
            </a:endParaRPr>
          </a:p>
        </p:txBody>
      </p:sp>
      <p:sp>
        <p:nvSpPr>
          <p:cNvPr id="10" name="Google Shape;91;p1"/>
          <p:cNvSpPr txBox="1"/>
          <p:nvPr/>
        </p:nvSpPr>
        <p:spPr>
          <a:xfrm>
            <a:off x="-1" y="6416040"/>
            <a:ext cx="12191998" cy="441960"/>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None/>
            </a:pPr>
            <a:r>
              <a:rPr lang="en-IN" sz="1600" b="1" i="0" u="none" strike="noStrike" cap="none" dirty="0">
                <a:solidFill>
                  <a:srgbClr val="081271"/>
                </a:solidFill>
                <a:latin typeface="Times New Roman" panose="02020603050405020304"/>
                <a:ea typeface="Times New Roman" panose="02020603050405020304"/>
                <a:cs typeface="Times New Roman" panose="02020603050405020304"/>
                <a:sym typeface="Times New Roman" panose="02020603050405020304"/>
              </a:rPr>
              <a:t>[Final Project Review]</a:t>
            </a:r>
            <a:endParaRPr sz="1600" b="1" i="0" u="none" strike="noStrike" cap="none" dirty="0">
              <a:solidFill>
                <a:srgbClr val="08127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16" name="Straight Connector 15"/>
          <p:cNvCxnSpPr/>
          <p:nvPr/>
        </p:nvCxnSpPr>
        <p:spPr>
          <a:xfrm>
            <a:off x="0" y="1260899"/>
            <a:ext cx="12192000" cy="0"/>
          </a:xfrm>
          <a:prstGeom prst="line">
            <a:avLst/>
          </a:prstGeom>
          <a:ln w="28575">
            <a:solidFill>
              <a:srgbClr val="1A9B46"/>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sz="3200"/>
              <a:t>Dashboard (4/5): Explain a Decision</a:t>
            </a:r>
            <a:endParaRPr sz="3200"/>
          </a:p>
        </p:txBody>
      </p:sp>
      <p:sp>
        <p:nvSpPr>
          <p:cNvPr id="19" name="Slide Number Placeholder 18"/>
          <p:cNvSpPr>
            <a:spLocks noGrp="1"/>
          </p:cNvSpPr>
          <p:nvPr>
            <p:ph type="sldNum" sz="quarter" idx="12"/>
          </p:nvPr>
        </p:nvSpPr>
        <p:spPr/>
        <p:txBody>
          <a:bodyPr/>
          <a:lstStyle/>
          <a:p>
            <a:fld id="{C2216105-7B7A-4C42-B2A1-5E9A2FA4F8FD}" type="slidenum">
              <a:rPr lang="en-IN" smtClean="0"/>
            </a:fld>
            <a:endParaRPr lang="en-IN" dirty="0"/>
          </a:p>
        </p:txBody>
      </p:sp>
      <p:pic>
        <p:nvPicPr>
          <p:cNvPr id="20" name="Picture 19" descr="_crop_explain_13376534.png"/>
          <p:cNvPicPr>
            <a:picLocks noChangeAspect="1"/>
          </p:cNvPicPr>
          <p:nvPr/>
        </p:nvPicPr>
        <p:blipFill>
          <a:blip r:embed="rId1"/>
          <a:stretch>
            <a:fillRect/>
          </a:stretch>
        </p:blipFill>
        <p:spPr>
          <a:xfrm>
            <a:off x="675885" y="1371600"/>
            <a:ext cx="6877828" cy="2816352"/>
          </a:xfrm>
          <a:prstGeom prst="rect">
            <a:avLst/>
          </a:prstGeom>
          <a:ln w="12700">
            <a:solidFill>
              <a:srgbClr val="CBD5E1"/>
            </a:solidFill>
          </a:ln>
        </p:spPr>
      </p:pic>
      <p:sp>
        <p:nvSpPr>
          <p:cNvPr id="21" name="TextBox 20"/>
          <p:cNvSpPr txBox="1"/>
          <p:nvPr/>
        </p:nvSpPr>
        <p:spPr>
          <a:xfrm>
            <a:off x="411480" y="4215384"/>
            <a:ext cx="7406640" cy="292608"/>
          </a:xfrm>
          <a:prstGeom prst="rect">
            <a:avLst/>
          </a:prstGeom>
          <a:noFill/>
        </p:spPr>
        <p:txBody>
          <a:bodyPr wrap="square" lIns="45720" tIns="27432" rIns="45720" bIns="27432" anchor="t">
            <a:spAutoFit/>
          </a:bodyPr>
          <a:lstStyle/>
          <a:p>
            <a:pPr algn="ctr">
              <a:spcAft>
                <a:spcPts val="400"/>
              </a:spcAft>
            </a:pPr>
            <a:r>
              <a:rPr sz="1200" b="0" i="0">
                <a:solidFill>
                  <a:srgbClr val="5B6573"/>
                </a:solidFill>
                <a:latin typeface="Calibri" panose="020F0502020204030204"/>
              </a:rPr>
              <a:t>Day 45, product 0: explanation written by the LLM; the badge shows who wrote it</a:t>
            </a:r>
            <a:endParaRPr sz="1200" b="0" i="0">
              <a:solidFill>
                <a:srgbClr val="5B6573"/>
              </a:solidFill>
              <a:latin typeface="Calibri" panose="020F0502020204030204"/>
            </a:endParaRPr>
          </a:p>
        </p:txBody>
      </p:sp>
      <p:sp>
        <p:nvSpPr>
          <p:cNvPr id="22" name="TextBox 21"/>
          <p:cNvSpPr txBox="1"/>
          <p:nvPr/>
        </p:nvSpPr>
        <p:spPr>
          <a:xfrm>
            <a:off x="8092440" y="1371600"/>
            <a:ext cx="3685032" cy="4937760"/>
          </a:xfrm>
          <a:prstGeom prst="rect">
            <a:avLst/>
          </a:prstGeom>
          <a:noFill/>
        </p:spPr>
        <p:txBody>
          <a:bodyPr wrap="square" lIns="45720" tIns="27432" rIns="45720" bIns="27432" anchor="t">
            <a:spAutoFit/>
          </a:bodyPr>
          <a:lstStyle/>
          <a:p>
            <a:pPr algn="l">
              <a:spcAft>
                <a:spcPts val="400"/>
              </a:spcAft>
            </a:pPr>
            <a:r>
              <a:rPr sz="1700" b="1" i="0">
                <a:solidFill>
                  <a:srgbClr val="1B5E3A"/>
                </a:solidFill>
                <a:latin typeface="Calibri" panose="020F0502020204030204"/>
              </a:rPr>
              <a:t>How to use it</a:t>
            </a:r>
            <a:endParaRPr sz="1700" b="1" i="0">
              <a:solidFill>
                <a:srgbClr val="1B5E3A"/>
              </a:solidFill>
              <a:latin typeface="Calibri" panose="020F0502020204030204"/>
            </a:endParaRPr>
          </a:p>
          <a:p>
            <a:pPr algn="l">
              <a:spcAft>
                <a:spcPts val="400"/>
              </a:spcAft>
            </a:pPr>
            <a:r>
              <a:rPr sz="1400" b="0" i="0">
                <a:solidFill>
                  <a:srgbClr val="1F2937"/>
                </a:solidFill>
                <a:latin typeface="Calibri" panose="020F0502020204030204"/>
              </a:rPr>
              <a:t>•  Choose a day and a product</a:t>
            </a:r>
            <a:endParaRPr sz="1400" b="0" i="0">
              <a:solidFill>
                <a:srgbClr val="1F2937"/>
              </a:solidFill>
              <a:latin typeface="Calibri" panose="020F0502020204030204"/>
            </a:endParaRPr>
          </a:p>
          <a:p>
            <a:pPr algn="l">
              <a:spcAft>
                <a:spcPts val="400"/>
              </a:spcAft>
            </a:pPr>
            <a:r>
              <a:rPr sz="1400" b="0" i="0">
                <a:solidFill>
                  <a:srgbClr val="1F2937"/>
                </a:solidFill>
                <a:latin typeface="Calibri" panose="020F0502020204030204"/>
              </a:rPr>
              <a:t>•  Press Explain this decision</a:t>
            </a:r>
            <a:endParaRPr sz="1400" b="0" i="0">
              <a:solidFill>
                <a:srgbClr val="1F2937"/>
              </a:solidFill>
              <a:latin typeface="Calibri" panose="020F0502020204030204"/>
            </a:endParaRPr>
          </a:p>
          <a:p>
            <a:pPr algn="l">
              <a:spcAft>
                <a:spcPts val="400"/>
              </a:spcAft>
            </a:pPr>
            <a:r>
              <a:rPr sz="1400" b="0" i="0">
                <a:solidFill>
                  <a:srgbClr val="1F2937"/>
                </a:solidFill>
                <a:latin typeface="Calibri" panose="020F0502020204030204"/>
              </a:rPr>
              <a:t>•  Read 2–3 plain sentences</a:t>
            </a:r>
            <a:endParaRPr sz="1400" b="0" i="0">
              <a:solidFill>
                <a:srgbClr val="1F2937"/>
              </a:solidFill>
              <a:latin typeface="Calibri" panose="020F0502020204030204"/>
            </a:endParaRPr>
          </a:p>
          <a:p>
            <a:pPr algn="l">
              <a:spcAft>
                <a:spcPts val="400"/>
              </a:spcAft>
            </a:pPr>
            <a:r>
              <a:rPr sz="1400" b="0" i="0">
                <a:solidFill>
                  <a:srgbClr val="1F2937"/>
                </a:solidFill>
                <a:latin typeface="Calibri" panose="020F0502020204030204"/>
              </a:rPr>
              <a:t>•  The black badge shows the writer: a model name, or “template” if our check rejected the LLM</a:t>
            </a:r>
            <a:endParaRPr sz="1400" b="0" i="0">
              <a:solidFill>
                <a:srgbClr val="1F2937"/>
              </a:solidFill>
              <a:latin typeface="Calibri" panose="020F0502020204030204"/>
            </a:endParaRPr>
          </a:p>
          <a:p>
            <a:pPr algn="l">
              <a:spcAft>
                <a:spcPts val="400"/>
              </a:spcAft>
            </a:pPr>
            <a:r>
              <a:rPr sz="1400" b="0" i="0">
                <a:solidFill>
                  <a:srgbClr val="1F2937"/>
                </a:solidFill>
                <a:latin typeface="Calibri" panose="020F0502020204030204"/>
              </a:rPr>
              <a:t>•  Open “the facts the model was given” to check every number</a:t>
            </a:r>
            <a:endParaRPr sz="1400" b="0" i="0">
              <a:solidFill>
                <a:srgbClr val="1F2937"/>
              </a:solidFill>
              <a:latin typeface="Calibri" panose="020F0502020204030204"/>
            </a:endParaRPr>
          </a:p>
        </p:txBody>
      </p:sp>
      <p:sp>
        <p:nvSpPr>
          <p:cNvPr id="23" name="TextBox 22"/>
          <p:cNvSpPr txBox="1"/>
          <p:nvPr/>
        </p:nvSpPr>
        <p:spPr>
          <a:xfrm>
            <a:off x="411480" y="4709160"/>
            <a:ext cx="7406640" cy="1554480"/>
          </a:xfrm>
          <a:prstGeom prst="rect">
            <a:avLst/>
          </a:prstGeom>
          <a:noFill/>
        </p:spPr>
        <p:txBody>
          <a:bodyPr wrap="square" lIns="45720" tIns="27432" rIns="45720" bIns="27432" anchor="t">
            <a:spAutoFit/>
          </a:bodyPr>
          <a:lstStyle/>
          <a:p>
            <a:pPr algn="l">
              <a:spcAft>
                <a:spcPts val="400"/>
              </a:spcAft>
            </a:pPr>
            <a:r>
              <a:rPr sz="1400" b="1" i="0">
                <a:solidFill>
                  <a:srgbClr val="D6336C"/>
                </a:solidFill>
                <a:latin typeface="Calibri" panose="020F0502020204030204"/>
              </a:rPr>
              <a:t>Check it yourself: </a:t>
            </a:r>
            <a:r>
              <a:rPr sz="1400" b="0" i="0">
                <a:solidFill>
                  <a:srgbClr val="1F2937"/>
                </a:solidFill>
                <a:latin typeface="Calibri" panose="020F0502020204030204"/>
              </a:rPr>
              <a:t>2,365 units, 14.0 days of cover, demand of 169 units and a 7-day average of 78 all appear in the facts panel. If the model had made up a number, the template would have replaced this text.</a:t>
            </a:r>
            <a:endParaRPr sz="1400" b="0" i="0">
              <a:solidFill>
                <a:srgbClr val="1F2937"/>
              </a:solidFill>
              <a:latin typeface="Calibri" panose="020F05020202040302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 name="Rectangle 16"/>
          <p:cNvSpPr/>
          <p:nvPr/>
        </p:nvSpPr>
        <p:spPr>
          <a:xfrm>
            <a:off x="-1" y="0"/>
            <a:ext cx="12191998" cy="1262131"/>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4400" dirty="0">
              <a:solidFill>
                <a:schemeClr val="accent1">
                  <a:lumMod val="50000"/>
                </a:schemeClr>
              </a:solidFill>
            </a:endParaRPr>
          </a:p>
        </p:txBody>
      </p:sp>
      <p:sp>
        <p:nvSpPr>
          <p:cNvPr id="10" name="Google Shape;91;p1"/>
          <p:cNvSpPr txBox="1"/>
          <p:nvPr/>
        </p:nvSpPr>
        <p:spPr>
          <a:xfrm>
            <a:off x="-1" y="6416040"/>
            <a:ext cx="12191998" cy="441960"/>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None/>
            </a:pPr>
            <a:r>
              <a:rPr lang="en-IN" sz="1600" b="1" i="0" u="none" strike="noStrike" cap="none" dirty="0">
                <a:solidFill>
                  <a:srgbClr val="081271"/>
                </a:solidFill>
                <a:latin typeface="Times New Roman" panose="02020603050405020304"/>
                <a:ea typeface="Times New Roman" panose="02020603050405020304"/>
                <a:cs typeface="Times New Roman" panose="02020603050405020304"/>
                <a:sym typeface="Times New Roman" panose="02020603050405020304"/>
              </a:rPr>
              <a:t>[Final Project Review]</a:t>
            </a:r>
            <a:endParaRPr sz="1600" b="1" i="0" u="none" strike="noStrike" cap="none" dirty="0">
              <a:solidFill>
                <a:srgbClr val="08127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16" name="Straight Connector 15"/>
          <p:cNvCxnSpPr/>
          <p:nvPr/>
        </p:nvCxnSpPr>
        <p:spPr>
          <a:xfrm>
            <a:off x="0" y="1260899"/>
            <a:ext cx="12192000" cy="0"/>
          </a:xfrm>
          <a:prstGeom prst="line">
            <a:avLst/>
          </a:prstGeom>
          <a:ln w="28575">
            <a:solidFill>
              <a:srgbClr val="1A9B46"/>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sz="3200"/>
              <a:t>Dashboard (5/5): Policy Comparison and Robustness</a:t>
            </a:r>
            <a:endParaRPr sz="3200"/>
          </a:p>
        </p:txBody>
      </p:sp>
      <p:sp>
        <p:nvSpPr>
          <p:cNvPr id="19" name="Slide Number Placeholder 18"/>
          <p:cNvSpPr>
            <a:spLocks noGrp="1"/>
          </p:cNvSpPr>
          <p:nvPr>
            <p:ph type="sldNum" sz="quarter" idx="12"/>
          </p:nvPr>
        </p:nvSpPr>
        <p:spPr/>
        <p:txBody>
          <a:bodyPr/>
          <a:lstStyle/>
          <a:p>
            <a:fld id="{C2216105-7B7A-4C42-B2A1-5E9A2FA4F8FD}" type="slidenum">
              <a:rPr lang="en-IN" smtClean="0"/>
            </a:fld>
            <a:endParaRPr lang="en-IN" dirty="0"/>
          </a:p>
        </p:txBody>
      </p:sp>
      <p:pic>
        <p:nvPicPr>
          <p:cNvPr id="20" name="Picture 19" descr="_crop_comparison_28541638.png"/>
          <p:cNvPicPr>
            <a:picLocks noChangeAspect="1"/>
          </p:cNvPicPr>
          <p:nvPr/>
        </p:nvPicPr>
        <p:blipFill>
          <a:blip r:embed="rId1"/>
          <a:stretch>
            <a:fillRect/>
          </a:stretch>
        </p:blipFill>
        <p:spPr>
          <a:xfrm>
            <a:off x="526541" y="1371600"/>
            <a:ext cx="5347716" cy="3319272"/>
          </a:xfrm>
          <a:prstGeom prst="rect">
            <a:avLst/>
          </a:prstGeom>
          <a:ln w="12700">
            <a:solidFill>
              <a:srgbClr val="CBD5E1"/>
            </a:solidFill>
          </a:ln>
        </p:spPr>
      </p:pic>
      <p:sp>
        <p:nvSpPr>
          <p:cNvPr id="21" name="TextBox 20"/>
          <p:cNvSpPr txBox="1"/>
          <p:nvPr/>
        </p:nvSpPr>
        <p:spPr>
          <a:xfrm>
            <a:off x="411480" y="4718304"/>
            <a:ext cx="5577840" cy="292608"/>
          </a:xfrm>
          <a:prstGeom prst="rect">
            <a:avLst/>
          </a:prstGeom>
          <a:noFill/>
        </p:spPr>
        <p:txBody>
          <a:bodyPr wrap="square" lIns="45720" tIns="27432" rIns="45720" bIns="27432" anchor="t">
            <a:spAutoFit/>
          </a:bodyPr>
          <a:lstStyle/>
          <a:p>
            <a:pPr algn="ctr">
              <a:spcAft>
                <a:spcPts val="400"/>
              </a:spcAft>
            </a:pPr>
            <a:r>
              <a:rPr sz="1200" b="0" i="0">
                <a:solidFill>
                  <a:srgbClr val="5B6573"/>
                </a:solidFill>
                <a:latin typeface="Calibri" panose="020F0502020204030204"/>
              </a:rPr>
              <a:t>Comparison tab: 30 unseen test runs</a:t>
            </a:r>
            <a:endParaRPr sz="1200" b="0" i="0">
              <a:solidFill>
                <a:srgbClr val="5B6573"/>
              </a:solidFill>
              <a:latin typeface="Calibri" panose="020F0502020204030204"/>
            </a:endParaRPr>
          </a:p>
        </p:txBody>
      </p:sp>
      <p:pic>
        <p:nvPicPr>
          <p:cNvPr id="22" name="Picture 21" descr="_crop_robustness_41289307.png"/>
          <p:cNvPicPr>
            <a:picLocks noChangeAspect="1"/>
          </p:cNvPicPr>
          <p:nvPr/>
        </p:nvPicPr>
        <p:blipFill>
          <a:blip r:embed="rId2"/>
          <a:stretch>
            <a:fillRect/>
          </a:stretch>
        </p:blipFill>
        <p:spPr>
          <a:xfrm>
            <a:off x="6218512" y="1371600"/>
            <a:ext cx="5540079" cy="3319272"/>
          </a:xfrm>
          <a:prstGeom prst="rect">
            <a:avLst/>
          </a:prstGeom>
          <a:ln w="12700">
            <a:solidFill>
              <a:srgbClr val="CBD5E1"/>
            </a:solidFill>
          </a:ln>
        </p:spPr>
      </p:pic>
      <p:sp>
        <p:nvSpPr>
          <p:cNvPr id="23" name="TextBox 22"/>
          <p:cNvSpPr txBox="1"/>
          <p:nvPr/>
        </p:nvSpPr>
        <p:spPr>
          <a:xfrm>
            <a:off x="6199632" y="4718304"/>
            <a:ext cx="5577840" cy="292608"/>
          </a:xfrm>
          <a:prstGeom prst="rect">
            <a:avLst/>
          </a:prstGeom>
          <a:noFill/>
        </p:spPr>
        <p:txBody>
          <a:bodyPr wrap="square" lIns="45720" tIns="27432" rIns="45720" bIns="27432" anchor="t">
            <a:spAutoFit/>
          </a:bodyPr>
          <a:lstStyle/>
          <a:p>
            <a:pPr algn="ctr">
              <a:spcAft>
                <a:spcPts val="400"/>
              </a:spcAft>
            </a:pPr>
            <a:r>
              <a:rPr sz="1200" b="0" i="0">
                <a:solidFill>
                  <a:srgbClr val="5B6573"/>
                </a:solidFill>
                <a:latin typeface="Calibri" panose="020F0502020204030204"/>
              </a:rPr>
              <a:t>Robustness tab: normal days vs 6 unseen crises</a:t>
            </a:r>
            <a:endParaRPr sz="1200" b="0" i="0">
              <a:solidFill>
                <a:srgbClr val="5B6573"/>
              </a:solidFill>
              <a:latin typeface="Calibri" panose="020F0502020204030204"/>
            </a:endParaRPr>
          </a:p>
        </p:txBody>
      </p:sp>
      <p:sp>
        <p:nvSpPr>
          <p:cNvPr id="24" name="TextBox 23"/>
          <p:cNvSpPr txBox="1"/>
          <p:nvPr/>
        </p:nvSpPr>
        <p:spPr>
          <a:xfrm>
            <a:off x="411480" y="5120640"/>
            <a:ext cx="11365992" cy="1188720"/>
          </a:xfrm>
          <a:prstGeom prst="rect">
            <a:avLst/>
          </a:prstGeom>
          <a:noFill/>
        </p:spPr>
        <p:txBody>
          <a:bodyPr wrap="square" lIns="45720" tIns="27432" rIns="45720" bIns="27432" anchor="t">
            <a:spAutoFit/>
          </a:bodyPr>
          <a:lstStyle/>
          <a:p>
            <a:pPr algn="l">
              <a:spcAft>
                <a:spcPts val="400"/>
              </a:spcAft>
            </a:pPr>
            <a:r>
              <a:rPr sz="1400" b="0" i="0">
                <a:solidFill>
                  <a:srgbClr val="1F2937"/>
                </a:solidFill>
                <a:latin typeface="Calibri" panose="020F0502020204030204"/>
              </a:rPr>
              <a:t>•  Only the rows needed for our claims are shown: the 4 classical methods and 3 RL agents (tuned, untuned, no masking); then the engine, the tuned agent, and the crisis-trained agent beside its control.</a:t>
            </a:r>
            <a:endParaRPr sz="1400" b="0" i="0">
              <a:solidFill>
                <a:srgbClr val="1F2937"/>
              </a:solidFill>
              <a:latin typeface="Calibri" panose="020F0502020204030204"/>
            </a:endParaRPr>
          </a:p>
          <a:p>
            <a:pPr algn="l">
              <a:spcAft>
                <a:spcPts val="400"/>
              </a:spcAft>
            </a:pPr>
            <a:r>
              <a:rPr sz="1400" b="0" i="0">
                <a:solidFill>
                  <a:srgbClr val="1F2937"/>
                </a:solidFill>
                <a:latin typeface="Calibri" panose="020F0502020204030204"/>
              </a:rPr>
              <a:t>•  The cards give the key numbers; the table under each chart has the same data for checking.</a:t>
            </a:r>
            <a:endParaRPr sz="1400" b="0" i="0">
              <a:solidFill>
                <a:srgbClr val="1F2937"/>
              </a:solidFill>
              <a:latin typeface="Calibri" panose="020F05020202040302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 name="Rectangle 16"/>
          <p:cNvSpPr/>
          <p:nvPr/>
        </p:nvSpPr>
        <p:spPr>
          <a:xfrm>
            <a:off x="-1" y="0"/>
            <a:ext cx="12191998" cy="1262131"/>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4400" dirty="0">
              <a:solidFill>
                <a:schemeClr val="accent1">
                  <a:lumMod val="50000"/>
                </a:schemeClr>
              </a:solidFill>
            </a:endParaRPr>
          </a:p>
        </p:txBody>
      </p:sp>
      <p:sp>
        <p:nvSpPr>
          <p:cNvPr id="10" name="Google Shape;91;p1"/>
          <p:cNvSpPr txBox="1"/>
          <p:nvPr/>
        </p:nvSpPr>
        <p:spPr>
          <a:xfrm>
            <a:off x="-1" y="6416040"/>
            <a:ext cx="12191998" cy="441960"/>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None/>
            </a:pPr>
            <a:r>
              <a:rPr lang="en-IN" sz="1600" b="1" i="0" u="none" strike="noStrike" cap="none" dirty="0">
                <a:solidFill>
                  <a:srgbClr val="081271"/>
                </a:solidFill>
                <a:latin typeface="Times New Roman" panose="02020603050405020304"/>
                <a:ea typeface="Times New Roman" panose="02020603050405020304"/>
                <a:cs typeface="Times New Roman" panose="02020603050405020304"/>
                <a:sym typeface="Times New Roman" panose="02020603050405020304"/>
              </a:rPr>
              <a:t>[Final Project Review]</a:t>
            </a:r>
            <a:endParaRPr sz="1600" b="1" i="0" u="none" strike="noStrike" cap="none" dirty="0">
              <a:solidFill>
                <a:srgbClr val="08127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16" name="Straight Connector 15"/>
          <p:cNvCxnSpPr/>
          <p:nvPr/>
        </p:nvCxnSpPr>
        <p:spPr>
          <a:xfrm>
            <a:off x="0" y="1260899"/>
            <a:ext cx="12192000" cy="0"/>
          </a:xfrm>
          <a:prstGeom prst="line">
            <a:avLst/>
          </a:prstGeom>
          <a:ln w="28575">
            <a:solidFill>
              <a:srgbClr val="1A9B46"/>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sz="3200"/>
              <a:t>Results (1/4): Main Comparison on 30 Unseen Runs</a:t>
            </a:r>
            <a:endParaRPr sz="3200"/>
          </a:p>
        </p:txBody>
      </p:sp>
      <p:sp>
        <p:nvSpPr>
          <p:cNvPr id="19" name="Slide Number Placeholder 18"/>
          <p:cNvSpPr>
            <a:spLocks noGrp="1"/>
          </p:cNvSpPr>
          <p:nvPr>
            <p:ph type="sldNum" sz="quarter" idx="12"/>
          </p:nvPr>
        </p:nvSpPr>
        <p:spPr/>
        <p:txBody>
          <a:bodyPr/>
          <a:lstStyle/>
          <a:p>
            <a:fld id="{C2216105-7B7A-4C42-B2A1-5E9A2FA4F8FD}" type="slidenum">
              <a:rPr lang="en-IN" smtClean="0"/>
            </a:fld>
            <a:endParaRPr lang="en-IN" dirty="0"/>
          </a:p>
        </p:txBody>
      </p:sp>
      <p:graphicFrame>
        <p:nvGraphicFramePr>
          <p:cNvPr id="20" name="Table 19"/>
          <p:cNvGraphicFramePr>
            <a:graphicFrameLocks noGrp="1"/>
          </p:cNvGraphicFramePr>
          <p:nvPr/>
        </p:nvGraphicFramePr>
        <p:xfrm>
          <a:off x="411480" y="1371600"/>
          <a:ext cx="6309357" cy="3291840"/>
        </p:xfrm>
        <a:graphic>
          <a:graphicData uri="http://schemas.openxmlformats.org/drawingml/2006/table">
            <a:tbl>
              <a:tblPr firstRow="1" bandRow="1">
                <a:tableStyleId>{5C22544A-7EE6-4342-B048-85BDC9FD1C3A}</a:tableStyleId>
              </a:tblPr>
              <a:tblGrid>
                <a:gridCol w="2343476"/>
                <a:gridCol w="1171738"/>
                <a:gridCol w="721069"/>
                <a:gridCol w="991470"/>
                <a:gridCol w="1081604"/>
              </a:tblGrid>
              <a:tr h="365760">
                <a:tc>
                  <a:txBody>
                    <a:bodyPr wrap="square"/>
                    <a:lstStyle/>
                    <a:p>
                      <a:pPr algn="l"/>
                      <a:r>
                        <a:rPr sz="1200" b="1" i="0">
                          <a:solidFill>
                            <a:srgbClr val="FFFFFF"/>
                          </a:solidFill>
                          <a:latin typeface="Calibri" panose="020F0502020204030204"/>
                        </a:rPr>
                        <a:t>Method</a:t>
                      </a:r>
                      <a:endParaRPr sz="1200" b="1" i="0">
                        <a:solidFill>
                          <a:srgbClr val="FFFFFF"/>
                        </a:solidFill>
                        <a:latin typeface="Calibri" panose="020F0502020204030204"/>
                      </a:endParaRPr>
                    </a:p>
                  </a:txBody>
                  <a:tcPr marL="54864" marR="54864" marT="18288" marB="18288" anchor="ctr">
                    <a:solidFill>
                      <a:srgbClr val="2E8B57"/>
                    </a:solidFill>
                  </a:tcPr>
                </a:tc>
                <a:tc>
                  <a:txBody>
                    <a:bodyPr wrap="square"/>
                    <a:lstStyle/>
                    <a:p>
                      <a:pPr algn="ctr"/>
                      <a:r>
                        <a:rPr sz="1200" b="1" i="0">
                          <a:solidFill>
                            <a:srgbClr val="FFFFFF"/>
                          </a:solidFill>
                          <a:latin typeface="Calibri" panose="020F0502020204030204"/>
                        </a:rPr>
                        <a:t>Profit</a:t>
                      </a:r>
                      <a:endParaRPr sz="1200" b="1" i="0">
                        <a:solidFill>
                          <a:srgbClr val="FFFFFF"/>
                        </a:solidFill>
                        <a:latin typeface="Calibri" panose="020F0502020204030204"/>
                      </a:endParaRPr>
                    </a:p>
                  </a:txBody>
                  <a:tcPr marL="54864" marR="54864" marT="18288" marB="18288" anchor="ctr">
                    <a:solidFill>
                      <a:srgbClr val="2E8B57"/>
                    </a:solidFill>
                  </a:tcPr>
                </a:tc>
                <a:tc>
                  <a:txBody>
                    <a:bodyPr wrap="square"/>
                    <a:lstStyle/>
                    <a:p>
                      <a:pPr algn="ctr"/>
                      <a:r>
                        <a:rPr sz="1200" b="1" i="0">
                          <a:solidFill>
                            <a:srgbClr val="FFFFFF"/>
                          </a:solidFill>
                          <a:latin typeface="Calibri" panose="020F0502020204030204"/>
                        </a:rPr>
                        <a:t>Served</a:t>
                      </a:r>
                      <a:endParaRPr sz="1200" b="1" i="0">
                        <a:solidFill>
                          <a:srgbClr val="FFFFFF"/>
                        </a:solidFill>
                        <a:latin typeface="Calibri" panose="020F0502020204030204"/>
                      </a:endParaRPr>
                    </a:p>
                  </a:txBody>
                  <a:tcPr marL="54864" marR="54864" marT="18288" marB="18288" anchor="ctr">
                    <a:solidFill>
                      <a:srgbClr val="2E8B57"/>
                    </a:solidFill>
                  </a:tcPr>
                </a:tc>
                <a:tc>
                  <a:txBody>
                    <a:bodyPr wrap="square"/>
                    <a:lstStyle/>
                    <a:p>
                      <a:pPr algn="ctr"/>
                      <a:r>
                        <a:rPr sz="1200" b="1" i="0">
                          <a:solidFill>
                            <a:srgbClr val="FFFFFF"/>
                          </a:solidFill>
                          <a:latin typeface="Calibri" panose="020F0502020204030204"/>
                        </a:rPr>
                        <a:t>Fees</a:t>
                      </a:r>
                      <a:endParaRPr sz="1200" b="1" i="0">
                        <a:solidFill>
                          <a:srgbClr val="FFFFFF"/>
                        </a:solidFill>
                        <a:latin typeface="Calibri" panose="020F0502020204030204"/>
                      </a:endParaRPr>
                    </a:p>
                  </a:txBody>
                  <a:tcPr marL="54864" marR="54864" marT="18288" marB="18288" anchor="ctr">
                    <a:solidFill>
                      <a:srgbClr val="2E8B57"/>
                    </a:solidFill>
                  </a:tcPr>
                </a:tc>
                <a:tc>
                  <a:txBody>
                    <a:bodyPr wrap="square"/>
                    <a:lstStyle/>
                    <a:p>
                      <a:pPr algn="ctr"/>
                      <a:r>
                        <a:rPr sz="1200" b="1" i="0">
                          <a:solidFill>
                            <a:srgbClr val="FFFFFF"/>
                          </a:solidFill>
                          <a:latin typeface="Calibri" panose="020F0502020204030204"/>
                        </a:rPr>
                        <a:t>Lost sales</a:t>
                      </a:r>
                      <a:endParaRPr sz="1200" b="1" i="0">
                        <a:solidFill>
                          <a:srgbClr val="FFFFFF"/>
                        </a:solidFill>
                        <a:latin typeface="Calibri" panose="020F0502020204030204"/>
                      </a:endParaRPr>
                    </a:p>
                  </a:txBody>
                  <a:tcPr marL="54864" marR="54864" marT="18288" marB="18288" anchor="ctr">
                    <a:solidFill>
                      <a:srgbClr val="2E8B57"/>
                    </a:solidFill>
                  </a:tcPr>
                </a:tc>
              </a:tr>
              <a:tr h="365760">
                <a:tc>
                  <a:txBody>
                    <a:bodyPr wrap="square"/>
                    <a:lstStyle/>
                    <a:p>
                      <a:r>
                        <a:rPr sz="1200" b="1" i="0">
                          <a:solidFill>
                            <a:srgbClr val="1F2937"/>
                          </a:solidFill>
                          <a:latin typeface="Calibri" panose="020F0502020204030204"/>
                        </a:rPr>
                        <a:t>Forecast + safety stock</a:t>
                      </a:r>
                      <a:endParaRPr sz="1200" b="1" i="0">
                        <a:solidFill>
                          <a:srgbClr val="1F2937"/>
                        </a:solidFill>
                        <a:latin typeface="Calibri" panose="020F0502020204030204"/>
                      </a:endParaRPr>
                    </a:p>
                  </a:txBody>
                  <a:tcPr marL="54864" marR="54864" marT="18288" marB="18288" anchor="ctr">
                    <a:solidFill>
                      <a:srgbClr val="E6F4EA"/>
                    </a:solidFill>
                  </a:tcPr>
                </a:tc>
                <a:tc>
                  <a:txBody>
                    <a:bodyPr wrap="square"/>
                    <a:lstStyle/>
                    <a:p>
                      <a:pPr algn="ctr"/>
                      <a:r>
                        <a:rPr sz="1200" b="1" i="0">
                          <a:solidFill>
                            <a:srgbClr val="1F2937"/>
                          </a:solidFill>
                          <a:latin typeface="Calibri" panose="020F0502020204030204"/>
                        </a:rPr>
                        <a:t>₹87.8 lakh</a:t>
                      </a:r>
                      <a:endParaRPr sz="1200" b="1" i="0">
                        <a:solidFill>
                          <a:srgbClr val="1F2937"/>
                        </a:solidFill>
                        <a:latin typeface="Calibri" panose="020F0502020204030204"/>
                      </a:endParaRPr>
                    </a:p>
                  </a:txBody>
                  <a:tcPr marL="54864" marR="54864" marT="18288" marB="18288" anchor="ctr">
                    <a:solidFill>
                      <a:srgbClr val="E6F4EA"/>
                    </a:solidFill>
                  </a:tcPr>
                </a:tc>
                <a:tc>
                  <a:txBody>
                    <a:bodyPr wrap="square"/>
                    <a:lstStyle/>
                    <a:p>
                      <a:pPr algn="ctr"/>
                      <a:r>
                        <a:rPr sz="1200" b="1" i="0">
                          <a:solidFill>
                            <a:srgbClr val="1F2937"/>
                          </a:solidFill>
                          <a:latin typeface="Calibri" panose="020F0502020204030204"/>
                        </a:rPr>
                        <a:t>97.9%</a:t>
                      </a:r>
                      <a:endParaRPr sz="1200" b="1" i="0">
                        <a:solidFill>
                          <a:srgbClr val="1F2937"/>
                        </a:solidFill>
                        <a:latin typeface="Calibri" panose="020F0502020204030204"/>
                      </a:endParaRPr>
                    </a:p>
                  </a:txBody>
                  <a:tcPr marL="54864" marR="54864" marT="18288" marB="18288" anchor="ctr">
                    <a:solidFill>
                      <a:srgbClr val="E6F4EA"/>
                    </a:solidFill>
                  </a:tcPr>
                </a:tc>
                <a:tc>
                  <a:txBody>
                    <a:bodyPr wrap="square"/>
                    <a:lstStyle/>
                    <a:p>
                      <a:pPr algn="ctr"/>
                      <a:r>
                        <a:rPr sz="1200" b="1" i="0">
                          <a:solidFill>
                            <a:srgbClr val="1F2937"/>
                          </a:solidFill>
                          <a:latin typeface="Calibri" panose="020F0502020204030204"/>
                        </a:rPr>
                        <a:t>₹2.9 lakh</a:t>
                      </a:r>
                      <a:endParaRPr sz="1200" b="1" i="0">
                        <a:solidFill>
                          <a:srgbClr val="1F2937"/>
                        </a:solidFill>
                        <a:latin typeface="Calibri" panose="020F0502020204030204"/>
                      </a:endParaRPr>
                    </a:p>
                  </a:txBody>
                  <a:tcPr marL="54864" marR="54864" marT="18288" marB="18288" anchor="ctr">
                    <a:solidFill>
                      <a:srgbClr val="E6F4EA"/>
                    </a:solidFill>
                  </a:tcPr>
                </a:tc>
                <a:tc>
                  <a:txBody>
                    <a:bodyPr wrap="square"/>
                    <a:lstStyle/>
                    <a:p>
                      <a:pPr algn="ctr"/>
                      <a:r>
                        <a:rPr sz="1200" b="1" i="0">
                          <a:solidFill>
                            <a:srgbClr val="1F2937"/>
                          </a:solidFill>
                          <a:latin typeface="Calibri" panose="020F0502020204030204"/>
                        </a:rPr>
                        <a:t>₹6.1 lakh</a:t>
                      </a:r>
                      <a:endParaRPr sz="1200" b="1" i="0">
                        <a:solidFill>
                          <a:srgbClr val="1F2937"/>
                        </a:solidFill>
                        <a:latin typeface="Calibri" panose="020F0502020204030204"/>
                      </a:endParaRPr>
                    </a:p>
                  </a:txBody>
                  <a:tcPr marL="54864" marR="54864" marT="18288" marB="18288" anchor="ctr">
                    <a:solidFill>
                      <a:srgbClr val="E6F4EA"/>
                    </a:solidFill>
                  </a:tcPr>
                </a:tc>
              </a:tr>
              <a:tr h="365760">
                <a:tc>
                  <a:txBody>
                    <a:bodyPr wrap="square"/>
                    <a:lstStyle/>
                    <a:p>
                      <a:r>
                        <a:rPr sz="1200" b="0" i="0">
                          <a:solidFill>
                            <a:srgbClr val="1F2937"/>
                          </a:solidFill>
                          <a:latin typeface="Calibri" panose="020F0502020204030204"/>
                        </a:rPr>
                        <a:t>Newsvendor</a:t>
                      </a:r>
                      <a:endParaRPr sz="1200" b="0" i="0">
                        <a:solidFill>
                          <a:srgbClr val="1F2937"/>
                        </a:solidFill>
                        <a:latin typeface="Calibri" panose="020F0502020204030204"/>
                      </a:endParaRPr>
                    </a:p>
                  </a:txBody>
                  <a:tcPr marL="54864" marR="54864" marT="18288" marB="18288" anchor="ctr">
                    <a:solidFill>
                      <a:srgbClr val="F1F5F9"/>
                    </a:solidFill>
                  </a:tcPr>
                </a:tc>
                <a:tc>
                  <a:txBody>
                    <a:bodyPr wrap="square"/>
                    <a:lstStyle/>
                    <a:p>
                      <a:pPr algn="ctr"/>
                      <a:r>
                        <a:rPr sz="1200" b="0" i="0">
                          <a:solidFill>
                            <a:srgbClr val="1F2937"/>
                          </a:solidFill>
                          <a:latin typeface="Calibri" panose="020F0502020204030204"/>
                        </a:rPr>
                        <a:t>₹86.2 lakh</a:t>
                      </a:r>
                      <a:endParaRPr sz="1200" b="0" i="0">
                        <a:solidFill>
                          <a:srgbClr val="1F2937"/>
                        </a:solidFill>
                        <a:latin typeface="Calibri" panose="020F0502020204030204"/>
                      </a:endParaRPr>
                    </a:p>
                  </a:txBody>
                  <a:tcPr marL="54864" marR="54864" marT="18288" marB="18288" anchor="ctr">
                    <a:solidFill>
                      <a:srgbClr val="F1F5F9"/>
                    </a:solidFill>
                  </a:tcPr>
                </a:tc>
                <a:tc>
                  <a:txBody>
                    <a:bodyPr wrap="square"/>
                    <a:lstStyle/>
                    <a:p>
                      <a:pPr algn="ctr"/>
                      <a:r>
                        <a:rPr sz="1200" b="0" i="0">
                          <a:solidFill>
                            <a:srgbClr val="1F2937"/>
                          </a:solidFill>
                          <a:latin typeface="Calibri" panose="020F0502020204030204"/>
                        </a:rPr>
                        <a:t>98.0%</a:t>
                      </a:r>
                      <a:endParaRPr sz="1200" b="0" i="0">
                        <a:solidFill>
                          <a:srgbClr val="1F2937"/>
                        </a:solidFill>
                        <a:latin typeface="Calibri" panose="020F0502020204030204"/>
                      </a:endParaRPr>
                    </a:p>
                  </a:txBody>
                  <a:tcPr marL="54864" marR="54864" marT="18288" marB="18288" anchor="ctr">
                    <a:solidFill>
                      <a:srgbClr val="F1F5F9"/>
                    </a:solidFill>
                  </a:tcPr>
                </a:tc>
                <a:tc>
                  <a:txBody>
                    <a:bodyPr wrap="square"/>
                    <a:lstStyle/>
                    <a:p>
                      <a:pPr algn="ctr"/>
                      <a:r>
                        <a:rPr sz="1200" b="0" i="0">
                          <a:solidFill>
                            <a:srgbClr val="1F2937"/>
                          </a:solidFill>
                          <a:latin typeface="Calibri" panose="020F0502020204030204"/>
                        </a:rPr>
                        <a:t>₹3.4 lakh</a:t>
                      </a:r>
                      <a:endParaRPr sz="1200" b="0" i="0">
                        <a:solidFill>
                          <a:srgbClr val="1F2937"/>
                        </a:solidFill>
                        <a:latin typeface="Calibri" panose="020F0502020204030204"/>
                      </a:endParaRPr>
                    </a:p>
                  </a:txBody>
                  <a:tcPr marL="54864" marR="54864" marT="18288" marB="18288" anchor="ctr">
                    <a:solidFill>
                      <a:srgbClr val="F1F5F9"/>
                    </a:solidFill>
                  </a:tcPr>
                </a:tc>
                <a:tc>
                  <a:txBody>
                    <a:bodyPr wrap="square"/>
                    <a:lstStyle/>
                    <a:p>
                      <a:pPr algn="ctr"/>
                      <a:r>
                        <a:rPr sz="1200" b="0" i="0">
                          <a:solidFill>
                            <a:srgbClr val="1F2937"/>
                          </a:solidFill>
                          <a:latin typeface="Calibri" panose="020F0502020204030204"/>
                        </a:rPr>
                        <a:t>₹7.4 lakh</a:t>
                      </a:r>
                      <a:endParaRPr sz="1200" b="0" i="0">
                        <a:solidFill>
                          <a:srgbClr val="1F2937"/>
                        </a:solidFill>
                        <a:latin typeface="Calibri" panose="020F0502020204030204"/>
                      </a:endParaRPr>
                    </a:p>
                  </a:txBody>
                  <a:tcPr marL="54864" marR="54864" marT="18288" marB="18288" anchor="ctr">
                    <a:solidFill>
                      <a:srgbClr val="F1F5F9"/>
                    </a:solidFill>
                  </a:tcPr>
                </a:tc>
              </a:tr>
              <a:tr h="365760">
                <a:tc>
                  <a:txBody>
                    <a:bodyPr wrap="square"/>
                    <a:lstStyle/>
                    <a:p>
                      <a:r>
                        <a:rPr sz="1200" b="1" i="0">
                          <a:solidFill>
                            <a:srgbClr val="1F2937"/>
                          </a:solidFill>
                          <a:latin typeface="Calibri" panose="020F0502020204030204"/>
                        </a:rPr>
                        <a:t>RL agent, tuned, 2M</a:t>
                      </a:r>
                      <a:endParaRPr sz="1200" b="1" i="0">
                        <a:solidFill>
                          <a:srgbClr val="1F2937"/>
                        </a:solidFill>
                        <a:latin typeface="Calibri" panose="020F0502020204030204"/>
                      </a:endParaRPr>
                    </a:p>
                  </a:txBody>
                  <a:tcPr marL="54864" marR="54864" marT="18288" marB="18288" anchor="ctr">
                    <a:solidFill>
                      <a:srgbClr val="E6F4EA"/>
                    </a:solidFill>
                  </a:tcPr>
                </a:tc>
                <a:tc>
                  <a:txBody>
                    <a:bodyPr wrap="square"/>
                    <a:lstStyle/>
                    <a:p>
                      <a:pPr algn="ctr"/>
                      <a:r>
                        <a:rPr sz="1200" b="1" i="0">
                          <a:solidFill>
                            <a:srgbClr val="1F2937"/>
                          </a:solidFill>
                          <a:latin typeface="Calibri" panose="020F0502020204030204"/>
                        </a:rPr>
                        <a:t>₹79.7 lakh</a:t>
                      </a:r>
                      <a:endParaRPr sz="1200" b="1" i="0">
                        <a:solidFill>
                          <a:srgbClr val="1F2937"/>
                        </a:solidFill>
                        <a:latin typeface="Calibri" panose="020F0502020204030204"/>
                      </a:endParaRPr>
                    </a:p>
                  </a:txBody>
                  <a:tcPr marL="54864" marR="54864" marT="18288" marB="18288" anchor="ctr">
                    <a:solidFill>
                      <a:srgbClr val="E6F4EA"/>
                    </a:solidFill>
                  </a:tcPr>
                </a:tc>
                <a:tc>
                  <a:txBody>
                    <a:bodyPr wrap="square"/>
                    <a:lstStyle/>
                    <a:p>
                      <a:pPr algn="ctr"/>
                      <a:r>
                        <a:rPr sz="1200" b="1" i="0">
                          <a:solidFill>
                            <a:srgbClr val="1F2937"/>
                          </a:solidFill>
                          <a:latin typeface="Calibri" panose="020F0502020204030204"/>
                        </a:rPr>
                        <a:t>95.1%</a:t>
                      </a:r>
                      <a:endParaRPr sz="1200" b="1" i="0">
                        <a:solidFill>
                          <a:srgbClr val="1F2937"/>
                        </a:solidFill>
                        <a:latin typeface="Calibri" panose="020F0502020204030204"/>
                      </a:endParaRPr>
                    </a:p>
                  </a:txBody>
                  <a:tcPr marL="54864" marR="54864" marT="18288" marB="18288" anchor="ctr">
                    <a:solidFill>
                      <a:srgbClr val="E6F4EA"/>
                    </a:solidFill>
                  </a:tcPr>
                </a:tc>
                <a:tc>
                  <a:txBody>
                    <a:bodyPr wrap="square"/>
                    <a:lstStyle/>
                    <a:p>
                      <a:pPr algn="ctr"/>
                      <a:r>
                        <a:rPr sz="1200" b="1" i="0">
                          <a:solidFill>
                            <a:srgbClr val="1F2937"/>
                          </a:solidFill>
                          <a:latin typeface="Calibri" panose="020F0502020204030204"/>
                        </a:rPr>
                        <a:t>₹5.8 lakh</a:t>
                      </a:r>
                      <a:endParaRPr sz="1200" b="1" i="0">
                        <a:solidFill>
                          <a:srgbClr val="1F2937"/>
                        </a:solidFill>
                        <a:latin typeface="Calibri" panose="020F0502020204030204"/>
                      </a:endParaRPr>
                    </a:p>
                  </a:txBody>
                  <a:tcPr marL="54864" marR="54864" marT="18288" marB="18288" anchor="ctr">
                    <a:solidFill>
                      <a:srgbClr val="E6F4EA"/>
                    </a:solidFill>
                  </a:tcPr>
                </a:tc>
                <a:tc>
                  <a:txBody>
                    <a:bodyPr wrap="square"/>
                    <a:lstStyle/>
                    <a:p>
                      <a:pPr algn="ctr"/>
                      <a:r>
                        <a:rPr sz="1200" b="1" i="0">
                          <a:solidFill>
                            <a:srgbClr val="1F2937"/>
                          </a:solidFill>
                          <a:latin typeface="Calibri" panose="020F0502020204030204"/>
                        </a:rPr>
                        <a:t>₹9.2 lakh</a:t>
                      </a:r>
                      <a:endParaRPr sz="1200" b="1" i="0">
                        <a:solidFill>
                          <a:srgbClr val="1F2937"/>
                        </a:solidFill>
                        <a:latin typeface="Calibri" panose="020F0502020204030204"/>
                      </a:endParaRPr>
                    </a:p>
                  </a:txBody>
                  <a:tcPr marL="54864" marR="54864" marT="18288" marB="18288" anchor="ctr">
                    <a:solidFill>
                      <a:srgbClr val="E6F4EA"/>
                    </a:solidFill>
                  </a:tcPr>
                </a:tc>
              </a:tr>
              <a:tr h="365760">
                <a:tc>
                  <a:txBody>
                    <a:bodyPr wrap="square"/>
                    <a:lstStyle/>
                    <a:p>
                      <a:r>
                        <a:rPr sz="1200" b="0" i="0">
                          <a:solidFill>
                            <a:srgbClr val="1F2937"/>
                          </a:solidFill>
                          <a:latin typeface="Calibri" panose="020F0502020204030204"/>
                        </a:rPr>
                        <a:t>EOQ + reorder point</a:t>
                      </a:r>
                      <a:endParaRPr sz="1200" b="0" i="0">
                        <a:solidFill>
                          <a:srgbClr val="1F2937"/>
                        </a:solidFill>
                        <a:latin typeface="Calibri" panose="020F0502020204030204"/>
                      </a:endParaRPr>
                    </a:p>
                  </a:txBody>
                  <a:tcPr marL="54864" marR="54864" marT="18288" marB="18288" anchor="ctr">
                    <a:solidFill>
                      <a:srgbClr val="F1F5F9"/>
                    </a:solidFill>
                  </a:tcPr>
                </a:tc>
                <a:tc>
                  <a:txBody>
                    <a:bodyPr wrap="square"/>
                    <a:lstStyle/>
                    <a:p>
                      <a:pPr algn="ctr"/>
                      <a:r>
                        <a:rPr sz="1200" b="0" i="0">
                          <a:solidFill>
                            <a:srgbClr val="1F2937"/>
                          </a:solidFill>
                          <a:latin typeface="Calibri" panose="020F0502020204030204"/>
                        </a:rPr>
                        <a:t>₹75.9 lakh</a:t>
                      </a:r>
                      <a:endParaRPr sz="1200" b="0" i="0">
                        <a:solidFill>
                          <a:srgbClr val="1F2937"/>
                        </a:solidFill>
                        <a:latin typeface="Calibri" panose="020F0502020204030204"/>
                      </a:endParaRPr>
                    </a:p>
                  </a:txBody>
                  <a:tcPr marL="54864" marR="54864" marT="18288" marB="18288" anchor="ctr">
                    <a:solidFill>
                      <a:srgbClr val="F1F5F9"/>
                    </a:solidFill>
                  </a:tcPr>
                </a:tc>
                <a:tc>
                  <a:txBody>
                    <a:bodyPr wrap="square"/>
                    <a:lstStyle/>
                    <a:p>
                      <a:pPr algn="ctr"/>
                      <a:r>
                        <a:rPr sz="1200" b="0" i="0">
                          <a:solidFill>
                            <a:srgbClr val="1F2937"/>
                          </a:solidFill>
                          <a:latin typeface="Calibri" panose="020F0502020204030204"/>
                        </a:rPr>
                        <a:t>96.8%</a:t>
                      </a:r>
                      <a:endParaRPr sz="1200" b="0" i="0">
                        <a:solidFill>
                          <a:srgbClr val="1F2937"/>
                        </a:solidFill>
                        <a:latin typeface="Calibri" panose="020F0502020204030204"/>
                      </a:endParaRPr>
                    </a:p>
                  </a:txBody>
                  <a:tcPr marL="54864" marR="54864" marT="18288" marB="18288" anchor="ctr">
                    <a:solidFill>
                      <a:srgbClr val="F1F5F9"/>
                    </a:solidFill>
                  </a:tcPr>
                </a:tc>
                <a:tc>
                  <a:txBody>
                    <a:bodyPr wrap="square"/>
                    <a:lstStyle/>
                    <a:p>
                      <a:pPr algn="ctr"/>
                      <a:r>
                        <a:rPr sz="1200" b="0" i="0">
                          <a:solidFill>
                            <a:srgbClr val="1F2937"/>
                          </a:solidFill>
                          <a:latin typeface="Calibri" panose="020F0502020204030204"/>
                        </a:rPr>
                        <a:t>₹2.8 lakh</a:t>
                      </a:r>
                      <a:endParaRPr sz="1200" b="0" i="0">
                        <a:solidFill>
                          <a:srgbClr val="1F2937"/>
                        </a:solidFill>
                        <a:latin typeface="Calibri" panose="020F0502020204030204"/>
                      </a:endParaRPr>
                    </a:p>
                  </a:txBody>
                  <a:tcPr marL="54864" marR="54864" marT="18288" marB="18288" anchor="ctr">
                    <a:solidFill>
                      <a:srgbClr val="F1F5F9"/>
                    </a:solidFill>
                  </a:tcPr>
                </a:tc>
                <a:tc>
                  <a:txBody>
                    <a:bodyPr wrap="square"/>
                    <a:lstStyle/>
                    <a:p>
                      <a:pPr algn="ctr"/>
                      <a:r>
                        <a:rPr sz="1200" b="0" i="0">
                          <a:solidFill>
                            <a:srgbClr val="1F2937"/>
                          </a:solidFill>
                          <a:latin typeface="Calibri" panose="020F0502020204030204"/>
                        </a:rPr>
                        <a:t>₹10.5 lakh</a:t>
                      </a:r>
                      <a:endParaRPr sz="1200" b="0" i="0">
                        <a:solidFill>
                          <a:srgbClr val="1F2937"/>
                        </a:solidFill>
                        <a:latin typeface="Calibri" panose="020F0502020204030204"/>
                      </a:endParaRPr>
                    </a:p>
                  </a:txBody>
                  <a:tcPr marL="54864" marR="54864" marT="18288" marB="18288" anchor="ctr">
                    <a:solidFill>
                      <a:srgbClr val="F1F5F9"/>
                    </a:solidFill>
                  </a:tcPr>
                </a:tc>
              </a:tr>
              <a:tr h="365760">
                <a:tc>
                  <a:txBody>
                    <a:bodyPr wrap="square"/>
                    <a:lstStyle/>
                    <a:p>
                      <a:r>
                        <a:rPr sz="1200" b="0" i="0">
                          <a:solidFill>
                            <a:srgbClr val="1F2937"/>
                          </a:solidFill>
                          <a:latin typeface="Calibri" panose="020F0502020204030204"/>
                        </a:rPr>
                        <a:t>RL agent, untuned, 1M</a:t>
                      </a:r>
                      <a:endParaRPr sz="1200" b="0" i="0">
                        <a:solidFill>
                          <a:srgbClr val="1F2937"/>
                        </a:solidFill>
                        <a:latin typeface="Calibri" panose="020F0502020204030204"/>
                      </a:endParaRPr>
                    </a:p>
                  </a:txBody>
                  <a:tcPr marL="54864" marR="54864" marT="18288" marB="18288" anchor="ctr">
                    <a:solidFill>
                      <a:srgbClr val="FFFFFF"/>
                    </a:solidFill>
                  </a:tcPr>
                </a:tc>
                <a:tc>
                  <a:txBody>
                    <a:bodyPr wrap="square"/>
                    <a:lstStyle/>
                    <a:p>
                      <a:pPr algn="ctr"/>
                      <a:r>
                        <a:rPr sz="1200" b="0" i="0">
                          <a:solidFill>
                            <a:srgbClr val="1F2937"/>
                          </a:solidFill>
                          <a:latin typeface="Calibri" panose="020F0502020204030204"/>
                        </a:rPr>
                        <a:t>₹74.8 lakh</a:t>
                      </a:r>
                      <a:endParaRPr sz="1200" b="0" i="0">
                        <a:solidFill>
                          <a:srgbClr val="1F2937"/>
                        </a:solidFill>
                        <a:latin typeface="Calibri" panose="020F0502020204030204"/>
                      </a:endParaRPr>
                    </a:p>
                  </a:txBody>
                  <a:tcPr marL="54864" marR="54864" marT="18288" marB="18288" anchor="ctr">
                    <a:solidFill>
                      <a:srgbClr val="FFFFFF"/>
                    </a:solidFill>
                  </a:tcPr>
                </a:tc>
                <a:tc>
                  <a:txBody>
                    <a:bodyPr wrap="square"/>
                    <a:lstStyle/>
                    <a:p>
                      <a:pPr algn="ctr"/>
                      <a:r>
                        <a:rPr sz="1200" b="0" i="0">
                          <a:solidFill>
                            <a:srgbClr val="1F2937"/>
                          </a:solidFill>
                          <a:latin typeface="Calibri" panose="020F0502020204030204"/>
                        </a:rPr>
                        <a:t>94.3%</a:t>
                      </a:r>
                      <a:endParaRPr sz="1200" b="0" i="0">
                        <a:solidFill>
                          <a:srgbClr val="1F2937"/>
                        </a:solidFill>
                        <a:latin typeface="Calibri" panose="020F0502020204030204"/>
                      </a:endParaRPr>
                    </a:p>
                  </a:txBody>
                  <a:tcPr marL="54864" marR="54864" marT="18288" marB="18288" anchor="ctr">
                    <a:solidFill>
                      <a:srgbClr val="FFFFFF"/>
                    </a:solidFill>
                  </a:tcPr>
                </a:tc>
                <a:tc>
                  <a:txBody>
                    <a:bodyPr wrap="square"/>
                    <a:lstStyle/>
                    <a:p>
                      <a:pPr algn="ctr"/>
                      <a:r>
                        <a:rPr sz="1200" b="0" i="0">
                          <a:solidFill>
                            <a:srgbClr val="1F2937"/>
                          </a:solidFill>
                          <a:latin typeface="Calibri" panose="020F0502020204030204"/>
                        </a:rPr>
                        <a:t>₹7.4 lakh</a:t>
                      </a:r>
                      <a:endParaRPr sz="1200" b="0" i="0">
                        <a:solidFill>
                          <a:srgbClr val="1F2937"/>
                        </a:solidFill>
                        <a:latin typeface="Calibri" panose="020F0502020204030204"/>
                      </a:endParaRPr>
                    </a:p>
                  </a:txBody>
                  <a:tcPr marL="54864" marR="54864" marT="18288" marB="18288" anchor="ctr">
                    <a:solidFill>
                      <a:srgbClr val="FFFFFF"/>
                    </a:solidFill>
                  </a:tcPr>
                </a:tc>
                <a:tc>
                  <a:txBody>
                    <a:bodyPr wrap="square"/>
                    <a:lstStyle/>
                    <a:p>
                      <a:pPr algn="ctr"/>
                      <a:r>
                        <a:rPr sz="1200" b="0" i="0">
                          <a:solidFill>
                            <a:srgbClr val="1F2937"/>
                          </a:solidFill>
                          <a:latin typeface="Calibri" panose="020F0502020204030204"/>
                        </a:rPr>
                        <a:t>₹11.0 lakh</a:t>
                      </a:r>
                      <a:endParaRPr sz="1200" b="0" i="0">
                        <a:solidFill>
                          <a:srgbClr val="1F2937"/>
                        </a:solidFill>
                        <a:latin typeface="Calibri" panose="020F0502020204030204"/>
                      </a:endParaRPr>
                    </a:p>
                  </a:txBody>
                  <a:tcPr marL="54864" marR="54864" marT="18288" marB="18288" anchor="ctr">
                    <a:solidFill>
                      <a:srgbClr val="FFFFFF"/>
                    </a:solidFill>
                  </a:tcPr>
                </a:tc>
              </a:tr>
              <a:tr h="365760">
                <a:tc>
                  <a:txBody>
                    <a:bodyPr wrap="square"/>
                    <a:lstStyle/>
                    <a:p>
                      <a:r>
                        <a:rPr sz="1200" b="0" i="0">
                          <a:solidFill>
                            <a:srgbClr val="1F2937"/>
                          </a:solidFill>
                          <a:latin typeface="Calibri" panose="020F0502020204030204"/>
                        </a:rPr>
                        <a:t>(s, S) policy</a:t>
                      </a:r>
                      <a:endParaRPr sz="1200" b="0" i="0">
                        <a:solidFill>
                          <a:srgbClr val="1F2937"/>
                        </a:solidFill>
                        <a:latin typeface="Calibri" panose="020F0502020204030204"/>
                      </a:endParaRPr>
                    </a:p>
                  </a:txBody>
                  <a:tcPr marL="54864" marR="54864" marT="18288" marB="18288" anchor="ctr">
                    <a:solidFill>
                      <a:srgbClr val="F1F5F9"/>
                    </a:solidFill>
                  </a:tcPr>
                </a:tc>
                <a:tc>
                  <a:txBody>
                    <a:bodyPr wrap="square"/>
                    <a:lstStyle/>
                    <a:p>
                      <a:pPr algn="ctr"/>
                      <a:r>
                        <a:rPr sz="1200" b="0" i="0">
                          <a:solidFill>
                            <a:srgbClr val="1F2937"/>
                          </a:solidFill>
                          <a:latin typeface="Calibri" panose="020F0502020204030204"/>
                        </a:rPr>
                        <a:t>₹73.9 lakh</a:t>
                      </a:r>
                      <a:endParaRPr sz="1200" b="0" i="0">
                        <a:solidFill>
                          <a:srgbClr val="1F2937"/>
                        </a:solidFill>
                        <a:latin typeface="Calibri" panose="020F0502020204030204"/>
                      </a:endParaRPr>
                    </a:p>
                  </a:txBody>
                  <a:tcPr marL="54864" marR="54864" marT="18288" marB="18288" anchor="ctr">
                    <a:solidFill>
                      <a:srgbClr val="F1F5F9"/>
                    </a:solidFill>
                  </a:tcPr>
                </a:tc>
                <a:tc>
                  <a:txBody>
                    <a:bodyPr wrap="square"/>
                    <a:lstStyle/>
                    <a:p>
                      <a:pPr algn="ctr"/>
                      <a:r>
                        <a:rPr sz="1200" b="0" i="0">
                          <a:solidFill>
                            <a:srgbClr val="1F2937"/>
                          </a:solidFill>
                          <a:latin typeface="Calibri" panose="020F0502020204030204"/>
                        </a:rPr>
                        <a:t>94.9%</a:t>
                      </a:r>
                      <a:endParaRPr sz="1200" b="0" i="0">
                        <a:solidFill>
                          <a:srgbClr val="1F2937"/>
                        </a:solidFill>
                        <a:latin typeface="Calibri" panose="020F0502020204030204"/>
                      </a:endParaRPr>
                    </a:p>
                  </a:txBody>
                  <a:tcPr marL="54864" marR="54864" marT="18288" marB="18288" anchor="ctr">
                    <a:solidFill>
                      <a:srgbClr val="F1F5F9"/>
                    </a:solidFill>
                  </a:tcPr>
                </a:tc>
                <a:tc>
                  <a:txBody>
                    <a:bodyPr wrap="square"/>
                    <a:lstStyle/>
                    <a:p>
                      <a:pPr algn="ctr"/>
                      <a:r>
                        <a:rPr sz="1200" b="0" i="0">
                          <a:solidFill>
                            <a:srgbClr val="1F2937"/>
                          </a:solidFill>
                          <a:latin typeface="Calibri" panose="020F0502020204030204"/>
                        </a:rPr>
                        <a:t>₹3.0 lakh</a:t>
                      </a:r>
                      <a:endParaRPr sz="1200" b="0" i="0">
                        <a:solidFill>
                          <a:srgbClr val="1F2937"/>
                        </a:solidFill>
                        <a:latin typeface="Calibri" panose="020F0502020204030204"/>
                      </a:endParaRPr>
                    </a:p>
                  </a:txBody>
                  <a:tcPr marL="54864" marR="54864" marT="18288" marB="18288" anchor="ctr">
                    <a:solidFill>
                      <a:srgbClr val="F1F5F9"/>
                    </a:solidFill>
                  </a:tcPr>
                </a:tc>
                <a:tc>
                  <a:txBody>
                    <a:bodyPr wrap="square"/>
                    <a:lstStyle/>
                    <a:p>
                      <a:pPr algn="ctr"/>
                      <a:r>
                        <a:rPr sz="1200" b="0" i="0">
                          <a:solidFill>
                            <a:srgbClr val="1F2937"/>
                          </a:solidFill>
                          <a:latin typeface="Calibri" panose="020F0502020204030204"/>
                        </a:rPr>
                        <a:t>₹16.5 lakh</a:t>
                      </a:r>
                      <a:endParaRPr sz="1200" b="0" i="0">
                        <a:solidFill>
                          <a:srgbClr val="1F2937"/>
                        </a:solidFill>
                        <a:latin typeface="Calibri" panose="020F0502020204030204"/>
                      </a:endParaRPr>
                    </a:p>
                  </a:txBody>
                  <a:tcPr marL="54864" marR="54864" marT="18288" marB="18288" anchor="ctr">
                    <a:solidFill>
                      <a:srgbClr val="F1F5F9"/>
                    </a:solidFill>
                  </a:tcPr>
                </a:tc>
              </a:tr>
              <a:tr h="365760">
                <a:tc>
                  <a:txBody>
                    <a:bodyPr wrap="square"/>
                    <a:lstStyle/>
                    <a:p>
                      <a:r>
                        <a:rPr sz="1200" b="0" i="0">
                          <a:solidFill>
                            <a:srgbClr val="1F2937"/>
                          </a:solidFill>
                          <a:latin typeface="Calibri" panose="020F0502020204030204"/>
                        </a:rPr>
                        <a:t>Fixed daily order (no system)</a:t>
                      </a:r>
                      <a:endParaRPr sz="1200" b="0" i="0">
                        <a:solidFill>
                          <a:srgbClr val="1F2937"/>
                        </a:solidFill>
                        <a:latin typeface="Calibri" panose="020F0502020204030204"/>
                      </a:endParaRPr>
                    </a:p>
                  </a:txBody>
                  <a:tcPr marL="54864" marR="54864" marT="18288" marB="18288" anchor="ctr">
                    <a:solidFill>
                      <a:srgbClr val="FFFFFF"/>
                    </a:solidFill>
                  </a:tcPr>
                </a:tc>
                <a:tc>
                  <a:txBody>
                    <a:bodyPr wrap="square"/>
                    <a:lstStyle/>
                    <a:p>
                      <a:pPr algn="ctr"/>
                      <a:r>
                        <a:rPr sz="1200" b="0" i="0">
                          <a:solidFill>
                            <a:srgbClr val="1F2937"/>
                          </a:solidFill>
                          <a:latin typeface="Calibri" panose="020F0502020204030204"/>
                        </a:rPr>
                        <a:t>₹53.3 lakh</a:t>
                      </a:r>
                      <a:endParaRPr sz="1200" b="0" i="0">
                        <a:solidFill>
                          <a:srgbClr val="1F2937"/>
                        </a:solidFill>
                        <a:latin typeface="Calibri" panose="020F0502020204030204"/>
                      </a:endParaRPr>
                    </a:p>
                  </a:txBody>
                  <a:tcPr marL="54864" marR="54864" marT="18288" marB="18288" anchor="ctr">
                    <a:solidFill>
                      <a:srgbClr val="FFFFFF"/>
                    </a:solidFill>
                  </a:tcPr>
                </a:tc>
                <a:tc>
                  <a:txBody>
                    <a:bodyPr wrap="square"/>
                    <a:lstStyle/>
                    <a:p>
                      <a:pPr algn="ctr"/>
                      <a:r>
                        <a:rPr sz="1200" b="0" i="0">
                          <a:solidFill>
                            <a:srgbClr val="1F2937"/>
                          </a:solidFill>
                          <a:latin typeface="Calibri" panose="020F0502020204030204"/>
                        </a:rPr>
                        <a:t>92.3%</a:t>
                      </a:r>
                      <a:endParaRPr sz="1200" b="0" i="0">
                        <a:solidFill>
                          <a:srgbClr val="1F2937"/>
                        </a:solidFill>
                        <a:latin typeface="Calibri" panose="020F0502020204030204"/>
                      </a:endParaRPr>
                    </a:p>
                  </a:txBody>
                  <a:tcPr marL="54864" marR="54864" marT="18288" marB="18288" anchor="ctr">
                    <a:solidFill>
                      <a:srgbClr val="FFFFFF"/>
                    </a:solidFill>
                  </a:tcPr>
                </a:tc>
                <a:tc>
                  <a:txBody>
                    <a:bodyPr wrap="square"/>
                    <a:lstStyle/>
                    <a:p>
                      <a:pPr algn="ctr"/>
                      <a:r>
                        <a:rPr sz="1200" b="0" i="0">
                          <a:solidFill>
                            <a:srgbClr val="1F2937"/>
                          </a:solidFill>
                          <a:latin typeface="Calibri" panose="020F0502020204030204"/>
                        </a:rPr>
                        <a:t>₹3.5 lakh</a:t>
                      </a:r>
                      <a:endParaRPr sz="1200" b="0" i="0">
                        <a:solidFill>
                          <a:srgbClr val="1F2937"/>
                        </a:solidFill>
                        <a:latin typeface="Calibri" panose="020F0502020204030204"/>
                      </a:endParaRPr>
                    </a:p>
                  </a:txBody>
                  <a:tcPr marL="54864" marR="54864" marT="18288" marB="18288" anchor="ctr">
                    <a:solidFill>
                      <a:srgbClr val="FFFFFF"/>
                    </a:solidFill>
                  </a:tcPr>
                </a:tc>
                <a:tc>
                  <a:txBody>
                    <a:bodyPr wrap="square"/>
                    <a:lstStyle/>
                    <a:p>
                      <a:pPr algn="ctr"/>
                      <a:r>
                        <a:rPr sz="1200" b="0" i="0">
                          <a:solidFill>
                            <a:srgbClr val="1F2937"/>
                          </a:solidFill>
                          <a:latin typeface="Calibri" panose="020F0502020204030204"/>
                        </a:rPr>
                        <a:t>₹29.0 lakh</a:t>
                      </a:r>
                      <a:endParaRPr sz="1200" b="0" i="0">
                        <a:solidFill>
                          <a:srgbClr val="1F2937"/>
                        </a:solidFill>
                        <a:latin typeface="Calibri" panose="020F0502020204030204"/>
                      </a:endParaRPr>
                    </a:p>
                  </a:txBody>
                  <a:tcPr marL="54864" marR="54864" marT="18288" marB="18288" anchor="ctr">
                    <a:solidFill>
                      <a:srgbClr val="FFFFFF"/>
                    </a:solidFill>
                  </a:tcPr>
                </a:tc>
              </a:tr>
              <a:tr h="365760">
                <a:tc>
                  <a:txBody>
                    <a:bodyPr wrap="square"/>
                    <a:lstStyle/>
                    <a:p>
                      <a:r>
                        <a:rPr sz="1200" b="0" i="0">
                          <a:solidFill>
                            <a:srgbClr val="1F2937"/>
                          </a:solidFill>
                          <a:latin typeface="Calibri" panose="020F0502020204030204"/>
                        </a:rPr>
                        <a:t>RL agent, no masking</a:t>
                      </a:r>
                      <a:endParaRPr sz="1200" b="0" i="0">
                        <a:solidFill>
                          <a:srgbClr val="1F2937"/>
                        </a:solidFill>
                        <a:latin typeface="Calibri" panose="020F0502020204030204"/>
                      </a:endParaRPr>
                    </a:p>
                  </a:txBody>
                  <a:tcPr marL="54864" marR="54864" marT="18288" marB="18288" anchor="ctr">
                    <a:solidFill>
                      <a:srgbClr val="F1F5F9"/>
                    </a:solidFill>
                  </a:tcPr>
                </a:tc>
                <a:tc>
                  <a:txBody>
                    <a:bodyPr wrap="square"/>
                    <a:lstStyle/>
                    <a:p>
                      <a:pPr algn="ctr"/>
                      <a:r>
                        <a:rPr sz="1200" b="0" i="0">
                          <a:solidFill>
                            <a:srgbClr val="1F2937"/>
                          </a:solidFill>
                          <a:latin typeface="Calibri" panose="020F0502020204030204"/>
                        </a:rPr>
                        <a:t>₹23.7 lakh</a:t>
                      </a:r>
                      <a:endParaRPr sz="1200" b="0" i="0">
                        <a:solidFill>
                          <a:srgbClr val="1F2937"/>
                        </a:solidFill>
                        <a:latin typeface="Calibri" panose="020F0502020204030204"/>
                      </a:endParaRPr>
                    </a:p>
                  </a:txBody>
                  <a:tcPr marL="54864" marR="54864" marT="18288" marB="18288" anchor="ctr">
                    <a:solidFill>
                      <a:srgbClr val="F1F5F9"/>
                    </a:solidFill>
                  </a:tcPr>
                </a:tc>
                <a:tc>
                  <a:txBody>
                    <a:bodyPr wrap="square"/>
                    <a:lstStyle/>
                    <a:p>
                      <a:pPr algn="ctr"/>
                      <a:r>
                        <a:rPr sz="1200" b="0" i="0">
                          <a:solidFill>
                            <a:srgbClr val="1F2937"/>
                          </a:solidFill>
                          <a:latin typeface="Calibri" panose="020F0502020204030204"/>
                        </a:rPr>
                        <a:t>94.8%</a:t>
                      </a:r>
                      <a:endParaRPr sz="1200" b="0" i="0">
                        <a:solidFill>
                          <a:srgbClr val="1F2937"/>
                        </a:solidFill>
                        <a:latin typeface="Calibri" panose="020F0502020204030204"/>
                      </a:endParaRPr>
                    </a:p>
                  </a:txBody>
                  <a:tcPr marL="54864" marR="54864" marT="18288" marB="18288" anchor="ctr">
                    <a:solidFill>
                      <a:srgbClr val="F1F5F9"/>
                    </a:solidFill>
                  </a:tcPr>
                </a:tc>
                <a:tc>
                  <a:txBody>
                    <a:bodyPr wrap="square"/>
                    <a:lstStyle/>
                    <a:p>
                      <a:pPr algn="ctr"/>
                      <a:r>
                        <a:rPr sz="1200" b="0" i="0">
                          <a:solidFill>
                            <a:srgbClr val="1F2937"/>
                          </a:solidFill>
                          <a:latin typeface="Calibri" panose="020F0502020204030204"/>
                        </a:rPr>
                        <a:t>₹14.7 lakh</a:t>
                      </a:r>
                      <a:endParaRPr sz="1200" b="0" i="0">
                        <a:solidFill>
                          <a:srgbClr val="1F2937"/>
                        </a:solidFill>
                        <a:latin typeface="Calibri" panose="020F0502020204030204"/>
                      </a:endParaRPr>
                    </a:p>
                  </a:txBody>
                  <a:tcPr marL="54864" marR="54864" marT="18288" marB="18288" anchor="ctr">
                    <a:solidFill>
                      <a:srgbClr val="F1F5F9"/>
                    </a:solidFill>
                  </a:tcPr>
                </a:tc>
                <a:tc>
                  <a:txBody>
                    <a:bodyPr wrap="square"/>
                    <a:lstStyle/>
                    <a:p>
                      <a:pPr algn="ctr"/>
                      <a:r>
                        <a:rPr sz="1200" b="0" i="0">
                          <a:solidFill>
                            <a:srgbClr val="1F2937"/>
                          </a:solidFill>
                          <a:latin typeface="Calibri" panose="020F0502020204030204"/>
                        </a:rPr>
                        <a:t>₹11.3 lakh</a:t>
                      </a:r>
                      <a:endParaRPr sz="1200" b="0" i="0">
                        <a:solidFill>
                          <a:srgbClr val="1F2937"/>
                        </a:solidFill>
                        <a:latin typeface="Calibri" panose="020F0502020204030204"/>
                      </a:endParaRPr>
                    </a:p>
                  </a:txBody>
                  <a:tcPr marL="54864" marR="54864" marT="18288" marB="18288" anchor="ctr">
                    <a:solidFill>
                      <a:srgbClr val="F1F5F9"/>
                    </a:solidFill>
                  </a:tcPr>
                </a:tc>
              </a:tr>
            </a:tbl>
          </a:graphicData>
        </a:graphic>
      </p:graphicFrame>
      <p:pic>
        <p:nvPicPr>
          <p:cNvPr id="21" name="Picture 20" descr="05_policy_comparison.png"/>
          <p:cNvPicPr>
            <a:picLocks noChangeAspect="1"/>
          </p:cNvPicPr>
          <p:nvPr/>
        </p:nvPicPr>
        <p:blipFill>
          <a:blip r:embed="rId1"/>
          <a:stretch>
            <a:fillRect/>
          </a:stretch>
        </p:blipFill>
        <p:spPr>
          <a:xfrm>
            <a:off x="6903720" y="1371600"/>
            <a:ext cx="4873752" cy="2473798"/>
          </a:xfrm>
          <a:prstGeom prst="rect">
            <a:avLst/>
          </a:prstGeom>
          <a:ln w="12700">
            <a:solidFill>
              <a:srgbClr val="CBD5E1"/>
            </a:solidFill>
          </a:ln>
        </p:spPr>
      </p:pic>
      <p:sp>
        <p:nvSpPr>
          <p:cNvPr id="22" name="Rounded Rectangle 21"/>
          <p:cNvSpPr/>
          <p:nvPr/>
        </p:nvSpPr>
        <p:spPr>
          <a:xfrm>
            <a:off x="411480" y="4937760"/>
            <a:ext cx="2926080" cy="1234440"/>
          </a:xfrm>
          <a:prstGeom prst="roundRect">
            <a:avLst>
              <a:gd name="adj" fmla="val 12000"/>
            </a:avLst>
          </a:prstGeom>
          <a:solidFill>
            <a:srgbClr val="D633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4632" y="4983480"/>
            <a:ext cx="2779776" cy="1143000"/>
          </a:xfrm>
          <a:prstGeom prst="rect">
            <a:avLst/>
          </a:prstGeom>
          <a:noFill/>
        </p:spPr>
        <p:txBody>
          <a:bodyPr wrap="square" lIns="45720" tIns="27432" rIns="45720" bIns="27432" anchor="ctr">
            <a:spAutoFit/>
          </a:bodyPr>
          <a:lstStyle/>
          <a:p>
            <a:pPr algn="ctr">
              <a:spcAft>
                <a:spcPts val="100"/>
              </a:spcAft>
            </a:pPr>
            <a:r>
              <a:rPr sz="3200" b="1" i="0">
                <a:solidFill>
                  <a:srgbClr val="FFFFFF"/>
                </a:solidFill>
                <a:latin typeface="Calibri" panose="020F0502020204030204"/>
              </a:rPr>
              <a:t>90.8%</a:t>
            </a:r>
            <a:endParaRPr sz="3200" b="1" i="0">
              <a:solidFill>
                <a:srgbClr val="FFFFFF"/>
              </a:solidFill>
              <a:latin typeface="Calibri" panose="020F0502020204030204"/>
            </a:endParaRPr>
          </a:p>
          <a:p>
            <a:pPr algn="ctr">
              <a:spcAft>
                <a:spcPts val="400"/>
              </a:spcAft>
            </a:pPr>
            <a:r>
              <a:rPr sz="1300" b="0" i="0">
                <a:solidFill>
                  <a:srgbClr val="FFFFFF"/>
                </a:solidFill>
                <a:latin typeface="Calibri" panose="020F0502020204030204"/>
              </a:rPr>
              <a:t>of the best classical profit</a:t>
            </a:r>
            <a:endParaRPr sz="1300" b="0" i="0">
              <a:solidFill>
                <a:srgbClr val="FFFFFF"/>
              </a:solidFill>
              <a:latin typeface="Calibri" panose="020F0502020204030204"/>
            </a:endParaRPr>
          </a:p>
        </p:txBody>
      </p:sp>
      <p:sp>
        <p:nvSpPr>
          <p:cNvPr id="24" name="Rounded Rectangle 23"/>
          <p:cNvSpPr/>
          <p:nvPr/>
        </p:nvSpPr>
        <p:spPr>
          <a:xfrm>
            <a:off x="3611880" y="4937760"/>
            <a:ext cx="2926080" cy="1234440"/>
          </a:xfrm>
          <a:prstGeom prst="roundRect">
            <a:avLst>
              <a:gd name="adj" fmla="val 12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85032" y="4983480"/>
            <a:ext cx="2779776" cy="1143000"/>
          </a:xfrm>
          <a:prstGeom prst="rect">
            <a:avLst/>
          </a:prstGeom>
          <a:noFill/>
        </p:spPr>
        <p:txBody>
          <a:bodyPr wrap="square" lIns="45720" tIns="27432" rIns="45720" bIns="27432" anchor="ctr">
            <a:spAutoFit/>
          </a:bodyPr>
          <a:lstStyle/>
          <a:p>
            <a:pPr algn="ctr">
              <a:spcAft>
                <a:spcPts val="100"/>
              </a:spcAft>
            </a:pPr>
            <a:r>
              <a:rPr sz="2600" b="1" i="0">
                <a:solidFill>
                  <a:srgbClr val="FFFFFF"/>
                </a:solidFill>
                <a:latin typeface="Calibri" panose="020F0502020204030204"/>
              </a:rPr>
              <a:t>−₹8.1 lakh</a:t>
            </a:r>
            <a:endParaRPr sz="2600" b="1" i="0">
              <a:solidFill>
                <a:srgbClr val="FFFFFF"/>
              </a:solidFill>
              <a:latin typeface="Calibri" panose="020F0502020204030204"/>
            </a:endParaRPr>
          </a:p>
          <a:p>
            <a:pPr algn="ctr">
              <a:spcAft>
                <a:spcPts val="400"/>
              </a:spcAft>
            </a:pPr>
            <a:r>
              <a:rPr sz="1300" b="0" i="0">
                <a:solidFill>
                  <a:srgbClr val="FFFFFF"/>
                </a:solidFill>
                <a:latin typeface="Calibri" panose="020F0502020204030204"/>
              </a:rPr>
              <a:t>gap per run (t = −6.45: a real gap)</a:t>
            </a:r>
            <a:endParaRPr sz="1300" b="0" i="0">
              <a:solidFill>
                <a:srgbClr val="FFFFFF"/>
              </a:solidFill>
              <a:latin typeface="Calibri" panose="020F0502020204030204"/>
            </a:endParaRPr>
          </a:p>
        </p:txBody>
      </p:sp>
      <p:sp>
        <p:nvSpPr>
          <p:cNvPr id="26" name="TextBox 25"/>
          <p:cNvSpPr txBox="1"/>
          <p:nvPr/>
        </p:nvSpPr>
        <p:spPr>
          <a:xfrm>
            <a:off x="6995160" y="4480560"/>
            <a:ext cx="4782312" cy="1737360"/>
          </a:xfrm>
          <a:prstGeom prst="rect">
            <a:avLst/>
          </a:prstGeom>
          <a:noFill/>
        </p:spPr>
        <p:txBody>
          <a:bodyPr wrap="square" lIns="45720" tIns="27432" rIns="45720" bIns="27432" anchor="t">
            <a:spAutoFit/>
          </a:bodyPr>
          <a:lstStyle/>
          <a:p>
            <a:pPr algn="l">
              <a:spcAft>
                <a:spcPts val="500"/>
              </a:spcAft>
            </a:pPr>
            <a:r>
              <a:rPr sz="1500" b="0" i="0">
                <a:solidFill>
                  <a:srgbClr val="1F2937"/>
                </a:solidFill>
                <a:latin typeface="Calibri" panose="020F0502020204030204"/>
              </a:rPr>
              <a:t>The best classical method beats the tuned agent, and the gap is real, not luck (95% range: 5.5–10.6 lakh). The agent does beat two of the four classical methods: EOQ and (s,S).</a:t>
            </a:r>
            <a:endParaRPr sz="1500" b="0" i="0">
              <a:solidFill>
                <a:srgbClr val="1F2937"/>
              </a:solidFill>
              <a:latin typeface="Calibri" panose="020F0502020204030204"/>
            </a:endParaRPr>
          </a:p>
          <a:p>
            <a:pPr algn="l">
              <a:spcAft>
                <a:spcPts val="400"/>
              </a:spcAft>
            </a:pPr>
            <a:r>
              <a:rPr sz="1200" b="0" i="0">
                <a:solidFill>
                  <a:srgbClr val="5B6573"/>
                </a:solidFill>
                <a:latin typeface="Calibri" panose="020F0502020204030204"/>
              </a:rPr>
              <a:t>Average profit per 180-day run over 30 unseen test runs. Rupees at 1 GBP = 105.</a:t>
            </a:r>
            <a:endParaRPr sz="1200" b="0" i="0">
              <a:solidFill>
                <a:srgbClr val="5B6573"/>
              </a:solidFill>
              <a:latin typeface="Calibri" panose="020F0502020204030204"/>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 name="Rectangle 16"/>
          <p:cNvSpPr/>
          <p:nvPr/>
        </p:nvSpPr>
        <p:spPr>
          <a:xfrm>
            <a:off x="-1" y="0"/>
            <a:ext cx="12191998" cy="1262131"/>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4400" dirty="0">
              <a:solidFill>
                <a:schemeClr val="accent1">
                  <a:lumMod val="50000"/>
                </a:schemeClr>
              </a:solidFill>
            </a:endParaRPr>
          </a:p>
        </p:txBody>
      </p:sp>
      <p:sp>
        <p:nvSpPr>
          <p:cNvPr id="10" name="Google Shape;91;p1"/>
          <p:cNvSpPr txBox="1"/>
          <p:nvPr/>
        </p:nvSpPr>
        <p:spPr>
          <a:xfrm>
            <a:off x="-1" y="6416040"/>
            <a:ext cx="12191998" cy="441960"/>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None/>
            </a:pPr>
            <a:r>
              <a:rPr lang="en-IN" sz="1600" b="1" i="0" u="none" strike="noStrike" cap="none" dirty="0">
                <a:solidFill>
                  <a:srgbClr val="081271"/>
                </a:solidFill>
                <a:latin typeface="Times New Roman" panose="02020603050405020304"/>
                <a:ea typeface="Times New Roman" panose="02020603050405020304"/>
                <a:cs typeface="Times New Roman" panose="02020603050405020304"/>
                <a:sym typeface="Times New Roman" panose="02020603050405020304"/>
              </a:rPr>
              <a:t>[Final Project Review]</a:t>
            </a:r>
            <a:endParaRPr sz="1600" b="1" i="0" u="none" strike="noStrike" cap="none" dirty="0">
              <a:solidFill>
                <a:srgbClr val="08127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16" name="Straight Connector 15"/>
          <p:cNvCxnSpPr/>
          <p:nvPr/>
        </p:nvCxnSpPr>
        <p:spPr>
          <a:xfrm>
            <a:off x="0" y="1260899"/>
            <a:ext cx="12192000" cy="0"/>
          </a:xfrm>
          <a:prstGeom prst="line">
            <a:avLst/>
          </a:prstGeom>
          <a:ln w="28575">
            <a:solidFill>
              <a:srgbClr val="1A9B46"/>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sz="3200"/>
              <a:t>Results (2/4): What Each Step Was Worth</a:t>
            </a:r>
            <a:endParaRPr sz="3200"/>
          </a:p>
        </p:txBody>
      </p:sp>
      <p:sp>
        <p:nvSpPr>
          <p:cNvPr id="19" name="Slide Number Placeholder 18"/>
          <p:cNvSpPr>
            <a:spLocks noGrp="1"/>
          </p:cNvSpPr>
          <p:nvPr>
            <p:ph type="sldNum" sz="quarter" idx="12"/>
          </p:nvPr>
        </p:nvSpPr>
        <p:spPr/>
        <p:txBody>
          <a:bodyPr/>
          <a:lstStyle/>
          <a:p>
            <a:fld id="{C2216105-7B7A-4C42-B2A1-5E9A2FA4F8FD}" type="slidenum">
              <a:rPr lang="en-IN" smtClean="0"/>
            </a:fld>
            <a:endParaRPr lang="en-IN" dirty="0"/>
          </a:p>
        </p:txBody>
      </p:sp>
      <p:graphicFrame>
        <p:nvGraphicFramePr>
          <p:cNvPr id="20" name="Table 19"/>
          <p:cNvGraphicFramePr>
            <a:graphicFrameLocks noGrp="1"/>
          </p:cNvGraphicFramePr>
          <p:nvPr/>
        </p:nvGraphicFramePr>
        <p:xfrm>
          <a:off x="411480" y="1371600"/>
          <a:ext cx="6035040" cy="2011680"/>
        </p:xfrm>
        <a:graphic>
          <a:graphicData uri="http://schemas.openxmlformats.org/drawingml/2006/table">
            <a:tbl>
              <a:tblPr firstRow="1" bandRow="1">
                <a:tableStyleId>{5C22544A-7EE6-4342-B048-85BDC9FD1C3A}</a:tableStyleId>
              </a:tblPr>
              <a:tblGrid>
                <a:gridCol w="2194560"/>
                <a:gridCol w="1188720"/>
                <a:gridCol w="1188720"/>
                <a:gridCol w="1463040"/>
              </a:tblGrid>
              <a:tr h="502920">
                <a:tc>
                  <a:txBody>
                    <a:bodyPr wrap="square"/>
                    <a:lstStyle/>
                    <a:p>
                      <a:pPr algn="l"/>
                      <a:r>
                        <a:rPr sz="1400" b="1" i="0">
                          <a:solidFill>
                            <a:srgbClr val="FFFFFF"/>
                          </a:solidFill>
                          <a:latin typeface="Calibri" panose="020F0502020204030204"/>
                        </a:rPr>
                        <a:t>Step</a:t>
                      </a:r>
                      <a:endParaRPr sz="1400" b="1" i="0">
                        <a:solidFill>
                          <a:srgbClr val="FFFFFF"/>
                        </a:solidFill>
                        <a:latin typeface="Calibri" panose="020F0502020204030204"/>
                      </a:endParaRPr>
                    </a:p>
                  </a:txBody>
                  <a:tcPr marL="54864" marR="54864" marT="18288" marB="18288" anchor="ctr">
                    <a:solidFill>
                      <a:srgbClr val="2E8B57"/>
                    </a:solidFill>
                  </a:tcPr>
                </a:tc>
                <a:tc>
                  <a:txBody>
                    <a:bodyPr wrap="square"/>
                    <a:lstStyle/>
                    <a:p>
                      <a:pPr algn="ctr"/>
                      <a:r>
                        <a:rPr sz="1400" b="1" i="0">
                          <a:solidFill>
                            <a:srgbClr val="FFFFFF"/>
                          </a:solidFill>
                          <a:latin typeface="Calibri" panose="020F0502020204030204"/>
                        </a:rPr>
                        <a:t>Practice score</a:t>
                      </a:r>
                      <a:endParaRPr sz="1400" b="1" i="0">
                        <a:solidFill>
                          <a:srgbClr val="FFFFFF"/>
                        </a:solidFill>
                        <a:latin typeface="Calibri" panose="020F0502020204030204"/>
                      </a:endParaRPr>
                    </a:p>
                  </a:txBody>
                  <a:tcPr marL="54864" marR="54864" marT="18288" marB="18288" anchor="ctr">
                    <a:solidFill>
                      <a:srgbClr val="2E8B57"/>
                    </a:solidFill>
                  </a:tcPr>
                </a:tc>
                <a:tc>
                  <a:txBody>
                    <a:bodyPr wrap="square"/>
                    <a:lstStyle/>
                    <a:p>
                      <a:pPr algn="ctr"/>
                      <a:r>
                        <a:rPr sz="1400" b="1" i="0">
                          <a:solidFill>
                            <a:srgbClr val="FFFFFF"/>
                          </a:solidFill>
                          <a:latin typeface="Calibri" panose="020F0502020204030204"/>
                        </a:rPr>
                        <a:t>Test score</a:t>
                      </a:r>
                      <a:endParaRPr sz="1400" b="1" i="0">
                        <a:solidFill>
                          <a:srgbClr val="FFFFFF"/>
                        </a:solidFill>
                        <a:latin typeface="Calibri" panose="020F0502020204030204"/>
                      </a:endParaRPr>
                    </a:p>
                  </a:txBody>
                  <a:tcPr marL="54864" marR="54864" marT="18288" marB="18288" anchor="ctr">
                    <a:solidFill>
                      <a:srgbClr val="2E8B57"/>
                    </a:solidFill>
                  </a:tcPr>
                </a:tc>
                <a:tc>
                  <a:txBody>
                    <a:bodyPr wrap="square"/>
                    <a:lstStyle/>
                    <a:p>
                      <a:pPr algn="ctr"/>
                      <a:r>
                        <a:rPr sz="1400" b="1" i="0">
                          <a:solidFill>
                            <a:srgbClr val="FFFFFF"/>
                          </a:solidFill>
                          <a:latin typeface="Calibri" panose="020F0502020204030204"/>
                        </a:rPr>
                        <a:t>Gap to classical</a:t>
                      </a:r>
                      <a:endParaRPr sz="1400" b="1" i="0">
                        <a:solidFill>
                          <a:srgbClr val="FFFFFF"/>
                        </a:solidFill>
                        <a:latin typeface="Calibri" panose="020F0502020204030204"/>
                      </a:endParaRPr>
                    </a:p>
                  </a:txBody>
                  <a:tcPr marL="54864" marR="54864" marT="18288" marB="18288" anchor="ctr">
                    <a:solidFill>
                      <a:srgbClr val="2E8B57"/>
                    </a:solidFill>
                  </a:tcPr>
                </a:tc>
              </a:tr>
              <a:tr h="502920">
                <a:tc>
                  <a:txBody>
                    <a:bodyPr wrap="square"/>
                    <a:lstStyle/>
                    <a:p>
                      <a:r>
                        <a:rPr sz="1400" b="0" i="0">
                          <a:solidFill>
                            <a:srgbClr val="1F2937"/>
                          </a:solidFill>
                          <a:latin typeface="Calibri" panose="020F0502020204030204"/>
                        </a:rPr>
                        <a:t>Basic RL (no masking)</a:t>
                      </a:r>
                      <a:endParaRPr sz="1400" b="0" i="0">
                        <a:solidFill>
                          <a:srgbClr val="1F2937"/>
                        </a:solidFill>
                        <a:latin typeface="Calibri" panose="020F0502020204030204"/>
                      </a:endParaRPr>
                    </a:p>
                  </a:txBody>
                  <a:tcPr marL="54864" marR="54864" marT="18288" marB="18288" anchor="ctr">
                    <a:solidFill>
                      <a:srgbClr val="FFFFFF"/>
                    </a:solidFill>
                  </a:tcPr>
                </a:tc>
                <a:tc>
                  <a:txBody>
                    <a:bodyPr wrap="square"/>
                    <a:lstStyle/>
                    <a:p>
                      <a:pPr algn="ctr"/>
                      <a:r>
                        <a:rPr sz="1400" b="0" i="0">
                          <a:solidFill>
                            <a:srgbClr val="1F2937"/>
                          </a:solidFill>
                          <a:latin typeface="Calibri" panose="020F0502020204030204"/>
                        </a:rPr>
                        <a:t>24.9 lakh</a:t>
                      </a:r>
                      <a:endParaRPr sz="1400" b="0" i="0">
                        <a:solidFill>
                          <a:srgbClr val="1F2937"/>
                        </a:solidFill>
                        <a:latin typeface="Calibri" panose="020F0502020204030204"/>
                      </a:endParaRPr>
                    </a:p>
                  </a:txBody>
                  <a:tcPr marL="54864" marR="54864" marT="18288" marB="18288" anchor="ctr">
                    <a:solidFill>
                      <a:srgbClr val="FFFFFF"/>
                    </a:solidFill>
                  </a:tcPr>
                </a:tc>
                <a:tc>
                  <a:txBody>
                    <a:bodyPr wrap="square"/>
                    <a:lstStyle/>
                    <a:p>
                      <a:pPr algn="ctr"/>
                      <a:r>
                        <a:rPr sz="1400" b="0" i="0">
                          <a:solidFill>
                            <a:srgbClr val="1F2937"/>
                          </a:solidFill>
                          <a:latin typeface="Calibri" panose="020F0502020204030204"/>
                        </a:rPr>
                        <a:t>23.7 lakh</a:t>
                      </a:r>
                      <a:endParaRPr sz="1400" b="0" i="0">
                        <a:solidFill>
                          <a:srgbClr val="1F2937"/>
                        </a:solidFill>
                        <a:latin typeface="Calibri" panose="020F0502020204030204"/>
                      </a:endParaRPr>
                    </a:p>
                  </a:txBody>
                  <a:tcPr marL="54864" marR="54864" marT="18288" marB="18288" anchor="ctr">
                    <a:solidFill>
                      <a:srgbClr val="FFFFFF"/>
                    </a:solidFill>
                  </a:tcPr>
                </a:tc>
                <a:tc>
                  <a:txBody>
                    <a:bodyPr wrap="square"/>
                    <a:lstStyle/>
                    <a:p>
                      <a:pPr algn="ctr"/>
                      <a:r>
                        <a:rPr sz="1400" b="0" i="0">
                          <a:solidFill>
                            <a:srgbClr val="1F2937"/>
                          </a:solidFill>
                          <a:latin typeface="Calibri" panose="020F0502020204030204"/>
                        </a:rPr>
                        <a:t>−64.1 lakh</a:t>
                      </a:r>
                      <a:endParaRPr sz="1400" b="0" i="0">
                        <a:solidFill>
                          <a:srgbClr val="1F2937"/>
                        </a:solidFill>
                        <a:latin typeface="Calibri" panose="020F0502020204030204"/>
                      </a:endParaRPr>
                    </a:p>
                  </a:txBody>
                  <a:tcPr marL="54864" marR="54864" marT="18288" marB="18288" anchor="ctr">
                    <a:solidFill>
                      <a:srgbClr val="FFFFFF"/>
                    </a:solidFill>
                  </a:tcPr>
                </a:tc>
              </a:tr>
              <a:tr h="502920">
                <a:tc>
                  <a:txBody>
                    <a:bodyPr wrap="square"/>
                    <a:lstStyle/>
                    <a:p>
                      <a:r>
                        <a:rPr sz="1400" b="0" i="0">
                          <a:solidFill>
                            <a:srgbClr val="1F2937"/>
                          </a:solidFill>
                          <a:latin typeface="Calibri" panose="020F0502020204030204"/>
                        </a:rPr>
                        <a:t>+ masking (block bad choices)</a:t>
                      </a:r>
                      <a:endParaRPr sz="1400" b="0" i="0">
                        <a:solidFill>
                          <a:srgbClr val="1F2937"/>
                        </a:solidFill>
                        <a:latin typeface="Calibri" panose="020F0502020204030204"/>
                      </a:endParaRPr>
                    </a:p>
                  </a:txBody>
                  <a:tcPr marL="54864" marR="54864" marT="18288" marB="18288" anchor="ctr">
                    <a:solidFill>
                      <a:srgbClr val="F1F5F9"/>
                    </a:solidFill>
                  </a:tcPr>
                </a:tc>
                <a:tc>
                  <a:txBody>
                    <a:bodyPr wrap="square"/>
                    <a:lstStyle/>
                    <a:p>
                      <a:pPr algn="ctr"/>
                      <a:r>
                        <a:rPr sz="1400" b="0" i="0">
                          <a:solidFill>
                            <a:srgbClr val="1F2937"/>
                          </a:solidFill>
                          <a:latin typeface="Calibri" panose="020F0502020204030204"/>
                        </a:rPr>
                        <a:t>76.4 lakh</a:t>
                      </a:r>
                      <a:endParaRPr sz="1400" b="0" i="0">
                        <a:solidFill>
                          <a:srgbClr val="1F2937"/>
                        </a:solidFill>
                        <a:latin typeface="Calibri" panose="020F0502020204030204"/>
                      </a:endParaRPr>
                    </a:p>
                  </a:txBody>
                  <a:tcPr marL="54864" marR="54864" marT="18288" marB="18288" anchor="ctr">
                    <a:solidFill>
                      <a:srgbClr val="F1F5F9"/>
                    </a:solidFill>
                  </a:tcPr>
                </a:tc>
                <a:tc>
                  <a:txBody>
                    <a:bodyPr wrap="square"/>
                    <a:lstStyle/>
                    <a:p>
                      <a:pPr algn="ctr"/>
                      <a:r>
                        <a:rPr sz="1400" b="0" i="0">
                          <a:solidFill>
                            <a:srgbClr val="1F2937"/>
                          </a:solidFill>
                          <a:latin typeface="Calibri" panose="020F0502020204030204"/>
                        </a:rPr>
                        <a:t>74.8 lakh</a:t>
                      </a:r>
                      <a:endParaRPr sz="1400" b="0" i="0">
                        <a:solidFill>
                          <a:srgbClr val="1F2937"/>
                        </a:solidFill>
                        <a:latin typeface="Calibri" panose="020F0502020204030204"/>
                      </a:endParaRPr>
                    </a:p>
                  </a:txBody>
                  <a:tcPr marL="54864" marR="54864" marT="18288" marB="18288" anchor="ctr">
                    <a:solidFill>
                      <a:srgbClr val="F1F5F9"/>
                    </a:solidFill>
                  </a:tcPr>
                </a:tc>
                <a:tc>
                  <a:txBody>
                    <a:bodyPr wrap="square"/>
                    <a:lstStyle/>
                    <a:p>
                      <a:pPr algn="ctr"/>
                      <a:r>
                        <a:rPr sz="1400" b="0" i="0">
                          <a:solidFill>
                            <a:srgbClr val="1F2937"/>
                          </a:solidFill>
                          <a:latin typeface="Calibri" panose="020F0502020204030204"/>
                        </a:rPr>
                        <a:t>−13.0 lakh</a:t>
                      </a:r>
                      <a:endParaRPr sz="1400" b="0" i="0">
                        <a:solidFill>
                          <a:srgbClr val="1F2937"/>
                        </a:solidFill>
                        <a:latin typeface="Calibri" panose="020F0502020204030204"/>
                      </a:endParaRPr>
                    </a:p>
                  </a:txBody>
                  <a:tcPr marL="54864" marR="54864" marT="18288" marB="18288" anchor="ctr">
                    <a:solidFill>
                      <a:srgbClr val="F1F5F9"/>
                    </a:solidFill>
                  </a:tcPr>
                </a:tc>
              </a:tr>
              <a:tr h="502920">
                <a:tc>
                  <a:txBody>
                    <a:bodyPr wrap="square"/>
                    <a:lstStyle/>
                    <a:p>
                      <a:r>
                        <a:rPr sz="1400" b="1" i="0">
                          <a:solidFill>
                            <a:srgbClr val="1F2937"/>
                          </a:solidFill>
                          <a:latin typeface="Calibri" panose="020F0502020204030204"/>
                        </a:rPr>
                        <a:t>+ tuning, 2M steps</a:t>
                      </a:r>
                      <a:endParaRPr sz="1400" b="1" i="0">
                        <a:solidFill>
                          <a:srgbClr val="1F2937"/>
                        </a:solidFill>
                        <a:latin typeface="Calibri" panose="020F0502020204030204"/>
                      </a:endParaRPr>
                    </a:p>
                  </a:txBody>
                  <a:tcPr marL="54864" marR="54864" marT="18288" marB="18288" anchor="ctr">
                    <a:solidFill>
                      <a:srgbClr val="E6F4EA"/>
                    </a:solidFill>
                  </a:tcPr>
                </a:tc>
                <a:tc>
                  <a:txBody>
                    <a:bodyPr wrap="square"/>
                    <a:lstStyle/>
                    <a:p>
                      <a:pPr algn="ctr"/>
                      <a:r>
                        <a:rPr sz="1400" b="1" i="0">
                          <a:solidFill>
                            <a:srgbClr val="1F2937"/>
                          </a:solidFill>
                          <a:latin typeface="Calibri" panose="020F0502020204030204"/>
                        </a:rPr>
                        <a:t>86.2 lakh</a:t>
                      </a:r>
                      <a:endParaRPr sz="1400" b="1" i="0">
                        <a:solidFill>
                          <a:srgbClr val="1F2937"/>
                        </a:solidFill>
                        <a:latin typeface="Calibri" panose="020F0502020204030204"/>
                      </a:endParaRPr>
                    </a:p>
                  </a:txBody>
                  <a:tcPr marL="54864" marR="54864" marT="18288" marB="18288" anchor="ctr">
                    <a:solidFill>
                      <a:srgbClr val="E6F4EA"/>
                    </a:solidFill>
                  </a:tcPr>
                </a:tc>
                <a:tc>
                  <a:txBody>
                    <a:bodyPr wrap="square"/>
                    <a:lstStyle/>
                    <a:p>
                      <a:pPr algn="ctr"/>
                      <a:r>
                        <a:rPr sz="1400" b="1" i="0">
                          <a:solidFill>
                            <a:srgbClr val="1F2937"/>
                          </a:solidFill>
                          <a:latin typeface="Calibri" panose="020F0502020204030204"/>
                        </a:rPr>
                        <a:t>79.7 lakh</a:t>
                      </a:r>
                      <a:endParaRPr sz="1400" b="1" i="0">
                        <a:solidFill>
                          <a:srgbClr val="1F2937"/>
                        </a:solidFill>
                        <a:latin typeface="Calibri" panose="020F0502020204030204"/>
                      </a:endParaRPr>
                    </a:p>
                  </a:txBody>
                  <a:tcPr marL="54864" marR="54864" marT="18288" marB="18288" anchor="ctr">
                    <a:solidFill>
                      <a:srgbClr val="E6F4EA"/>
                    </a:solidFill>
                  </a:tcPr>
                </a:tc>
                <a:tc>
                  <a:txBody>
                    <a:bodyPr wrap="square"/>
                    <a:lstStyle/>
                    <a:p>
                      <a:pPr algn="ctr"/>
                      <a:r>
                        <a:rPr sz="1400" b="1" i="0">
                          <a:solidFill>
                            <a:srgbClr val="1F2937"/>
                          </a:solidFill>
                          <a:latin typeface="Calibri" panose="020F0502020204030204"/>
                        </a:rPr>
                        <a:t>−8.1 lakh</a:t>
                      </a:r>
                      <a:endParaRPr sz="1400" b="1" i="0">
                        <a:solidFill>
                          <a:srgbClr val="1F2937"/>
                        </a:solidFill>
                        <a:latin typeface="Calibri" panose="020F0502020204030204"/>
                      </a:endParaRPr>
                    </a:p>
                  </a:txBody>
                  <a:tcPr marL="54864" marR="54864" marT="18288" marB="18288" anchor="ctr">
                    <a:solidFill>
                      <a:srgbClr val="E6F4EA"/>
                    </a:solidFill>
                  </a:tcPr>
                </a:tc>
              </a:tr>
            </a:tbl>
          </a:graphicData>
        </a:graphic>
      </p:graphicFrame>
      <p:sp>
        <p:nvSpPr>
          <p:cNvPr id="21" name="TextBox 20"/>
          <p:cNvSpPr txBox="1"/>
          <p:nvPr/>
        </p:nvSpPr>
        <p:spPr>
          <a:xfrm>
            <a:off x="411480" y="3566160"/>
            <a:ext cx="6035040" cy="2743200"/>
          </a:xfrm>
          <a:prstGeom prst="rect">
            <a:avLst/>
          </a:prstGeom>
          <a:noFill/>
        </p:spPr>
        <p:txBody>
          <a:bodyPr wrap="square" lIns="45720" tIns="27432" rIns="45720" bIns="27432" anchor="t">
            <a:spAutoFit/>
          </a:bodyPr>
          <a:lstStyle/>
          <a:p>
            <a:pPr algn="l">
              <a:spcAft>
                <a:spcPts val="800"/>
              </a:spcAft>
            </a:pPr>
            <a:r>
              <a:rPr sz="1600" b="1" i="0">
                <a:solidFill>
                  <a:srgbClr val="D6336C"/>
                </a:solidFill>
                <a:latin typeface="Calibri" panose="020F0502020204030204"/>
              </a:rPr>
              <a:t>•  Masking: about 3×. </a:t>
            </a:r>
            <a:r>
              <a:rPr sz="1600" b="0" i="0">
                <a:solidFill>
                  <a:srgbClr val="1F2937"/>
                </a:solidFill>
                <a:latin typeface="Calibri" panose="020F0502020204030204"/>
              </a:rPr>
              <a:t>Without it, the agent wastes most of its training on choices that can never work.</a:t>
            </a:r>
            <a:endParaRPr sz="1600" b="0" i="0">
              <a:solidFill>
                <a:srgbClr val="1F2937"/>
              </a:solidFill>
              <a:latin typeface="Calibri" panose="020F0502020204030204"/>
            </a:endParaRPr>
          </a:p>
          <a:p>
            <a:pPr algn="l">
              <a:spcAft>
                <a:spcPts val="800"/>
              </a:spcAft>
            </a:pPr>
            <a:r>
              <a:rPr sz="1600" b="1" i="0">
                <a:solidFill>
                  <a:srgbClr val="1B5E3A"/>
                </a:solidFill>
                <a:latin typeface="Calibri" panose="020F0502020204030204"/>
              </a:rPr>
              <a:t>•  Tuning: closed 38% of what was left. </a:t>
            </a:r>
            <a:r>
              <a:rPr sz="1600" b="0" i="0">
                <a:solidFill>
                  <a:srgbClr val="1F2937"/>
                </a:solidFill>
                <a:latin typeface="Calibri" panose="020F0502020204030204"/>
              </a:rPr>
              <a:t>The gap shrank from 13.0 to 8.1 lakh.</a:t>
            </a:r>
            <a:endParaRPr sz="1600" b="0" i="0">
              <a:solidFill>
                <a:srgbClr val="1F2937"/>
              </a:solidFill>
              <a:latin typeface="Calibri" panose="020F0502020204030204"/>
            </a:endParaRPr>
          </a:p>
          <a:p>
            <a:pPr algn="l">
              <a:spcAft>
                <a:spcPts val="400"/>
              </a:spcAft>
            </a:pPr>
            <a:r>
              <a:rPr sz="1200" b="0" i="0">
                <a:solidFill>
                  <a:srgbClr val="5B6573"/>
                </a:solidFill>
                <a:latin typeface="Calibri" panose="020F0502020204030204"/>
              </a:rPr>
              <a:t>Practice scores use runs 900–905; test scores use unseen runs 500–529.</a:t>
            </a:r>
            <a:endParaRPr sz="1200" b="0" i="0">
              <a:solidFill>
                <a:srgbClr val="5B6573"/>
              </a:solidFill>
              <a:latin typeface="Calibri" panose="020F0502020204030204"/>
            </a:endParaRPr>
          </a:p>
        </p:txBody>
      </p:sp>
      <p:pic>
        <p:nvPicPr>
          <p:cNvPr id="22" name="Picture 21" descr="06_training_curves.png"/>
          <p:cNvPicPr>
            <a:picLocks noChangeAspect="1"/>
          </p:cNvPicPr>
          <p:nvPr/>
        </p:nvPicPr>
        <p:blipFill>
          <a:blip r:embed="rId1"/>
          <a:stretch>
            <a:fillRect/>
          </a:stretch>
        </p:blipFill>
        <p:spPr>
          <a:xfrm>
            <a:off x="6720840" y="1371600"/>
            <a:ext cx="5056632" cy="2442123"/>
          </a:xfrm>
          <a:prstGeom prst="rect">
            <a:avLst/>
          </a:prstGeom>
          <a:ln w="12700">
            <a:solidFill>
              <a:srgbClr val="CBD5E1"/>
            </a:solidFill>
          </a:ln>
        </p:spPr>
      </p:pic>
      <p:sp>
        <p:nvSpPr>
          <p:cNvPr id="23" name="TextBox 22"/>
          <p:cNvSpPr txBox="1"/>
          <p:nvPr/>
        </p:nvSpPr>
        <p:spPr>
          <a:xfrm>
            <a:off x="6720840" y="3841155"/>
            <a:ext cx="5056632" cy="292608"/>
          </a:xfrm>
          <a:prstGeom prst="rect">
            <a:avLst/>
          </a:prstGeom>
          <a:noFill/>
        </p:spPr>
        <p:txBody>
          <a:bodyPr wrap="square" lIns="45720" tIns="27432" rIns="45720" bIns="27432" anchor="t">
            <a:spAutoFit/>
          </a:bodyPr>
          <a:lstStyle/>
          <a:p>
            <a:pPr algn="ctr">
              <a:spcAft>
                <a:spcPts val="400"/>
              </a:spcAft>
            </a:pPr>
            <a:r>
              <a:rPr sz="1200" b="0" i="0">
                <a:solidFill>
                  <a:srgbClr val="5B6573"/>
                </a:solidFill>
                <a:latin typeface="Calibri" panose="020F0502020204030204"/>
              </a:rPr>
              <a:t>Learning curves: no masking, masking, tuned</a:t>
            </a:r>
            <a:endParaRPr sz="1200" b="0" i="0">
              <a:solidFill>
                <a:srgbClr val="5B6573"/>
              </a:solidFill>
              <a:latin typeface="Calibri" panose="020F0502020204030204"/>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 name="Rectangle 16"/>
          <p:cNvSpPr/>
          <p:nvPr/>
        </p:nvSpPr>
        <p:spPr>
          <a:xfrm>
            <a:off x="-1" y="0"/>
            <a:ext cx="12191998" cy="1262131"/>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4400" dirty="0">
              <a:solidFill>
                <a:schemeClr val="accent1">
                  <a:lumMod val="50000"/>
                </a:schemeClr>
              </a:solidFill>
            </a:endParaRPr>
          </a:p>
        </p:txBody>
      </p:sp>
      <p:sp>
        <p:nvSpPr>
          <p:cNvPr id="10" name="Google Shape;91;p1"/>
          <p:cNvSpPr txBox="1"/>
          <p:nvPr/>
        </p:nvSpPr>
        <p:spPr>
          <a:xfrm>
            <a:off x="-1" y="6416040"/>
            <a:ext cx="12191998" cy="441960"/>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None/>
            </a:pPr>
            <a:r>
              <a:rPr lang="en-IN" sz="1600" b="1" i="0" u="none" strike="noStrike" cap="none" dirty="0">
                <a:solidFill>
                  <a:srgbClr val="081271"/>
                </a:solidFill>
                <a:latin typeface="Times New Roman" panose="02020603050405020304"/>
                <a:ea typeface="Times New Roman" panose="02020603050405020304"/>
                <a:cs typeface="Times New Roman" panose="02020603050405020304"/>
                <a:sym typeface="Times New Roman" panose="02020603050405020304"/>
              </a:rPr>
              <a:t>[Final Project Review]</a:t>
            </a:r>
            <a:endParaRPr sz="1600" b="1" i="0" u="none" strike="noStrike" cap="none" dirty="0">
              <a:solidFill>
                <a:srgbClr val="08127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16" name="Straight Connector 15"/>
          <p:cNvCxnSpPr/>
          <p:nvPr/>
        </p:nvCxnSpPr>
        <p:spPr>
          <a:xfrm>
            <a:off x="0" y="1260899"/>
            <a:ext cx="12192000" cy="0"/>
          </a:xfrm>
          <a:prstGeom prst="line">
            <a:avLst/>
          </a:prstGeom>
          <a:ln w="28575">
            <a:solidFill>
              <a:srgbClr val="1A9B46"/>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sz="3200"/>
              <a:t>Results (3/4): Coping with Unseen Crises</a:t>
            </a:r>
            <a:endParaRPr sz="3200"/>
          </a:p>
        </p:txBody>
      </p:sp>
      <p:sp>
        <p:nvSpPr>
          <p:cNvPr id="19" name="Slide Number Placeholder 18"/>
          <p:cNvSpPr>
            <a:spLocks noGrp="1"/>
          </p:cNvSpPr>
          <p:nvPr>
            <p:ph type="sldNum" sz="quarter" idx="12"/>
          </p:nvPr>
        </p:nvSpPr>
        <p:spPr/>
        <p:txBody>
          <a:bodyPr/>
          <a:lstStyle/>
          <a:p>
            <a:fld id="{C2216105-7B7A-4C42-B2A1-5E9A2FA4F8FD}" type="slidenum">
              <a:rPr lang="en-IN" smtClean="0"/>
            </a:fld>
            <a:endParaRPr lang="en-IN" dirty="0"/>
          </a:p>
        </p:txBody>
      </p:sp>
      <p:graphicFrame>
        <p:nvGraphicFramePr>
          <p:cNvPr id="20" name="Table 19"/>
          <p:cNvGraphicFramePr>
            <a:graphicFrameLocks noGrp="1"/>
          </p:cNvGraphicFramePr>
          <p:nvPr/>
        </p:nvGraphicFramePr>
        <p:xfrm>
          <a:off x="411480" y="1371600"/>
          <a:ext cx="6766557" cy="2514600"/>
        </p:xfrm>
        <a:graphic>
          <a:graphicData uri="http://schemas.openxmlformats.org/drawingml/2006/table">
            <a:tbl>
              <a:tblPr firstRow="1" bandRow="1">
                <a:tableStyleId>{5C22544A-7EE6-4342-B048-85BDC9FD1C3A}</a:tableStyleId>
              </a:tblPr>
              <a:tblGrid>
                <a:gridCol w="3286614"/>
                <a:gridCol w="1256646"/>
                <a:gridCol w="1256646"/>
                <a:gridCol w="966651"/>
              </a:tblGrid>
              <a:tr h="502920">
                <a:tc>
                  <a:txBody>
                    <a:bodyPr wrap="square"/>
                    <a:lstStyle/>
                    <a:p>
                      <a:pPr algn="l"/>
                      <a:r>
                        <a:rPr sz="1400" b="1" i="0">
                          <a:solidFill>
                            <a:srgbClr val="FFFFFF"/>
                          </a:solidFill>
                          <a:latin typeface="Calibri" panose="020F0502020204030204"/>
                        </a:rPr>
                        <a:t>Method</a:t>
                      </a:r>
                      <a:endParaRPr sz="1400" b="1" i="0">
                        <a:solidFill>
                          <a:srgbClr val="FFFFFF"/>
                        </a:solidFill>
                        <a:latin typeface="Calibri" panose="020F0502020204030204"/>
                      </a:endParaRPr>
                    </a:p>
                  </a:txBody>
                  <a:tcPr marL="54864" marR="54864" marT="18288" marB="18288" anchor="ctr">
                    <a:solidFill>
                      <a:srgbClr val="2E8B57"/>
                    </a:solidFill>
                  </a:tcPr>
                </a:tc>
                <a:tc>
                  <a:txBody>
                    <a:bodyPr wrap="square"/>
                    <a:lstStyle/>
                    <a:p>
                      <a:pPr algn="ctr"/>
                      <a:r>
                        <a:rPr sz="1400" b="1" i="0">
                          <a:solidFill>
                            <a:srgbClr val="FFFFFF"/>
                          </a:solidFill>
                          <a:latin typeface="Calibri" panose="020F0502020204030204"/>
                        </a:rPr>
                        <a:t>Normal</a:t>
                      </a:r>
                      <a:endParaRPr sz="1400" b="1" i="0">
                        <a:solidFill>
                          <a:srgbClr val="FFFFFF"/>
                        </a:solidFill>
                        <a:latin typeface="Calibri" panose="020F0502020204030204"/>
                      </a:endParaRPr>
                    </a:p>
                  </a:txBody>
                  <a:tcPr marL="54864" marR="54864" marT="18288" marB="18288" anchor="ctr">
                    <a:solidFill>
                      <a:srgbClr val="2E8B57"/>
                    </a:solidFill>
                  </a:tcPr>
                </a:tc>
                <a:tc>
                  <a:txBody>
                    <a:bodyPr wrap="square"/>
                    <a:lstStyle/>
                    <a:p>
                      <a:pPr algn="ctr"/>
                      <a:r>
                        <a:rPr sz="1400" b="1" i="0">
                          <a:solidFill>
                            <a:srgbClr val="FFFFFF"/>
                          </a:solidFill>
                          <a:latin typeface="Calibri" panose="020F0502020204030204"/>
                        </a:rPr>
                        <a:t>Crisis</a:t>
                      </a:r>
                      <a:endParaRPr sz="1400" b="1" i="0">
                        <a:solidFill>
                          <a:srgbClr val="FFFFFF"/>
                        </a:solidFill>
                        <a:latin typeface="Calibri" panose="020F0502020204030204"/>
                      </a:endParaRPr>
                    </a:p>
                  </a:txBody>
                  <a:tcPr marL="54864" marR="54864" marT="18288" marB="18288" anchor="ctr">
                    <a:solidFill>
                      <a:srgbClr val="2E8B57"/>
                    </a:solidFill>
                  </a:tcPr>
                </a:tc>
                <a:tc>
                  <a:txBody>
                    <a:bodyPr wrap="square"/>
                    <a:lstStyle/>
                    <a:p>
                      <a:pPr algn="ctr"/>
                      <a:r>
                        <a:rPr sz="1400" b="1" i="0">
                          <a:solidFill>
                            <a:srgbClr val="FFFFFF"/>
                          </a:solidFill>
                          <a:latin typeface="Calibri" panose="020F0502020204030204"/>
                        </a:rPr>
                        <a:t>Drop</a:t>
                      </a:r>
                      <a:endParaRPr sz="1400" b="1" i="0">
                        <a:solidFill>
                          <a:srgbClr val="FFFFFF"/>
                        </a:solidFill>
                        <a:latin typeface="Calibri" panose="020F0502020204030204"/>
                      </a:endParaRPr>
                    </a:p>
                  </a:txBody>
                  <a:tcPr marL="54864" marR="54864" marT="18288" marB="18288" anchor="ctr">
                    <a:solidFill>
                      <a:srgbClr val="2E8B57"/>
                    </a:solidFill>
                  </a:tcPr>
                </a:tc>
              </a:tr>
              <a:tr h="502920">
                <a:tc>
                  <a:txBody>
                    <a:bodyPr wrap="square"/>
                    <a:lstStyle/>
                    <a:p>
                      <a:r>
                        <a:rPr sz="1400" b="0" i="0">
                          <a:solidFill>
                            <a:srgbClr val="1F2937"/>
                          </a:solidFill>
                          <a:latin typeface="Calibri" panose="020F0502020204030204"/>
                        </a:rPr>
                        <a:t>Forecast + safety stock</a:t>
                      </a:r>
                      <a:endParaRPr sz="1400" b="0" i="0">
                        <a:solidFill>
                          <a:srgbClr val="1F2937"/>
                        </a:solidFill>
                        <a:latin typeface="Calibri" panose="020F0502020204030204"/>
                      </a:endParaRPr>
                    </a:p>
                  </a:txBody>
                  <a:tcPr marL="54864" marR="54864" marT="18288" marB="18288" anchor="ctr">
                    <a:solidFill>
                      <a:srgbClr val="FFFFFF"/>
                    </a:solidFill>
                  </a:tcPr>
                </a:tc>
                <a:tc>
                  <a:txBody>
                    <a:bodyPr wrap="square"/>
                    <a:lstStyle/>
                    <a:p>
                      <a:pPr algn="ctr"/>
                      <a:r>
                        <a:rPr sz="1400" b="0" i="0">
                          <a:solidFill>
                            <a:srgbClr val="1F2937"/>
                          </a:solidFill>
                          <a:latin typeface="Calibri" panose="020F0502020204030204"/>
                        </a:rPr>
                        <a:t>₹87.4 lakh</a:t>
                      </a:r>
                      <a:endParaRPr sz="1400" b="0" i="0">
                        <a:solidFill>
                          <a:srgbClr val="1F2937"/>
                        </a:solidFill>
                        <a:latin typeface="Calibri" panose="020F0502020204030204"/>
                      </a:endParaRPr>
                    </a:p>
                  </a:txBody>
                  <a:tcPr marL="54864" marR="54864" marT="18288" marB="18288" anchor="ctr">
                    <a:solidFill>
                      <a:srgbClr val="FFFFFF"/>
                    </a:solidFill>
                  </a:tcPr>
                </a:tc>
                <a:tc>
                  <a:txBody>
                    <a:bodyPr wrap="square"/>
                    <a:lstStyle/>
                    <a:p>
                      <a:pPr algn="ctr"/>
                      <a:r>
                        <a:rPr sz="1400" b="0" i="0">
                          <a:solidFill>
                            <a:srgbClr val="1F2937"/>
                          </a:solidFill>
                          <a:latin typeface="Calibri" panose="020F0502020204030204"/>
                        </a:rPr>
                        <a:t>₹53.7 lakh</a:t>
                      </a:r>
                      <a:endParaRPr sz="1400" b="0" i="0">
                        <a:solidFill>
                          <a:srgbClr val="1F2937"/>
                        </a:solidFill>
                        <a:latin typeface="Calibri" panose="020F0502020204030204"/>
                      </a:endParaRPr>
                    </a:p>
                  </a:txBody>
                  <a:tcPr marL="54864" marR="54864" marT="18288" marB="18288" anchor="ctr">
                    <a:solidFill>
                      <a:srgbClr val="FFFFFF"/>
                    </a:solidFill>
                  </a:tcPr>
                </a:tc>
                <a:tc>
                  <a:txBody>
                    <a:bodyPr wrap="square"/>
                    <a:lstStyle/>
                    <a:p>
                      <a:pPr algn="ctr"/>
                      <a:r>
                        <a:rPr sz="1400" b="0" i="0">
                          <a:solidFill>
                            <a:srgbClr val="1F2937"/>
                          </a:solidFill>
                          <a:latin typeface="Calibri" panose="020F0502020204030204"/>
                        </a:rPr>
                        <a:t>-38.6%</a:t>
                      </a:r>
                      <a:endParaRPr sz="1400" b="0" i="0">
                        <a:solidFill>
                          <a:srgbClr val="1F2937"/>
                        </a:solidFill>
                        <a:latin typeface="Calibri" panose="020F0502020204030204"/>
                      </a:endParaRPr>
                    </a:p>
                  </a:txBody>
                  <a:tcPr marL="54864" marR="54864" marT="18288" marB="18288" anchor="ctr">
                    <a:solidFill>
                      <a:srgbClr val="FFFFFF"/>
                    </a:solidFill>
                  </a:tcPr>
                </a:tc>
              </a:tr>
              <a:tr h="502920">
                <a:tc>
                  <a:txBody>
                    <a:bodyPr wrap="square"/>
                    <a:lstStyle/>
                    <a:p>
                      <a:r>
                        <a:rPr sz="1400" b="1" i="0">
                          <a:solidFill>
                            <a:srgbClr val="1F2937"/>
                          </a:solidFill>
                          <a:latin typeface="Calibri" panose="020F0502020204030204"/>
                        </a:rPr>
                        <a:t>RL agent, tuned (no crisis training)</a:t>
                      </a:r>
                      <a:endParaRPr sz="1400" b="1" i="0">
                        <a:solidFill>
                          <a:srgbClr val="1F2937"/>
                        </a:solidFill>
                        <a:latin typeface="Calibri" panose="020F0502020204030204"/>
                      </a:endParaRPr>
                    </a:p>
                  </a:txBody>
                  <a:tcPr marL="54864" marR="54864" marT="18288" marB="18288" anchor="ctr">
                    <a:solidFill>
                      <a:srgbClr val="E6F4EA"/>
                    </a:solidFill>
                  </a:tcPr>
                </a:tc>
                <a:tc>
                  <a:txBody>
                    <a:bodyPr wrap="square"/>
                    <a:lstStyle/>
                    <a:p>
                      <a:pPr algn="ctr"/>
                      <a:r>
                        <a:rPr sz="1400" b="1" i="0">
                          <a:solidFill>
                            <a:srgbClr val="1F2937"/>
                          </a:solidFill>
                          <a:latin typeface="Calibri" panose="020F0502020204030204"/>
                        </a:rPr>
                        <a:t>₹80.4 lakh</a:t>
                      </a:r>
                      <a:endParaRPr sz="1400" b="1" i="0">
                        <a:solidFill>
                          <a:srgbClr val="1F2937"/>
                        </a:solidFill>
                        <a:latin typeface="Calibri" panose="020F0502020204030204"/>
                      </a:endParaRPr>
                    </a:p>
                  </a:txBody>
                  <a:tcPr marL="54864" marR="54864" marT="18288" marB="18288" anchor="ctr">
                    <a:solidFill>
                      <a:srgbClr val="E6F4EA"/>
                    </a:solidFill>
                  </a:tcPr>
                </a:tc>
                <a:tc>
                  <a:txBody>
                    <a:bodyPr wrap="square"/>
                    <a:lstStyle/>
                    <a:p>
                      <a:pPr algn="ctr"/>
                      <a:r>
                        <a:rPr sz="1400" b="1" i="0">
                          <a:solidFill>
                            <a:srgbClr val="1F2937"/>
                          </a:solidFill>
                          <a:latin typeface="Calibri" panose="020F0502020204030204"/>
                        </a:rPr>
                        <a:t>₹50.7 lakh</a:t>
                      </a:r>
                      <a:endParaRPr sz="1400" b="1" i="0">
                        <a:solidFill>
                          <a:srgbClr val="1F2937"/>
                        </a:solidFill>
                        <a:latin typeface="Calibri" panose="020F0502020204030204"/>
                      </a:endParaRPr>
                    </a:p>
                  </a:txBody>
                  <a:tcPr marL="54864" marR="54864" marT="18288" marB="18288" anchor="ctr">
                    <a:solidFill>
                      <a:srgbClr val="E6F4EA"/>
                    </a:solidFill>
                  </a:tcPr>
                </a:tc>
                <a:tc>
                  <a:txBody>
                    <a:bodyPr wrap="square"/>
                    <a:lstStyle/>
                    <a:p>
                      <a:pPr algn="ctr"/>
                      <a:r>
                        <a:rPr sz="1400" b="1" i="0">
                          <a:solidFill>
                            <a:srgbClr val="1F2937"/>
                          </a:solidFill>
                          <a:latin typeface="Calibri" panose="020F0502020204030204"/>
                        </a:rPr>
                        <a:t>-37.0%</a:t>
                      </a:r>
                      <a:endParaRPr sz="1400" b="1" i="0">
                        <a:solidFill>
                          <a:srgbClr val="1F2937"/>
                        </a:solidFill>
                        <a:latin typeface="Calibri" panose="020F0502020204030204"/>
                      </a:endParaRPr>
                    </a:p>
                  </a:txBody>
                  <a:tcPr marL="54864" marR="54864" marT="18288" marB="18288" anchor="ctr">
                    <a:solidFill>
                      <a:srgbClr val="E6F4EA"/>
                    </a:solidFill>
                  </a:tcPr>
                </a:tc>
              </a:tr>
              <a:tr h="502920">
                <a:tc>
                  <a:txBody>
                    <a:bodyPr wrap="square"/>
                    <a:lstStyle/>
                    <a:p>
                      <a:r>
                        <a:rPr sz="1400" b="0" i="0">
                          <a:solidFill>
                            <a:srgbClr val="1F2937"/>
                          </a:solidFill>
                          <a:latin typeface="Calibri" panose="020F0502020204030204"/>
                        </a:rPr>
                        <a:t>RL agent, untuned (control)</a:t>
                      </a:r>
                      <a:endParaRPr sz="1400" b="0" i="0">
                        <a:solidFill>
                          <a:srgbClr val="1F2937"/>
                        </a:solidFill>
                        <a:latin typeface="Calibri" panose="020F0502020204030204"/>
                      </a:endParaRPr>
                    </a:p>
                  </a:txBody>
                  <a:tcPr marL="54864" marR="54864" marT="18288" marB="18288" anchor="ctr">
                    <a:solidFill>
                      <a:srgbClr val="FFFFFF"/>
                    </a:solidFill>
                  </a:tcPr>
                </a:tc>
                <a:tc>
                  <a:txBody>
                    <a:bodyPr wrap="square"/>
                    <a:lstStyle/>
                    <a:p>
                      <a:pPr algn="ctr"/>
                      <a:r>
                        <a:rPr sz="1400" b="0" i="0">
                          <a:solidFill>
                            <a:srgbClr val="1F2937"/>
                          </a:solidFill>
                          <a:latin typeface="Calibri" panose="020F0502020204030204"/>
                        </a:rPr>
                        <a:t>₹73.8 lakh</a:t>
                      </a:r>
                      <a:endParaRPr sz="1400" b="0" i="0">
                        <a:solidFill>
                          <a:srgbClr val="1F2937"/>
                        </a:solidFill>
                        <a:latin typeface="Calibri" panose="020F0502020204030204"/>
                      </a:endParaRPr>
                    </a:p>
                  </a:txBody>
                  <a:tcPr marL="54864" marR="54864" marT="18288" marB="18288" anchor="ctr">
                    <a:solidFill>
                      <a:srgbClr val="FFFFFF"/>
                    </a:solidFill>
                  </a:tcPr>
                </a:tc>
                <a:tc>
                  <a:txBody>
                    <a:bodyPr wrap="square"/>
                    <a:lstStyle/>
                    <a:p>
                      <a:pPr algn="ctr"/>
                      <a:r>
                        <a:rPr sz="1400" b="0" i="0">
                          <a:solidFill>
                            <a:srgbClr val="1F2937"/>
                          </a:solidFill>
                          <a:latin typeface="Calibri" panose="020F0502020204030204"/>
                        </a:rPr>
                        <a:t>₹38.8 lakh</a:t>
                      </a:r>
                      <a:endParaRPr sz="1400" b="0" i="0">
                        <a:solidFill>
                          <a:srgbClr val="1F2937"/>
                        </a:solidFill>
                        <a:latin typeface="Calibri" panose="020F0502020204030204"/>
                      </a:endParaRPr>
                    </a:p>
                  </a:txBody>
                  <a:tcPr marL="54864" marR="54864" marT="18288" marB="18288" anchor="ctr">
                    <a:solidFill>
                      <a:srgbClr val="FFFFFF"/>
                    </a:solidFill>
                  </a:tcPr>
                </a:tc>
                <a:tc>
                  <a:txBody>
                    <a:bodyPr wrap="square"/>
                    <a:lstStyle/>
                    <a:p>
                      <a:pPr algn="ctr"/>
                      <a:r>
                        <a:rPr sz="1400" b="0" i="0">
                          <a:solidFill>
                            <a:srgbClr val="1F2937"/>
                          </a:solidFill>
                          <a:latin typeface="Calibri" panose="020F0502020204030204"/>
                        </a:rPr>
                        <a:t>-47.5%</a:t>
                      </a:r>
                      <a:endParaRPr sz="1400" b="0" i="0">
                        <a:solidFill>
                          <a:srgbClr val="1F2937"/>
                        </a:solidFill>
                        <a:latin typeface="Calibri" panose="020F0502020204030204"/>
                      </a:endParaRPr>
                    </a:p>
                  </a:txBody>
                  <a:tcPr marL="54864" marR="54864" marT="18288" marB="18288" anchor="ctr">
                    <a:solidFill>
                      <a:srgbClr val="FFFFFF"/>
                    </a:solidFill>
                  </a:tcPr>
                </a:tc>
              </a:tr>
              <a:tr h="502920">
                <a:tc>
                  <a:txBody>
                    <a:bodyPr wrap="square"/>
                    <a:lstStyle/>
                    <a:p>
                      <a:r>
                        <a:rPr sz="1400" b="0" i="0">
                          <a:solidFill>
                            <a:srgbClr val="1F2937"/>
                          </a:solidFill>
                          <a:latin typeface="Calibri" panose="020F0502020204030204"/>
                        </a:rPr>
                        <a:t>RL agent, trained on crises</a:t>
                      </a:r>
                      <a:endParaRPr sz="1400" b="0" i="0">
                        <a:solidFill>
                          <a:srgbClr val="1F2937"/>
                        </a:solidFill>
                        <a:latin typeface="Calibri" panose="020F0502020204030204"/>
                      </a:endParaRPr>
                    </a:p>
                  </a:txBody>
                  <a:tcPr marL="54864" marR="54864" marT="18288" marB="18288" anchor="ctr">
                    <a:solidFill>
                      <a:srgbClr val="F1F5F9"/>
                    </a:solidFill>
                  </a:tcPr>
                </a:tc>
                <a:tc>
                  <a:txBody>
                    <a:bodyPr wrap="square"/>
                    <a:lstStyle/>
                    <a:p>
                      <a:pPr algn="ctr"/>
                      <a:r>
                        <a:rPr sz="1400" b="0" i="0">
                          <a:solidFill>
                            <a:srgbClr val="1F2937"/>
                          </a:solidFill>
                          <a:latin typeface="Calibri" panose="020F0502020204030204"/>
                        </a:rPr>
                        <a:t>₹66.0 lakh</a:t>
                      </a:r>
                      <a:endParaRPr sz="1400" b="0" i="0">
                        <a:solidFill>
                          <a:srgbClr val="1F2937"/>
                        </a:solidFill>
                        <a:latin typeface="Calibri" panose="020F0502020204030204"/>
                      </a:endParaRPr>
                    </a:p>
                  </a:txBody>
                  <a:tcPr marL="54864" marR="54864" marT="18288" marB="18288" anchor="ctr">
                    <a:solidFill>
                      <a:srgbClr val="F1F5F9"/>
                    </a:solidFill>
                  </a:tcPr>
                </a:tc>
                <a:tc>
                  <a:txBody>
                    <a:bodyPr wrap="square"/>
                    <a:lstStyle/>
                    <a:p>
                      <a:pPr algn="ctr"/>
                      <a:r>
                        <a:rPr sz="1400" b="0" i="0">
                          <a:solidFill>
                            <a:srgbClr val="1F2937"/>
                          </a:solidFill>
                          <a:latin typeface="Calibri" panose="020F0502020204030204"/>
                        </a:rPr>
                        <a:t>₹38.9 lakh</a:t>
                      </a:r>
                      <a:endParaRPr sz="1400" b="0" i="0">
                        <a:solidFill>
                          <a:srgbClr val="1F2937"/>
                        </a:solidFill>
                        <a:latin typeface="Calibri" panose="020F0502020204030204"/>
                      </a:endParaRPr>
                    </a:p>
                  </a:txBody>
                  <a:tcPr marL="54864" marR="54864" marT="18288" marB="18288" anchor="ctr">
                    <a:solidFill>
                      <a:srgbClr val="F1F5F9"/>
                    </a:solidFill>
                  </a:tcPr>
                </a:tc>
                <a:tc>
                  <a:txBody>
                    <a:bodyPr wrap="square"/>
                    <a:lstStyle/>
                    <a:p>
                      <a:pPr algn="ctr"/>
                      <a:r>
                        <a:rPr sz="1400" b="0" i="0">
                          <a:solidFill>
                            <a:srgbClr val="1F2937"/>
                          </a:solidFill>
                          <a:latin typeface="Calibri" panose="020F0502020204030204"/>
                        </a:rPr>
                        <a:t>-41.1%</a:t>
                      </a:r>
                      <a:endParaRPr sz="1400" b="0" i="0">
                        <a:solidFill>
                          <a:srgbClr val="1F2937"/>
                        </a:solidFill>
                        <a:latin typeface="Calibri" panose="020F0502020204030204"/>
                      </a:endParaRPr>
                    </a:p>
                  </a:txBody>
                  <a:tcPr marL="54864" marR="54864" marT="18288" marB="18288" anchor="ctr">
                    <a:solidFill>
                      <a:srgbClr val="F1F5F9"/>
                    </a:solidFill>
                  </a:tcPr>
                </a:tc>
              </a:tr>
            </a:tbl>
          </a:graphicData>
        </a:graphic>
      </p:graphicFrame>
      <p:sp>
        <p:nvSpPr>
          <p:cNvPr id="21" name="Rounded Rectangle 20"/>
          <p:cNvSpPr/>
          <p:nvPr/>
        </p:nvSpPr>
        <p:spPr>
          <a:xfrm>
            <a:off x="7452360" y="1371600"/>
            <a:ext cx="4325112" cy="2651760"/>
          </a:xfrm>
          <a:prstGeom prst="roundRect">
            <a:avLst>
              <a:gd name="adj" fmla="val 7000"/>
            </a:avLst>
          </a:prstGeom>
          <a:solidFill>
            <a:srgbClr val="FDE8EF"/>
          </a:solidFill>
          <a:ln w="22225">
            <a:solidFill>
              <a:srgbClr val="D6336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562088" y="1444752"/>
            <a:ext cx="4105656" cy="2505456"/>
          </a:xfrm>
          <a:prstGeom prst="rect">
            <a:avLst/>
          </a:prstGeom>
          <a:noFill/>
        </p:spPr>
        <p:txBody>
          <a:bodyPr wrap="square" lIns="45720" tIns="27432" rIns="45720" bIns="27432" anchor="t">
            <a:spAutoFit/>
          </a:bodyPr>
          <a:lstStyle/>
          <a:p>
            <a:pPr algn="l">
              <a:spcAft>
                <a:spcPts val="500"/>
              </a:spcAft>
            </a:pPr>
            <a:r>
              <a:rPr sz="1700" b="1" i="0">
                <a:solidFill>
                  <a:srgbClr val="D6336C"/>
                </a:solidFill>
                <a:latin typeface="Calibri" panose="020F0502020204030204"/>
              </a:rPr>
              <a:t>Crisis training did not work</a:t>
            </a:r>
            <a:endParaRPr sz="1700" b="1" i="0">
              <a:solidFill>
                <a:srgbClr val="D6336C"/>
              </a:solidFill>
              <a:latin typeface="Calibri" panose="020F0502020204030204"/>
            </a:endParaRPr>
          </a:p>
          <a:p>
            <a:pPr algn="l">
              <a:spcAft>
                <a:spcPts val="300"/>
              </a:spcAft>
            </a:pPr>
            <a:r>
              <a:rPr sz="1400" b="0" i="0">
                <a:solidFill>
                  <a:srgbClr val="1F2937"/>
                </a:solidFill>
                <a:latin typeface="Calibri" panose="020F0502020204030204"/>
              </a:rPr>
              <a:t>•  In a crisis it earns ₹38.9 lakh, same as the control’s ₹38.8 lakh</a:t>
            </a:r>
            <a:endParaRPr sz="1400" b="0" i="0">
              <a:solidFill>
                <a:srgbClr val="1F2937"/>
              </a:solidFill>
              <a:latin typeface="Calibri" panose="020F0502020204030204"/>
            </a:endParaRPr>
          </a:p>
          <a:p>
            <a:pPr algn="l">
              <a:spcAft>
                <a:spcPts val="300"/>
              </a:spcAft>
            </a:pPr>
            <a:r>
              <a:rPr sz="1400" b="0" i="0">
                <a:solidFill>
                  <a:srgbClr val="1F2937"/>
                </a:solidFill>
                <a:latin typeface="Calibri" panose="020F0502020204030204"/>
              </a:rPr>
              <a:t>•  and it lost ₹7.7 lakh of normal profit</a:t>
            </a:r>
            <a:endParaRPr sz="1400" b="0" i="0">
              <a:solidFill>
                <a:srgbClr val="1F2937"/>
              </a:solidFill>
              <a:latin typeface="Calibri" panose="020F0502020204030204"/>
            </a:endParaRPr>
          </a:p>
          <a:p>
            <a:pPr algn="l">
              <a:spcAft>
                <a:spcPts val="300"/>
              </a:spcAft>
            </a:pPr>
            <a:r>
              <a:rPr sz="1400" b="0" i="0">
                <a:solidFill>
                  <a:srgbClr val="1F2937"/>
                </a:solidFill>
                <a:latin typeface="Calibri" panose="020F0502020204030204"/>
              </a:rPr>
              <a:t>•  t = +1.69: not a real difference</a:t>
            </a:r>
            <a:endParaRPr sz="1400" b="0" i="0">
              <a:solidFill>
                <a:srgbClr val="1F2937"/>
              </a:solidFill>
              <a:latin typeface="Calibri" panose="020F0502020204030204"/>
            </a:endParaRPr>
          </a:p>
        </p:txBody>
      </p:sp>
      <p:sp>
        <p:nvSpPr>
          <p:cNvPr id="23" name="TextBox 22"/>
          <p:cNvSpPr txBox="1"/>
          <p:nvPr/>
        </p:nvSpPr>
        <p:spPr>
          <a:xfrm>
            <a:off x="411480" y="4297680"/>
            <a:ext cx="11365992" cy="2011680"/>
          </a:xfrm>
          <a:prstGeom prst="rect">
            <a:avLst/>
          </a:prstGeom>
          <a:noFill/>
        </p:spPr>
        <p:txBody>
          <a:bodyPr wrap="square" lIns="45720" tIns="27432" rIns="45720" bIns="27432" anchor="t">
            <a:spAutoFit/>
          </a:bodyPr>
          <a:lstStyle/>
          <a:p>
            <a:pPr algn="l">
              <a:spcAft>
                <a:spcPts val="800"/>
              </a:spcAft>
            </a:pPr>
            <a:r>
              <a:rPr sz="1600" b="1" i="0">
                <a:solidFill>
                  <a:srgbClr val="1F2937"/>
                </a:solidFill>
                <a:latin typeface="Calibri" panose="020F0502020204030204"/>
              </a:rPr>
              <a:t>•  A smaller % drop can mislead </a:t>
            </a:r>
            <a:r>
              <a:rPr sz="1600" b="0" i="0">
                <a:solidFill>
                  <a:srgbClr val="1F2937"/>
                </a:solidFill>
                <a:latin typeface="Calibri" panose="020F0502020204030204"/>
              </a:rPr>
              <a:t>when the starting profit is lower: the crisis-trained agent drops less because it had less to lose. We show the drop next to the actual profit so we are not fooled.</a:t>
            </a:r>
            <a:endParaRPr sz="1600" b="0" i="0">
              <a:solidFill>
                <a:srgbClr val="1F2937"/>
              </a:solidFill>
              <a:latin typeface="Calibri" panose="020F0502020204030204"/>
            </a:endParaRPr>
          </a:p>
          <a:p>
            <a:pPr algn="l">
              <a:spcAft>
                <a:spcPts val="800"/>
              </a:spcAft>
            </a:pPr>
            <a:r>
              <a:rPr sz="1600" b="1" i="0">
                <a:solidFill>
                  <a:srgbClr val="1B5E3A"/>
                </a:solidFill>
                <a:latin typeface="Calibri" panose="020F0502020204030204"/>
              </a:rPr>
              <a:t>•  The useful finding: </a:t>
            </a:r>
            <a:r>
              <a:rPr sz="1600" b="0" i="0">
                <a:solidFill>
                  <a:srgbClr val="1F2937"/>
                </a:solidFill>
                <a:latin typeface="Calibri" panose="020F0502020204030204"/>
              </a:rPr>
              <a:t>simply tuning the settings made the agent more crisis-proof than crisis training did. The tuned agent never trained on a crisis, yet has the highest crisis profit and the smallest drop of the agents.</a:t>
            </a:r>
            <a:endParaRPr sz="1600" b="0" i="0">
              <a:solidFill>
                <a:srgbClr val="1F2937"/>
              </a:solidFill>
              <a:latin typeface="Calibri" panose="020F0502020204030204"/>
            </a:endParaRPr>
          </a:p>
          <a:p>
            <a:pPr algn="l">
              <a:spcAft>
                <a:spcPts val="400"/>
              </a:spcAft>
            </a:pPr>
            <a:r>
              <a:rPr sz="1300" b="0" i="0">
                <a:solidFill>
                  <a:srgbClr val="5B6573"/>
                </a:solidFill>
                <a:latin typeface="Calibri" panose="020F0502020204030204"/>
              </a:rPr>
              <a:t>Limit: the crisis-trained agent had a harder job with the same training time, so it may simply be under-trained.</a:t>
            </a:r>
            <a:endParaRPr sz="1300" b="0" i="0">
              <a:solidFill>
                <a:srgbClr val="5B6573"/>
              </a:solidFill>
              <a:latin typeface="Calibri" panose="020F0502020204030204"/>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 name="Rectangle 16"/>
          <p:cNvSpPr/>
          <p:nvPr/>
        </p:nvSpPr>
        <p:spPr>
          <a:xfrm>
            <a:off x="-1" y="0"/>
            <a:ext cx="12191998" cy="1262131"/>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4400" dirty="0">
              <a:solidFill>
                <a:schemeClr val="accent1">
                  <a:lumMod val="50000"/>
                </a:schemeClr>
              </a:solidFill>
            </a:endParaRPr>
          </a:p>
        </p:txBody>
      </p:sp>
      <p:sp>
        <p:nvSpPr>
          <p:cNvPr id="10" name="Google Shape;91;p1"/>
          <p:cNvSpPr txBox="1"/>
          <p:nvPr/>
        </p:nvSpPr>
        <p:spPr>
          <a:xfrm>
            <a:off x="-1" y="6416040"/>
            <a:ext cx="12191998" cy="441960"/>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None/>
            </a:pPr>
            <a:r>
              <a:rPr lang="en-IN" sz="1600" b="1" i="0" u="none" strike="noStrike" cap="none" dirty="0">
                <a:solidFill>
                  <a:srgbClr val="081271"/>
                </a:solidFill>
                <a:latin typeface="Times New Roman" panose="02020603050405020304"/>
                <a:ea typeface="Times New Roman" panose="02020603050405020304"/>
                <a:cs typeface="Times New Roman" panose="02020603050405020304"/>
                <a:sym typeface="Times New Roman" panose="02020603050405020304"/>
              </a:rPr>
              <a:t>[Final Project Review]</a:t>
            </a:r>
            <a:endParaRPr sz="1600" b="1" i="0" u="none" strike="noStrike" cap="none" dirty="0">
              <a:solidFill>
                <a:srgbClr val="08127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16" name="Straight Connector 15"/>
          <p:cNvCxnSpPr/>
          <p:nvPr/>
        </p:nvCxnSpPr>
        <p:spPr>
          <a:xfrm>
            <a:off x="0" y="1260899"/>
            <a:ext cx="12192000" cy="0"/>
          </a:xfrm>
          <a:prstGeom prst="line">
            <a:avLst/>
          </a:prstGeom>
          <a:ln w="28575">
            <a:solidFill>
              <a:srgbClr val="1A9B46"/>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sz="3200"/>
              <a:t>Results (4/4): Explainer Accuracy on 30 Real Decisions</a:t>
            </a:r>
            <a:endParaRPr sz="3200"/>
          </a:p>
        </p:txBody>
      </p:sp>
      <p:sp>
        <p:nvSpPr>
          <p:cNvPr id="19" name="Slide Number Placeholder 18"/>
          <p:cNvSpPr>
            <a:spLocks noGrp="1"/>
          </p:cNvSpPr>
          <p:nvPr>
            <p:ph type="sldNum" sz="quarter" idx="12"/>
          </p:nvPr>
        </p:nvSpPr>
        <p:spPr/>
        <p:txBody>
          <a:bodyPr/>
          <a:lstStyle/>
          <a:p>
            <a:fld id="{C2216105-7B7A-4C42-B2A1-5E9A2FA4F8FD}" type="slidenum">
              <a:rPr lang="en-IN" smtClean="0"/>
            </a:fld>
            <a:endParaRPr lang="en-IN" dirty="0"/>
          </a:p>
        </p:txBody>
      </p:sp>
      <p:sp>
        <p:nvSpPr>
          <p:cNvPr id="20" name="Rounded Rectangle 19"/>
          <p:cNvSpPr/>
          <p:nvPr/>
        </p:nvSpPr>
        <p:spPr>
          <a:xfrm>
            <a:off x="411480" y="1371600"/>
            <a:ext cx="3566160" cy="1554480"/>
          </a:xfrm>
          <a:prstGeom prst="roundRect">
            <a:avLst>
              <a:gd name="adj" fmla="val 12000"/>
            </a:avLst>
          </a:prstGeom>
          <a:solidFill>
            <a:srgbClr val="D633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4632" y="1417320"/>
            <a:ext cx="3419856" cy="1463039"/>
          </a:xfrm>
          <a:prstGeom prst="rect">
            <a:avLst/>
          </a:prstGeom>
          <a:noFill/>
        </p:spPr>
        <p:txBody>
          <a:bodyPr wrap="square" lIns="45720" tIns="27432" rIns="45720" bIns="27432" anchor="ctr">
            <a:spAutoFit/>
          </a:bodyPr>
          <a:lstStyle/>
          <a:p>
            <a:pPr algn="ctr">
              <a:spcAft>
                <a:spcPts val="100"/>
              </a:spcAft>
            </a:pPr>
            <a:r>
              <a:rPr sz="4400" b="1" i="0">
                <a:solidFill>
                  <a:srgbClr val="FFFFFF"/>
                </a:solidFill>
                <a:latin typeface="Calibri" panose="020F0502020204030204"/>
              </a:rPr>
              <a:t>83%</a:t>
            </a:r>
            <a:endParaRPr sz="4400" b="1" i="0">
              <a:solidFill>
                <a:srgbClr val="FFFFFF"/>
              </a:solidFill>
              <a:latin typeface="Calibri" panose="020F0502020204030204"/>
            </a:endParaRPr>
          </a:p>
          <a:p>
            <a:pPr algn="ctr">
              <a:spcAft>
                <a:spcPts val="400"/>
              </a:spcAft>
            </a:pPr>
            <a:r>
              <a:rPr sz="1300" b="0" i="0">
                <a:solidFill>
                  <a:srgbClr val="FFFFFF"/>
                </a:solidFill>
                <a:latin typeface="Calibri" panose="020F0502020204030204"/>
              </a:rPr>
              <a:t>raw LLM accuracy: correct and complete, before our check</a:t>
            </a:r>
            <a:endParaRPr sz="1300" b="0" i="0">
              <a:solidFill>
                <a:srgbClr val="FFFFFF"/>
              </a:solidFill>
              <a:latin typeface="Calibri" panose="020F0502020204030204"/>
            </a:endParaRPr>
          </a:p>
        </p:txBody>
      </p:sp>
      <p:sp>
        <p:nvSpPr>
          <p:cNvPr id="22" name="Rounded Rectangle 21"/>
          <p:cNvSpPr/>
          <p:nvPr/>
        </p:nvSpPr>
        <p:spPr>
          <a:xfrm>
            <a:off x="4206240" y="1371600"/>
            <a:ext cx="3566160" cy="1554480"/>
          </a:xfrm>
          <a:prstGeom prst="roundRect">
            <a:avLst>
              <a:gd name="adj" fmla="val 12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79392" y="1417320"/>
            <a:ext cx="3419856" cy="1463039"/>
          </a:xfrm>
          <a:prstGeom prst="rect">
            <a:avLst/>
          </a:prstGeom>
          <a:noFill/>
        </p:spPr>
        <p:txBody>
          <a:bodyPr wrap="square" lIns="45720" tIns="27432" rIns="45720" bIns="27432" anchor="ctr">
            <a:spAutoFit/>
          </a:bodyPr>
          <a:lstStyle/>
          <a:p>
            <a:pPr algn="ctr">
              <a:spcAft>
                <a:spcPts val="100"/>
              </a:spcAft>
            </a:pPr>
            <a:r>
              <a:rPr sz="4400" b="1" i="0">
                <a:solidFill>
                  <a:srgbClr val="FFFFFF"/>
                </a:solidFill>
                <a:latin typeface="Calibri" panose="020F0502020204030204"/>
              </a:rPr>
              <a:t>100%</a:t>
            </a:r>
            <a:endParaRPr sz="4400" b="1" i="0">
              <a:solidFill>
                <a:srgbClr val="FFFFFF"/>
              </a:solidFill>
              <a:latin typeface="Calibri" panose="020F0502020204030204"/>
            </a:endParaRPr>
          </a:p>
          <a:p>
            <a:pPr algn="ctr">
              <a:spcAft>
                <a:spcPts val="400"/>
              </a:spcAft>
            </a:pPr>
            <a:r>
              <a:rPr sz="1300" b="0" i="0">
                <a:solidFill>
                  <a:srgbClr val="FFFFFF"/>
                </a:solidFill>
                <a:latin typeface="Calibri" panose="020F0502020204030204"/>
              </a:rPr>
              <a:t>delivered accuracy: what the manager actually saw</a:t>
            </a:r>
            <a:endParaRPr sz="1300" b="0" i="0">
              <a:solidFill>
                <a:srgbClr val="FFFFFF"/>
              </a:solidFill>
              <a:latin typeface="Calibri" panose="020F0502020204030204"/>
            </a:endParaRPr>
          </a:p>
        </p:txBody>
      </p:sp>
      <p:sp>
        <p:nvSpPr>
          <p:cNvPr id="24" name="Rounded Rectangle 23"/>
          <p:cNvSpPr/>
          <p:nvPr/>
        </p:nvSpPr>
        <p:spPr>
          <a:xfrm>
            <a:off x="8001000" y="1371600"/>
            <a:ext cx="3776472" cy="1554480"/>
          </a:xfrm>
          <a:prstGeom prst="roundRect">
            <a:avLst>
              <a:gd name="adj" fmla="val 12000"/>
            </a:avLst>
          </a:prstGeom>
          <a:solidFill>
            <a:srgbClr val="2F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74152" y="1417320"/>
            <a:ext cx="3630168" cy="1463039"/>
          </a:xfrm>
          <a:prstGeom prst="rect">
            <a:avLst/>
          </a:prstGeom>
          <a:noFill/>
        </p:spPr>
        <p:txBody>
          <a:bodyPr wrap="square" lIns="45720" tIns="27432" rIns="45720" bIns="27432" anchor="ctr">
            <a:spAutoFit/>
          </a:bodyPr>
          <a:lstStyle/>
          <a:p>
            <a:pPr algn="ctr">
              <a:spcAft>
                <a:spcPts val="100"/>
              </a:spcAft>
            </a:pPr>
            <a:r>
              <a:rPr sz="4000" b="1" i="0">
                <a:solidFill>
                  <a:srgbClr val="FFFFFF"/>
                </a:solidFill>
                <a:latin typeface="Calibri" panose="020F0502020204030204"/>
              </a:rPr>
              <a:t>5 of 30</a:t>
            </a:r>
            <a:endParaRPr sz="4000" b="1" i="0">
              <a:solidFill>
                <a:srgbClr val="FFFFFF"/>
              </a:solidFill>
              <a:latin typeface="Calibri" panose="020F0502020204030204"/>
            </a:endParaRPr>
          </a:p>
          <a:p>
            <a:pPr algn="ctr">
              <a:spcAft>
                <a:spcPts val="400"/>
              </a:spcAft>
            </a:pPr>
            <a:r>
              <a:rPr sz="1300" b="0" i="0">
                <a:solidFill>
                  <a:srgbClr val="FFFFFF"/>
                </a:solidFill>
                <a:latin typeface="Calibri" panose="020F0502020204030204"/>
              </a:rPr>
              <a:t>outputs had an invented number; all 5 caught</a:t>
            </a:r>
            <a:endParaRPr sz="1300" b="0" i="0">
              <a:solidFill>
                <a:srgbClr val="FFFFFF"/>
              </a:solidFill>
              <a:latin typeface="Calibri" panose="020F0502020204030204"/>
            </a:endParaRPr>
          </a:p>
        </p:txBody>
      </p:sp>
      <p:graphicFrame>
        <p:nvGraphicFramePr>
          <p:cNvPr id="26" name="Table 25"/>
          <p:cNvGraphicFramePr>
            <a:graphicFrameLocks noGrp="1"/>
          </p:cNvGraphicFramePr>
          <p:nvPr/>
        </p:nvGraphicFramePr>
        <p:xfrm>
          <a:off x="411480" y="3154680"/>
          <a:ext cx="6583680" cy="2286000"/>
        </p:xfrm>
        <a:graphic>
          <a:graphicData uri="http://schemas.openxmlformats.org/drawingml/2006/table">
            <a:tbl>
              <a:tblPr firstRow="1" bandRow="1">
                <a:tableStyleId>{5C22544A-7EE6-4342-B048-85BDC9FD1C3A}</a:tableStyleId>
              </a:tblPr>
              <a:tblGrid>
                <a:gridCol w="4206240"/>
                <a:gridCol w="2377440"/>
              </a:tblGrid>
              <a:tr h="457200">
                <a:tc>
                  <a:txBody>
                    <a:bodyPr wrap="square"/>
                    <a:lstStyle/>
                    <a:p>
                      <a:pPr algn="l"/>
                      <a:r>
                        <a:rPr sz="1400" b="1" i="0">
                          <a:solidFill>
                            <a:srgbClr val="FFFFFF"/>
                          </a:solidFill>
                          <a:latin typeface="Calibri" panose="020F0502020204030204"/>
                        </a:rPr>
                        <a:t>Measure</a:t>
                      </a:r>
                      <a:endParaRPr sz="1400" b="1" i="0">
                        <a:solidFill>
                          <a:srgbClr val="FFFFFF"/>
                        </a:solidFill>
                        <a:latin typeface="Calibri" panose="020F0502020204030204"/>
                      </a:endParaRPr>
                    </a:p>
                  </a:txBody>
                  <a:tcPr marL="54864" marR="54864" marT="18288" marB="18288" anchor="ctr">
                    <a:solidFill>
                      <a:srgbClr val="2E8B57"/>
                    </a:solidFill>
                  </a:tcPr>
                </a:tc>
                <a:tc>
                  <a:txBody>
                    <a:bodyPr wrap="square"/>
                    <a:lstStyle/>
                    <a:p>
                      <a:pPr algn="ctr"/>
                      <a:r>
                        <a:rPr sz="1400" b="1" i="0">
                          <a:solidFill>
                            <a:srgbClr val="FFFFFF"/>
                          </a:solidFill>
                          <a:latin typeface="Calibri" panose="020F0502020204030204"/>
                        </a:rPr>
                        <a:t>Result</a:t>
                      </a:r>
                      <a:endParaRPr sz="1400" b="1" i="0">
                        <a:solidFill>
                          <a:srgbClr val="FFFFFF"/>
                        </a:solidFill>
                        <a:latin typeface="Calibri" panose="020F0502020204030204"/>
                      </a:endParaRPr>
                    </a:p>
                  </a:txBody>
                  <a:tcPr marL="54864" marR="54864" marT="18288" marB="18288" anchor="ctr">
                    <a:solidFill>
                      <a:srgbClr val="2E8B57"/>
                    </a:solidFill>
                  </a:tcPr>
                </a:tc>
              </a:tr>
              <a:tr h="457200">
                <a:tc>
                  <a:txBody>
                    <a:bodyPr wrap="square"/>
                    <a:lstStyle/>
                    <a:p>
                      <a:r>
                        <a:rPr sz="1400" b="0" i="0">
                          <a:solidFill>
                            <a:srgbClr val="1F2937"/>
                          </a:solidFill>
                          <a:latin typeface="Calibri" panose="020F0502020204030204"/>
                        </a:rPr>
                        <a:t>LLM answered (after retries)</a:t>
                      </a:r>
                      <a:endParaRPr sz="1400" b="0" i="0">
                        <a:solidFill>
                          <a:srgbClr val="1F2937"/>
                        </a:solidFill>
                        <a:latin typeface="Calibri" panose="020F0502020204030204"/>
                      </a:endParaRPr>
                    </a:p>
                  </a:txBody>
                  <a:tcPr marL="54864" marR="54864" marT="18288" marB="18288" anchor="ctr">
                    <a:solidFill>
                      <a:srgbClr val="FFFFFF"/>
                    </a:solidFill>
                  </a:tcPr>
                </a:tc>
                <a:tc>
                  <a:txBody>
                    <a:bodyPr wrap="square"/>
                    <a:lstStyle/>
                    <a:p>
                      <a:pPr algn="ctr"/>
                      <a:r>
                        <a:rPr sz="1400" b="0" i="0">
                          <a:solidFill>
                            <a:srgbClr val="1F2937"/>
                          </a:solidFill>
                          <a:latin typeface="Calibri" panose="020F0502020204030204"/>
                        </a:rPr>
                        <a:t>100%</a:t>
                      </a:r>
                      <a:endParaRPr sz="1400" b="0" i="0">
                        <a:solidFill>
                          <a:srgbClr val="1F2937"/>
                        </a:solidFill>
                        <a:latin typeface="Calibri" panose="020F0502020204030204"/>
                      </a:endParaRPr>
                    </a:p>
                  </a:txBody>
                  <a:tcPr marL="54864" marR="54864" marT="18288" marB="18288" anchor="ctr">
                    <a:solidFill>
                      <a:srgbClr val="FFFFFF"/>
                    </a:solidFill>
                  </a:tcPr>
                </a:tc>
              </a:tr>
              <a:tr h="457200">
                <a:tc>
                  <a:txBody>
                    <a:bodyPr wrap="square"/>
                    <a:lstStyle/>
                    <a:p>
                      <a:r>
                        <a:rPr sz="1400" b="0" i="0">
                          <a:solidFill>
                            <a:srgbClr val="1F2937"/>
                          </a:solidFill>
                          <a:latin typeface="Calibri" panose="020F0502020204030204"/>
                        </a:rPr>
                        <a:t>Only real numbers used (before the check)</a:t>
                      </a:r>
                      <a:endParaRPr sz="1400" b="0" i="0">
                        <a:solidFill>
                          <a:srgbClr val="1F2937"/>
                        </a:solidFill>
                        <a:latin typeface="Calibri" panose="020F0502020204030204"/>
                      </a:endParaRPr>
                    </a:p>
                  </a:txBody>
                  <a:tcPr marL="54864" marR="54864" marT="18288" marB="18288" anchor="ctr">
                    <a:solidFill>
                      <a:srgbClr val="F1F5F9"/>
                    </a:solidFill>
                  </a:tcPr>
                </a:tc>
                <a:tc>
                  <a:txBody>
                    <a:bodyPr wrap="square"/>
                    <a:lstStyle/>
                    <a:p>
                      <a:pPr algn="ctr"/>
                      <a:r>
                        <a:rPr sz="1400" b="0" i="0">
                          <a:solidFill>
                            <a:srgbClr val="1F2937"/>
                          </a:solidFill>
                          <a:latin typeface="Calibri" panose="020F0502020204030204"/>
                        </a:rPr>
                        <a:t>83%  (25 of 30)</a:t>
                      </a:r>
                      <a:endParaRPr sz="1400" b="0" i="0">
                        <a:solidFill>
                          <a:srgbClr val="1F2937"/>
                        </a:solidFill>
                        <a:latin typeface="Calibri" panose="020F0502020204030204"/>
                      </a:endParaRPr>
                    </a:p>
                  </a:txBody>
                  <a:tcPr marL="54864" marR="54864" marT="18288" marB="18288" anchor="ctr">
                    <a:solidFill>
                      <a:srgbClr val="F1F5F9"/>
                    </a:solidFill>
                  </a:tcPr>
                </a:tc>
              </a:tr>
              <a:tr h="457200">
                <a:tc>
                  <a:txBody>
                    <a:bodyPr wrap="square"/>
                    <a:lstStyle/>
                    <a:p>
                      <a:r>
                        <a:rPr sz="1400" b="0" i="0">
                          <a:solidFill>
                            <a:srgbClr val="1F2937"/>
                          </a:solidFill>
                          <a:latin typeface="Calibri" panose="020F0502020204030204"/>
                        </a:rPr>
                        <a:t>Complete (product, stock, order details)</a:t>
                      </a:r>
                      <a:endParaRPr sz="1400" b="0" i="0">
                        <a:solidFill>
                          <a:srgbClr val="1F2937"/>
                        </a:solidFill>
                        <a:latin typeface="Calibri" panose="020F0502020204030204"/>
                      </a:endParaRPr>
                    </a:p>
                  </a:txBody>
                  <a:tcPr marL="54864" marR="54864" marT="18288" marB="18288" anchor="ctr">
                    <a:solidFill>
                      <a:srgbClr val="FFFFFF"/>
                    </a:solidFill>
                  </a:tcPr>
                </a:tc>
                <a:tc>
                  <a:txBody>
                    <a:bodyPr wrap="square"/>
                    <a:lstStyle/>
                    <a:p>
                      <a:pPr algn="ctr"/>
                      <a:r>
                        <a:rPr sz="1400" b="0" i="0">
                          <a:solidFill>
                            <a:srgbClr val="1F2937"/>
                          </a:solidFill>
                          <a:latin typeface="Calibri" panose="020F0502020204030204"/>
                        </a:rPr>
                        <a:t>100%</a:t>
                      </a:r>
                      <a:endParaRPr sz="1400" b="0" i="0">
                        <a:solidFill>
                          <a:srgbClr val="1F2937"/>
                        </a:solidFill>
                        <a:latin typeface="Calibri" panose="020F0502020204030204"/>
                      </a:endParaRPr>
                    </a:p>
                  </a:txBody>
                  <a:tcPr marL="54864" marR="54864" marT="18288" marB="18288" anchor="ctr">
                    <a:solidFill>
                      <a:srgbClr val="FFFFFF"/>
                    </a:solidFill>
                  </a:tcPr>
                </a:tc>
              </a:tr>
              <a:tr h="457200">
                <a:tc>
                  <a:txBody>
                    <a:bodyPr wrap="square"/>
                    <a:lstStyle/>
                    <a:p>
                      <a:r>
                        <a:rPr sz="1400" b="0" i="0">
                          <a:solidFill>
                            <a:srgbClr val="1F2937"/>
                          </a:solidFill>
                          <a:latin typeface="Calibri" panose="020F0502020204030204"/>
                        </a:rPr>
                        <a:t>Length</a:t>
                      </a:r>
                      <a:endParaRPr sz="1400" b="0" i="0">
                        <a:solidFill>
                          <a:srgbClr val="1F2937"/>
                        </a:solidFill>
                        <a:latin typeface="Calibri" panose="020F0502020204030204"/>
                      </a:endParaRPr>
                    </a:p>
                  </a:txBody>
                  <a:tcPr marL="54864" marR="54864" marT="18288" marB="18288" anchor="ctr">
                    <a:solidFill>
                      <a:srgbClr val="F1F5F9"/>
                    </a:solidFill>
                  </a:tcPr>
                </a:tc>
                <a:tc>
                  <a:txBody>
                    <a:bodyPr wrap="square"/>
                    <a:lstStyle/>
                    <a:p>
                      <a:pPr algn="ctr"/>
                      <a:r>
                        <a:rPr sz="1400" b="0" i="0">
                          <a:solidFill>
                            <a:srgbClr val="1F2937"/>
                          </a:solidFill>
                          <a:latin typeface="Calibri" panose="020F0502020204030204"/>
                        </a:rPr>
                        <a:t>2.9 sentences, 58 words</a:t>
                      </a:r>
                      <a:endParaRPr sz="1400" b="0" i="0">
                        <a:solidFill>
                          <a:srgbClr val="1F2937"/>
                        </a:solidFill>
                        <a:latin typeface="Calibri" panose="020F0502020204030204"/>
                      </a:endParaRPr>
                    </a:p>
                  </a:txBody>
                  <a:tcPr marL="54864" marR="54864" marT="18288" marB="18288" anchor="ctr">
                    <a:solidFill>
                      <a:srgbClr val="F1F5F9"/>
                    </a:solidFill>
                  </a:tcPr>
                </a:tc>
              </a:tr>
            </a:tbl>
          </a:graphicData>
        </a:graphic>
      </p:graphicFrame>
      <p:sp>
        <p:nvSpPr>
          <p:cNvPr id="27" name="TextBox 26"/>
          <p:cNvSpPr txBox="1"/>
          <p:nvPr/>
        </p:nvSpPr>
        <p:spPr>
          <a:xfrm>
            <a:off x="7269480" y="3154680"/>
            <a:ext cx="4507992" cy="3108960"/>
          </a:xfrm>
          <a:prstGeom prst="rect">
            <a:avLst/>
          </a:prstGeom>
          <a:noFill/>
        </p:spPr>
        <p:txBody>
          <a:bodyPr wrap="square" lIns="45720" tIns="27432" rIns="45720" bIns="27432" anchor="t">
            <a:spAutoFit/>
          </a:bodyPr>
          <a:lstStyle/>
          <a:p>
            <a:pPr algn="l">
              <a:spcAft>
                <a:spcPts val="400"/>
              </a:spcAft>
            </a:pPr>
            <a:r>
              <a:rPr sz="1700" b="1" i="0">
                <a:solidFill>
                  <a:srgbClr val="1B5E3A"/>
                </a:solidFill>
                <a:latin typeface="Calibri" panose="020F0502020204030204"/>
              </a:rPr>
              <a:t>Why it matters</a:t>
            </a:r>
            <a:endParaRPr sz="1700" b="1" i="0">
              <a:solidFill>
                <a:srgbClr val="1B5E3A"/>
              </a:solidFill>
              <a:latin typeface="Calibri" panose="020F0502020204030204"/>
            </a:endParaRPr>
          </a:p>
          <a:p>
            <a:pPr algn="l">
              <a:spcAft>
                <a:spcPts val="400"/>
              </a:spcAft>
            </a:pPr>
            <a:r>
              <a:rPr sz="1400" b="0" i="0">
                <a:solidFill>
                  <a:srgbClr val="1F2937"/>
                </a:solidFill>
                <a:latin typeface="Calibri" panose="020F0502020204030204"/>
              </a:rPr>
              <a:t>•  The five bad outputs sounded confident and fluent. A buyer would not notice.</a:t>
            </a:r>
            <a:endParaRPr sz="1400" b="0" i="0">
              <a:solidFill>
                <a:srgbClr val="1F2937"/>
              </a:solidFill>
              <a:latin typeface="Calibri" panose="020F0502020204030204"/>
            </a:endParaRPr>
          </a:p>
          <a:p>
            <a:pPr algn="l">
              <a:spcAft>
                <a:spcPts val="400"/>
              </a:spcAft>
            </a:pPr>
            <a:r>
              <a:rPr sz="1400" b="0" i="0">
                <a:solidFill>
                  <a:srgbClr val="1F2937"/>
                </a:solidFill>
                <a:latin typeface="Calibri" panose="020F0502020204030204"/>
              </a:rPr>
              <a:t>•  Without the check, 1 explanation in 6 would contain a made-up number.</a:t>
            </a:r>
            <a:endParaRPr sz="1400" b="0" i="0">
              <a:solidFill>
                <a:srgbClr val="1F2937"/>
              </a:solidFill>
              <a:latin typeface="Calibri" panose="020F0502020204030204"/>
            </a:endParaRPr>
          </a:p>
          <a:p>
            <a:pPr algn="l">
              <a:spcAft>
                <a:spcPts val="400"/>
              </a:spcAft>
            </a:pPr>
            <a:r>
              <a:rPr sz="1400" b="0" i="0">
                <a:solidFill>
                  <a:srgbClr val="1F2937"/>
                </a:solidFill>
                <a:latin typeface="Calibri" panose="020F0502020204030204"/>
              </a:rPr>
              <a:t>•  An earlier version only scored outputs that had already passed the check, so it showed 100% for a model that made up numbers 17% of the time. We now show both numbers.</a:t>
            </a:r>
            <a:endParaRPr sz="1400" b="0" i="0">
              <a:solidFill>
                <a:srgbClr val="1F2937"/>
              </a:solidFill>
              <a:latin typeface="Calibri" panose="020F0502020204030204"/>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 name="Rectangle 16"/>
          <p:cNvSpPr/>
          <p:nvPr/>
        </p:nvSpPr>
        <p:spPr>
          <a:xfrm>
            <a:off x="-1" y="0"/>
            <a:ext cx="12191998" cy="1262131"/>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4400" dirty="0">
              <a:solidFill>
                <a:schemeClr val="accent1">
                  <a:lumMod val="50000"/>
                </a:schemeClr>
              </a:solidFill>
            </a:endParaRPr>
          </a:p>
        </p:txBody>
      </p:sp>
      <p:sp>
        <p:nvSpPr>
          <p:cNvPr id="10" name="Google Shape;91;p1"/>
          <p:cNvSpPr txBox="1"/>
          <p:nvPr/>
        </p:nvSpPr>
        <p:spPr>
          <a:xfrm>
            <a:off x="-1" y="6416040"/>
            <a:ext cx="12191998" cy="441960"/>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None/>
            </a:pPr>
            <a:r>
              <a:rPr lang="en-IN" sz="1600" b="1" i="0" u="none" strike="noStrike" cap="none" dirty="0">
                <a:solidFill>
                  <a:srgbClr val="081271"/>
                </a:solidFill>
                <a:latin typeface="Times New Roman" panose="02020603050405020304"/>
                <a:ea typeface="Times New Roman" panose="02020603050405020304"/>
                <a:cs typeface="Times New Roman" panose="02020603050405020304"/>
                <a:sym typeface="Times New Roman" panose="02020603050405020304"/>
              </a:rPr>
              <a:t>[Final Project Review]</a:t>
            </a:r>
            <a:endParaRPr sz="1600" b="1" i="0" u="none" strike="noStrike" cap="none" dirty="0">
              <a:solidFill>
                <a:srgbClr val="08127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16" name="Straight Connector 15"/>
          <p:cNvCxnSpPr/>
          <p:nvPr/>
        </p:nvCxnSpPr>
        <p:spPr>
          <a:xfrm>
            <a:off x="0" y="1260899"/>
            <a:ext cx="12192000" cy="0"/>
          </a:xfrm>
          <a:prstGeom prst="line">
            <a:avLst/>
          </a:prstGeom>
          <a:ln w="28575">
            <a:solidFill>
              <a:srgbClr val="1A9B46"/>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sz="3200"/>
              <a:t>Conclusion and Future Work</a:t>
            </a:r>
            <a:endParaRPr sz="3200"/>
          </a:p>
        </p:txBody>
      </p:sp>
      <p:sp>
        <p:nvSpPr>
          <p:cNvPr id="19" name="Slide Number Placeholder 18"/>
          <p:cNvSpPr>
            <a:spLocks noGrp="1"/>
          </p:cNvSpPr>
          <p:nvPr>
            <p:ph type="sldNum" sz="quarter" idx="12"/>
          </p:nvPr>
        </p:nvSpPr>
        <p:spPr/>
        <p:txBody>
          <a:bodyPr/>
          <a:lstStyle/>
          <a:p>
            <a:fld id="{C2216105-7B7A-4C42-B2A1-5E9A2FA4F8FD}" type="slidenum">
              <a:rPr lang="en-IN" smtClean="0"/>
            </a:fld>
            <a:endParaRPr lang="en-IN" dirty="0"/>
          </a:p>
        </p:txBody>
      </p:sp>
      <p:sp>
        <p:nvSpPr>
          <p:cNvPr id="20" name="Rounded Rectangle 19"/>
          <p:cNvSpPr/>
          <p:nvPr/>
        </p:nvSpPr>
        <p:spPr>
          <a:xfrm>
            <a:off x="411480" y="1371600"/>
            <a:ext cx="5577840" cy="4937760"/>
          </a:xfrm>
          <a:prstGeom prst="roundRect">
            <a:avLst>
              <a:gd name="adj" fmla="val 7000"/>
            </a:avLst>
          </a:prstGeom>
          <a:solidFill>
            <a:srgbClr val="E6F4EA"/>
          </a:solidFill>
          <a:ln w="22225">
            <a:solidFill>
              <a:srgbClr val="2E8B5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21208" y="1444752"/>
            <a:ext cx="5358383" cy="4791456"/>
          </a:xfrm>
          <a:prstGeom prst="rect">
            <a:avLst/>
          </a:prstGeom>
          <a:noFill/>
        </p:spPr>
        <p:txBody>
          <a:bodyPr wrap="square" lIns="45720" tIns="27432" rIns="45720" bIns="27432" anchor="t">
            <a:spAutoFit/>
          </a:bodyPr>
          <a:lstStyle/>
          <a:p>
            <a:pPr algn="l">
              <a:spcAft>
                <a:spcPts val="500"/>
              </a:spcAft>
            </a:pPr>
            <a:r>
              <a:rPr sz="1700" b="1" i="0">
                <a:solidFill>
                  <a:srgbClr val="2E8B57"/>
                </a:solidFill>
                <a:latin typeface="Calibri" panose="020F0502020204030204"/>
              </a:rPr>
              <a:t>What we showed</a:t>
            </a:r>
            <a:endParaRPr sz="1700" b="1" i="0">
              <a:solidFill>
                <a:srgbClr val="2E8B57"/>
              </a:solidFill>
              <a:latin typeface="Calibri" panose="020F0502020204030204"/>
            </a:endParaRPr>
          </a:p>
          <a:p>
            <a:pPr algn="l">
              <a:spcAft>
                <a:spcPts val="800"/>
              </a:spcAft>
            </a:pPr>
            <a:r>
              <a:rPr sz="1600" b="0" i="0">
                <a:solidFill>
                  <a:srgbClr val="1F2937"/>
                </a:solidFill>
                <a:latin typeface="Calibri" panose="020F0502020204030204"/>
              </a:rPr>
              <a:t>•  A complete system: simulator, RL agent, 4 tuned classical methods, LLM explainer, crisis generator, dashboard</a:t>
            </a:r>
            <a:endParaRPr sz="1600" b="0" i="0">
              <a:solidFill>
                <a:srgbClr val="1F2937"/>
              </a:solidFill>
              <a:latin typeface="Calibri" panose="020F0502020204030204"/>
            </a:endParaRPr>
          </a:p>
          <a:p>
            <a:pPr algn="l">
              <a:spcAft>
                <a:spcPts val="800"/>
              </a:spcAft>
            </a:pPr>
            <a:r>
              <a:rPr sz="1600" b="0" i="0">
                <a:solidFill>
                  <a:srgbClr val="1F2937"/>
                </a:solidFill>
                <a:latin typeface="Calibri" panose="020F0502020204030204"/>
              </a:rPr>
              <a:t>•  The tuned agent earns 90.8% of the best classical method and beats two of the four; the gap is real (t = -6.45) and comes from splitting orders across suppliers</a:t>
            </a:r>
            <a:endParaRPr sz="1600" b="0" i="0">
              <a:solidFill>
                <a:srgbClr val="1F2937"/>
              </a:solidFill>
              <a:latin typeface="Calibri" panose="020F0502020204030204"/>
            </a:endParaRPr>
          </a:p>
          <a:p>
            <a:pPr algn="l">
              <a:spcAft>
                <a:spcPts val="800"/>
              </a:spcAft>
            </a:pPr>
            <a:r>
              <a:rPr sz="1600" b="0" i="0">
                <a:solidFill>
                  <a:srgbClr val="1F2937"/>
                </a:solidFill>
                <a:latin typeface="Calibri" panose="020F0502020204030204"/>
              </a:rPr>
              <a:t>•  Masking ≈ 3×; tuning closes 38% of the rest; crisis training did not help</a:t>
            </a:r>
            <a:endParaRPr sz="1600" b="0" i="0">
              <a:solidFill>
                <a:srgbClr val="1F2937"/>
              </a:solidFill>
              <a:latin typeface="Calibri" panose="020F0502020204030204"/>
            </a:endParaRPr>
          </a:p>
          <a:p>
            <a:pPr algn="l">
              <a:spcAft>
                <a:spcPts val="800"/>
              </a:spcAft>
            </a:pPr>
            <a:r>
              <a:rPr sz="1600" b="0" i="0">
                <a:solidFill>
                  <a:srgbClr val="1F2937"/>
                </a:solidFill>
                <a:latin typeface="Calibri" panose="020F0502020204030204"/>
              </a:rPr>
              <a:t>•  The explainer is accurate only because it is checked: 83% before, 100% after</a:t>
            </a:r>
            <a:endParaRPr sz="1600" b="0" i="0">
              <a:solidFill>
                <a:srgbClr val="1F2937"/>
              </a:solidFill>
              <a:latin typeface="Calibri" panose="020F0502020204030204"/>
            </a:endParaRPr>
          </a:p>
          <a:p>
            <a:pPr algn="l">
              <a:spcAft>
                <a:spcPts val="400"/>
              </a:spcAft>
            </a:pPr>
            <a:r>
              <a:rPr sz="1600" b="0" i="0">
                <a:solidFill>
                  <a:srgbClr val="1F2937"/>
                </a:solidFill>
                <a:latin typeface="Calibri" panose="020F0502020204030204"/>
              </a:rPr>
              <a:t>•  Safe way to use it: the classical engine decides, RL is scored alongside, nothing is executed</a:t>
            </a:r>
            <a:endParaRPr sz="1600" b="0" i="0">
              <a:solidFill>
                <a:srgbClr val="1F2937"/>
              </a:solidFill>
              <a:latin typeface="Calibri" panose="020F0502020204030204"/>
            </a:endParaRPr>
          </a:p>
        </p:txBody>
      </p:sp>
      <p:sp>
        <p:nvSpPr>
          <p:cNvPr id="22" name="Rounded Rectangle 21"/>
          <p:cNvSpPr/>
          <p:nvPr/>
        </p:nvSpPr>
        <p:spPr>
          <a:xfrm>
            <a:off x="6199632" y="1371600"/>
            <a:ext cx="5577840" cy="4937760"/>
          </a:xfrm>
          <a:prstGeom prst="roundRect">
            <a:avLst>
              <a:gd name="adj" fmla="val 7000"/>
            </a:avLst>
          </a:prstGeom>
          <a:solidFill>
            <a:srgbClr val="E7F0FA"/>
          </a:solidFill>
          <a:ln w="22225">
            <a:solidFill>
              <a:srgbClr val="2F6FB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309360" y="1444752"/>
            <a:ext cx="5358383" cy="4791456"/>
          </a:xfrm>
          <a:prstGeom prst="rect">
            <a:avLst/>
          </a:prstGeom>
          <a:noFill/>
        </p:spPr>
        <p:txBody>
          <a:bodyPr wrap="square" lIns="45720" tIns="27432" rIns="45720" bIns="27432" anchor="t">
            <a:spAutoFit/>
          </a:bodyPr>
          <a:lstStyle/>
          <a:p>
            <a:pPr algn="l">
              <a:spcAft>
                <a:spcPts val="500"/>
              </a:spcAft>
            </a:pPr>
            <a:r>
              <a:rPr sz="1700" b="1" i="0">
                <a:solidFill>
                  <a:srgbClr val="2F6FB5"/>
                </a:solidFill>
                <a:latin typeface="Calibri" panose="020F0502020204030204"/>
              </a:rPr>
              <a:t>Future work</a:t>
            </a:r>
            <a:endParaRPr sz="1700" b="1" i="0">
              <a:solidFill>
                <a:srgbClr val="2F6FB5"/>
              </a:solidFill>
              <a:latin typeface="Calibri" panose="020F0502020204030204"/>
            </a:endParaRPr>
          </a:p>
          <a:p>
            <a:pPr algn="l">
              <a:spcAft>
                <a:spcPts val="800"/>
              </a:spcAft>
            </a:pPr>
            <a:r>
              <a:rPr sz="1600" b="0" i="0">
                <a:solidFill>
                  <a:srgbClr val="1F2937"/>
                </a:solidFill>
                <a:latin typeface="Calibri" panose="020F0502020204030204"/>
              </a:rPr>
              <a:t>•  Give the agent a memory of its own orders (days since last order, last supplier, fees so far) and test again on the same 30 runs: the best chance to close the gap</a:t>
            </a:r>
            <a:endParaRPr sz="1600" b="0" i="0">
              <a:solidFill>
                <a:srgbClr val="1F2937"/>
              </a:solidFill>
              <a:latin typeface="Calibri" panose="020F0502020204030204"/>
            </a:endParaRPr>
          </a:p>
          <a:p>
            <a:pPr algn="l">
              <a:spcAft>
                <a:spcPts val="800"/>
              </a:spcAft>
            </a:pPr>
            <a:r>
              <a:rPr sz="1600" b="0" i="0">
                <a:solidFill>
                  <a:srgbClr val="1F2937"/>
                </a:solidFill>
                <a:latin typeface="Calibri" panose="020F0502020204030204"/>
              </a:rPr>
              <a:t>•  Test all methods when the market changes (wilder demand, longer delays)</a:t>
            </a:r>
            <a:endParaRPr sz="1600" b="0" i="0">
              <a:solidFill>
                <a:srgbClr val="1F2937"/>
              </a:solidFill>
              <a:latin typeface="Calibri" panose="020F0502020204030204"/>
            </a:endParaRPr>
          </a:p>
          <a:p>
            <a:pPr algn="l">
              <a:spcAft>
                <a:spcPts val="800"/>
              </a:spcAft>
            </a:pPr>
            <a:r>
              <a:rPr sz="1600" b="0" i="0">
                <a:solidFill>
                  <a:srgbClr val="1F2937"/>
                </a:solidFill>
                <a:latin typeface="Calibri" panose="020F0502020204030204"/>
              </a:rPr>
              <a:t>•  Train longer on crises, to see whether the method failed or was just under-trained</a:t>
            </a:r>
            <a:endParaRPr sz="1600" b="0" i="0">
              <a:solidFill>
                <a:srgbClr val="1F2937"/>
              </a:solidFill>
              <a:latin typeface="Calibri" panose="020F0502020204030204"/>
            </a:endParaRPr>
          </a:p>
          <a:p>
            <a:pPr algn="l">
              <a:spcAft>
                <a:spcPts val="800"/>
              </a:spcAft>
            </a:pPr>
            <a:r>
              <a:rPr sz="1600" b="0" i="0">
                <a:solidFill>
                  <a:srgbClr val="1F2937"/>
                </a:solidFill>
                <a:latin typeface="Calibri" panose="020F0502020204030204"/>
              </a:rPr>
              <a:t>•  Use recent real data and real supplier terms if a partner can provide them</a:t>
            </a:r>
            <a:endParaRPr sz="1600" b="0" i="0">
              <a:solidFill>
                <a:srgbClr val="1F2937"/>
              </a:solidFill>
              <a:latin typeface="Calibri" panose="020F0502020204030204"/>
            </a:endParaRPr>
          </a:p>
          <a:p>
            <a:pPr algn="l">
              <a:spcAft>
                <a:spcPts val="400"/>
              </a:spcAft>
            </a:pPr>
            <a:r>
              <a:rPr sz="1600" b="0" i="0">
                <a:solidFill>
                  <a:srgbClr val="1F2937"/>
                </a:solidFill>
                <a:latin typeface="Calibri" panose="020F0502020204030204"/>
              </a:rPr>
              <a:t>•  Before real use: handle new products, set order limits, keep an audit trail, and flag when a human should decide</a:t>
            </a:r>
            <a:endParaRPr sz="1600" b="0" i="0">
              <a:solidFill>
                <a:srgbClr val="1F2937"/>
              </a:solidFill>
              <a:latin typeface="Calibri" panose="020F0502020204030204"/>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 name="Rectangle 16"/>
          <p:cNvSpPr/>
          <p:nvPr/>
        </p:nvSpPr>
        <p:spPr>
          <a:xfrm>
            <a:off x="-1" y="0"/>
            <a:ext cx="12191998" cy="1262131"/>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4400" dirty="0">
              <a:solidFill>
                <a:schemeClr val="accent1">
                  <a:lumMod val="50000"/>
                </a:schemeClr>
              </a:solidFill>
            </a:endParaRPr>
          </a:p>
        </p:txBody>
      </p:sp>
      <p:sp>
        <p:nvSpPr>
          <p:cNvPr id="10" name="Google Shape;91;p1"/>
          <p:cNvSpPr txBox="1"/>
          <p:nvPr/>
        </p:nvSpPr>
        <p:spPr>
          <a:xfrm>
            <a:off x="-1" y="6416040"/>
            <a:ext cx="12191998" cy="441960"/>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None/>
            </a:pPr>
            <a:r>
              <a:rPr lang="en-IN" sz="1600" b="1" i="0" u="none" strike="noStrike" cap="none" dirty="0">
                <a:solidFill>
                  <a:srgbClr val="081271"/>
                </a:solidFill>
                <a:latin typeface="Times New Roman" panose="02020603050405020304"/>
                <a:ea typeface="Times New Roman" panose="02020603050405020304"/>
                <a:cs typeface="Times New Roman" panose="02020603050405020304"/>
                <a:sym typeface="Times New Roman" panose="02020603050405020304"/>
              </a:rPr>
              <a:t>[Final Project Review]</a:t>
            </a:r>
            <a:endParaRPr sz="1600" b="1" i="0" u="none" strike="noStrike" cap="none" dirty="0">
              <a:solidFill>
                <a:srgbClr val="08127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16" name="Straight Connector 15"/>
          <p:cNvCxnSpPr/>
          <p:nvPr/>
        </p:nvCxnSpPr>
        <p:spPr>
          <a:xfrm>
            <a:off x="0" y="1260899"/>
            <a:ext cx="12192000" cy="0"/>
          </a:xfrm>
          <a:prstGeom prst="line">
            <a:avLst/>
          </a:prstGeom>
          <a:ln w="28575">
            <a:solidFill>
              <a:srgbClr val="1A9B46"/>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sz="3200"/>
              <a:t>References</a:t>
            </a:r>
            <a:endParaRPr sz="3200"/>
          </a:p>
        </p:txBody>
      </p:sp>
      <p:sp>
        <p:nvSpPr>
          <p:cNvPr id="19" name="Slide Number Placeholder 18"/>
          <p:cNvSpPr>
            <a:spLocks noGrp="1"/>
          </p:cNvSpPr>
          <p:nvPr>
            <p:ph type="sldNum" sz="quarter" idx="12"/>
          </p:nvPr>
        </p:nvSpPr>
        <p:spPr/>
        <p:txBody>
          <a:bodyPr/>
          <a:lstStyle/>
          <a:p>
            <a:fld id="{C2216105-7B7A-4C42-B2A1-5E9A2FA4F8FD}" type="slidenum">
              <a:rPr lang="en-IN" smtClean="0"/>
            </a:fld>
            <a:endParaRPr lang="en-IN" dirty="0"/>
          </a:p>
        </p:txBody>
      </p:sp>
      <p:sp>
        <p:nvSpPr>
          <p:cNvPr id="20" name="TextBox 19"/>
          <p:cNvSpPr txBox="1"/>
          <p:nvPr/>
        </p:nvSpPr>
        <p:spPr>
          <a:xfrm>
            <a:off x="411480" y="1371600"/>
            <a:ext cx="11365992" cy="4937760"/>
          </a:xfrm>
          <a:prstGeom prst="rect">
            <a:avLst/>
          </a:prstGeom>
          <a:noFill/>
        </p:spPr>
        <p:txBody>
          <a:bodyPr wrap="square" lIns="45720" tIns="27432" rIns="45720" bIns="27432" anchor="t">
            <a:spAutoFit/>
          </a:bodyPr>
          <a:lstStyle/>
          <a:p>
            <a:pPr algn="l">
              <a:spcAft>
                <a:spcPts val="900"/>
              </a:spcAft>
            </a:pPr>
            <a:r>
              <a:rPr sz="1600" b="0" i="0">
                <a:solidFill>
                  <a:srgbClr val="1F2937"/>
                </a:solidFill>
                <a:latin typeface="Calibri" panose="020F0502020204030204"/>
              </a:rPr>
              <a:t>[1]  J. Schulman, F. Wolski, P. Dhariwal, A. Radford, O. Klimov. Proximal policy optimization algorithms. arXiv:1707.06347, 2017.</a:t>
            </a:r>
            <a:endParaRPr sz="1600" b="0" i="0">
              <a:solidFill>
                <a:srgbClr val="1F2937"/>
              </a:solidFill>
              <a:latin typeface="Calibri" panose="020F0502020204030204"/>
            </a:endParaRPr>
          </a:p>
          <a:p>
            <a:pPr algn="l">
              <a:spcAft>
                <a:spcPts val="900"/>
              </a:spcAft>
            </a:pPr>
            <a:r>
              <a:rPr sz="1600" b="0" i="0">
                <a:solidFill>
                  <a:srgbClr val="1F2937"/>
                </a:solidFill>
                <a:latin typeface="Calibri" panose="020F0502020204030204"/>
              </a:rPr>
              <a:t>[2]  S. Huang, S. Ontanón. A closer look at invalid action masking in policy gradient algorithms. FLAIRS-35, 2022.</a:t>
            </a:r>
            <a:endParaRPr sz="1600" b="0" i="0">
              <a:solidFill>
                <a:srgbClr val="1F2937"/>
              </a:solidFill>
              <a:latin typeface="Calibri" panose="020F0502020204030204"/>
            </a:endParaRPr>
          </a:p>
          <a:p>
            <a:pPr algn="l">
              <a:spcAft>
                <a:spcPts val="900"/>
              </a:spcAft>
            </a:pPr>
            <a:r>
              <a:rPr sz="1600" b="0" i="0">
                <a:solidFill>
                  <a:srgbClr val="1F2937"/>
                </a:solidFill>
                <a:latin typeface="Calibri" panose="020F0502020204030204"/>
              </a:rPr>
              <a:t>[3]  J. Gijsbrechts, R. N. Boute, J. A. Van Mieghem, D. Zhang. Can deep reinforcement learning improve inventory management? Manufacturing &amp; Service Operations Management, 2022.</a:t>
            </a:r>
            <a:endParaRPr sz="1600" b="0" i="0">
              <a:solidFill>
                <a:srgbClr val="1F2937"/>
              </a:solidFill>
              <a:latin typeface="Calibri" panose="020F0502020204030204"/>
            </a:endParaRPr>
          </a:p>
          <a:p>
            <a:pPr algn="l">
              <a:spcAft>
                <a:spcPts val="900"/>
              </a:spcAft>
            </a:pPr>
            <a:r>
              <a:rPr sz="1600" b="0" i="0">
                <a:solidFill>
                  <a:srgbClr val="1F2937"/>
                </a:solidFill>
                <a:latin typeface="Calibri" panose="020F0502020204030204"/>
              </a:rPr>
              <a:t>[4]  R. N. Boute, J. Gijsbrechts, W. van Jaarsveld, N. Vanvuchelen. Deep reinforcement learning for inventory control: a roadmap. European Journal of Operational Research, 2022.</a:t>
            </a:r>
            <a:endParaRPr sz="1600" b="0" i="0">
              <a:solidFill>
                <a:srgbClr val="1F2937"/>
              </a:solidFill>
              <a:latin typeface="Calibri" panose="020F0502020204030204"/>
            </a:endParaRPr>
          </a:p>
          <a:p>
            <a:pPr algn="l">
              <a:spcAft>
                <a:spcPts val="900"/>
              </a:spcAft>
            </a:pPr>
            <a:r>
              <a:rPr sz="1600" b="0" i="0">
                <a:solidFill>
                  <a:srgbClr val="1F2937"/>
                </a:solidFill>
                <a:latin typeface="Calibri" panose="020F0502020204030204"/>
              </a:rPr>
              <a:t>[5]  A. Oroojlooyjadid, M. Nazari, L. V. Snyder, M. Takáč. A deep Q-network for the beer game. Manufacturing &amp; Service Operations Management, 2022.</a:t>
            </a:r>
            <a:endParaRPr sz="1600" b="0" i="0">
              <a:solidFill>
                <a:srgbClr val="1F2937"/>
              </a:solidFill>
              <a:latin typeface="Calibri" panose="020F0502020204030204"/>
            </a:endParaRPr>
          </a:p>
          <a:p>
            <a:pPr algn="l">
              <a:spcAft>
                <a:spcPts val="900"/>
              </a:spcAft>
            </a:pPr>
            <a:r>
              <a:rPr sz="1600" b="0" i="0">
                <a:solidFill>
                  <a:srgbClr val="1F2937"/>
                </a:solidFill>
                <a:latin typeface="Calibri" panose="020F0502020204030204"/>
              </a:rPr>
              <a:t>[6]  D. Chen, S. L. Sain, K. Guo. Data mining for the online retail industry. Journal of Database Marketing &amp; Customer Strategy Management, 2012.</a:t>
            </a:r>
            <a:endParaRPr sz="1600" b="0" i="0">
              <a:solidFill>
                <a:srgbClr val="1F2937"/>
              </a:solidFill>
              <a:latin typeface="Calibri" panose="020F0502020204030204"/>
            </a:endParaRPr>
          </a:p>
          <a:p>
            <a:pPr algn="l">
              <a:spcAft>
                <a:spcPts val="900"/>
              </a:spcAft>
            </a:pPr>
            <a:r>
              <a:rPr sz="1600" b="0" i="0">
                <a:solidFill>
                  <a:srgbClr val="1F2937"/>
                </a:solidFill>
                <a:latin typeface="Calibri" panose="020F0502020204030204"/>
              </a:rPr>
              <a:t>[7]  A. Raffin et al. Stable-Baselines3: reliable reinforcement learning implementations. JMLR 22(268), 2021.</a:t>
            </a:r>
            <a:endParaRPr sz="1600" b="0" i="0">
              <a:solidFill>
                <a:srgbClr val="1F2937"/>
              </a:solidFill>
              <a:latin typeface="Calibri" panose="020F0502020204030204"/>
            </a:endParaRPr>
          </a:p>
          <a:p>
            <a:pPr algn="l">
              <a:spcAft>
                <a:spcPts val="900"/>
              </a:spcAft>
            </a:pPr>
            <a:r>
              <a:rPr sz="1600" b="0" i="0">
                <a:solidFill>
                  <a:srgbClr val="1F2937"/>
                </a:solidFill>
                <a:latin typeface="Calibri" panose="020F0502020204030204"/>
              </a:rPr>
              <a:t>[8]  UCI Machine Learning Repository. Online Retail II. https://archive.ics.uci.edu/dataset/502</a:t>
            </a:r>
            <a:endParaRPr sz="1600" b="0" i="0">
              <a:solidFill>
                <a:srgbClr val="1F2937"/>
              </a:solidFill>
              <a:latin typeface="Calibri" panose="020F0502020204030204"/>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Google Shape;91;p1"/>
          <p:cNvSpPr txBox="1"/>
          <p:nvPr/>
        </p:nvSpPr>
        <p:spPr>
          <a:xfrm>
            <a:off x="-1" y="6416040"/>
            <a:ext cx="12191998" cy="441960"/>
          </a:xfrm>
          <a:prstGeom prst="rect">
            <a:avLst/>
          </a:prstGeom>
          <a:gradFill flip="none" rotWithShape="1">
            <a:gsLst>
              <a:gs pos="0">
                <a:srgbClr val="1A9B46">
                  <a:tint val="66000"/>
                  <a:satMod val="160000"/>
                </a:srgbClr>
              </a:gs>
              <a:gs pos="50000">
                <a:srgbClr val="1A9B46">
                  <a:tint val="44500"/>
                  <a:satMod val="160000"/>
                </a:srgbClr>
              </a:gs>
              <a:gs pos="100000">
                <a:srgbClr val="1A9B46">
                  <a:tint val="23500"/>
                  <a:satMod val="160000"/>
                </a:srgbClr>
              </a:gs>
            </a:gsLst>
            <a:path path="circle">
              <a:fillToRect l="50000" t="50000" r="50000" b="50000"/>
            </a:path>
            <a:tileRect/>
          </a:grad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None/>
            </a:pPr>
            <a:r>
              <a:rPr lang="en-IN" sz="1600" b="1" i="0" u="none" strike="noStrike" cap="none" dirty="0">
                <a:solidFill>
                  <a:srgbClr val="081271"/>
                </a:solidFill>
                <a:latin typeface="Times New Roman" panose="02020603050405020304"/>
                <a:ea typeface="Times New Roman" panose="02020603050405020304"/>
                <a:cs typeface="Times New Roman" panose="02020603050405020304"/>
                <a:sym typeface="Times New Roman" panose="02020603050405020304"/>
              </a:rPr>
              <a:t>[Final Project Review]</a:t>
            </a:r>
            <a:endParaRPr sz="1600" b="1" i="0" u="none" strike="noStrike" cap="none" dirty="0">
              <a:solidFill>
                <a:srgbClr val="08127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16" name="Straight Connector 15"/>
          <p:cNvCxnSpPr/>
          <p:nvPr/>
        </p:nvCxnSpPr>
        <p:spPr>
          <a:xfrm>
            <a:off x="0" y="1260899"/>
            <a:ext cx="12192000" cy="0"/>
          </a:xfrm>
          <a:prstGeom prst="line">
            <a:avLst/>
          </a:prstGeom>
          <a:ln w="28575">
            <a:solidFill>
              <a:srgbClr val="1A9B46"/>
            </a:solidFill>
          </a:ln>
        </p:spPr>
        <p:style>
          <a:lnRef idx="1">
            <a:schemeClr val="accent1"/>
          </a:lnRef>
          <a:fillRef idx="0">
            <a:schemeClr val="accent1"/>
          </a:fillRef>
          <a:effectRef idx="0">
            <a:schemeClr val="accent1"/>
          </a:effectRef>
          <a:fontRef idx="minor">
            <a:schemeClr val="tx1"/>
          </a:fontRef>
        </p:style>
      </p:cxnSp>
      <p:sp>
        <p:nvSpPr>
          <p:cNvPr id="19" name="Slide Number Placeholder 18"/>
          <p:cNvSpPr>
            <a:spLocks noGrp="1"/>
          </p:cNvSpPr>
          <p:nvPr>
            <p:ph type="sldNum" sz="quarter" idx="12"/>
          </p:nvPr>
        </p:nvSpPr>
        <p:spPr/>
        <p:txBody>
          <a:bodyPr/>
          <a:lstStyle/>
          <a:p>
            <a:fld id="{C2216105-7B7A-4C42-B2A1-5E9A2FA4F8FD}" type="slidenum">
              <a:rPr lang="en-IN" smtClean="0"/>
            </a:fld>
            <a:endParaRPr lang="en-IN" dirty="0"/>
          </a:p>
        </p:txBody>
      </p:sp>
      <p:sp>
        <p:nvSpPr>
          <p:cNvPr id="20" name="TextBox 19"/>
          <p:cNvSpPr txBox="1"/>
          <p:nvPr/>
        </p:nvSpPr>
        <p:spPr>
          <a:xfrm>
            <a:off x="413385" y="2811145"/>
            <a:ext cx="11365992" cy="731520"/>
          </a:xfrm>
          <a:prstGeom prst="rect">
            <a:avLst/>
          </a:prstGeom>
          <a:noFill/>
        </p:spPr>
        <p:txBody>
          <a:bodyPr wrap="square" lIns="45720" tIns="27432" rIns="45720" bIns="27432" anchor="t">
            <a:spAutoFit/>
          </a:bodyPr>
          <a:lstStyle/>
          <a:p>
            <a:pPr algn="ctr">
              <a:spcAft>
                <a:spcPts val="400"/>
              </a:spcAft>
            </a:pPr>
            <a:r>
              <a:rPr sz="4400">
                <a:sym typeface="+mn-ea"/>
              </a:rPr>
              <a:t>Thank You</a:t>
            </a:r>
            <a:endParaRPr sz="4400" b="1" i="0">
              <a:solidFill>
                <a:srgbClr val="1B5E3A"/>
              </a:solidFill>
              <a:latin typeface="Calibri" panose="020F0502020204030204"/>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16302</Words>
  <Application>WPS Presentation</Application>
  <PresentationFormat>Widescreen</PresentationFormat>
  <Paragraphs>845</Paragraphs>
  <Slides>25</Slides>
  <Notes>15</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25</vt:i4>
      </vt:variant>
    </vt:vector>
  </HeadingPairs>
  <TitlesOfParts>
    <vt:vector size="38" baseType="lpstr">
      <vt:lpstr>Arial</vt:lpstr>
      <vt:lpstr>SimSun</vt:lpstr>
      <vt:lpstr>Wingdings</vt:lpstr>
      <vt:lpstr>Times New Roman</vt:lpstr>
      <vt:lpstr>Times New Roman</vt:lpstr>
      <vt:lpstr>Calibri</vt:lpstr>
      <vt:lpstr>Microsoft YaHei</vt:lpstr>
      <vt:lpstr>Arial Unicode MS</vt:lpstr>
      <vt:lpstr>Calibri Light</vt:lpstr>
      <vt:lpstr>Aptos</vt:lpstr>
      <vt:lpstr>Segoe UI</vt:lpstr>
      <vt:lpstr>Calibri</vt:lpstr>
      <vt:lpstr>Office Theme</vt:lpstr>
      <vt:lpstr>PowerPoint 演示文稿</vt:lpstr>
      <vt:lpstr>Outline</vt:lpstr>
      <vt:lpstr>Introduction and Motivation</vt:lpstr>
      <vt:lpstr>Problem Definition</vt:lpstr>
      <vt:lpstr>Literature Review</vt:lpstr>
      <vt:lpstr>Gaps Identified, and What We Did</vt:lpstr>
      <vt:lpstr>Objectives and Status</vt:lpstr>
      <vt:lpstr>System Architecture</vt:lpstr>
      <vt:lpstr>Methodology: How the Agent Learns</vt:lpstr>
      <vt:lpstr>Dataset Description</vt:lpstr>
      <vt:lpstr>Classical Baselines and a Fair Evaluation</vt:lpstr>
      <vt:lpstr>LLM Explainer: Facts In, Checked Sentences Out</vt:lpstr>
      <vt:lpstr>LLM Crisis Generator and Curriculum Training</vt:lpstr>
      <vt:lpstr>Dashboard (1/5): Episode View, Engine</vt:lpstr>
      <vt:lpstr>Dashboard (2/5): The Challenger, and a Crisis</vt:lpstr>
      <vt:lpstr>Dashboard (3/5): Before vs After the System</vt:lpstr>
      <vt:lpstr>Dashboard (4/5): Explain a Decision</vt:lpstr>
      <vt:lpstr>Dashboard (5/5): Policy Comparison and Robustness</vt:lpstr>
      <vt:lpstr>Results (1/4): Main Comparison on 30 Unseen Runs</vt:lpstr>
      <vt:lpstr>Results (2/4): What Each Step Was Worth</vt:lpstr>
      <vt:lpstr>Results (3/4): Robustness to Unseen Crises</vt:lpstr>
      <vt:lpstr>Results (4/4): Explainer Accuracy on 30 Real Decisions</vt:lpstr>
      <vt:lpstr>Conclusion and Future Work</vt:lpstr>
      <vt:lpstr>References</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WPS_1695456806</cp:lastModifiedBy>
  <cp:revision>46</cp:revision>
  <dcterms:created xsi:type="dcterms:W3CDTF">2023-07-03T07:55:00Z</dcterms:created>
  <dcterms:modified xsi:type="dcterms:W3CDTF">2026-10-15T06:45:11Z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1033-12.1.0.29162</vt:lpwstr>
  </property>
  <property fmtid="{D5CDD505-2E9C-101B-9397-08002B2CF9AE}" pid="3" name="ICV">
    <vt:lpwstr>3E3864D1E98B471B96B3AAD835FC7A70_12</vt:lpwstr>
  </property>
</Properties>
</file>