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29"/>
  </p:handoutMasterIdLst>
  <p:sldIdLst>
    <p:sldId id="256" r:id="rId3"/>
    <p:sldId id="307" r:id="rId5"/>
    <p:sldId id="308" r:id="rId6"/>
    <p:sldId id="309" r:id="rId7"/>
    <p:sldId id="310" r:id="rId8"/>
    <p:sldId id="311" r:id="rId9"/>
    <p:sldId id="312" r:id="rId10"/>
    <p:sldId id="313" r:id="rId11"/>
    <p:sldId id="314" r:id="rId12"/>
    <p:sldId id="315" r:id="rId13"/>
    <p:sldId id="317" r:id="rId14"/>
    <p:sldId id="318" r:id="rId15"/>
    <p:sldId id="319" r:id="rId16"/>
    <p:sldId id="320" r:id="rId17"/>
    <p:sldId id="321" r:id="rId18"/>
    <p:sldId id="322" r:id="rId19"/>
    <p:sldId id="323" r:id="rId20"/>
    <p:sldId id="324" r:id="rId21"/>
    <p:sldId id="325" r:id="rId22"/>
    <p:sldId id="326" r:id="rId23"/>
    <p:sldId id="327" r:id="rId24"/>
    <p:sldId id="328" r:id="rId25"/>
    <p:sldId id="332" r:id="rId26"/>
    <p:sldId id="333" r:id="rId27"/>
    <p:sldId id="334"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1A9B46"/>
    <a:srgbClr val="18AD4A"/>
    <a:srgbClr val="081271"/>
    <a:srgbClr val="FFFB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6" autoAdjust="0"/>
    <p:restoredTop sz="94660"/>
  </p:normalViewPr>
  <p:slideViewPr>
    <p:cSldViewPr snapToGrid="0">
      <p:cViewPr varScale="1">
        <p:scale>
          <a:sx n="82" d="100"/>
          <a:sy n="82" d="100"/>
        </p:scale>
        <p:origin x="49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handoutMaster" Target="handoutMasters/handout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6333AC-344F-40AF-9E99-79D0BF1BA136}" type="datetimeFigureOut">
              <a:rPr lang="en-IN" smtClean="0"/>
            </a:fld>
            <a:endParaRPr lang="en-IN"/>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endParaRPr lang="en-IN"/>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E13A14-01DD-4442-9BD4-9CC7EED32526}" type="slidenum">
              <a:rPr lang="en-IN" smtClean="0"/>
            </a:fld>
            <a:endParaRPr lang="en-IN"/>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92E8E5-BD41-4FE3-96D2-635440A77753}"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9347C-ECC5-466E-9761-F92650021703}" type="slidenum">
              <a:rPr lang="en-IN" smtClean="0"/>
            </a:fld>
            <a:endParaRPr lang="en-IN"/>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Opening. One sentence: we built a decision-support system that decides how much stock a shop should order and from which supplier, tested an RL agent against tuned classical methods, and added an LLM that explains each decision and writes the crises we test with. Fill in the batch/group number and the presentation date before presenting.</a:t>
            </a:r>
          </a:p>
        </p:txBody>
      </p:sp>
      <p:sp>
        <p:nvSpPr>
          <p:cNvPr id="4" name="Slide Number Placeholder 3"/>
          <p:cNvSpPr>
            <a:spLocks noGrp="1"/>
          </p:cNvSpPr>
          <p:nvPr>
            <p:ph type="sldNum" sz="quarter" idx="10"/>
          </p:nvPr>
        </p:nvSpPr>
        <p:spPr/>
        <p:txBody>
          <a:bodyPr/>
          <a:lstStyle/>
          <a:p>
            <a:fld id="{5669347C-ECC5-466E-9761-F92650021703}" type="slidenum">
              <a:rPr lang="en-IN" smtClean="0"/>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Roadmap. The first half is what we built; the second half is the evidence that it works and where it does not.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Motivation in one minute. Both ways of ordering wrong cost money, and supplier choice adds a second decision. The honest framing: RL is a hypothesis we test, not an assumption.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decision is small to state and huge to search: 21 options per product across 10 products is about 17 trillion combinations a day. No supplier is best, which is what makes it a real trade-off.</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Five anchor papers. The pattern: deep RL has been competitive with tuned heuristics, not clearly better, and masking is what makes large action spaces tractable.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Each gap on the left has a concrete answer on the right. We claim only what we tested: no claim that nobody has combined these before beyond this single setting.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All five objectives are met. The fifth is a comparison, and the honest result is that the tuned classical method wins. Say this first, before the examiner asks.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Walk left to right. Data builds the simulator. Two decision makers act in it: the tuned classical engine and the RL challenger. The LLM layer explains decisions and writes crises. Evaluation and the dashboard sit on the right. The green strip is the deployment story: shadow mode, nothing places an order.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If asked for detail: the simulator runs five steps a day (deliveries, customers, sales, orders, profit), with storage at 0.15% of cost per day, leftover stock worth 60% of cost, and one shared 20,000-unit warehouse. The agent sees 88 numbers and picks one of 21 options per product; the winning settings were learning rate 5e-5, entropy 0.005, gamma 0.995, rollout 1024, network 2 x 256, from an 8-configuration search with the best two run to 2M steps. The loop: state in, action out, reward back. Action masking is the biggest single improvement: it stops the agent wasting training on choices that are never legal.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Why this dataset: real and public, with enough variety. Why not the newer one: it is synthetic noise, and newer-but-fake is worse than older-but-real. Money is converted from pounds at 1 GBP = 105 rupees for display only.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is what makes a negative result meaningful. Three disjoint seed groups, tuned baselines, identical customers for every method.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key design decision: the LLM only presents facts the simulator computed. Then every number in its output is checked against those facts. If it invented one, a fixed template is shown instead. Three free models via OpenRouter, tried in order, with retries.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LLM's value here is imagination, not trust. We validate everything. The curriculum experiment is controlled: same seed, same settings, same steps.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Live demo starting point. The dashboard opens on the engine, the policy a buyer would actually run. Everything shown comes from a real episode run on demand; no number on the page is typed in.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Left: switch the policy to the challenger and the supplier bars change completely. This is the visual evidence for the error analysis. Right: the crisis switch injects the LLM-written disruption for the whole run.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Before = the shop orders the same fixed amount every day, tuned as carefully as every other baseline. After = the system's engine. Same 30 unseen runs. The honest reading: forecasting plus safety stock does the heavy lifting; the RL challenger also beats the fixed order but trails the engine.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is the explainer in action, live. The explanation is a restatement of computed facts, not an account of the neural network's reasoning, and we say so explicitly.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Both tabs read the saved result files, so the dashboard cannot disagree with the report.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State the result plainly: the classical engine wins by about 8 lakh per run, paired t of minus 6.45. The agent reaches 90.8% of its profit and beats EOQ and (s,S). The constant-order row is the 'no system' baseline.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Two controlled improvements, each measured: masking about 3x, tuning closes 38% of the remaining gap. The curves show learning progress on the checkpoint-selection seeds; reported scores come from separate held-out seeds.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Every method loses more than a third of its profit in a crisis; RL is not more adaptive than the tuned classical method. Our attempt to fix that with crisis training did not work. We report it as a negative result.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Be upfront about both numbers. 83% is the model by itself; 100% is the system with the check. The finding is that the check is essential, not decoration.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Close on the honest claim: the project works end to end, the comparison is fair, the classical method wins, and we know why. The next experiment is aimed straight at the cause.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Same eight references as the report. The report has the full paper; this is the short list.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Likely questions: why the classical method wins (fees from supplier fragmentation, no ordering memory); where the accuracy is (no accuracy in RL; relative profit 90.8%, explainer 100% delivered); is the data too old (stability test); what masking is.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IN"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07E2F458-B665-432D-ACF1-3C56F813001B}" type="datetime1">
              <a:rPr lang="en-IN" smtClean="0"/>
            </a:fld>
            <a:endParaRPr lang="en-IN"/>
          </a:p>
        </p:txBody>
      </p:sp>
      <p:sp>
        <p:nvSpPr>
          <p:cNvPr id="5" name="Footer Placeholder 4"/>
          <p:cNvSpPr>
            <a:spLocks noGrp="1"/>
          </p:cNvSpPr>
          <p:nvPr>
            <p:ph type="ftr" sz="quarter" idx="11"/>
          </p:nvPr>
        </p:nvSpPr>
        <p:spPr/>
        <p:txBody>
          <a:bodyPr/>
          <a:lstStyle/>
          <a:p>
            <a:r>
              <a:rPr lang="en-IN" dirty="0"/>
              <a:t>Speech Processing</a:t>
            </a:r>
            <a:endParaRPr lang="en-IN" dirty="0"/>
          </a:p>
        </p:txBody>
      </p:sp>
      <p:sp>
        <p:nvSpPr>
          <p:cNvPr id="6" name="Slide Number Placeholder 5"/>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10"/>
          </p:nvPr>
        </p:nvSpPr>
        <p:spPr/>
        <p:txBody>
          <a:bodyPr/>
          <a:lstStyle/>
          <a:p>
            <a:fld id="{646C15BD-94E4-4067-8A33-3C6EC4BD0B33}" type="datetime1">
              <a:rPr lang="en-IN" smtClean="0"/>
            </a:fld>
            <a:endParaRPr lang="en-IN"/>
          </a:p>
        </p:txBody>
      </p:sp>
      <p:sp>
        <p:nvSpPr>
          <p:cNvPr id="5" name="Footer Placeholder 4"/>
          <p:cNvSpPr>
            <a:spLocks noGrp="1"/>
          </p:cNvSpPr>
          <p:nvPr>
            <p:ph type="ftr" sz="quarter" idx="11"/>
          </p:nvPr>
        </p:nvSpPr>
        <p:spPr/>
        <p:txBody>
          <a:bodyPr/>
          <a:lstStyle/>
          <a:p>
            <a:r>
              <a:rPr lang="en-IN"/>
              <a:t>Speech Processing</a:t>
            </a:r>
            <a:endParaRPr lang="en-IN"/>
          </a:p>
        </p:txBody>
      </p:sp>
      <p:sp>
        <p:nvSpPr>
          <p:cNvPr id="6" name="Slide Number Placeholder 5"/>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endParaRPr lang="en-US"/>
          </a:p>
        </p:txBody>
      </p:sp>
      <p:sp>
        <p:nvSpPr>
          <p:cNvPr id="4" name="Date Placeholder 3"/>
          <p:cNvSpPr>
            <a:spLocks noGrp="1"/>
          </p:cNvSpPr>
          <p:nvPr>
            <p:ph type="dt" sz="half" idx="10"/>
          </p:nvPr>
        </p:nvSpPr>
        <p:spPr/>
        <p:txBody>
          <a:bodyPr/>
          <a:lstStyle/>
          <a:p>
            <a:fld id="{5F634687-F519-4EB7-A5A2-8F32F570280C}" type="datetime1">
              <a:rPr lang="en-IN" smtClean="0"/>
            </a:fld>
            <a:endParaRPr lang="en-IN"/>
          </a:p>
        </p:txBody>
      </p:sp>
      <p:sp>
        <p:nvSpPr>
          <p:cNvPr id="5" name="Footer Placeholder 4"/>
          <p:cNvSpPr>
            <a:spLocks noGrp="1"/>
          </p:cNvSpPr>
          <p:nvPr>
            <p:ph type="ftr" sz="quarter" idx="11"/>
          </p:nvPr>
        </p:nvSpPr>
        <p:spPr/>
        <p:txBody>
          <a:bodyPr/>
          <a:lstStyle/>
          <a:p>
            <a:r>
              <a:rPr lang="en-IN"/>
              <a:t>Speech Processing</a:t>
            </a:r>
            <a:endParaRPr lang="en-IN"/>
          </a:p>
        </p:txBody>
      </p:sp>
      <p:sp>
        <p:nvSpPr>
          <p:cNvPr id="6" name="Slide Number Placeholder 5"/>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5" name="Date Placeholder 4"/>
          <p:cNvSpPr>
            <a:spLocks noGrp="1"/>
          </p:cNvSpPr>
          <p:nvPr>
            <p:ph type="dt" sz="half" idx="10"/>
          </p:nvPr>
        </p:nvSpPr>
        <p:spPr/>
        <p:txBody>
          <a:bodyPr/>
          <a:lstStyle/>
          <a:p>
            <a:fld id="{CA9FD66B-7BF9-457E-8F34-7A62FFE4EC1F}" type="datetime1">
              <a:rPr lang="en-IN" smtClean="0"/>
            </a:fld>
            <a:endParaRPr lang="en-IN"/>
          </a:p>
        </p:txBody>
      </p:sp>
      <p:sp>
        <p:nvSpPr>
          <p:cNvPr id="6" name="Footer Placeholder 5"/>
          <p:cNvSpPr>
            <a:spLocks noGrp="1"/>
          </p:cNvSpPr>
          <p:nvPr>
            <p:ph type="ftr" sz="quarter" idx="11"/>
          </p:nvPr>
        </p:nvSpPr>
        <p:spPr/>
        <p:txBody>
          <a:bodyPr/>
          <a:lstStyle/>
          <a:p>
            <a:r>
              <a:rPr lang="en-IN"/>
              <a:t>Speech Processing</a:t>
            </a:r>
            <a:endParaRPr lang="en-IN"/>
          </a:p>
        </p:txBody>
      </p:sp>
      <p:sp>
        <p:nvSpPr>
          <p:cNvPr id="7" name="Slide Number Placeholder 6"/>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7" name="Date Placeholder 6"/>
          <p:cNvSpPr>
            <a:spLocks noGrp="1"/>
          </p:cNvSpPr>
          <p:nvPr>
            <p:ph type="dt" sz="half" idx="10"/>
          </p:nvPr>
        </p:nvSpPr>
        <p:spPr/>
        <p:txBody>
          <a:bodyPr/>
          <a:lstStyle/>
          <a:p>
            <a:fld id="{EFAE7592-1B5F-45CD-B707-8D5A5E58EE31}" type="datetime1">
              <a:rPr lang="en-IN" smtClean="0"/>
            </a:fld>
            <a:endParaRPr lang="en-IN"/>
          </a:p>
        </p:txBody>
      </p:sp>
      <p:sp>
        <p:nvSpPr>
          <p:cNvPr id="8" name="Footer Placeholder 7"/>
          <p:cNvSpPr>
            <a:spLocks noGrp="1"/>
          </p:cNvSpPr>
          <p:nvPr>
            <p:ph type="ftr" sz="quarter" idx="11"/>
          </p:nvPr>
        </p:nvSpPr>
        <p:spPr/>
        <p:txBody>
          <a:bodyPr/>
          <a:lstStyle/>
          <a:p>
            <a:r>
              <a:rPr lang="en-IN"/>
              <a:t>Speech Processing</a:t>
            </a:r>
            <a:endParaRPr lang="en-IN"/>
          </a:p>
        </p:txBody>
      </p:sp>
      <p:sp>
        <p:nvSpPr>
          <p:cNvPr id="9" name="Slide Number Placeholder 8"/>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990ABBB8-8A7F-45A3-83C4-4C9477351CC6}" type="datetime1">
              <a:rPr lang="en-IN" smtClean="0"/>
            </a:fld>
            <a:endParaRPr lang="en-IN"/>
          </a:p>
        </p:txBody>
      </p:sp>
      <p:sp>
        <p:nvSpPr>
          <p:cNvPr id="4" name="Footer Placeholder 3"/>
          <p:cNvSpPr>
            <a:spLocks noGrp="1"/>
          </p:cNvSpPr>
          <p:nvPr>
            <p:ph type="ftr" sz="quarter" idx="11"/>
          </p:nvPr>
        </p:nvSpPr>
        <p:spPr/>
        <p:txBody>
          <a:bodyPr/>
          <a:lstStyle/>
          <a:p>
            <a:r>
              <a:rPr lang="en-IN"/>
              <a:t>Speech Processing</a:t>
            </a:r>
            <a:endParaRPr lang="en-IN"/>
          </a:p>
        </p:txBody>
      </p:sp>
      <p:sp>
        <p:nvSpPr>
          <p:cNvPr id="5" name="Slide Number Placeholder 4"/>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435D1B-80AA-466C-8316-5AE450E66A39}" type="datetime1">
              <a:rPr lang="en-IN" smtClean="0"/>
            </a:fld>
            <a:endParaRPr lang="en-IN"/>
          </a:p>
        </p:txBody>
      </p:sp>
      <p:sp>
        <p:nvSpPr>
          <p:cNvPr id="3" name="Footer Placeholder 2"/>
          <p:cNvSpPr>
            <a:spLocks noGrp="1"/>
          </p:cNvSpPr>
          <p:nvPr>
            <p:ph type="ftr" sz="quarter" idx="11"/>
          </p:nvPr>
        </p:nvSpPr>
        <p:spPr/>
        <p:txBody>
          <a:bodyPr/>
          <a:lstStyle/>
          <a:p>
            <a:r>
              <a:rPr lang="en-IN"/>
              <a:t>Speech Processing</a:t>
            </a:r>
            <a:endParaRPr lang="en-IN"/>
          </a:p>
        </p:txBody>
      </p:sp>
      <p:sp>
        <p:nvSpPr>
          <p:cNvPr id="4" name="Slide Number Placeholder 3"/>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E3447488-929A-4615-A557-C0AD33B297D1}" type="datetime1">
              <a:rPr lang="en-IN" smtClean="0"/>
            </a:fld>
            <a:endParaRPr lang="en-IN"/>
          </a:p>
        </p:txBody>
      </p:sp>
      <p:sp>
        <p:nvSpPr>
          <p:cNvPr id="6" name="Footer Placeholder 5"/>
          <p:cNvSpPr>
            <a:spLocks noGrp="1"/>
          </p:cNvSpPr>
          <p:nvPr>
            <p:ph type="ftr" sz="quarter" idx="11"/>
          </p:nvPr>
        </p:nvSpPr>
        <p:spPr/>
        <p:txBody>
          <a:bodyPr/>
          <a:lstStyle/>
          <a:p>
            <a:r>
              <a:rPr lang="en-IN"/>
              <a:t>Speech Processing</a:t>
            </a:r>
            <a:endParaRPr lang="en-IN"/>
          </a:p>
        </p:txBody>
      </p:sp>
      <p:sp>
        <p:nvSpPr>
          <p:cNvPr id="7" name="Slide Number Placeholder 6"/>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AABDCACE-EBE9-4116-B81B-E040F2D3F20E}" type="datetime1">
              <a:rPr lang="en-IN" smtClean="0"/>
            </a:fld>
            <a:endParaRPr lang="en-IN"/>
          </a:p>
        </p:txBody>
      </p:sp>
      <p:sp>
        <p:nvSpPr>
          <p:cNvPr id="6" name="Footer Placeholder 5"/>
          <p:cNvSpPr>
            <a:spLocks noGrp="1"/>
          </p:cNvSpPr>
          <p:nvPr>
            <p:ph type="ftr" sz="quarter" idx="11"/>
          </p:nvPr>
        </p:nvSpPr>
        <p:spPr/>
        <p:txBody>
          <a:bodyPr/>
          <a:lstStyle/>
          <a:p>
            <a:r>
              <a:rPr lang="en-IN"/>
              <a:t>Speech Processing</a:t>
            </a:r>
            <a:endParaRPr lang="en-IN"/>
          </a:p>
        </p:txBody>
      </p:sp>
      <p:sp>
        <p:nvSpPr>
          <p:cNvPr id="7" name="Slide Number Placeholder 6"/>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10"/>
          </p:nvPr>
        </p:nvSpPr>
        <p:spPr/>
        <p:txBody>
          <a:bodyPr/>
          <a:lstStyle/>
          <a:p>
            <a:fld id="{479BF764-0E37-4886-B1E5-DFBF599A6490}" type="datetime1">
              <a:rPr lang="en-IN" smtClean="0"/>
            </a:fld>
            <a:endParaRPr lang="en-IN"/>
          </a:p>
        </p:txBody>
      </p:sp>
      <p:sp>
        <p:nvSpPr>
          <p:cNvPr id="5" name="Footer Placeholder 4"/>
          <p:cNvSpPr>
            <a:spLocks noGrp="1"/>
          </p:cNvSpPr>
          <p:nvPr>
            <p:ph type="ftr" sz="quarter" idx="11"/>
          </p:nvPr>
        </p:nvSpPr>
        <p:spPr/>
        <p:txBody>
          <a:bodyPr/>
          <a:lstStyle/>
          <a:p>
            <a:r>
              <a:rPr lang="en-IN"/>
              <a:t>Speech Processing</a:t>
            </a:r>
            <a:endParaRPr lang="en-IN"/>
          </a:p>
        </p:txBody>
      </p:sp>
      <p:sp>
        <p:nvSpPr>
          <p:cNvPr id="6" name="Slide Number Placeholder 5"/>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10"/>
          </p:nvPr>
        </p:nvSpPr>
        <p:spPr/>
        <p:txBody>
          <a:bodyPr/>
          <a:lstStyle/>
          <a:p>
            <a:fld id="{E9A9FEB4-F282-4F07-B60D-731E94E7D45B}" type="datetime1">
              <a:rPr lang="en-IN" smtClean="0"/>
            </a:fld>
            <a:endParaRPr lang="en-IN"/>
          </a:p>
        </p:txBody>
      </p:sp>
      <p:sp>
        <p:nvSpPr>
          <p:cNvPr id="5" name="Footer Placeholder 4"/>
          <p:cNvSpPr>
            <a:spLocks noGrp="1"/>
          </p:cNvSpPr>
          <p:nvPr>
            <p:ph type="ftr" sz="quarter" idx="11"/>
          </p:nvPr>
        </p:nvSpPr>
        <p:spPr/>
        <p:txBody>
          <a:bodyPr/>
          <a:lstStyle/>
          <a:p>
            <a:r>
              <a:rPr lang="en-IN"/>
              <a:t>Speech Processing</a:t>
            </a:r>
            <a:endParaRPr lang="en-IN"/>
          </a:p>
        </p:txBody>
      </p:sp>
      <p:sp>
        <p:nvSpPr>
          <p:cNvPr id="6" name="Slide Number Placeholder 5"/>
          <p:cNvSpPr>
            <a:spLocks noGrp="1"/>
          </p:cNvSpPr>
          <p:nvPr>
            <p:ph type="sldNum" sz="quarter" idx="12"/>
          </p:nvPr>
        </p:nvSpPr>
        <p:spPr/>
        <p:txBody>
          <a:bodyPr/>
          <a:lstStyle/>
          <a:p>
            <a:fld id="{C2216105-7B7A-4C42-B2A1-5E9A2FA4F8FD}" type="slidenum">
              <a:rPr lang="en-IN" smtClean="0"/>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24EDEC-E80A-4952-9B8F-BFE95EE7B0BE}" type="datetime1">
              <a:rPr lang="en-IN" smtClean="0"/>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Speech Processing</a:t>
            </a:r>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216105-7B7A-4C42-B2A1-5E9A2FA4F8FD}" type="slidenum">
              <a:rPr lang="en-IN" smtClean="0"/>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1" name="Title 3"/>
          <p:cNvSpPr txBox="1"/>
          <p:nvPr/>
        </p:nvSpPr>
        <p:spPr>
          <a:xfrm>
            <a:off x="594358" y="2312035"/>
            <a:ext cx="10972800" cy="104415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IN" sz="3600" dirty="0">
                <a:latin typeface="Times New Roman" panose="02020603050405020304" pitchFamily="18" charset="0"/>
                <a:cs typeface="Times New Roman" panose="02020603050405020304" pitchFamily="18" charset="0"/>
              </a:rPr>
              <a:t>SupplyAI-RL: Explainable Supply Chain Optimization</a:t>
            </a:r>
            <a:endParaRPr lang="en-IN" sz="3600" dirty="0">
              <a:latin typeface="Times New Roman" panose="02020603050405020304" pitchFamily="18" charset="0"/>
              <a:cs typeface="Times New Roman" panose="02020603050405020304" pitchFamily="18" charset="0"/>
            </a:endParaRPr>
          </a:p>
        </p:txBody>
      </p:sp>
      <p:sp>
        <p:nvSpPr>
          <p:cNvPr id="3" name="Rectangle 2"/>
          <p:cNvSpPr/>
          <p:nvPr/>
        </p:nvSpPr>
        <p:spPr>
          <a:xfrm>
            <a:off x="1935319" y="236845"/>
            <a:ext cx="7999556" cy="460375"/>
          </a:xfrm>
          <a:prstGeom prst="rect">
            <a:avLst/>
          </a:prstGeom>
        </p:spPr>
        <p:txBody>
          <a:bodyPr wrap="square">
            <a:spAutoFit/>
          </a:bodyPr>
          <a:lstStyle/>
          <a:p>
            <a:pPr algn="ctr"/>
            <a:r>
              <a:rPr lang="it-IT" sz="2400" b="1" dirty="0"/>
              <a:t>22AIE450 Reinforcement Learning</a:t>
            </a:r>
            <a:endParaRPr lang="en-IN" sz="2400" b="1" dirty="0">
              <a:solidFill>
                <a:srgbClr val="7030A0"/>
              </a:solidFill>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9077095" y="5597101"/>
            <a:ext cx="2636299" cy="369332"/>
          </a:xfrm>
          <a:prstGeom prst="rect">
            <a:avLst/>
          </a:prstGeom>
        </p:spPr>
        <p:txBody>
          <a:bodyPr wrap="none">
            <a:spAutoFit/>
          </a:bodyPr>
          <a:lstStyle/>
          <a:p>
            <a:r>
              <a:rPr lang="en-US" sz="1600" b="1" dirty="0">
                <a:latin typeface="Times New Roman" panose="02020603050405020304" pitchFamily="18" charset="0"/>
                <a:cs typeface="Times New Roman" panose="02020603050405020304" pitchFamily="18" charset="0"/>
              </a:rPr>
              <a:t>Date: ____________</a:t>
            </a:r>
            <a:endParaRPr lang="en-IN" dirty="0">
              <a:latin typeface="Times New Roman" panose="02020603050405020304" pitchFamily="18" charset="0"/>
              <a:cs typeface="Times New Roman" panose="02020603050405020304" pitchFamily="18" charset="0"/>
            </a:endParaRPr>
          </a:p>
        </p:txBody>
      </p:sp>
      <p:sp>
        <p:nvSpPr>
          <p:cNvPr id="19" name="Slide Number Placeholder 18"/>
          <p:cNvSpPr>
            <a:spLocks noGrp="1"/>
          </p:cNvSpPr>
          <p:nvPr>
            <p:ph type="sldNum" sz="quarter" idx="12"/>
          </p:nvPr>
        </p:nvSpPr>
        <p:spPr>
          <a:xfrm>
            <a:off x="10804848" y="6356350"/>
            <a:ext cx="548951" cy="365125"/>
          </a:xfrm>
        </p:spPr>
        <p:txBody>
          <a:bodyPr/>
          <a:lstStyle/>
          <a:p>
            <a:fld id="{C2216105-7B7A-4C42-B2A1-5E9A2FA4F8FD}" type="slidenum">
              <a:rPr lang="en-IN" smtClean="0"/>
            </a:fld>
            <a:endParaRPr lang="en-IN" dirty="0"/>
          </a:p>
        </p:txBody>
      </p:sp>
      <p:sp>
        <p:nvSpPr>
          <p:cNvPr id="2" name="Rectangle 1"/>
          <p:cNvSpPr/>
          <p:nvPr/>
        </p:nvSpPr>
        <p:spPr>
          <a:xfrm>
            <a:off x="150810" y="5675807"/>
            <a:ext cx="2854308" cy="369332"/>
          </a:xfrm>
          <a:prstGeom prst="rect">
            <a:avLst/>
          </a:prstGeom>
        </p:spPr>
        <p:txBody>
          <a:bodyPr wrap="none">
            <a:spAutoFit/>
          </a:bodyPr>
          <a:lstStyle/>
          <a:p>
            <a:r>
              <a:rPr lang="en-US" sz="1600" b="1" dirty="0">
                <a:latin typeface="Times New Roman" panose="02020603050405020304" pitchFamily="18" charset="0"/>
                <a:cs typeface="Times New Roman" panose="02020603050405020304" pitchFamily="18" charset="0"/>
              </a:rPr>
              <a:t>Batch and Group Number: ______</a:t>
            </a:r>
            <a:endParaRPr lang="en-IN" dirty="0">
              <a:latin typeface="Times New Roman" panose="02020603050405020304" pitchFamily="18" charset="0"/>
              <a:cs typeface="Times New Roman" panose="02020603050405020304" pitchFamily="18" charset="0"/>
            </a:endParaRPr>
          </a:p>
        </p:txBody>
      </p:sp>
      <p:graphicFrame>
        <p:nvGraphicFramePr>
          <p:cNvPr id="20" name="Table 19"/>
          <p:cNvGraphicFramePr>
            <a:graphicFrameLocks noGrp="1"/>
          </p:cNvGraphicFramePr>
          <p:nvPr/>
        </p:nvGraphicFramePr>
        <p:xfrm>
          <a:off x="3566160" y="4160520"/>
          <a:ext cx="5029200" cy="1554480"/>
        </p:xfrm>
        <a:graphic>
          <a:graphicData uri="http://schemas.openxmlformats.org/drawingml/2006/table">
            <a:tbl>
              <a:tblPr firstRow="1" bandRow="1">
                <a:tableStyleId>{5C22544A-7EE6-4342-B048-85BDC9FD1C3A}</a:tableStyleId>
              </a:tblPr>
              <a:tblGrid>
                <a:gridCol w="2514600"/>
                <a:gridCol w="2514600"/>
              </a:tblGrid>
              <a:tr h="310896">
                <a:tc>
                  <a:txBody>
                    <a:bodyPr wrap="square"/>
                    <a:lstStyle/>
                    <a:p>
                      <a:pPr algn="l"/>
                      <a:r>
                        <a:rPr sz="1500" b="1" i="0">
                          <a:solidFill>
                            <a:srgbClr val="FFFFFF"/>
                          </a:solidFill>
                          <a:latin typeface="Calibri" panose="020F0502020204030204"/>
                        </a:rPr>
                        <a:t>Name</a:t>
                      </a:r>
                      <a:endParaRPr sz="15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500" b="1" i="0">
                          <a:solidFill>
                            <a:srgbClr val="FFFFFF"/>
                          </a:solidFill>
                          <a:latin typeface="Calibri" panose="020F0502020204030204"/>
                        </a:rPr>
                        <a:t>Roll number</a:t>
                      </a:r>
                      <a:endParaRPr sz="1500" b="1" i="0">
                        <a:solidFill>
                          <a:srgbClr val="FFFFFF"/>
                        </a:solidFill>
                        <a:latin typeface="Calibri" panose="020F0502020204030204"/>
                      </a:endParaRPr>
                    </a:p>
                  </a:txBody>
                  <a:tcPr marL="54864" marR="54864" marT="18288" marB="18288" anchor="ctr">
                    <a:solidFill>
                      <a:srgbClr val="2E8B57"/>
                    </a:solidFill>
                  </a:tcPr>
                </a:tc>
              </a:tr>
              <a:tr h="310896">
                <a:tc>
                  <a:txBody>
                    <a:bodyPr wrap="square"/>
                    <a:lstStyle/>
                    <a:p>
                      <a:r>
                        <a:rPr sz="1500" b="0" i="0">
                          <a:solidFill>
                            <a:srgbClr val="1F2937"/>
                          </a:solidFill>
                          <a:latin typeface="Calibri" panose="020F0502020204030204"/>
                        </a:rPr>
                        <a:t>Koushik</a:t>
                      </a:r>
                      <a:endParaRPr sz="15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500" b="0" i="0">
                          <a:solidFill>
                            <a:srgbClr val="1F2937"/>
                          </a:solidFill>
                          <a:latin typeface="Calibri" panose="020F0502020204030204"/>
                        </a:rPr>
                        <a:t>CB.SC.U4AIE23312</a:t>
                      </a:r>
                      <a:endParaRPr sz="1500" b="0" i="0">
                        <a:solidFill>
                          <a:srgbClr val="1F2937"/>
                        </a:solidFill>
                        <a:latin typeface="Calibri" panose="020F0502020204030204"/>
                      </a:endParaRPr>
                    </a:p>
                  </a:txBody>
                  <a:tcPr marL="54864" marR="54864" marT="18288" marB="18288" anchor="ctr">
                    <a:solidFill>
                      <a:srgbClr val="FFFFFF"/>
                    </a:solidFill>
                  </a:tcPr>
                </a:tc>
              </a:tr>
              <a:tr h="310896">
                <a:tc>
                  <a:txBody>
                    <a:bodyPr wrap="square"/>
                    <a:lstStyle/>
                    <a:p>
                      <a:r>
                        <a:rPr sz="1500" b="0" i="0">
                          <a:solidFill>
                            <a:srgbClr val="1F2937"/>
                          </a:solidFill>
                          <a:latin typeface="Calibri" panose="020F0502020204030204"/>
                        </a:rPr>
                        <a:t>Santosh</a:t>
                      </a:r>
                      <a:endParaRPr sz="15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500" b="0" i="0">
                          <a:solidFill>
                            <a:srgbClr val="1F2937"/>
                          </a:solidFill>
                          <a:latin typeface="Calibri" panose="020F0502020204030204"/>
                        </a:rPr>
                        <a:t>CB.SC.U4AIE23310</a:t>
                      </a:r>
                      <a:endParaRPr sz="1500" b="0" i="0">
                        <a:solidFill>
                          <a:srgbClr val="1F2937"/>
                        </a:solidFill>
                        <a:latin typeface="Calibri" panose="020F0502020204030204"/>
                      </a:endParaRPr>
                    </a:p>
                  </a:txBody>
                  <a:tcPr marL="54864" marR="54864" marT="18288" marB="18288" anchor="ctr">
                    <a:solidFill>
                      <a:srgbClr val="F1F5F9"/>
                    </a:solidFill>
                  </a:tcPr>
                </a:tc>
              </a:tr>
              <a:tr h="310896">
                <a:tc>
                  <a:txBody>
                    <a:bodyPr wrap="square"/>
                    <a:lstStyle/>
                    <a:p>
                      <a:r>
                        <a:rPr sz="1500" b="0" i="0">
                          <a:solidFill>
                            <a:srgbClr val="1F2937"/>
                          </a:solidFill>
                          <a:latin typeface="Calibri" panose="020F0502020204030204"/>
                        </a:rPr>
                        <a:t>Srinith</a:t>
                      </a:r>
                      <a:endParaRPr sz="15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500" b="0" i="0">
                          <a:solidFill>
                            <a:srgbClr val="1F2937"/>
                          </a:solidFill>
                          <a:latin typeface="Calibri" panose="020F0502020204030204"/>
                        </a:rPr>
                        <a:t>CB.SC.U4AIE23357</a:t>
                      </a:r>
                      <a:endParaRPr sz="1500" b="0" i="0">
                        <a:solidFill>
                          <a:srgbClr val="1F2937"/>
                        </a:solidFill>
                        <a:latin typeface="Calibri" panose="020F0502020204030204"/>
                      </a:endParaRPr>
                    </a:p>
                  </a:txBody>
                  <a:tcPr marL="54864" marR="54864" marT="18288" marB="18288" anchor="ctr">
                    <a:solidFill>
                      <a:srgbClr val="FFFFFF"/>
                    </a:solidFill>
                  </a:tcPr>
                </a:tc>
              </a:tr>
              <a:tr h="310896">
                <a:tc>
                  <a:txBody>
                    <a:bodyPr wrap="square"/>
                    <a:lstStyle/>
                    <a:p>
                      <a:r>
                        <a:rPr sz="1500" b="0" i="0">
                          <a:solidFill>
                            <a:srgbClr val="1F2937"/>
                          </a:solidFill>
                          <a:latin typeface="Calibri" panose="020F0502020204030204"/>
                        </a:rPr>
                        <a:t>Dharani Pratap</a:t>
                      </a:r>
                      <a:endParaRPr sz="15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500" b="0" i="0">
                          <a:solidFill>
                            <a:srgbClr val="1F2937"/>
                          </a:solidFill>
                          <a:latin typeface="Calibri" panose="020F0502020204030204"/>
                        </a:rPr>
                        <a:t>CB.SC.U4AIE23330</a:t>
                      </a:r>
                      <a:endParaRPr sz="1500" b="0" i="0">
                        <a:solidFill>
                          <a:srgbClr val="1F2937"/>
                        </a:solidFill>
                        <a:latin typeface="Calibri" panose="020F0502020204030204"/>
                      </a:endParaRPr>
                    </a:p>
                  </a:txBody>
                  <a:tcPr marL="54864" marR="54864" marT="18288" marB="18288" anchor="ctr">
                    <a:solidFill>
                      <a:srgbClr val="F1F5F9"/>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Outline</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sp>
        <p:nvSpPr>
          <p:cNvPr id="20" name="TextBox 19"/>
          <p:cNvSpPr txBox="1"/>
          <p:nvPr/>
        </p:nvSpPr>
        <p:spPr>
          <a:xfrm>
            <a:off x="822960" y="1554480"/>
            <a:ext cx="5212080" cy="4572000"/>
          </a:xfrm>
          <a:prstGeom prst="rect">
            <a:avLst/>
          </a:prstGeom>
          <a:noFill/>
        </p:spPr>
        <p:txBody>
          <a:bodyPr wrap="square" lIns="45720" tIns="27432" rIns="45720" bIns="27432" anchor="t">
            <a:spAutoFit/>
          </a:bodyPr>
          <a:lstStyle/>
          <a:p>
            <a:pPr algn="l">
              <a:spcAft>
                <a:spcPts val="1200"/>
              </a:spcAft>
            </a:pPr>
            <a:r>
              <a:rPr sz="2200" b="0" i="0">
                <a:solidFill>
                  <a:srgbClr val="1F2937"/>
                </a:solidFill>
                <a:latin typeface="Calibri" panose="020F0502020204030204"/>
              </a:rPr>
              <a:t>1  Introduction and motivation</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2  Problem definition</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3  Literature review and gaps</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4  Objectives and status</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5  System architecture</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6  Methodology: the agent, the baselines</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7  Dataset description</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8  LLM explainer and crisis generator</a:t>
            </a:r>
            <a:endParaRPr sz="2200" b="0" i="0">
              <a:solidFill>
                <a:srgbClr val="1F2937"/>
              </a:solidFill>
              <a:latin typeface="Calibri" panose="020F0502020204030204"/>
            </a:endParaRPr>
          </a:p>
        </p:txBody>
      </p:sp>
      <p:sp>
        <p:nvSpPr>
          <p:cNvPr id="21" name="TextBox 20"/>
          <p:cNvSpPr txBox="1"/>
          <p:nvPr/>
        </p:nvSpPr>
        <p:spPr>
          <a:xfrm>
            <a:off x="6400800" y="1554480"/>
            <a:ext cx="5212080" cy="4572000"/>
          </a:xfrm>
          <a:prstGeom prst="rect">
            <a:avLst/>
          </a:prstGeom>
          <a:noFill/>
        </p:spPr>
        <p:txBody>
          <a:bodyPr wrap="square" lIns="45720" tIns="27432" rIns="45720" bIns="27432" anchor="t">
            <a:spAutoFit/>
          </a:bodyPr>
          <a:lstStyle/>
          <a:p>
            <a:pPr algn="l">
              <a:spcAft>
                <a:spcPts val="1200"/>
              </a:spcAft>
            </a:pPr>
            <a:r>
              <a:rPr sz="2200" b="0" i="0">
                <a:solidFill>
                  <a:srgbClr val="1F2937"/>
                </a:solidFill>
                <a:latin typeface="Calibri" panose="020F0502020204030204"/>
              </a:rPr>
              <a:t>9  Dashboard: screenshots</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10  Results: comparison and ablation</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11  Robustness to crises</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12  Explainer accuracy</a:t>
            </a:r>
            <a:endParaRPr sz="2200" b="0" i="0">
              <a:solidFill>
                <a:srgbClr val="1F2937"/>
              </a:solidFill>
              <a:latin typeface="Calibri" panose="020F0502020204030204"/>
            </a:endParaRPr>
          </a:p>
          <a:p>
            <a:pPr algn="l">
              <a:spcAft>
                <a:spcPts val="1200"/>
              </a:spcAft>
            </a:pPr>
            <a:r>
              <a:rPr sz="2200" b="0" i="0">
                <a:solidFill>
                  <a:srgbClr val="1F2937"/>
                </a:solidFill>
                <a:latin typeface="Calibri" panose="020F0502020204030204"/>
              </a:rPr>
              <a:t>13  Conclusion and future work</a:t>
            </a:r>
            <a:endParaRPr sz="2200" b="0" i="0">
              <a:solidFill>
                <a:srgbClr val="1F2937"/>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Introduction and Motivation</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sp>
        <p:nvSpPr>
          <p:cNvPr id="20" name="Rounded Rectangle 19"/>
          <p:cNvSpPr/>
          <p:nvPr/>
        </p:nvSpPr>
        <p:spPr>
          <a:xfrm>
            <a:off x="411480" y="1371600"/>
            <a:ext cx="3657600" cy="160020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8" y="1444752"/>
            <a:ext cx="3438144" cy="1453896"/>
          </a:xfrm>
          <a:prstGeom prst="rect">
            <a:avLst/>
          </a:prstGeom>
          <a:noFill/>
        </p:spPr>
        <p:txBody>
          <a:bodyPr wrap="square" lIns="45720" tIns="27432" rIns="45720" bIns="27432" anchor="t">
            <a:spAutoFit/>
          </a:bodyPr>
          <a:lstStyle/>
          <a:p>
            <a:pPr algn="l">
              <a:spcAft>
                <a:spcPts val="500"/>
              </a:spcAft>
            </a:pPr>
            <a:r>
              <a:rPr sz="1700" b="1" i="0">
                <a:solidFill>
                  <a:srgbClr val="D6336C"/>
                </a:solidFill>
                <a:latin typeface="Calibri" panose="020F0502020204030204"/>
              </a:rPr>
              <a:t>Order too much</a:t>
            </a:r>
            <a:endParaRPr sz="1700" b="1" i="0">
              <a:solidFill>
                <a:srgbClr val="D6336C"/>
              </a:solidFill>
              <a:latin typeface="Calibri" panose="020F0502020204030204"/>
            </a:endParaRPr>
          </a:p>
          <a:p>
            <a:pPr algn="l">
              <a:spcAft>
                <a:spcPts val="300"/>
              </a:spcAft>
            </a:pPr>
            <a:r>
              <a:rPr sz="1400" b="0" i="0">
                <a:solidFill>
                  <a:srgbClr val="1F2937"/>
                </a:solidFill>
                <a:latin typeface="Calibri" panose="020F0502020204030204"/>
              </a:rPr>
              <a:t>•  Money sits in the warehouse</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Storage costs pile up</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Seasonal goods are marked down</a:t>
            </a:r>
            <a:endParaRPr sz="1400" b="0" i="0">
              <a:solidFill>
                <a:srgbClr val="1F2937"/>
              </a:solidFill>
              <a:latin typeface="Calibri" panose="020F0502020204030204"/>
            </a:endParaRPr>
          </a:p>
        </p:txBody>
      </p:sp>
      <p:sp>
        <p:nvSpPr>
          <p:cNvPr id="22" name="Rounded Rectangle 21"/>
          <p:cNvSpPr/>
          <p:nvPr/>
        </p:nvSpPr>
        <p:spPr>
          <a:xfrm>
            <a:off x="4251960" y="1371600"/>
            <a:ext cx="3657600" cy="1600200"/>
          </a:xfrm>
          <a:prstGeom prst="roundRect">
            <a:avLst>
              <a:gd name="adj" fmla="val 7000"/>
            </a:avLst>
          </a:prstGeom>
          <a:solidFill>
            <a:srgbClr val="FDF3DC"/>
          </a:solidFill>
          <a:ln w="22225">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61688" y="1444752"/>
            <a:ext cx="3438144" cy="1453896"/>
          </a:xfrm>
          <a:prstGeom prst="rect">
            <a:avLst/>
          </a:prstGeom>
          <a:noFill/>
        </p:spPr>
        <p:txBody>
          <a:bodyPr wrap="square" lIns="45720" tIns="27432" rIns="45720" bIns="27432" anchor="t">
            <a:spAutoFit/>
          </a:bodyPr>
          <a:lstStyle/>
          <a:p>
            <a:pPr algn="l">
              <a:spcAft>
                <a:spcPts val="500"/>
              </a:spcAft>
            </a:pPr>
            <a:r>
              <a:rPr sz="1700" b="1" i="0">
                <a:solidFill>
                  <a:srgbClr val="B7791F"/>
                </a:solidFill>
                <a:latin typeface="Calibri" panose="020F0502020204030204"/>
              </a:rPr>
              <a:t>Order too little</a:t>
            </a:r>
            <a:endParaRPr sz="1700" b="1" i="0">
              <a:solidFill>
                <a:srgbClr val="B7791F"/>
              </a:solidFill>
              <a:latin typeface="Calibri" panose="020F0502020204030204"/>
            </a:endParaRPr>
          </a:p>
          <a:p>
            <a:pPr algn="l">
              <a:spcAft>
                <a:spcPts val="300"/>
              </a:spcAft>
            </a:pPr>
            <a:r>
              <a:rPr sz="1400" b="0" i="0">
                <a:solidFill>
                  <a:srgbClr val="1F2937"/>
                </a:solidFill>
                <a:latin typeface="Calibri" panose="020F0502020204030204"/>
              </a:rPr>
              <a:t>•  The customer buys elsewhere</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The sale is gone for good</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Lost-sale penalty applies</a:t>
            </a:r>
            <a:endParaRPr sz="1400" b="0" i="0">
              <a:solidFill>
                <a:srgbClr val="1F2937"/>
              </a:solidFill>
              <a:latin typeface="Calibri" panose="020F0502020204030204"/>
            </a:endParaRPr>
          </a:p>
        </p:txBody>
      </p:sp>
      <p:sp>
        <p:nvSpPr>
          <p:cNvPr id="24" name="Rounded Rectangle 23"/>
          <p:cNvSpPr/>
          <p:nvPr/>
        </p:nvSpPr>
        <p:spPr>
          <a:xfrm>
            <a:off x="8092440" y="1371600"/>
            <a:ext cx="3685032" cy="160020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02167" y="1444752"/>
            <a:ext cx="3465576" cy="1453896"/>
          </a:xfrm>
          <a:prstGeom prst="rect">
            <a:avLst/>
          </a:prstGeom>
          <a:noFill/>
        </p:spPr>
        <p:txBody>
          <a:bodyPr wrap="square" lIns="45720" tIns="27432" rIns="45720" bIns="27432" anchor="t">
            <a:spAutoFit/>
          </a:bodyPr>
          <a:lstStyle/>
          <a:p>
            <a:pPr algn="l">
              <a:spcAft>
                <a:spcPts val="500"/>
              </a:spcAft>
            </a:pPr>
            <a:r>
              <a:rPr sz="1700" b="1" i="0">
                <a:solidFill>
                  <a:srgbClr val="2F6FB5"/>
                </a:solidFill>
                <a:latin typeface="Calibri" panose="020F0502020204030204"/>
              </a:rPr>
              <a:t>Pick the wrong supplier</a:t>
            </a:r>
            <a:endParaRPr sz="1700" b="1" i="0">
              <a:solidFill>
                <a:srgbClr val="2F6FB5"/>
              </a:solidFill>
              <a:latin typeface="Calibri" panose="020F0502020204030204"/>
            </a:endParaRPr>
          </a:p>
          <a:p>
            <a:pPr algn="l">
              <a:spcAft>
                <a:spcPts val="300"/>
              </a:spcAft>
            </a:pPr>
            <a:r>
              <a:rPr sz="1400" b="0" i="0">
                <a:solidFill>
                  <a:srgbClr val="1F2937"/>
                </a:solidFill>
                <a:latin typeface="Calibri" panose="020F0502020204030204"/>
              </a:rPr>
              <a:t>•  Cheap but slow</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Fast but expensive</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Reasonable but ships only 80%</a:t>
            </a:r>
            <a:endParaRPr sz="1400" b="0" i="0">
              <a:solidFill>
                <a:srgbClr val="1F2937"/>
              </a:solidFill>
              <a:latin typeface="Calibri" panose="020F0502020204030204"/>
            </a:endParaRPr>
          </a:p>
        </p:txBody>
      </p:sp>
      <p:sp>
        <p:nvSpPr>
          <p:cNvPr id="26" name="TextBox 25"/>
          <p:cNvSpPr txBox="1"/>
          <p:nvPr/>
        </p:nvSpPr>
        <p:spPr>
          <a:xfrm>
            <a:off x="411480" y="3154680"/>
            <a:ext cx="11365992" cy="3108960"/>
          </a:xfrm>
          <a:prstGeom prst="rect">
            <a:avLst/>
          </a:prstGeom>
          <a:noFill/>
        </p:spPr>
        <p:txBody>
          <a:bodyPr wrap="square" lIns="45720" tIns="27432" rIns="45720" bIns="27432" anchor="t">
            <a:spAutoFit/>
          </a:bodyPr>
          <a:lstStyle/>
          <a:p>
            <a:pPr algn="l">
              <a:spcAft>
                <a:spcPts val="800"/>
              </a:spcAft>
            </a:pPr>
            <a:r>
              <a:rPr sz="1800" b="1" i="0">
                <a:solidFill>
                  <a:srgbClr val="1F2937"/>
                </a:solidFill>
                <a:latin typeface="Calibri" panose="020F0502020204030204"/>
              </a:rPr>
              <a:t>•  A sequential problem. </a:t>
            </a:r>
            <a:r>
              <a:rPr sz="1800" b="0" i="0">
                <a:solidFill>
                  <a:srgbClr val="1F2937"/>
                </a:solidFill>
                <a:latin typeface="Calibri" panose="020F0502020204030204"/>
              </a:rPr>
              <a:t>Today’s order becomes next week’s stock, so what you do now changes what you can do later.</a:t>
            </a:r>
            <a:endParaRPr sz="1800" b="0" i="0">
              <a:solidFill>
                <a:srgbClr val="1F2937"/>
              </a:solidFill>
              <a:latin typeface="Calibri" panose="020F0502020204030204"/>
            </a:endParaRPr>
          </a:p>
          <a:p>
            <a:pPr algn="l">
              <a:spcAft>
                <a:spcPts val="800"/>
              </a:spcAft>
            </a:pPr>
            <a:r>
              <a:rPr sz="1800" b="1" i="0">
                <a:solidFill>
                  <a:srgbClr val="1F2937"/>
                </a:solidFill>
                <a:latin typeface="Calibri" panose="020F0502020204030204"/>
              </a:rPr>
              <a:t>•  Classical rules struggle. </a:t>
            </a:r>
            <a:r>
              <a:rPr sz="1800" b="0" i="0">
                <a:solidFill>
                  <a:srgbClr val="1F2937"/>
                </a:solidFill>
                <a:latin typeface="Calibri" panose="020F0502020204030204"/>
              </a:rPr>
              <a:t>(s,S), EOQ, newsvendor and forecast + safety stock treat each product alone and assume well-behaved demand. In our data, daily demand varies about 216× more than a Poisson model allows.</a:t>
            </a:r>
            <a:endParaRPr sz="1800" b="0" i="0">
              <a:solidFill>
                <a:srgbClr val="1F2937"/>
              </a:solidFill>
              <a:latin typeface="Calibri" panose="020F0502020204030204"/>
            </a:endParaRPr>
          </a:p>
          <a:p>
            <a:pPr algn="l">
              <a:spcAft>
                <a:spcPts val="800"/>
              </a:spcAft>
            </a:pPr>
            <a:r>
              <a:rPr sz="1800" b="1" i="0">
                <a:solidFill>
                  <a:srgbClr val="1F2937"/>
                </a:solidFill>
                <a:latin typeface="Calibri" panose="020F0502020204030204"/>
              </a:rPr>
              <a:t>•  Our hypothesis. </a:t>
            </a:r>
            <a:r>
              <a:rPr sz="1800" b="0" i="0">
                <a:solidFill>
                  <a:srgbClr val="1F2937"/>
                </a:solidFill>
                <a:latin typeface="Calibri" panose="020F0502020204030204"/>
              </a:rPr>
              <a:t>RL can learn a joint ordering and sourcing policy that adapts to season, volatility and supplier state, which a formula cannot.</a:t>
            </a:r>
            <a:endParaRPr sz="1800" b="0" i="0">
              <a:solidFill>
                <a:srgbClr val="1F2937"/>
              </a:solidFill>
              <a:latin typeface="Calibri" panose="020F0502020204030204"/>
            </a:endParaRPr>
          </a:p>
          <a:p>
            <a:pPr algn="l">
              <a:spcAft>
                <a:spcPts val="800"/>
              </a:spcAft>
            </a:pPr>
            <a:r>
              <a:rPr sz="1800" b="1" i="0">
                <a:solidFill>
                  <a:srgbClr val="1F2937"/>
                </a:solidFill>
                <a:latin typeface="Calibri" panose="020F0502020204030204"/>
              </a:rPr>
              <a:t>•  But trust matters. </a:t>
            </a:r>
            <a:r>
              <a:rPr sz="1800" b="0" i="0">
                <a:solidFill>
                  <a:srgbClr val="1F2937"/>
                </a:solidFill>
                <a:latin typeface="Calibri" panose="020F0502020204030204"/>
              </a:rPr>
              <a:t>A manager will not act on a number they cannot understand, so an LLM explains the situation behind every order, with every number checked.</a:t>
            </a:r>
            <a:endParaRPr sz="1800" b="0" i="0">
              <a:solidFill>
                <a:srgbClr val="1F2937"/>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Problem Definition</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graphicFrame>
        <p:nvGraphicFramePr>
          <p:cNvPr id="20" name="Table 19"/>
          <p:cNvGraphicFramePr>
            <a:graphicFrameLocks noGrp="1"/>
          </p:cNvGraphicFramePr>
          <p:nvPr/>
        </p:nvGraphicFramePr>
        <p:xfrm>
          <a:off x="411480" y="1371600"/>
          <a:ext cx="6766559" cy="3200400"/>
        </p:xfrm>
        <a:graphic>
          <a:graphicData uri="http://schemas.openxmlformats.org/drawingml/2006/table">
            <a:tbl>
              <a:tblPr firstRow="1" bandRow="1">
                <a:tableStyleId>{5C22544A-7EE6-4342-B048-85BDC9FD1C3A}</a:tableStyleId>
              </a:tblPr>
              <a:tblGrid>
                <a:gridCol w="1205003"/>
                <a:gridCol w="5561556"/>
              </a:tblGrid>
              <a:tr h="457200">
                <a:tc>
                  <a:txBody>
                    <a:bodyPr wrap="square"/>
                    <a:lstStyle/>
                    <a:p>
                      <a:pPr algn="l"/>
                      <a:r>
                        <a:rPr sz="1400" b="1" i="0">
                          <a:solidFill>
                            <a:srgbClr val="FFFFFF"/>
                          </a:solidFill>
                          <a:latin typeface="Calibri" panose="020F0502020204030204"/>
                        </a:rPr>
                        <a:t>The task</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400" b="1" i="0">
                          <a:solidFill>
                            <a:srgbClr val="FFFFFF"/>
                          </a:solidFill>
                          <a:latin typeface="Calibri" panose="020F0502020204030204"/>
                        </a:rPr>
                        <a:t>Definition</a:t>
                      </a:r>
                      <a:endParaRPr sz="1400" b="1" i="0">
                        <a:solidFill>
                          <a:srgbClr val="FFFFFF"/>
                        </a:solidFill>
                        <a:latin typeface="Calibri" panose="020F0502020204030204"/>
                      </a:endParaRPr>
                    </a:p>
                  </a:txBody>
                  <a:tcPr marL="54864" marR="54864" marT="18288" marB="18288" anchor="ctr">
                    <a:solidFill>
                      <a:srgbClr val="2E8B57"/>
                    </a:solidFill>
                  </a:tcPr>
                </a:tc>
              </a:tr>
              <a:tr h="457200">
                <a:tc>
                  <a:txBody>
                    <a:bodyPr wrap="square"/>
                    <a:lstStyle/>
                    <a:p>
                      <a:r>
                        <a:rPr sz="1400" b="0" i="0">
                          <a:solidFill>
                            <a:srgbClr val="1F2937"/>
                          </a:solidFill>
                          <a:latin typeface="Calibri" panose="020F0502020204030204"/>
                        </a:rPr>
                        <a:t>Products</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400" b="0" i="0">
                          <a:solidFill>
                            <a:srgbClr val="1F2937"/>
                          </a:solidFill>
                          <a:latin typeface="Calibri" panose="020F0502020204030204"/>
                        </a:rPr>
                        <a:t>10 real products (UCI Online Retail II)</a:t>
                      </a:r>
                      <a:endParaRPr sz="14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400" b="0" i="0">
                          <a:solidFill>
                            <a:srgbClr val="1F2937"/>
                          </a:solidFill>
                          <a:latin typeface="Calibri" panose="020F0502020204030204"/>
                        </a:rPr>
                        <a:t>Suppliers</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400" b="0" i="0">
                          <a:solidFill>
                            <a:srgbClr val="1F2937"/>
                          </a:solidFill>
                          <a:latin typeface="Calibri" panose="020F0502020204030204"/>
                        </a:rPr>
                        <a:t>3, invented: no public dataset has supplier terms</a:t>
                      </a:r>
                      <a:endParaRPr sz="1400" b="0" i="0">
                        <a:solidFill>
                          <a:srgbClr val="1F2937"/>
                        </a:solidFill>
                        <a:latin typeface="Calibri" panose="020F0502020204030204"/>
                      </a:endParaRPr>
                    </a:p>
                  </a:txBody>
                  <a:tcPr marL="54864" marR="54864" marT="18288" marB="18288" anchor="ctr">
                    <a:solidFill>
                      <a:srgbClr val="F1F5F9"/>
                    </a:solidFill>
                  </a:tcPr>
                </a:tc>
              </a:tr>
              <a:tr h="457200">
                <a:tc>
                  <a:txBody>
                    <a:bodyPr wrap="square"/>
                    <a:lstStyle/>
                    <a:p>
                      <a:r>
                        <a:rPr sz="1400" b="0" i="0">
                          <a:solidFill>
                            <a:srgbClr val="1F2937"/>
                          </a:solidFill>
                          <a:latin typeface="Calibri" panose="020F0502020204030204"/>
                        </a:rPr>
                        <a:t>Time</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400" b="0" i="0">
                          <a:solidFill>
                            <a:srgbClr val="1F2937"/>
                          </a:solidFill>
                          <a:latin typeface="Calibri" panose="020F0502020204030204"/>
                        </a:rPr>
                        <a:t>180 simulated days; first 14 are warm-up, not scored</a:t>
                      </a:r>
                      <a:endParaRPr sz="14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400" b="0" i="0">
                          <a:solidFill>
                            <a:srgbClr val="1F2937"/>
                          </a:solidFill>
                          <a:latin typeface="Calibri" panose="020F0502020204030204"/>
                        </a:rPr>
                        <a:t>Warehouse</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400" b="0" i="0">
                          <a:solidFill>
                            <a:srgbClr val="1F2937"/>
                          </a:solidFill>
                          <a:latin typeface="Calibri" panose="020F0502020204030204"/>
                        </a:rPr>
                        <a:t>one shared store of 20,000 units; overflow is refused</a:t>
                      </a:r>
                      <a:endParaRPr sz="1400" b="0" i="0">
                        <a:solidFill>
                          <a:srgbClr val="1F2937"/>
                        </a:solidFill>
                        <a:latin typeface="Calibri" panose="020F0502020204030204"/>
                      </a:endParaRPr>
                    </a:p>
                  </a:txBody>
                  <a:tcPr marL="54864" marR="54864" marT="18288" marB="18288" anchor="ctr">
                    <a:solidFill>
                      <a:srgbClr val="F1F5F9"/>
                    </a:solidFill>
                  </a:tcPr>
                </a:tc>
              </a:tr>
              <a:tr h="457200">
                <a:tc>
                  <a:txBody>
                    <a:bodyPr wrap="square"/>
                    <a:lstStyle/>
                    <a:p>
                      <a:r>
                        <a:rPr sz="1400" b="0" i="0">
                          <a:solidFill>
                            <a:srgbClr val="1F2937"/>
                          </a:solidFill>
                          <a:latin typeface="Calibri" panose="020F0502020204030204"/>
                        </a:rPr>
                        <a:t>Decision</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400" b="0" i="0">
                          <a:solidFill>
                            <a:srgbClr val="1F2937"/>
                          </a:solidFill>
                          <a:latin typeface="Calibri" panose="020F0502020204030204"/>
                        </a:rPr>
                        <a:t>each day, each product: 7 quantity levels × 3 suppliers = 21 options</a:t>
                      </a:r>
                      <a:endParaRPr sz="14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400" b="0" i="0">
                          <a:solidFill>
                            <a:srgbClr val="1F2937"/>
                          </a:solidFill>
                          <a:latin typeface="Calibri" panose="020F0502020204030204"/>
                        </a:rPr>
                        <a:t>Goal</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400" b="0" i="0">
                          <a:solidFill>
                            <a:srgbClr val="1F2937"/>
                          </a:solidFill>
                          <a:latin typeface="Calibri" panose="020F0502020204030204"/>
                        </a:rPr>
                        <a:t>maximise profit = sales − purchases − storage − fees − stockout − overflow</a:t>
                      </a:r>
                      <a:endParaRPr sz="1400" b="0" i="0">
                        <a:solidFill>
                          <a:srgbClr val="1F2937"/>
                        </a:solidFill>
                        <a:latin typeface="Calibri" panose="020F0502020204030204"/>
                      </a:endParaRPr>
                    </a:p>
                  </a:txBody>
                  <a:tcPr marL="54864" marR="54864" marT="18288" marB="18288" anchor="ctr">
                    <a:solidFill>
                      <a:srgbClr val="F1F5F9"/>
                    </a:solidFill>
                  </a:tcPr>
                </a:tc>
              </a:tr>
            </a:tbl>
          </a:graphicData>
        </a:graphic>
      </p:graphicFrame>
      <p:graphicFrame>
        <p:nvGraphicFramePr>
          <p:cNvPr id="21" name="Table 20"/>
          <p:cNvGraphicFramePr>
            <a:graphicFrameLocks noGrp="1"/>
          </p:cNvGraphicFramePr>
          <p:nvPr/>
        </p:nvGraphicFramePr>
        <p:xfrm>
          <a:off x="7406640" y="1371600"/>
          <a:ext cx="4370828" cy="1645920"/>
        </p:xfrm>
        <a:graphic>
          <a:graphicData uri="http://schemas.openxmlformats.org/drawingml/2006/table">
            <a:tbl>
              <a:tblPr firstRow="1" bandRow="1">
                <a:tableStyleId>{5C22544A-7EE6-4342-B048-85BDC9FD1C3A}</a:tableStyleId>
              </a:tblPr>
              <a:tblGrid>
                <a:gridCol w="1285538"/>
                <a:gridCol w="685620"/>
                <a:gridCol w="857025"/>
                <a:gridCol w="685620"/>
                <a:gridCol w="857025"/>
              </a:tblGrid>
              <a:tr h="411480">
                <a:tc>
                  <a:txBody>
                    <a:bodyPr wrap="square"/>
                    <a:lstStyle/>
                    <a:p>
                      <a:pPr algn="l"/>
                      <a:r>
                        <a:rPr sz="1300" b="1" i="0">
                          <a:solidFill>
                            <a:srgbClr val="FFFFFF"/>
                          </a:solidFill>
                          <a:latin typeface="Calibri" panose="020F0502020204030204"/>
                        </a:rPr>
                        <a:t>Supplier</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300" b="1" i="0">
                          <a:solidFill>
                            <a:srgbClr val="FFFFFF"/>
                          </a:solidFill>
                          <a:latin typeface="Calibri" panose="020F0502020204030204"/>
                        </a:rPr>
                        <a:t>Price</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300" b="1" i="0">
                          <a:solidFill>
                            <a:srgbClr val="FFFFFF"/>
                          </a:solidFill>
                          <a:latin typeface="Calibri" panose="020F0502020204030204"/>
                        </a:rPr>
                        <a:t>Lead time</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300" b="1" i="0">
                          <a:solidFill>
                            <a:srgbClr val="FFFFFF"/>
                          </a:solidFill>
                          <a:latin typeface="Calibri" panose="020F0502020204030204"/>
                        </a:rPr>
                        <a:t>Ships</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300" b="1" i="0">
                          <a:solidFill>
                            <a:srgbClr val="FFFFFF"/>
                          </a:solidFill>
                          <a:latin typeface="Calibri" panose="020F0502020204030204"/>
                        </a:rPr>
                        <a:t>Fee</a:t>
                      </a:r>
                      <a:endParaRPr sz="1300" b="1" i="0">
                        <a:solidFill>
                          <a:srgbClr val="FFFFFF"/>
                        </a:solidFill>
                        <a:latin typeface="Calibri" panose="020F0502020204030204"/>
                      </a:endParaRPr>
                    </a:p>
                  </a:txBody>
                  <a:tcPr marL="54864" marR="54864" marT="18288" marB="18288" anchor="ctr">
                    <a:solidFill>
                      <a:srgbClr val="2E8B57"/>
                    </a:solidFill>
                  </a:tcPr>
                </a:tc>
              </a:tr>
              <a:tr h="411480">
                <a:tc>
                  <a:txBody>
                    <a:bodyPr wrap="square"/>
                    <a:lstStyle/>
                    <a:p>
                      <a:r>
                        <a:rPr sz="1300" b="0" i="0">
                          <a:solidFill>
                            <a:srgbClr val="1F2937"/>
                          </a:solidFill>
                          <a:latin typeface="Calibri" panose="020F0502020204030204"/>
                        </a:rPr>
                        <a:t>EconoSource</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300" b="0" i="0">
                          <a:solidFill>
                            <a:srgbClr val="1F2937"/>
                          </a:solidFill>
                          <a:latin typeface="Calibri" panose="020F0502020204030204"/>
                        </a:rPr>
                        <a:t>base</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300" b="0" i="0">
                          <a:solidFill>
                            <a:srgbClr val="1F2937"/>
                          </a:solidFill>
                          <a:latin typeface="Calibri" panose="020F0502020204030204"/>
                        </a:rPr>
                        <a:t>5–8 d</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300" b="0" i="0">
                          <a:solidFill>
                            <a:srgbClr val="1F2937"/>
                          </a:solidFill>
                          <a:latin typeface="Calibri" panose="020F0502020204030204"/>
                        </a:rPr>
                        <a:t>90%</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300" b="0" i="0">
                          <a:solidFill>
                            <a:srgbClr val="1F2937"/>
                          </a:solidFill>
                          <a:latin typeface="Calibri" panose="020F0502020204030204"/>
                        </a:rPr>
                        <a:t>₹2,100</a:t>
                      </a:r>
                      <a:endParaRPr sz="1300" b="0" i="0">
                        <a:solidFill>
                          <a:srgbClr val="1F2937"/>
                        </a:solidFill>
                        <a:latin typeface="Calibri" panose="020F0502020204030204"/>
                      </a:endParaRPr>
                    </a:p>
                  </a:txBody>
                  <a:tcPr marL="54864" marR="54864" marT="18288" marB="18288" anchor="ctr">
                    <a:solidFill>
                      <a:srgbClr val="FFFFFF"/>
                    </a:solidFill>
                  </a:tcPr>
                </a:tc>
              </a:tr>
              <a:tr h="411480">
                <a:tc>
                  <a:txBody>
                    <a:bodyPr wrap="square"/>
                    <a:lstStyle/>
                    <a:p>
                      <a:r>
                        <a:rPr sz="1300" b="0" i="0">
                          <a:solidFill>
                            <a:srgbClr val="1F2937"/>
                          </a:solidFill>
                          <a:latin typeface="Calibri" panose="020F0502020204030204"/>
                        </a:rPr>
                        <a:t>RapidTrade</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300" b="0" i="0">
                          <a:solidFill>
                            <a:srgbClr val="1F2937"/>
                          </a:solidFill>
                          <a:latin typeface="Calibri" panose="020F0502020204030204"/>
                        </a:rPr>
                        <a:t>+35%</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300" b="0" i="0">
                          <a:solidFill>
                            <a:srgbClr val="1F2937"/>
                          </a:solidFill>
                          <a:latin typeface="Calibri" panose="020F0502020204030204"/>
                        </a:rPr>
                        <a:t>1–3 d</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300" b="0" i="0">
                          <a:solidFill>
                            <a:srgbClr val="1F2937"/>
                          </a:solidFill>
                          <a:latin typeface="Calibri" panose="020F0502020204030204"/>
                        </a:rPr>
                        <a:t>98%</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300" b="0" i="0">
                          <a:solidFill>
                            <a:srgbClr val="1F2937"/>
                          </a:solidFill>
                          <a:latin typeface="Calibri" panose="020F0502020204030204"/>
                        </a:rPr>
                        <a:t>₹4,725</a:t>
                      </a:r>
                      <a:endParaRPr sz="1300" b="0" i="0">
                        <a:solidFill>
                          <a:srgbClr val="1F2937"/>
                        </a:solidFill>
                        <a:latin typeface="Calibri" panose="020F0502020204030204"/>
                      </a:endParaRPr>
                    </a:p>
                  </a:txBody>
                  <a:tcPr marL="54864" marR="54864" marT="18288" marB="18288" anchor="ctr">
                    <a:solidFill>
                      <a:srgbClr val="F1F5F9"/>
                    </a:solidFill>
                  </a:tcPr>
                </a:tc>
              </a:tr>
              <a:tr h="411480">
                <a:tc>
                  <a:txBody>
                    <a:bodyPr wrap="square"/>
                    <a:lstStyle/>
                    <a:p>
                      <a:r>
                        <a:rPr sz="1300" b="0" i="0">
                          <a:solidFill>
                            <a:srgbClr val="1F2937"/>
                          </a:solidFill>
                          <a:latin typeface="Calibri" panose="020F0502020204030204"/>
                        </a:rPr>
                        <a:t>MidWay</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300" b="0" i="0">
                          <a:solidFill>
                            <a:srgbClr val="1F2937"/>
                          </a:solidFill>
                          <a:latin typeface="Calibri" panose="020F0502020204030204"/>
                        </a:rPr>
                        <a:t>+15%</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300" b="0" i="0">
                          <a:solidFill>
                            <a:srgbClr val="1F2937"/>
                          </a:solidFill>
                          <a:latin typeface="Calibri" panose="020F0502020204030204"/>
                        </a:rPr>
                        <a:t>3–5 d</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300" b="0" i="0">
                          <a:solidFill>
                            <a:srgbClr val="1F2937"/>
                          </a:solidFill>
                          <a:latin typeface="Calibri" panose="020F0502020204030204"/>
                        </a:rPr>
                        <a:t>80%</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300" b="0" i="0">
                          <a:solidFill>
                            <a:srgbClr val="1F2937"/>
                          </a:solidFill>
                          <a:latin typeface="Calibri" panose="020F0502020204030204"/>
                        </a:rPr>
                        <a:t>₹3,150</a:t>
                      </a:r>
                      <a:endParaRPr sz="1300" b="0" i="0">
                        <a:solidFill>
                          <a:srgbClr val="1F2937"/>
                        </a:solidFill>
                        <a:latin typeface="Calibri" panose="020F0502020204030204"/>
                      </a:endParaRPr>
                    </a:p>
                  </a:txBody>
                  <a:tcPr marL="54864" marR="54864" marT="18288" marB="18288" anchor="ctr">
                    <a:solidFill>
                      <a:srgbClr val="FFFFFF"/>
                    </a:solidFill>
                  </a:tcPr>
                </a:tc>
              </a:tr>
            </a:tbl>
          </a:graphicData>
        </a:graphic>
      </p:graphicFrame>
      <p:sp>
        <p:nvSpPr>
          <p:cNvPr id="22" name="TextBox 21"/>
          <p:cNvSpPr txBox="1"/>
          <p:nvPr/>
        </p:nvSpPr>
        <p:spPr>
          <a:xfrm>
            <a:off x="7406640" y="3108960"/>
            <a:ext cx="4370832" cy="914400"/>
          </a:xfrm>
          <a:prstGeom prst="rect">
            <a:avLst/>
          </a:prstGeom>
          <a:noFill/>
        </p:spPr>
        <p:txBody>
          <a:bodyPr wrap="square" lIns="45720" tIns="27432" rIns="45720" bIns="27432" anchor="t">
            <a:spAutoFit/>
          </a:bodyPr>
          <a:lstStyle/>
          <a:p>
            <a:pPr algn="l">
              <a:spcAft>
                <a:spcPts val="400"/>
              </a:spcAft>
            </a:pPr>
            <a:r>
              <a:rPr sz="1400" b="0" i="0">
                <a:solidFill>
                  <a:srgbClr val="5B6573"/>
                </a:solidFill>
                <a:latin typeface="Calibri" panose="020F0502020204030204"/>
              </a:rPr>
              <a:t>None is best: the cheap one ties up a week of stock in transit, the fast one eats margin, the middle one is unreliable.</a:t>
            </a:r>
            <a:endParaRPr sz="1400" b="0" i="0">
              <a:solidFill>
                <a:srgbClr val="5B6573"/>
              </a:solidFill>
              <a:latin typeface="Calibri" panose="020F0502020204030204"/>
            </a:endParaRPr>
          </a:p>
        </p:txBody>
      </p:sp>
      <p:sp>
        <p:nvSpPr>
          <p:cNvPr id="23" name="Rounded Rectangle 22"/>
          <p:cNvSpPr/>
          <p:nvPr/>
        </p:nvSpPr>
        <p:spPr>
          <a:xfrm>
            <a:off x="411480" y="4800600"/>
            <a:ext cx="3566160" cy="118872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632" y="4846320"/>
            <a:ext cx="3419856" cy="1097280"/>
          </a:xfrm>
          <a:prstGeom prst="rect">
            <a:avLst/>
          </a:prstGeom>
          <a:noFill/>
        </p:spPr>
        <p:txBody>
          <a:bodyPr wrap="square" lIns="45720" tIns="27432" rIns="45720" bIns="27432" anchor="ctr">
            <a:spAutoFit/>
          </a:bodyPr>
          <a:lstStyle/>
          <a:p>
            <a:pPr algn="ctr">
              <a:spcAft>
                <a:spcPts val="100"/>
              </a:spcAft>
            </a:pPr>
            <a:r>
              <a:rPr sz="3000" b="1" i="0">
                <a:solidFill>
                  <a:srgbClr val="FFFFFF"/>
                </a:solidFill>
                <a:latin typeface="Calibri" panose="020F0502020204030204"/>
              </a:rPr>
              <a:t>≈ 17 trillion</a:t>
            </a:r>
            <a:endParaRPr sz="30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possible order combinations every day (21¹⁰)</a:t>
            </a:r>
            <a:endParaRPr sz="1300" b="0" i="0">
              <a:solidFill>
                <a:srgbClr val="FFFFFF"/>
              </a:solidFill>
              <a:latin typeface="Calibri" panose="020F0502020204030204"/>
            </a:endParaRPr>
          </a:p>
        </p:txBody>
      </p:sp>
      <p:sp>
        <p:nvSpPr>
          <p:cNvPr id="25" name="Rounded Rectangle 24"/>
          <p:cNvSpPr/>
          <p:nvPr/>
        </p:nvSpPr>
        <p:spPr>
          <a:xfrm>
            <a:off x="4206240" y="4800600"/>
            <a:ext cx="3566160" cy="118872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9392" y="4846320"/>
            <a:ext cx="3419856" cy="1097280"/>
          </a:xfrm>
          <a:prstGeom prst="rect">
            <a:avLst/>
          </a:prstGeom>
          <a:noFill/>
        </p:spPr>
        <p:txBody>
          <a:bodyPr wrap="square" lIns="45720" tIns="27432" rIns="45720" bIns="27432" anchor="ctr">
            <a:spAutoFit/>
          </a:bodyPr>
          <a:lstStyle/>
          <a:p>
            <a:pPr algn="ctr">
              <a:spcAft>
                <a:spcPts val="100"/>
              </a:spcAft>
            </a:pPr>
            <a:r>
              <a:rPr sz="3000" b="1" i="0">
                <a:solidFill>
                  <a:srgbClr val="FFFFFF"/>
                </a:solidFill>
                <a:latin typeface="Calibri" panose="020F0502020204030204"/>
              </a:rPr>
              <a:t>216×</a:t>
            </a:r>
            <a:endParaRPr sz="30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variance of daily demand vs its mean</a:t>
            </a:r>
            <a:endParaRPr sz="1300" b="0" i="0">
              <a:solidFill>
                <a:srgbClr val="FFFFFF"/>
              </a:solidFill>
              <a:latin typeface="Calibri" panose="020F0502020204030204"/>
            </a:endParaRPr>
          </a:p>
        </p:txBody>
      </p:sp>
      <p:sp>
        <p:nvSpPr>
          <p:cNvPr id="27" name="Rounded Rectangle 26"/>
          <p:cNvSpPr/>
          <p:nvPr/>
        </p:nvSpPr>
        <p:spPr>
          <a:xfrm>
            <a:off x="8001000" y="4800600"/>
            <a:ext cx="3776472" cy="118872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74152" y="4846320"/>
            <a:ext cx="3630168" cy="1097280"/>
          </a:xfrm>
          <a:prstGeom prst="rect">
            <a:avLst/>
          </a:prstGeom>
          <a:noFill/>
        </p:spPr>
        <p:txBody>
          <a:bodyPr wrap="square" lIns="45720" tIns="27432" rIns="45720" bIns="27432" anchor="ctr">
            <a:spAutoFit/>
          </a:bodyPr>
          <a:lstStyle/>
          <a:p>
            <a:pPr algn="ctr">
              <a:spcAft>
                <a:spcPts val="100"/>
              </a:spcAft>
            </a:pPr>
            <a:r>
              <a:rPr sz="3000" b="1" i="0">
                <a:solidFill>
                  <a:srgbClr val="FFFFFF"/>
                </a:solidFill>
                <a:latin typeface="Calibri" panose="020F0502020204030204"/>
              </a:rPr>
              <a:t>Joint choice</a:t>
            </a:r>
            <a:endParaRPr sz="30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quantity and supplier decided together</a:t>
            </a:r>
            <a:endParaRPr sz="1300" b="0" i="0">
              <a:solidFill>
                <a:srgbClr val="FFFFFF"/>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Literature Review</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graphicFrame>
        <p:nvGraphicFramePr>
          <p:cNvPr id="20" name="Table 19"/>
          <p:cNvGraphicFramePr>
            <a:graphicFrameLocks noGrp="1"/>
          </p:cNvGraphicFramePr>
          <p:nvPr/>
        </p:nvGraphicFramePr>
        <p:xfrm>
          <a:off x="411480" y="1371600"/>
          <a:ext cx="11365989" cy="4663440"/>
        </p:xfrm>
        <a:graphic>
          <a:graphicData uri="http://schemas.openxmlformats.org/drawingml/2006/table">
            <a:tbl>
              <a:tblPr firstRow="1" bandRow="1">
                <a:tableStyleId>{5C22544A-7EE6-4342-B048-85BDC9FD1C3A}</a:tableStyleId>
              </a:tblPr>
              <a:tblGrid>
                <a:gridCol w="366644"/>
                <a:gridCol w="2749836"/>
                <a:gridCol w="2108208"/>
                <a:gridCol w="3116481"/>
                <a:gridCol w="3024820"/>
              </a:tblGrid>
              <a:tr h="777240">
                <a:tc>
                  <a:txBody>
                    <a:bodyPr wrap="square"/>
                    <a:lstStyle/>
                    <a:p>
                      <a:pPr algn="l"/>
                      <a:r>
                        <a:rPr sz="1300" b="1" i="0">
                          <a:solidFill>
                            <a:srgbClr val="FFFFFF"/>
                          </a:solidFill>
                          <a:latin typeface="Calibri" panose="020F0502020204030204"/>
                        </a:rPr>
                        <a:t>#</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300" b="1" i="0">
                          <a:solidFill>
                            <a:srgbClr val="FFFFFF"/>
                          </a:solidFill>
                          <a:latin typeface="Calibri" panose="020F0502020204030204"/>
                        </a:rPr>
                        <a:t>Work</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300" b="1" i="0">
                          <a:solidFill>
                            <a:srgbClr val="FFFFFF"/>
                          </a:solidFill>
                          <a:latin typeface="Calibri" panose="020F0502020204030204"/>
                        </a:rPr>
                        <a:t>Approach</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300" b="1" i="0">
                          <a:solidFill>
                            <a:srgbClr val="FFFFFF"/>
                          </a:solidFill>
                          <a:latin typeface="Calibri" panose="020F0502020204030204"/>
                        </a:rPr>
                        <a:t>Key finding</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300" b="1" i="0">
                          <a:solidFill>
                            <a:srgbClr val="FFFFFF"/>
                          </a:solidFill>
                          <a:latin typeface="Calibri" panose="020F0502020204030204"/>
                        </a:rPr>
                        <a:t>Limitation</a:t>
                      </a:r>
                      <a:endParaRPr sz="1300" b="1" i="0">
                        <a:solidFill>
                          <a:srgbClr val="FFFFFF"/>
                        </a:solidFill>
                        <a:latin typeface="Calibri" panose="020F0502020204030204"/>
                      </a:endParaRPr>
                    </a:p>
                  </a:txBody>
                  <a:tcPr marL="54864" marR="54864" marT="18288" marB="18288" anchor="ctr">
                    <a:solidFill>
                      <a:srgbClr val="2E8B57"/>
                    </a:solidFill>
                  </a:tcPr>
                </a:tc>
              </a:tr>
              <a:tr h="777240">
                <a:tc>
                  <a:txBody>
                    <a:bodyPr wrap="square"/>
                    <a:lstStyle/>
                    <a:p>
                      <a:r>
                        <a:rPr sz="1300" b="0" i="0">
                          <a:solidFill>
                            <a:srgbClr val="1F2937"/>
                          </a:solidFill>
                          <a:latin typeface="Calibri" panose="020F0502020204030204"/>
                        </a:rPr>
                        <a:t>1</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Proximal Policy Optimization (2017)</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Clipped surrogate policy gradient</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Stable, sample-efficient default RL baseline</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General purpose; no supply-chain structure</a:t>
                      </a:r>
                      <a:endParaRPr sz="1300" b="0" i="0">
                        <a:solidFill>
                          <a:srgbClr val="1F2937"/>
                        </a:solidFill>
                        <a:latin typeface="Calibri" panose="020F0502020204030204"/>
                      </a:endParaRPr>
                    </a:p>
                  </a:txBody>
                  <a:tcPr marL="54864" marR="54864" marT="18288" marB="18288" anchor="ctr">
                    <a:solidFill>
                      <a:srgbClr val="FFFFFF"/>
                    </a:solidFill>
                  </a:tcPr>
                </a:tc>
              </a:tr>
              <a:tr h="777240">
                <a:tc>
                  <a:txBody>
                    <a:bodyPr wrap="square"/>
                    <a:lstStyle/>
                    <a:p>
                      <a:r>
                        <a:rPr sz="1300" b="0" i="0">
                          <a:solidFill>
                            <a:srgbClr val="1F2937"/>
                          </a:solidFill>
                          <a:latin typeface="Calibri" panose="020F0502020204030204"/>
                        </a:rPr>
                        <a:t>2</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A Deep Q-Network for the Beer Game (2022)</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DQN on a serial chain</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DRL matches or beats base-stock under cooperation</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Single product, serial chain, no sourcing choice</a:t>
                      </a:r>
                      <a:endParaRPr sz="1300" b="0" i="0">
                        <a:solidFill>
                          <a:srgbClr val="1F2937"/>
                        </a:solidFill>
                        <a:latin typeface="Calibri" panose="020F0502020204030204"/>
                      </a:endParaRPr>
                    </a:p>
                  </a:txBody>
                  <a:tcPr marL="54864" marR="54864" marT="18288" marB="18288" anchor="ctr">
                    <a:solidFill>
                      <a:srgbClr val="F1F5F9"/>
                    </a:solidFill>
                  </a:tcPr>
                </a:tc>
              </a:tr>
              <a:tr h="777240">
                <a:tc>
                  <a:txBody>
                    <a:bodyPr wrap="square"/>
                    <a:lstStyle/>
                    <a:p>
                      <a:r>
                        <a:rPr sz="1300" b="0" i="0">
                          <a:solidFill>
                            <a:srgbClr val="1F2937"/>
                          </a:solidFill>
                          <a:latin typeface="Calibri" panose="020F0502020204030204"/>
                        </a:rPr>
                        <a:t>3</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Can Deep RL Improve Inventory Management? (2022)</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A3C on lost-sales and dual-sourcing</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Competitive with tuned heuristics, not clearly superior</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Heavy tuning cost; no explanation layer</a:t>
                      </a:r>
                      <a:endParaRPr sz="1300" b="0" i="0">
                        <a:solidFill>
                          <a:srgbClr val="1F2937"/>
                        </a:solidFill>
                        <a:latin typeface="Calibri" panose="020F0502020204030204"/>
                      </a:endParaRPr>
                    </a:p>
                  </a:txBody>
                  <a:tcPr marL="54864" marR="54864" marT="18288" marB="18288" anchor="ctr">
                    <a:solidFill>
                      <a:srgbClr val="FFFFFF"/>
                    </a:solidFill>
                  </a:tcPr>
                </a:tc>
              </a:tr>
              <a:tr h="777240">
                <a:tc>
                  <a:txBody>
                    <a:bodyPr wrap="square"/>
                    <a:lstStyle/>
                    <a:p>
                      <a:r>
                        <a:rPr sz="1300" b="0" i="0">
                          <a:solidFill>
                            <a:srgbClr val="1F2937"/>
                          </a:solidFill>
                          <a:latin typeface="Calibri" panose="020F0502020204030204"/>
                        </a:rPr>
                        <a:t>4</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Deep RL for Inventory Control: A Roadmap (2022)</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Survey and roadmap</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Names fair benchmarking and interpretability as open problems</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Conceptual; no implementation</a:t>
                      </a:r>
                      <a:endParaRPr sz="1300" b="0" i="0">
                        <a:solidFill>
                          <a:srgbClr val="1F2937"/>
                        </a:solidFill>
                        <a:latin typeface="Calibri" panose="020F0502020204030204"/>
                      </a:endParaRPr>
                    </a:p>
                  </a:txBody>
                  <a:tcPr marL="54864" marR="54864" marT="18288" marB="18288" anchor="ctr">
                    <a:solidFill>
                      <a:srgbClr val="F1F5F9"/>
                    </a:solidFill>
                  </a:tcPr>
                </a:tc>
              </a:tr>
              <a:tr h="777240">
                <a:tc>
                  <a:txBody>
                    <a:bodyPr wrap="square"/>
                    <a:lstStyle/>
                    <a:p>
                      <a:r>
                        <a:rPr sz="1300" b="0" i="0">
                          <a:solidFill>
                            <a:srgbClr val="1F2937"/>
                          </a:solidFill>
                          <a:latin typeface="Calibri" panose="020F0502020204030204"/>
                        </a:rPr>
                        <a:t>5</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A Closer Look at Invalid Action Masking (2022)</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Masking in policy gradients</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Masking is a valid gradient and scales to large action spaces</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Not shown on inventory or sourcing</a:t>
                      </a:r>
                      <a:endParaRPr sz="1300" b="0" i="0">
                        <a:solidFill>
                          <a:srgbClr val="1F2937"/>
                        </a:solidFill>
                        <a:latin typeface="Calibri" panose="020F0502020204030204"/>
                      </a:endParaRPr>
                    </a:p>
                  </a:txBody>
                  <a:tcPr marL="54864" marR="54864" marT="18288" marB="18288"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Gaps Identified, and What We Did</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sp>
        <p:nvSpPr>
          <p:cNvPr id="20" name="Oval 19"/>
          <p:cNvSpPr/>
          <p:nvPr/>
        </p:nvSpPr>
        <p:spPr>
          <a:xfrm>
            <a:off x="411480" y="1481328"/>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i="0">
                <a:solidFill>
                  <a:srgbClr val="FFFFFF"/>
                </a:solidFill>
                <a:latin typeface="Calibri" panose="020F0502020204030204"/>
              </a:rPr>
              <a:t>1</a:t>
            </a:r>
            <a:endParaRPr sz="1300" b="1" i="0">
              <a:solidFill>
                <a:srgbClr val="FFFFFF"/>
              </a:solidFill>
              <a:latin typeface="Calibri" panose="020F0502020204030204"/>
            </a:endParaRPr>
          </a:p>
        </p:txBody>
      </p:sp>
      <p:sp>
        <p:nvSpPr>
          <p:cNvPr id="21" name="TextBox 20"/>
          <p:cNvSpPr txBox="1"/>
          <p:nvPr/>
        </p:nvSpPr>
        <p:spPr>
          <a:xfrm>
            <a:off x="868680" y="1371600"/>
            <a:ext cx="4937760" cy="1097280"/>
          </a:xfrm>
          <a:prstGeom prst="rect">
            <a:avLst/>
          </a:prstGeom>
          <a:noFill/>
        </p:spPr>
        <p:txBody>
          <a:bodyPr wrap="square" lIns="45720" tIns="27432" rIns="45720" bIns="27432" anchor="t">
            <a:spAutoFit/>
          </a:bodyPr>
          <a:lstStyle/>
          <a:p>
            <a:pPr algn="l">
              <a:spcAft>
                <a:spcPts val="200"/>
              </a:spcAft>
            </a:pPr>
            <a:r>
              <a:rPr sz="1700" b="1" i="0">
                <a:solidFill>
                  <a:srgbClr val="1B5E3A"/>
                </a:solidFill>
                <a:latin typeface="Calibri" panose="020F0502020204030204"/>
              </a:rPr>
              <a:t>Narrow problem settings</a:t>
            </a:r>
            <a:endParaRPr sz="17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Single-product or serial chains dominate; joint quantity and supplier choice under one shared capacity is rarely modelled.</a:t>
            </a:r>
            <a:endParaRPr sz="1400" b="0" i="0">
              <a:solidFill>
                <a:srgbClr val="1F2937"/>
              </a:solidFill>
              <a:latin typeface="Calibri" panose="020F0502020204030204"/>
            </a:endParaRPr>
          </a:p>
        </p:txBody>
      </p:sp>
      <p:sp>
        <p:nvSpPr>
          <p:cNvPr id="22" name="Rounded Rectangle 21"/>
          <p:cNvSpPr/>
          <p:nvPr/>
        </p:nvSpPr>
        <p:spPr>
          <a:xfrm>
            <a:off x="6080760" y="1371600"/>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190488" y="1444752"/>
            <a:ext cx="5477256" cy="905255"/>
          </a:xfrm>
          <a:prstGeom prst="rect">
            <a:avLst/>
          </a:prstGeom>
          <a:noFill/>
        </p:spPr>
        <p:txBody>
          <a:bodyPr wrap="square" lIns="45720" tIns="27432" rIns="45720" bIns="27432" anchor="t">
            <a:spAutoFit/>
          </a:bodyPr>
          <a:lstStyle/>
          <a:p>
            <a:pPr algn="l">
              <a:spcAft>
                <a:spcPts val="500"/>
              </a:spcAft>
            </a:pPr>
            <a:r>
              <a:rPr sz="1400" b="1" i="0">
                <a:solidFill>
                  <a:srgbClr val="2E8B57"/>
                </a:solidFill>
                <a:latin typeface="Calibri" panose="020F0502020204030204"/>
              </a:rPr>
              <a:t>What we did</a:t>
            </a:r>
            <a:endParaRPr sz="1400" b="1" i="0">
              <a:solidFill>
                <a:srgbClr val="2E8B57"/>
              </a:solidFill>
              <a:latin typeface="Calibri" panose="020F0502020204030204"/>
            </a:endParaRPr>
          </a:p>
          <a:p>
            <a:pPr algn="l">
              <a:spcAft>
                <a:spcPts val="200"/>
              </a:spcAft>
            </a:pPr>
            <a:r>
              <a:rPr sz="1400" b="0" i="0">
                <a:solidFill>
                  <a:srgbClr val="1F2937"/>
                </a:solidFill>
                <a:latin typeface="Calibri" panose="020F0502020204030204"/>
              </a:rPr>
              <a:t>We model 10 products, 3 suppliers and one shared warehouse, with a joint action.</a:t>
            </a:r>
            <a:endParaRPr sz="1400" b="0" i="0">
              <a:solidFill>
                <a:srgbClr val="1F2937"/>
              </a:solidFill>
              <a:latin typeface="Calibri" panose="020F0502020204030204"/>
            </a:endParaRPr>
          </a:p>
        </p:txBody>
      </p:sp>
      <p:sp>
        <p:nvSpPr>
          <p:cNvPr id="24" name="Oval 23"/>
          <p:cNvSpPr/>
          <p:nvPr/>
        </p:nvSpPr>
        <p:spPr>
          <a:xfrm>
            <a:off x="411480" y="2697480"/>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i="0">
                <a:solidFill>
                  <a:srgbClr val="FFFFFF"/>
                </a:solidFill>
                <a:latin typeface="Calibri" panose="020F0502020204030204"/>
              </a:rPr>
              <a:t>2</a:t>
            </a:r>
            <a:endParaRPr sz="1300" b="1" i="0">
              <a:solidFill>
                <a:srgbClr val="FFFFFF"/>
              </a:solidFill>
              <a:latin typeface="Calibri" panose="020F0502020204030204"/>
            </a:endParaRPr>
          </a:p>
        </p:txBody>
      </p:sp>
      <p:sp>
        <p:nvSpPr>
          <p:cNvPr id="25" name="TextBox 24"/>
          <p:cNvSpPr txBox="1"/>
          <p:nvPr/>
        </p:nvSpPr>
        <p:spPr>
          <a:xfrm>
            <a:off x="868680" y="2587752"/>
            <a:ext cx="4937760" cy="1097280"/>
          </a:xfrm>
          <a:prstGeom prst="rect">
            <a:avLst/>
          </a:prstGeom>
          <a:noFill/>
        </p:spPr>
        <p:txBody>
          <a:bodyPr wrap="square" lIns="45720" tIns="27432" rIns="45720" bIns="27432" anchor="t">
            <a:spAutoFit/>
          </a:bodyPr>
          <a:lstStyle/>
          <a:p>
            <a:pPr algn="l">
              <a:spcAft>
                <a:spcPts val="200"/>
              </a:spcAft>
            </a:pPr>
            <a:r>
              <a:rPr sz="1700" b="1" i="0">
                <a:solidFill>
                  <a:srgbClr val="1B5E3A"/>
                </a:solidFill>
                <a:latin typeface="Calibri" panose="020F0502020204030204"/>
              </a:rPr>
              <a:t>Explainability is deferred</a:t>
            </a:r>
            <a:endParaRPr sz="17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Learned policies output a number, not a reason, so they stay in simulation.</a:t>
            </a:r>
            <a:endParaRPr sz="1400" b="0" i="0">
              <a:solidFill>
                <a:srgbClr val="1F2937"/>
              </a:solidFill>
              <a:latin typeface="Calibri" panose="020F0502020204030204"/>
            </a:endParaRPr>
          </a:p>
        </p:txBody>
      </p:sp>
      <p:sp>
        <p:nvSpPr>
          <p:cNvPr id="26" name="Rounded Rectangle 25"/>
          <p:cNvSpPr/>
          <p:nvPr/>
        </p:nvSpPr>
        <p:spPr>
          <a:xfrm>
            <a:off x="6080760" y="2587752"/>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90488" y="2660904"/>
            <a:ext cx="5477256" cy="905255"/>
          </a:xfrm>
          <a:prstGeom prst="rect">
            <a:avLst/>
          </a:prstGeom>
          <a:noFill/>
        </p:spPr>
        <p:txBody>
          <a:bodyPr wrap="square" lIns="45720" tIns="27432" rIns="45720" bIns="27432" anchor="t">
            <a:spAutoFit/>
          </a:bodyPr>
          <a:lstStyle/>
          <a:p>
            <a:pPr algn="l">
              <a:spcAft>
                <a:spcPts val="500"/>
              </a:spcAft>
            </a:pPr>
            <a:r>
              <a:rPr sz="1400" b="1" i="0">
                <a:solidFill>
                  <a:srgbClr val="2E8B57"/>
                </a:solidFill>
                <a:latin typeface="Calibri" panose="020F0502020204030204"/>
              </a:rPr>
              <a:t>What we did</a:t>
            </a:r>
            <a:endParaRPr sz="1400" b="1" i="0">
              <a:solidFill>
                <a:srgbClr val="2E8B57"/>
              </a:solidFill>
              <a:latin typeface="Calibri" panose="020F0502020204030204"/>
            </a:endParaRPr>
          </a:p>
          <a:p>
            <a:pPr algn="l">
              <a:spcAft>
                <a:spcPts val="200"/>
              </a:spcAft>
            </a:pPr>
            <a:r>
              <a:rPr sz="1400" b="0" i="0">
                <a:solidFill>
                  <a:srgbClr val="1F2937"/>
                </a:solidFill>
                <a:latin typeface="Calibri" panose="020F0502020204030204"/>
              </a:rPr>
              <a:t>An LLM explains each decision from computed facts; every number is checked.</a:t>
            </a:r>
            <a:endParaRPr sz="1400" b="0" i="0">
              <a:solidFill>
                <a:srgbClr val="1F2937"/>
              </a:solidFill>
              <a:latin typeface="Calibri" panose="020F0502020204030204"/>
            </a:endParaRPr>
          </a:p>
        </p:txBody>
      </p:sp>
      <p:sp>
        <p:nvSpPr>
          <p:cNvPr id="28" name="Oval 27"/>
          <p:cNvSpPr/>
          <p:nvPr/>
        </p:nvSpPr>
        <p:spPr>
          <a:xfrm>
            <a:off x="411480" y="3913632"/>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i="0">
                <a:solidFill>
                  <a:srgbClr val="FFFFFF"/>
                </a:solidFill>
                <a:latin typeface="Calibri" panose="020F0502020204030204"/>
              </a:rPr>
              <a:t>3</a:t>
            </a:r>
            <a:endParaRPr sz="1300" b="1" i="0">
              <a:solidFill>
                <a:srgbClr val="FFFFFF"/>
              </a:solidFill>
              <a:latin typeface="Calibri" panose="020F0502020204030204"/>
            </a:endParaRPr>
          </a:p>
        </p:txBody>
      </p:sp>
      <p:sp>
        <p:nvSpPr>
          <p:cNvPr id="29" name="TextBox 28"/>
          <p:cNvSpPr txBox="1"/>
          <p:nvPr/>
        </p:nvSpPr>
        <p:spPr>
          <a:xfrm>
            <a:off x="868680" y="3803904"/>
            <a:ext cx="4937760" cy="1097280"/>
          </a:xfrm>
          <a:prstGeom prst="rect">
            <a:avLst/>
          </a:prstGeom>
          <a:noFill/>
        </p:spPr>
        <p:txBody>
          <a:bodyPr wrap="square" lIns="45720" tIns="27432" rIns="45720" bIns="27432" anchor="t">
            <a:spAutoFit/>
          </a:bodyPr>
          <a:lstStyle/>
          <a:p>
            <a:pPr algn="l">
              <a:spcAft>
                <a:spcPts val="200"/>
              </a:spcAft>
            </a:pPr>
            <a:r>
              <a:rPr sz="1700" b="1" i="0">
                <a:solidFill>
                  <a:srgbClr val="1B5E3A"/>
                </a:solidFill>
                <a:latin typeface="Calibri" panose="020F0502020204030204"/>
              </a:rPr>
              <a:t>Stress testing is hand-built</a:t>
            </a:r>
            <a:endParaRPr sz="17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Spikes and failures are coded case by case, so coverage is narrow.</a:t>
            </a:r>
            <a:endParaRPr sz="1400" b="0" i="0">
              <a:solidFill>
                <a:srgbClr val="1F2937"/>
              </a:solidFill>
              <a:latin typeface="Calibri" panose="020F0502020204030204"/>
            </a:endParaRPr>
          </a:p>
        </p:txBody>
      </p:sp>
      <p:sp>
        <p:nvSpPr>
          <p:cNvPr id="30" name="Rounded Rectangle 29"/>
          <p:cNvSpPr/>
          <p:nvPr/>
        </p:nvSpPr>
        <p:spPr>
          <a:xfrm>
            <a:off x="6080760" y="3803904"/>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190488" y="3877056"/>
            <a:ext cx="5477256" cy="905255"/>
          </a:xfrm>
          <a:prstGeom prst="rect">
            <a:avLst/>
          </a:prstGeom>
          <a:noFill/>
        </p:spPr>
        <p:txBody>
          <a:bodyPr wrap="square" lIns="45720" tIns="27432" rIns="45720" bIns="27432" anchor="t">
            <a:spAutoFit/>
          </a:bodyPr>
          <a:lstStyle/>
          <a:p>
            <a:pPr algn="l">
              <a:spcAft>
                <a:spcPts val="500"/>
              </a:spcAft>
            </a:pPr>
            <a:r>
              <a:rPr sz="1400" b="1" i="0">
                <a:solidFill>
                  <a:srgbClr val="2E8B57"/>
                </a:solidFill>
                <a:latin typeface="Calibri" panose="020F0502020204030204"/>
              </a:rPr>
              <a:t>What we did</a:t>
            </a:r>
            <a:endParaRPr sz="1400" b="1" i="0">
              <a:solidFill>
                <a:srgbClr val="2E8B57"/>
              </a:solidFill>
              <a:latin typeface="Calibri" panose="020F0502020204030204"/>
            </a:endParaRPr>
          </a:p>
          <a:p>
            <a:pPr algn="l">
              <a:spcAft>
                <a:spcPts val="200"/>
              </a:spcAft>
            </a:pPr>
            <a:r>
              <a:rPr sz="1400" b="0" i="0">
                <a:solidFill>
                  <a:srgbClr val="1F2937"/>
                </a:solidFill>
                <a:latin typeface="Calibri" panose="020F0502020204030204"/>
              </a:rPr>
              <a:t>An LLM writes overlapping crises; each is validated and clamped before use.</a:t>
            </a:r>
            <a:endParaRPr sz="1400" b="0" i="0">
              <a:solidFill>
                <a:srgbClr val="1F2937"/>
              </a:solidFill>
              <a:latin typeface="Calibri" panose="020F0502020204030204"/>
            </a:endParaRPr>
          </a:p>
        </p:txBody>
      </p:sp>
      <p:sp>
        <p:nvSpPr>
          <p:cNvPr id="32" name="Oval 31"/>
          <p:cNvSpPr/>
          <p:nvPr/>
        </p:nvSpPr>
        <p:spPr>
          <a:xfrm>
            <a:off x="411480" y="5129784"/>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i="0">
                <a:solidFill>
                  <a:srgbClr val="FFFFFF"/>
                </a:solidFill>
                <a:latin typeface="Calibri" panose="020F0502020204030204"/>
              </a:rPr>
              <a:t>4</a:t>
            </a:r>
            <a:endParaRPr sz="1300" b="1" i="0">
              <a:solidFill>
                <a:srgbClr val="FFFFFF"/>
              </a:solidFill>
              <a:latin typeface="Calibri" panose="020F0502020204030204"/>
            </a:endParaRPr>
          </a:p>
        </p:txBody>
      </p:sp>
      <p:sp>
        <p:nvSpPr>
          <p:cNvPr id="33" name="TextBox 32"/>
          <p:cNvSpPr txBox="1"/>
          <p:nvPr/>
        </p:nvSpPr>
        <p:spPr>
          <a:xfrm>
            <a:off x="868680" y="5020056"/>
            <a:ext cx="4937760" cy="1097280"/>
          </a:xfrm>
          <a:prstGeom prst="rect">
            <a:avLst/>
          </a:prstGeom>
          <a:noFill/>
        </p:spPr>
        <p:txBody>
          <a:bodyPr wrap="square" lIns="45720" tIns="27432" rIns="45720" bIns="27432" anchor="t">
            <a:spAutoFit/>
          </a:bodyPr>
          <a:lstStyle/>
          <a:p>
            <a:pPr algn="l">
              <a:spcAft>
                <a:spcPts val="200"/>
              </a:spcAft>
            </a:pPr>
            <a:r>
              <a:rPr sz="1700" b="1" i="0">
                <a:solidFill>
                  <a:srgbClr val="1B5E3A"/>
                </a:solidFill>
                <a:latin typeface="Calibri" panose="020F0502020204030204"/>
              </a:rPr>
              <a:t>Weak baselines</a:t>
            </a:r>
            <a:endParaRPr sz="17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Baselines are often left untuned, so a new method “wins” for free.</a:t>
            </a:r>
            <a:endParaRPr sz="1400" b="0" i="0">
              <a:solidFill>
                <a:srgbClr val="1F2937"/>
              </a:solidFill>
              <a:latin typeface="Calibri" panose="020F0502020204030204"/>
            </a:endParaRPr>
          </a:p>
        </p:txBody>
      </p:sp>
      <p:sp>
        <p:nvSpPr>
          <p:cNvPr id="34" name="Rounded Rectangle 33"/>
          <p:cNvSpPr/>
          <p:nvPr/>
        </p:nvSpPr>
        <p:spPr>
          <a:xfrm>
            <a:off x="6080760" y="5020056"/>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190488" y="5093208"/>
            <a:ext cx="5477256" cy="905255"/>
          </a:xfrm>
          <a:prstGeom prst="rect">
            <a:avLst/>
          </a:prstGeom>
          <a:noFill/>
        </p:spPr>
        <p:txBody>
          <a:bodyPr wrap="square" lIns="45720" tIns="27432" rIns="45720" bIns="27432" anchor="t">
            <a:spAutoFit/>
          </a:bodyPr>
          <a:lstStyle/>
          <a:p>
            <a:pPr algn="l">
              <a:spcAft>
                <a:spcPts val="500"/>
              </a:spcAft>
            </a:pPr>
            <a:r>
              <a:rPr sz="1400" b="1" i="0">
                <a:solidFill>
                  <a:srgbClr val="2E8B57"/>
                </a:solidFill>
                <a:latin typeface="Calibri" panose="020F0502020204030204"/>
              </a:rPr>
              <a:t>What we did</a:t>
            </a:r>
            <a:endParaRPr sz="1400" b="1" i="0">
              <a:solidFill>
                <a:srgbClr val="2E8B57"/>
              </a:solidFill>
              <a:latin typeface="Calibri" panose="020F0502020204030204"/>
            </a:endParaRPr>
          </a:p>
          <a:p>
            <a:pPr algn="l">
              <a:spcAft>
                <a:spcPts val="200"/>
              </a:spcAft>
            </a:pPr>
            <a:r>
              <a:rPr sz="1400" b="0" i="0">
                <a:solidFill>
                  <a:srgbClr val="1F2937"/>
                </a:solidFill>
                <a:latin typeface="Calibri" panose="020F0502020204030204"/>
              </a:rPr>
              <a:t>All four classical methods are tuned on separate seeds before any comparison.</a:t>
            </a:r>
            <a:endParaRPr sz="1400" b="0" i="0">
              <a:solidFill>
                <a:srgbClr val="1F2937"/>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Objectives and Status</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graphicFrame>
        <p:nvGraphicFramePr>
          <p:cNvPr id="20" name="Table 19"/>
          <p:cNvGraphicFramePr>
            <a:graphicFrameLocks noGrp="1"/>
          </p:cNvGraphicFramePr>
          <p:nvPr/>
        </p:nvGraphicFramePr>
        <p:xfrm>
          <a:off x="411480" y="1371600"/>
          <a:ext cx="11365990" cy="3401568"/>
        </p:xfrm>
        <a:graphic>
          <a:graphicData uri="http://schemas.openxmlformats.org/drawingml/2006/table">
            <a:tbl>
              <a:tblPr firstRow="1" bandRow="1">
                <a:tableStyleId>{5C22544A-7EE6-4342-B048-85BDC9FD1C3A}</a:tableStyleId>
              </a:tblPr>
              <a:tblGrid>
                <a:gridCol w="382050"/>
                <a:gridCol w="4393576"/>
                <a:gridCol w="859612"/>
                <a:gridCol w="5730752"/>
              </a:tblGrid>
              <a:tr h="566928">
                <a:tc>
                  <a:txBody>
                    <a:bodyPr wrap="square"/>
                    <a:lstStyle/>
                    <a:p>
                      <a:pPr algn="l"/>
                      <a:r>
                        <a:rPr sz="1400" b="1" i="0">
                          <a:solidFill>
                            <a:srgbClr val="FFFFFF"/>
                          </a:solidFill>
                          <a:latin typeface="Calibri" panose="020F0502020204030204"/>
                        </a:rPr>
                        <a:t>#</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400" b="1" i="0">
                          <a:solidFill>
                            <a:srgbClr val="FFFFFF"/>
                          </a:solidFill>
                          <a:latin typeface="Calibri" panose="020F0502020204030204"/>
                        </a:rPr>
                        <a:t>Objective</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400" b="1" i="0">
                          <a:solidFill>
                            <a:srgbClr val="FFFFFF"/>
                          </a:solidFill>
                          <a:latin typeface="Calibri" panose="020F0502020204030204"/>
                        </a:rPr>
                        <a:t>Status</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400" b="1" i="0">
                          <a:solidFill>
                            <a:srgbClr val="FFFFFF"/>
                          </a:solidFill>
                          <a:latin typeface="Calibri" panose="020F0502020204030204"/>
                        </a:rPr>
                        <a:t>Evidence</a:t>
                      </a:r>
                      <a:endParaRPr sz="1400" b="1" i="0">
                        <a:solidFill>
                          <a:srgbClr val="FFFFFF"/>
                        </a:solidFill>
                        <a:latin typeface="Calibri" panose="020F0502020204030204"/>
                      </a:endParaRPr>
                    </a:p>
                  </a:txBody>
                  <a:tcPr marL="54864" marR="54864" marT="18288" marB="18288" anchor="ctr">
                    <a:solidFill>
                      <a:srgbClr val="2E8B57"/>
                    </a:solidFill>
                  </a:tcPr>
                </a:tc>
              </a:tr>
              <a:tr h="566928">
                <a:tc>
                  <a:txBody>
                    <a:bodyPr wrap="square"/>
                    <a:lstStyle/>
                    <a:p>
                      <a:r>
                        <a:rPr sz="1400" b="0" i="0">
                          <a:solidFill>
                            <a:srgbClr val="1F2937"/>
                          </a:solidFill>
                          <a:latin typeface="Calibri" panose="020F0502020204030204"/>
                        </a:rPr>
                        <a:t>1</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400" b="0" i="0">
                          <a:solidFill>
                            <a:srgbClr val="1F2937"/>
                          </a:solidFill>
                          <a:latin typeface="Calibri" panose="020F0502020204030204"/>
                        </a:rPr>
                        <a:t>Build a supply chain simulation from real data</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Done</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1.07M records calibrate it; sensible rules profit, silly ones lose</a:t>
                      </a:r>
                      <a:endParaRPr sz="1400" b="0" i="0">
                        <a:solidFill>
                          <a:srgbClr val="1F2937"/>
                        </a:solidFill>
                        <a:latin typeface="Calibri" panose="020F0502020204030204"/>
                      </a:endParaRPr>
                    </a:p>
                  </a:txBody>
                  <a:tcPr marL="54864" marR="54864" marT="18288" marB="18288" anchor="ctr">
                    <a:solidFill>
                      <a:srgbClr val="FFFFFF"/>
                    </a:solidFill>
                  </a:tcPr>
                </a:tc>
              </a:tr>
              <a:tr h="566928">
                <a:tc>
                  <a:txBody>
                    <a:bodyPr wrap="square"/>
                    <a:lstStyle/>
                    <a:p>
                      <a:r>
                        <a:rPr sz="1400" b="0" i="0">
                          <a:solidFill>
                            <a:srgbClr val="1F2937"/>
                          </a:solidFill>
                          <a:latin typeface="Calibri" panose="020F0502020204030204"/>
                        </a:rPr>
                        <a:t>2</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400" b="0" i="0">
                          <a:solidFill>
                            <a:srgbClr val="1F2937"/>
                          </a:solidFill>
                          <a:latin typeface="Calibri" panose="020F0502020204030204"/>
                        </a:rPr>
                        <a:t>Train an RL agent to choose quantity and supplier</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Done</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MaskablePPO, tuned, 2M steps; 90.8% of the best classical method</a:t>
                      </a:r>
                      <a:endParaRPr sz="1400" b="0" i="0">
                        <a:solidFill>
                          <a:srgbClr val="1F2937"/>
                        </a:solidFill>
                        <a:latin typeface="Calibri" panose="020F0502020204030204"/>
                      </a:endParaRPr>
                    </a:p>
                  </a:txBody>
                  <a:tcPr marL="54864" marR="54864" marT="18288" marB="18288" anchor="ctr">
                    <a:solidFill>
                      <a:srgbClr val="F1F5F9"/>
                    </a:solidFill>
                  </a:tcPr>
                </a:tc>
              </a:tr>
              <a:tr h="566928">
                <a:tc>
                  <a:txBody>
                    <a:bodyPr wrap="square"/>
                    <a:lstStyle/>
                    <a:p>
                      <a:r>
                        <a:rPr sz="1400" b="0" i="0">
                          <a:solidFill>
                            <a:srgbClr val="1F2937"/>
                          </a:solidFill>
                          <a:latin typeface="Calibri" panose="020F0502020204030204"/>
                        </a:rPr>
                        <a:t>3</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400" b="0" i="0">
                          <a:solidFill>
                            <a:srgbClr val="1F2937"/>
                          </a:solidFill>
                          <a:latin typeface="Calibri" panose="020F0502020204030204"/>
                        </a:rPr>
                        <a:t>LLM explains each decision in business language</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Done</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100% delivered accuracy; 83% raw, the check caught every invented number</a:t>
                      </a:r>
                      <a:endParaRPr sz="1400" b="0" i="0">
                        <a:solidFill>
                          <a:srgbClr val="1F2937"/>
                        </a:solidFill>
                        <a:latin typeface="Calibri" panose="020F0502020204030204"/>
                      </a:endParaRPr>
                    </a:p>
                  </a:txBody>
                  <a:tcPr marL="54864" marR="54864" marT="18288" marB="18288" anchor="ctr">
                    <a:solidFill>
                      <a:srgbClr val="FFFFFF"/>
                    </a:solidFill>
                  </a:tcPr>
                </a:tc>
              </a:tr>
              <a:tr h="566928">
                <a:tc>
                  <a:txBody>
                    <a:bodyPr wrap="square"/>
                    <a:lstStyle/>
                    <a:p>
                      <a:r>
                        <a:rPr sz="1400" b="0" i="0">
                          <a:solidFill>
                            <a:srgbClr val="1F2937"/>
                          </a:solidFill>
                          <a:latin typeface="Calibri" panose="020F0502020204030204"/>
                        </a:rPr>
                        <a:t>4</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400" b="0" i="0">
                          <a:solidFill>
                            <a:srgbClr val="1F2937"/>
                          </a:solidFill>
                          <a:latin typeface="Calibri" panose="020F0502020204030204"/>
                        </a:rPr>
                        <a:t>LLM generates demand-spike and supplier-delay scenarios</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Done</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6 unseen crises used for testing; curriculum training tested</a:t>
                      </a:r>
                      <a:endParaRPr sz="1400" b="0" i="0">
                        <a:solidFill>
                          <a:srgbClr val="1F2937"/>
                        </a:solidFill>
                        <a:latin typeface="Calibri" panose="020F0502020204030204"/>
                      </a:endParaRPr>
                    </a:p>
                  </a:txBody>
                  <a:tcPr marL="54864" marR="54864" marT="18288" marB="18288" anchor="ctr">
                    <a:solidFill>
                      <a:srgbClr val="F1F5F9"/>
                    </a:solidFill>
                  </a:tcPr>
                </a:tc>
              </a:tr>
              <a:tr h="566928">
                <a:tc>
                  <a:txBody>
                    <a:bodyPr wrap="square"/>
                    <a:lstStyle/>
                    <a:p>
                      <a:r>
                        <a:rPr sz="1400" b="0" i="0">
                          <a:solidFill>
                            <a:srgbClr val="1F2937"/>
                          </a:solidFill>
                          <a:latin typeface="Calibri" panose="020F0502020204030204"/>
                        </a:rPr>
                        <a:t>5</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400" b="0" i="0">
                          <a:solidFill>
                            <a:srgbClr val="1F2937"/>
                          </a:solidFill>
                          <a:latin typeface="Calibri" panose="020F0502020204030204"/>
                        </a:rPr>
                        <a:t>Compare the RL agent with traditional policies</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Done</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30 held-out seeds, paired t-test: the classical method still wins</a:t>
                      </a:r>
                      <a:endParaRPr sz="1400" b="0" i="0">
                        <a:solidFill>
                          <a:srgbClr val="1F2937"/>
                        </a:solidFill>
                        <a:latin typeface="Calibri" panose="020F0502020204030204"/>
                      </a:endParaRPr>
                    </a:p>
                  </a:txBody>
                  <a:tcPr marL="54864" marR="54864" marT="18288" marB="18288" anchor="ctr">
                    <a:solidFill>
                      <a:srgbClr val="FFFFFF"/>
                    </a:solidFill>
                  </a:tcPr>
                </a:tc>
              </a:tr>
            </a:tbl>
          </a:graphicData>
        </a:graphic>
      </p:graphicFrame>
      <p:sp>
        <p:nvSpPr>
          <p:cNvPr id="21" name="TextBox 20"/>
          <p:cNvSpPr txBox="1"/>
          <p:nvPr/>
        </p:nvSpPr>
        <p:spPr>
          <a:xfrm>
            <a:off x="411480" y="5029200"/>
            <a:ext cx="11365992" cy="1280160"/>
          </a:xfrm>
          <a:prstGeom prst="rect">
            <a:avLst/>
          </a:prstGeom>
          <a:noFill/>
        </p:spPr>
        <p:txBody>
          <a:bodyPr wrap="square" lIns="45720" tIns="27432" rIns="45720" bIns="27432" anchor="t">
            <a:spAutoFit/>
          </a:bodyPr>
          <a:lstStyle/>
          <a:p>
            <a:pPr algn="l">
              <a:spcAft>
                <a:spcPts val="400"/>
              </a:spcAft>
            </a:pPr>
            <a:r>
              <a:rPr sz="1700" b="1" i="0">
                <a:solidFill>
                  <a:srgbClr val="1B5E3A"/>
                </a:solidFill>
                <a:latin typeface="Calibri" panose="020F0502020204030204"/>
              </a:rPr>
              <a:t>Objective 5 says compare, not win. </a:t>
            </a:r>
            <a:r>
              <a:rPr sz="1700" b="0" i="0">
                <a:solidFill>
                  <a:srgbClr val="1F2937"/>
                </a:solidFill>
                <a:latin typeface="Calibri" panose="020F0502020204030204"/>
              </a:rPr>
              <a:t>The comparison came out against the AI, and we report it that way: the claim we can defend is that RL reaches 90.8% of a strong tuned baseline, with a measured reason for the gap.</a:t>
            </a:r>
            <a:endParaRPr sz="1700" b="0" i="0">
              <a:solidFill>
                <a:srgbClr val="1F2937"/>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System Architecture</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pic>
        <p:nvPicPr>
          <p:cNvPr id="20" name="Picture 19" descr="architecture.png"/>
          <p:cNvPicPr>
            <a:picLocks noChangeAspect="1"/>
          </p:cNvPicPr>
          <p:nvPr/>
        </p:nvPicPr>
        <p:blipFill>
          <a:blip r:embed="rId1"/>
          <a:stretch>
            <a:fillRect/>
          </a:stretch>
        </p:blipFill>
        <p:spPr>
          <a:xfrm>
            <a:off x="1800601" y="1325880"/>
            <a:ext cx="8587748" cy="50292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Methodology: How the Agent Learns</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pic>
        <p:nvPicPr>
          <p:cNvPr id="20" name="Picture 19" descr="agent_loop.png"/>
          <p:cNvPicPr>
            <a:picLocks noChangeAspect="1"/>
          </p:cNvPicPr>
          <p:nvPr/>
        </p:nvPicPr>
        <p:blipFill>
          <a:blip r:embed="rId1"/>
          <a:stretch>
            <a:fillRect/>
          </a:stretch>
        </p:blipFill>
        <p:spPr>
          <a:xfrm>
            <a:off x="365760" y="1234440"/>
            <a:ext cx="11457432" cy="3523160"/>
          </a:xfrm>
          <a:prstGeom prst="rect">
            <a:avLst/>
          </a:prstGeom>
        </p:spPr>
      </p:pic>
      <p:sp>
        <p:nvSpPr>
          <p:cNvPr id="21" name="Rounded Rectangle 20"/>
          <p:cNvSpPr/>
          <p:nvPr/>
        </p:nvSpPr>
        <p:spPr>
          <a:xfrm>
            <a:off x="411480" y="4892040"/>
            <a:ext cx="3657600" cy="141732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1208" y="4965192"/>
            <a:ext cx="3438144" cy="1271016"/>
          </a:xfrm>
          <a:prstGeom prst="rect">
            <a:avLst/>
          </a:prstGeom>
          <a:noFill/>
        </p:spPr>
        <p:txBody>
          <a:bodyPr wrap="square" lIns="45720" tIns="27432" rIns="45720" bIns="27432" anchor="t">
            <a:spAutoFit/>
          </a:bodyPr>
          <a:lstStyle/>
          <a:p>
            <a:pPr algn="l">
              <a:spcAft>
                <a:spcPts val="500"/>
              </a:spcAft>
            </a:pPr>
            <a:r>
              <a:rPr sz="1700" b="1" i="0">
                <a:solidFill>
                  <a:srgbClr val="D6336C"/>
                </a:solidFill>
                <a:latin typeface="Calibri" panose="020F0502020204030204"/>
              </a:rPr>
              <a:t>Why masking</a:t>
            </a:r>
            <a:endParaRPr sz="1700" b="1" i="0">
              <a:solidFill>
                <a:srgbClr val="D6336C"/>
              </a:solidFill>
              <a:latin typeface="Calibri" panose="020F0502020204030204"/>
            </a:endParaRPr>
          </a:p>
          <a:p>
            <a:pPr algn="l">
              <a:spcAft>
                <a:spcPts val="300"/>
              </a:spcAft>
            </a:pPr>
            <a:r>
              <a:rPr sz="1400" b="0" i="0">
                <a:solidFill>
                  <a:srgbClr val="1F2937"/>
                </a:solidFill>
                <a:latin typeface="Calibri" panose="020F0502020204030204"/>
              </a:rPr>
              <a:t>•  Best score without it: ₹24.9 lakh</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With it: ₹76.4 lakh, about 3×</a:t>
            </a:r>
            <a:endParaRPr sz="1400" b="0" i="0">
              <a:solidFill>
                <a:srgbClr val="1F2937"/>
              </a:solidFill>
              <a:latin typeface="Calibri" panose="020F0502020204030204"/>
            </a:endParaRPr>
          </a:p>
        </p:txBody>
      </p:sp>
      <p:sp>
        <p:nvSpPr>
          <p:cNvPr id="23" name="Rounded Rectangle 22"/>
          <p:cNvSpPr/>
          <p:nvPr/>
        </p:nvSpPr>
        <p:spPr>
          <a:xfrm>
            <a:off x="4251960" y="4892040"/>
            <a:ext cx="3657600" cy="141732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361688" y="4965192"/>
            <a:ext cx="3438144" cy="1271016"/>
          </a:xfrm>
          <a:prstGeom prst="rect">
            <a:avLst/>
          </a:prstGeom>
          <a:noFill/>
        </p:spPr>
        <p:txBody>
          <a:bodyPr wrap="square" lIns="45720" tIns="27432" rIns="45720" bIns="27432" anchor="t">
            <a:spAutoFit/>
          </a:bodyPr>
          <a:lstStyle/>
          <a:p>
            <a:pPr algn="l">
              <a:spcAft>
                <a:spcPts val="500"/>
              </a:spcAft>
            </a:pPr>
            <a:r>
              <a:rPr sz="1700" b="1" i="0">
                <a:solidFill>
                  <a:srgbClr val="2E8B57"/>
                </a:solidFill>
                <a:latin typeface="Calibri" panose="020F0502020204030204"/>
              </a:rPr>
              <a:t>Why a joint action</a:t>
            </a:r>
            <a:endParaRPr sz="1700" b="1" i="0">
              <a:solidFill>
                <a:srgbClr val="2E8B57"/>
              </a:solidFill>
              <a:latin typeface="Calibri" panose="020F0502020204030204"/>
            </a:endParaRPr>
          </a:p>
          <a:p>
            <a:pPr algn="l">
              <a:spcAft>
                <a:spcPts val="300"/>
              </a:spcAft>
            </a:pPr>
            <a:r>
              <a:rPr sz="1400" b="0" i="0">
                <a:solidFill>
                  <a:srgbClr val="1F2937"/>
                </a:solidFill>
                <a:latin typeface="Calibri" panose="020F0502020204030204"/>
              </a:rPr>
              <a:t>•  Quantity and supplier as one choice</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2.8× faster training, matches reality</a:t>
            </a:r>
            <a:endParaRPr sz="1400" b="0" i="0">
              <a:solidFill>
                <a:srgbClr val="1F2937"/>
              </a:solidFill>
              <a:latin typeface="Calibri" panose="020F0502020204030204"/>
            </a:endParaRPr>
          </a:p>
        </p:txBody>
      </p:sp>
      <p:sp>
        <p:nvSpPr>
          <p:cNvPr id="25" name="Rounded Rectangle 24"/>
          <p:cNvSpPr/>
          <p:nvPr/>
        </p:nvSpPr>
        <p:spPr>
          <a:xfrm>
            <a:off x="8092440" y="4892040"/>
            <a:ext cx="3685032" cy="141732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02167" y="4965192"/>
            <a:ext cx="3465576" cy="1271016"/>
          </a:xfrm>
          <a:prstGeom prst="rect">
            <a:avLst/>
          </a:prstGeom>
          <a:noFill/>
        </p:spPr>
        <p:txBody>
          <a:bodyPr wrap="square" lIns="45720" tIns="27432" rIns="45720" bIns="27432" anchor="t">
            <a:spAutoFit/>
          </a:bodyPr>
          <a:lstStyle/>
          <a:p>
            <a:pPr algn="l">
              <a:spcAft>
                <a:spcPts val="500"/>
              </a:spcAft>
            </a:pPr>
            <a:r>
              <a:rPr sz="1700" b="1" i="0">
                <a:solidFill>
                  <a:srgbClr val="2F6FB5"/>
                </a:solidFill>
                <a:latin typeface="Calibri" panose="020F0502020204030204"/>
              </a:rPr>
              <a:t>Why tuning</a:t>
            </a:r>
            <a:endParaRPr sz="1700" b="1" i="0">
              <a:solidFill>
                <a:srgbClr val="2F6FB5"/>
              </a:solidFill>
              <a:latin typeface="Calibri" panose="020F0502020204030204"/>
            </a:endParaRPr>
          </a:p>
          <a:p>
            <a:pPr algn="l">
              <a:spcAft>
                <a:spcPts val="300"/>
              </a:spcAft>
            </a:pPr>
            <a:r>
              <a:rPr sz="1400" b="0" i="0">
                <a:solidFill>
                  <a:srgbClr val="1F2937"/>
                </a:solidFill>
                <a:latin typeface="Calibri" panose="020F0502020204030204"/>
              </a:rPr>
              <a:t>•  8 settings tried, best 2 run to 2M steps</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The lowest learning rate won</a:t>
            </a:r>
            <a:endParaRPr sz="1400" b="0" i="0">
              <a:solidFill>
                <a:srgbClr val="1F2937"/>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Dataset Description</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pic>
        <p:nvPicPr>
          <p:cNvPr id="20" name="Picture 19" descr="04_demand_regimes.png"/>
          <p:cNvPicPr>
            <a:picLocks noChangeAspect="1"/>
          </p:cNvPicPr>
          <p:nvPr/>
        </p:nvPicPr>
        <p:blipFill>
          <a:blip r:embed="rId1"/>
          <a:stretch>
            <a:fillRect/>
          </a:stretch>
        </p:blipFill>
        <p:spPr>
          <a:xfrm>
            <a:off x="660545" y="1371600"/>
            <a:ext cx="4988269" cy="3273552"/>
          </a:xfrm>
          <a:prstGeom prst="rect">
            <a:avLst/>
          </a:prstGeom>
          <a:ln w="12700">
            <a:solidFill>
              <a:srgbClr val="CBD5E1"/>
            </a:solidFill>
          </a:ln>
        </p:spPr>
      </p:pic>
      <p:sp>
        <p:nvSpPr>
          <p:cNvPr id="21" name="TextBox 20"/>
          <p:cNvSpPr txBox="1"/>
          <p:nvPr/>
        </p:nvSpPr>
        <p:spPr>
          <a:xfrm>
            <a:off x="411480" y="4672584"/>
            <a:ext cx="5486400" cy="292608"/>
          </a:xfrm>
          <a:prstGeom prst="rect">
            <a:avLst/>
          </a:prstGeom>
          <a:noFill/>
        </p:spPr>
        <p:txBody>
          <a:bodyPr wrap="square" lIns="45720" tIns="27432" rIns="45720" bIns="27432" anchor="t">
            <a:spAutoFit/>
          </a:bodyPr>
          <a:lstStyle/>
          <a:p>
            <a:pPr algn="ctr">
              <a:spcAft>
                <a:spcPts val="400"/>
              </a:spcAft>
            </a:pPr>
            <a:r>
              <a:rPr sz="1200" b="0" i="0">
                <a:solidFill>
                  <a:srgbClr val="5B6573"/>
                </a:solidFill>
                <a:latin typeface="Calibri" panose="020F0502020204030204"/>
              </a:rPr>
              <a:t>Three demand types: steady, moderate, bursty</a:t>
            </a:r>
            <a:endParaRPr sz="1200" b="0" i="0">
              <a:solidFill>
                <a:srgbClr val="5B6573"/>
              </a:solidFill>
              <a:latin typeface="Calibri" panose="020F0502020204030204"/>
            </a:endParaRPr>
          </a:p>
        </p:txBody>
      </p:sp>
      <p:sp>
        <p:nvSpPr>
          <p:cNvPr id="22" name="TextBox 21"/>
          <p:cNvSpPr txBox="1"/>
          <p:nvPr/>
        </p:nvSpPr>
        <p:spPr>
          <a:xfrm>
            <a:off x="6172200" y="1371600"/>
            <a:ext cx="5577840" cy="2644775"/>
          </a:xfrm>
          <a:prstGeom prst="rect">
            <a:avLst/>
          </a:prstGeom>
          <a:noFill/>
        </p:spPr>
        <p:txBody>
          <a:bodyPr wrap="square" lIns="45720" tIns="27432" rIns="45720" bIns="27432" anchor="t">
            <a:spAutoFit/>
          </a:bodyPr>
          <a:lstStyle/>
          <a:p>
            <a:pPr algn="l">
              <a:spcAft>
                <a:spcPts val="400"/>
              </a:spcAft>
            </a:pPr>
            <a:r>
              <a:rPr sz="2000" b="1" i="0">
                <a:solidFill>
                  <a:srgbClr val="1B5E3A"/>
                </a:solidFill>
                <a:latin typeface="Calibri" panose="020F0502020204030204"/>
              </a:rPr>
              <a:t>UCI Online Retail II</a:t>
            </a:r>
            <a:endParaRPr sz="2000" b="1" i="0">
              <a:solidFill>
                <a:srgbClr val="1B5E3A"/>
              </a:solidFill>
              <a:latin typeface="Calibri" panose="020F0502020204030204"/>
            </a:endParaRPr>
          </a:p>
          <a:p>
            <a:pPr algn="l">
              <a:spcAft>
                <a:spcPts val="400"/>
              </a:spcAft>
            </a:pPr>
            <a:r>
              <a:rPr sz="1500" b="0" i="0">
                <a:solidFill>
                  <a:srgbClr val="1F2937"/>
                </a:solidFill>
                <a:latin typeface="Calibri" panose="020F0502020204030204"/>
              </a:rPr>
              <a:t>•  1,067,371 sales records, UK online gift shop</a:t>
            </a:r>
            <a:endParaRPr sz="1500" b="0" i="0">
              <a:solidFill>
                <a:srgbClr val="1F2937"/>
              </a:solidFill>
              <a:latin typeface="Calibri" panose="020F0502020204030204"/>
            </a:endParaRPr>
          </a:p>
          <a:p>
            <a:pPr algn="l">
              <a:spcAft>
                <a:spcPts val="400"/>
              </a:spcAft>
            </a:pPr>
            <a:r>
              <a:rPr sz="1500" b="0" i="0">
                <a:solidFill>
                  <a:srgbClr val="1F2937"/>
                </a:solidFill>
                <a:latin typeface="Calibri" panose="020F0502020204030204"/>
              </a:rPr>
              <a:t>•  Cleaned: cancellations, returns, negative quantities and missing codes removed; one row per product per day; Saturdays dropped (the shop never traded)</a:t>
            </a:r>
            <a:endParaRPr sz="1500" b="0" i="0">
              <a:solidFill>
                <a:srgbClr val="1F2937"/>
              </a:solidFill>
              <a:latin typeface="Calibri" panose="020F0502020204030204"/>
            </a:endParaRPr>
          </a:p>
          <a:p>
            <a:pPr algn="l">
              <a:spcAft>
                <a:spcPts val="400"/>
              </a:spcAft>
            </a:pPr>
            <a:r>
              <a:rPr sz="1500" b="0" i="0">
                <a:solidFill>
                  <a:srgbClr val="1F2937"/>
                </a:solidFill>
                <a:latin typeface="Calibri" panose="020F0502020204030204"/>
              </a:rPr>
              <a:t>•  10 products chosen on purpose: 4 steady (CV 1.02–1.20), 3 moderate (1.29–1.65), 3 bursty (2.09–2.34)</a:t>
            </a:r>
            <a:endParaRPr sz="1500" b="0" i="0">
              <a:solidFill>
                <a:srgbClr val="1F2937"/>
              </a:solidFill>
              <a:latin typeface="Calibri" panose="020F0502020204030204"/>
            </a:endParaRPr>
          </a:p>
          <a:p>
            <a:pPr algn="l">
              <a:spcAft>
                <a:spcPts val="400"/>
              </a:spcAft>
            </a:pPr>
            <a:r>
              <a:rPr sz="1500" b="0" i="0">
                <a:solidFill>
                  <a:srgbClr val="1F2937"/>
                </a:solidFill>
                <a:latin typeface="Calibri" panose="020F0502020204030204"/>
              </a:rPr>
              <a:t>•  The agent never sees the records: five measurements (mean, variability, weekday, month, zero-sales days) drive a Gamma–Poisson demand model</a:t>
            </a:r>
            <a:endParaRPr sz="1500" b="0" i="0">
              <a:solidFill>
                <a:srgbClr val="D6336C"/>
              </a:solidFill>
              <a:latin typeface="Calibri" panose="020F0502020204030204"/>
            </a:endParaRPr>
          </a:p>
        </p:txBody>
      </p:sp>
      <p:sp>
        <p:nvSpPr>
          <p:cNvPr id="23" name="TextBox 22"/>
          <p:cNvSpPr txBox="1"/>
          <p:nvPr/>
        </p:nvSpPr>
        <p:spPr>
          <a:xfrm>
            <a:off x="411480" y="5120640"/>
            <a:ext cx="5486400" cy="1097280"/>
          </a:xfrm>
          <a:prstGeom prst="rect">
            <a:avLst/>
          </a:prstGeom>
          <a:noFill/>
        </p:spPr>
        <p:txBody>
          <a:bodyPr wrap="square" lIns="45720" tIns="27432" rIns="45720" bIns="27432" anchor="t">
            <a:spAutoFit/>
          </a:bodyPr>
          <a:lstStyle/>
          <a:p>
            <a:pPr algn="l">
              <a:spcAft>
                <a:spcPts val="400"/>
              </a:spcAft>
            </a:pPr>
            <a:r>
              <a:rPr sz="1400" b="0" i="0">
                <a:solidFill>
                  <a:srgbClr val="5B6573"/>
                </a:solidFill>
                <a:latin typeface="Calibri" panose="020F0502020204030204"/>
              </a:rPr>
              <a:t>If all ten products behaved alike, one simple rule would handle them all and there would be nothing for an AI to learn.</a:t>
            </a:r>
            <a:endParaRPr sz="1400" b="0" i="0">
              <a:solidFill>
                <a:srgbClr val="5B6573"/>
              </a:solidFill>
              <a:latin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Classical Baselines and a Fair Evaluation</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graphicFrame>
        <p:nvGraphicFramePr>
          <p:cNvPr id="20" name="Table 19"/>
          <p:cNvGraphicFramePr>
            <a:graphicFrameLocks noGrp="1"/>
          </p:cNvGraphicFramePr>
          <p:nvPr/>
        </p:nvGraphicFramePr>
        <p:xfrm>
          <a:off x="411480" y="1371600"/>
          <a:ext cx="5852159" cy="2286000"/>
        </p:xfrm>
        <a:graphic>
          <a:graphicData uri="http://schemas.openxmlformats.org/drawingml/2006/table">
            <a:tbl>
              <a:tblPr firstRow="1" bandRow="1">
                <a:tableStyleId>{5C22544A-7EE6-4342-B048-85BDC9FD1C3A}</a:tableStyleId>
              </a:tblPr>
              <a:tblGrid>
                <a:gridCol w="2103120"/>
                <a:gridCol w="3749039"/>
              </a:tblGrid>
              <a:tr h="457200">
                <a:tc>
                  <a:txBody>
                    <a:bodyPr wrap="square"/>
                    <a:lstStyle/>
                    <a:p>
                      <a:pPr algn="l"/>
                      <a:r>
                        <a:rPr sz="1300" b="1" i="0">
                          <a:solidFill>
                            <a:srgbClr val="FFFFFF"/>
                          </a:solidFill>
                          <a:latin typeface="Calibri" panose="020F0502020204030204"/>
                        </a:rPr>
                        <a:t>Method</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300" b="1" i="0">
                          <a:solidFill>
                            <a:srgbClr val="FFFFFF"/>
                          </a:solidFill>
                          <a:latin typeface="Calibri" panose="020F0502020204030204"/>
                        </a:rPr>
                        <a:t>Tuned settings</a:t>
                      </a:r>
                      <a:endParaRPr sz="1300" b="1" i="0">
                        <a:solidFill>
                          <a:srgbClr val="FFFFFF"/>
                        </a:solidFill>
                        <a:latin typeface="Calibri" panose="020F0502020204030204"/>
                      </a:endParaRPr>
                    </a:p>
                  </a:txBody>
                  <a:tcPr marL="54864" marR="54864" marT="18288" marB="18288" anchor="ctr">
                    <a:solidFill>
                      <a:srgbClr val="2E8B57"/>
                    </a:solidFill>
                  </a:tcPr>
                </a:tc>
              </a:tr>
              <a:tr h="457200">
                <a:tc>
                  <a:txBody>
                    <a:bodyPr wrap="square"/>
                    <a:lstStyle/>
                    <a:p>
                      <a:r>
                        <a:rPr sz="1300" b="0" i="0">
                          <a:solidFill>
                            <a:srgbClr val="1F2937"/>
                          </a:solidFill>
                          <a:latin typeface="Calibri" panose="020F0502020204030204"/>
                        </a:rPr>
                        <a:t>(s, S)</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reorder below 11 days of cover, order up to 16</a:t>
                      </a:r>
                      <a:endParaRPr sz="13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300" b="0" i="0">
                          <a:solidFill>
                            <a:srgbClr val="1F2937"/>
                          </a:solidFill>
                          <a:latin typeface="Calibri" panose="020F0502020204030204"/>
                        </a:rPr>
                        <a:t>EOQ + reorder point</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reorder at 8 days of cover, safety factor 1.6</a:t>
                      </a:r>
                      <a:endParaRPr sz="1300" b="0" i="0">
                        <a:solidFill>
                          <a:srgbClr val="1F2937"/>
                        </a:solidFill>
                        <a:latin typeface="Calibri" panose="020F0502020204030204"/>
                      </a:endParaRPr>
                    </a:p>
                  </a:txBody>
                  <a:tcPr marL="54864" marR="54864" marT="18288" marB="18288" anchor="ctr">
                    <a:solidFill>
                      <a:srgbClr val="F1F5F9"/>
                    </a:solidFill>
                  </a:tcPr>
                </a:tc>
              </a:tr>
              <a:tr h="457200">
                <a:tc>
                  <a:txBody>
                    <a:bodyPr wrap="square"/>
                    <a:lstStyle/>
                    <a:p>
                      <a:r>
                        <a:rPr sz="1300" b="0" i="0">
                          <a:solidFill>
                            <a:srgbClr val="1F2937"/>
                          </a:solidFill>
                          <a:latin typeface="Calibri" panose="020F0502020204030204"/>
                        </a:rPr>
                        <a:t>Newsvendor</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3-day horizon, cheapest supplier</a:t>
                      </a:r>
                      <a:endParaRPr sz="13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300" b="0" i="0">
                          <a:solidFill>
                            <a:srgbClr val="1F2937"/>
                          </a:solidFill>
                          <a:latin typeface="Calibri" panose="020F0502020204030204"/>
                        </a:rPr>
                        <a:t>Forecast + safety stock</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1-day window, z = 1.28, review every 4 days</a:t>
                      </a:r>
                      <a:endParaRPr sz="1300" b="0" i="0">
                        <a:solidFill>
                          <a:srgbClr val="1F2937"/>
                        </a:solidFill>
                        <a:latin typeface="Calibri" panose="020F0502020204030204"/>
                      </a:endParaRPr>
                    </a:p>
                  </a:txBody>
                  <a:tcPr marL="54864" marR="54864" marT="18288" marB="18288" anchor="ctr">
                    <a:solidFill>
                      <a:srgbClr val="F1F5F9"/>
                    </a:solidFill>
                  </a:tcPr>
                </a:tc>
              </a:tr>
            </a:tbl>
          </a:graphicData>
        </a:graphic>
      </p:graphicFrame>
      <p:graphicFrame>
        <p:nvGraphicFramePr>
          <p:cNvPr id="21" name="Table 20"/>
          <p:cNvGraphicFramePr>
            <a:graphicFrameLocks noGrp="1"/>
          </p:cNvGraphicFramePr>
          <p:nvPr/>
        </p:nvGraphicFramePr>
        <p:xfrm>
          <a:off x="6537960" y="1371600"/>
          <a:ext cx="5239511" cy="1828800"/>
        </p:xfrm>
        <a:graphic>
          <a:graphicData uri="http://schemas.openxmlformats.org/drawingml/2006/table">
            <a:tbl>
              <a:tblPr firstRow="1" bandRow="1">
                <a:tableStyleId>{5C22544A-7EE6-4342-B048-85BDC9FD1C3A}</a:tableStyleId>
              </a:tblPr>
              <a:tblGrid>
                <a:gridCol w="1286897"/>
                <a:gridCol w="3952614"/>
              </a:tblGrid>
              <a:tr h="457200">
                <a:tc>
                  <a:txBody>
                    <a:bodyPr wrap="square"/>
                    <a:lstStyle/>
                    <a:p>
                      <a:pPr algn="l"/>
                      <a:r>
                        <a:rPr sz="1300" b="1" i="0">
                          <a:solidFill>
                            <a:srgbClr val="FFFFFF"/>
                          </a:solidFill>
                          <a:latin typeface="Calibri" panose="020F0502020204030204"/>
                        </a:rPr>
                        <a:t>Seeds</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300" b="1" i="0">
                          <a:solidFill>
                            <a:srgbClr val="FFFFFF"/>
                          </a:solidFill>
                          <a:latin typeface="Calibri" panose="020F0502020204030204"/>
                        </a:rPr>
                        <a:t>Used for</a:t>
                      </a:r>
                      <a:endParaRPr sz="1300" b="1" i="0">
                        <a:solidFill>
                          <a:srgbClr val="FFFFFF"/>
                        </a:solidFill>
                        <a:latin typeface="Calibri" panose="020F0502020204030204"/>
                      </a:endParaRPr>
                    </a:p>
                  </a:txBody>
                  <a:tcPr marL="54864" marR="54864" marT="18288" marB="18288" anchor="ctr">
                    <a:solidFill>
                      <a:srgbClr val="2E8B57"/>
                    </a:solidFill>
                  </a:tcPr>
                </a:tc>
              </a:tr>
              <a:tr h="457200">
                <a:tc>
                  <a:txBody>
                    <a:bodyPr wrap="square"/>
                    <a:lstStyle/>
                    <a:p>
                      <a:r>
                        <a:rPr sz="1300" b="0" i="0">
                          <a:solidFill>
                            <a:srgbClr val="1F2937"/>
                          </a:solidFill>
                          <a:latin typeface="Calibri" panose="020F0502020204030204"/>
                        </a:rPr>
                        <a:t>100–111</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tuning the classical methods</a:t>
                      </a:r>
                      <a:endParaRPr sz="13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300" b="0" i="0">
                          <a:solidFill>
                            <a:srgbClr val="1F2937"/>
                          </a:solidFill>
                          <a:latin typeface="Calibri" panose="020F0502020204030204"/>
                        </a:rPr>
                        <a:t>900–905</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picking the best RL checkpoint</a:t>
                      </a:r>
                      <a:endParaRPr sz="1300" b="0" i="0">
                        <a:solidFill>
                          <a:srgbClr val="1F2937"/>
                        </a:solidFill>
                        <a:latin typeface="Calibri" panose="020F0502020204030204"/>
                      </a:endParaRPr>
                    </a:p>
                  </a:txBody>
                  <a:tcPr marL="54864" marR="54864" marT="18288" marB="18288" anchor="ctr">
                    <a:solidFill>
                      <a:srgbClr val="F1F5F9"/>
                    </a:solidFill>
                  </a:tcPr>
                </a:tc>
              </a:tr>
              <a:tr h="457200">
                <a:tc>
                  <a:txBody>
                    <a:bodyPr wrap="square"/>
                    <a:lstStyle/>
                    <a:p>
                      <a:r>
                        <a:rPr sz="1300" b="0" i="0">
                          <a:solidFill>
                            <a:srgbClr val="1F2937"/>
                          </a:solidFill>
                          <a:latin typeface="Calibri" panose="020F0502020204030204"/>
                        </a:rPr>
                        <a:t>500–529</a:t>
                      </a:r>
                      <a:endParaRPr sz="1300" b="0" i="0">
                        <a:solidFill>
                          <a:srgbClr val="1F2937"/>
                        </a:solidFill>
                        <a:latin typeface="Calibri" panose="020F0502020204030204"/>
                      </a:endParaRPr>
                    </a:p>
                  </a:txBody>
                  <a:tcPr marL="54864" marR="54864" marT="18288" marB="18288" anchor="ctr">
                    <a:solidFill>
                      <a:srgbClr val="E6F4EA"/>
                    </a:solidFill>
                  </a:tcPr>
                </a:tc>
                <a:tc>
                  <a:txBody>
                    <a:bodyPr wrap="square"/>
                    <a:lstStyle/>
                    <a:p>
                      <a:r>
                        <a:rPr sz="1300" b="0" i="0">
                          <a:solidFill>
                            <a:srgbClr val="1F2937"/>
                          </a:solidFill>
                          <a:latin typeface="Calibri" panose="020F0502020204030204"/>
                        </a:rPr>
                        <a:t>reporting only; never used to choose anything</a:t>
                      </a:r>
                      <a:endParaRPr sz="1300" b="0" i="0">
                        <a:solidFill>
                          <a:srgbClr val="1F2937"/>
                        </a:solidFill>
                        <a:latin typeface="Calibri" panose="020F0502020204030204"/>
                      </a:endParaRPr>
                    </a:p>
                  </a:txBody>
                  <a:tcPr marL="54864" marR="54864" marT="18288" marB="18288" anchor="ctr">
                    <a:solidFill>
                      <a:srgbClr val="E6F4EA"/>
                    </a:solidFill>
                  </a:tcPr>
                </a:tc>
              </a:tr>
            </a:tbl>
          </a:graphicData>
        </a:graphic>
      </p:graphicFrame>
      <p:sp>
        <p:nvSpPr>
          <p:cNvPr id="22" name="TextBox 21"/>
          <p:cNvSpPr txBox="1"/>
          <p:nvPr/>
        </p:nvSpPr>
        <p:spPr>
          <a:xfrm>
            <a:off x="411480" y="4023360"/>
            <a:ext cx="11365992" cy="2286000"/>
          </a:xfrm>
          <a:prstGeom prst="rect">
            <a:avLst/>
          </a:prstGeom>
          <a:noFill/>
        </p:spPr>
        <p:txBody>
          <a:bodyPr wrap="square" lIns="45720" tIns="27432" rIns="45720" bIns="27432" anchor="t">
            <a:spAutoFit/>
          </a:bodyPr>
          <a:lstStyle/>
          <a:p>
            <a:pPr algn="l">
              <a:spcAft>
                <a:spcPts val="600"/>
              </a:spcAft>
            </a:pPr>
            <a:r>
              <a:rPr sz="1600" b="1" i="0">
                <a:solidFill>
                  <a:srgbClr val="1F2937"/>
                </a:solidFill>
                <a:latin typeface="Calibri" panose="020F0502020204030204"/>
              </a:rPr>
              <a:t>•  Tuning mattered a lot. </a:t>
            </a:r>
            <a:r>
              <a:rPr sz="1600" b="0" i="0">
                <a:solidFill>
                  <a:srgbClr val="1F2937"/>
                </a:solidFill>
                <a:latin typeface="Calibri" panose="020F0502020204030204"/>
              </a:rPr>
              <a:t>Widening the search lifted the best classical method from ₹69.7 lakh to ₹89.2 lakh on the tuning seeds. Untuned baselines would have made the AI look better than it is.</a:t>
            </a:r>
            <a:endParaRPr sz="1600" b="0" i="0">
              <a:solidFill>
                <a:srgbClr val="1F2937"/>
              </a:solidFill>
              <a:latin typeface="Calibri" panose="020F0502020204030204"/>
            </a:endParaRPr>
          </a:p>
          <a:p>
            <a:pPr algn="l">
              <a:spcAft>
                <a:spcPts val="600"/>
              </a:spcAft>
            </a:pPr>
            <a:r>
              <a:rPr sz="1600" b="1" i="0">
                <a:solidFill>
                  <a:srgbClr val="1F2937"/>
                </a:solidFill>
                <a:latin typeface="Calibri" panose="020F0502020204030204"/>
              </a:rPr>
              <a:t>•  Same options for everyone. </a:t>
            </a:r>
            <a:r>
              <a:rPr sz="1600" b="0" i="0">
                <a:solidFill>
                  <a:srgbClr val="1F2937"/>
                </a:solidFill>
                <a:latin typeface="Calibri" panose="020F0502020204030204"/>
              </a:rPr>
              <a:t>Every classical method picks from the same 21 options per product as the AI, so none has finer control.</a:t>
            </a:r>
            <a:endParaRPr sz="1600" b="0" i="0">
              <a:solidFill>
                <a:srgbClr val="1F2937"/>
              </a:solidFill>
              <a:latin typeface="Calibri" panose="020F0502020204030204"/>
            </a:endParaRPr>
          </a:p>
          <a:p>
            <a:pPr algn="l">
              <a:spcAft>
                <a:spcPts val="400"/>
              </a:spcAft>
            </a:pPr>
            <a:r>
              <a:rPr sz="1600" b="1" i="0">
                <a:solidFill>
                  <a:srgbClr val="1F2937"/>
                </a:solidFill>
                <a:latin typeface="Calibri" panose="020F0502020204030204"/>
              </a:rPr>
              <a:t>•  Paired comparison. </a:t>
            </a:r>
            <a:r>
              <a:rPr sz="1600" b="0" i="0">
                <a:solidFill>
                  <a:srgbClr val="1F2937"/>
                </a:solidFill>
                <a:latin typeface="Calibri" panose="020F0502020204030204"/>
              </a:rPr>
              <a:t>Every method faces the same customers and delivery delays on each seed, so we test the per-seed difference, which removes run-to-run randomness.</a:t>
            </a:r>
            <a:endParaRPr sz="1600" b="0" i="0">
              <a:solidFill>
                <a:srgbClr val="1F2937"/>
              </a:solidFill>
              <a:latin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LLM Explainer: Facts In, Checked Sentences Out</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pic>
        <p:nvPicPr>
          <p:cNvPr id="20" name="Picture 19" descr="explainer_pipeline.png"/>
          <p:cNvPicPr>
            <a:picLocks noChangeAspect="1"/>
          </p:cNvPicPr>
          <p:nvPr/>
        </p:nvPicPr>
        <p:blipFill>
          <a:blip r:embed="rId1"/>
          <a:stretch>
            <a:fillRect/>
          </a:stretch>
        </p:blipFill>
        <p:spPr>
          <a:xfrm>
            <a:off x="365760" y="1280160"/>
            <a:ext cx="11457432" cy="3884785"/>
          </a:xfrm>
          <a:prstGeom prst="rect">
            <a:avLst/>
          </a:prstGeom>
        </p:spPr>
      </p:pic>
      <p:sp>
        <p:nvSpPr>
          <p:cNvPr id="21" name="TextBox 20"/>
          <p:cNvSpPr txBox="1"/>
          <p:nvPr/>
        </p:nvSpPr>
        <p:spPr>
          <a:xfrm>
            <a:off x="411480" y="5760720"/>
            <a:ext cx="11365992" cy="640080"/>
          </a:xfrm>
          <a:prstGeom prst="rect">
            <a:avLst/>
          </a:prstGeom>
          <a:noFill/>
        </p:spPr>
        <p:txBody>
          <a:bodyPr wrap="square" lIns="45720" tIns="27432" rIns="45720" bIns="27432" anchor="t">
            <a:spAutoFit/>
          </a:bodyPr>
          <a:lstStyle/>
          <a:p>
            <a:pPr algn="l">
              <a:spcAft>
                <a:spcPts val="400"/>
              </a:spcAft>
            </a:pPr>
            <a:r>
              <a:rPr sz="1500" b="1" i="0">
                <a:solidFill>
                  <a:srgbClr val="D6336C"/>
                </a:solidFill>
                <a:latin typeface="Calibri" panose="020F0502020204030204"/>
              </a:rPr>
              <a:t>The rule: </a:t>
            </a:r>
            <a:r>
              <a:rPr sz="1500" b="0" i="0">
                <a:solidFill>
                  <a:srgbClr val="1F2937"/>
                </a:solidFill>
                <a:latin typeface="Calibri" panose="020F0502020204030204"/>
              </a:rPr>
              <a:t>the LLM is never asked why. The agent’s real reason is a neural network, and any “because” the LLM wrote would be a plausible story, not the cause.</a:t>
            </a:r>
            <a:endParaRPr sz="1500" b="0" i="0">
              <a:solidFill>
                <a:srgbClr val="1F2937"/>
              </a:solidFill>
              <a:latin typeface="Calibri" panose="020F0502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LLM Crisis Generator and Curriculum Training</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graphicFrame>
        <p:nvGraphicFramePr>
          <p:cNvPr id="20" name="Table 19"/>
          <p:cNvGraphicFramePr>
            <a:graphicFrameLocks noGrp="1"/>
          </p:cNvGraphicFramePr>
          <p:nvPr/>
        </p:nvGraphicFramePr>
        <p:xfrm>
          <a:off x="411480" y="1371600"/>
          <a:ext cx="6675120" cy="2286000"/>
        </p:xfrm>
        <a:graphic>
          <a:graphicData uri="http://schemas.openxmlformats.org/drawingml/2006/table">
            <a:tbl>
              <a:tblPr firstRow="1" bandRow="1">
                <a:tableStyleId>{5C22544A-7EE6-4342-B048-85BDC9FD1C3A}</a:tableStyleId>
              </a:tblPr>
              <a:tblGrid>
                <a:gridCol w="822960"/>
                <a:gridCol w="3108960"/>
                <a:gridCol w="2743200"/>
              </a:tblGrid>
              <a:tr h="457200">
                <a:tc>
                  <a:txBody>
                    <a:bodyPr wrap="square"/>
                    <a:lstStyle/>
                    <a:p>
                      <a:pPr algn="l"/>
                      <a:r>
                        <a:rPr sz="1300" b="1" i="0">
                          <a:solidFill>
                            <a:srgbClr val="FFFFFF"/>
                          </a:solidFill>
                          <a:latin typeface="Calibri" panose="020F0502020204030204"/>
                        </a:rPr>
                        <a:t>Days</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300" b="1" i="0">
                          <a:solidFill>
                            <a:srgbClr val="FFFFFF"/>
                          </a:solidFill>
                          <a:latin typeface="Calibri" panose="020F0502020204030204"/>
                        </a:rPr>
                        <a:t>Event (written by the LLM)</a:t>
                      </a:r>
                      <a:endParaRPr sz="13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l"/>
                      <a:r>
                        <a:rPr sz="1300" b="1" i="0">
                          <a:solidFill>
                            <a:srgbClr val="FFFFFF"/>
                          </a:solidFill>
                          <a:latin typeface="Calibri" panose="020F0502020204030204"/>
                        </a:rPr>
                        <a:t>Cause it gave</a:t>
                      </a:r>
                      <a:endParaRPr sz="1300" b="1" i="0">
                        <a:solidFill>
                          <a:srgbClr val="FFFFFF"/>
                        </a:solidFill>
                        <a:latin typeface="Calibri" panose="020F0502020204030204"/>
                      </a:endParaRPr>
                    </a:p>
                  </a:txBody>
                  <a:tcPr marL="54864" marR="54864" marT="18288" marB="18288" anchor="ctr">
                    <a:solidFill>
                      <a:srgbClr val="2E8B57"/>
                    </a:solidFill>
                  </a:tcPr>
                </a:tc>
              </a:tr>
              <a:tr h="457200">
                <a:tc>
                  <a:txBody>
                    <a:bodyPr wrap="square"/>
                    <a:lstStyle/>
                    <a:p>
                      <a:r>
                        <a:rPr sz="1300" b="0" i="0">
                          <a:solidFill>
                            <a:srgbClr val="1F2937"/>
                          </a:solidFill>
                          <a:latin typeface="Calibri" panose="020F0502020204030204"/>
                        </a:rPr>
                        <a:t>45–65</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demand 3× on four products</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viral social media trend</a:t>
                      </a:r>
                      <a:endParaRPr sz="13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300" b="0" i="0">
                          <a:solidFill>
                            <a:srgbClr val="1F2937"/>
                          </a:solidFill>
                          <a:latin typeface="Calibri" panose="020F0502020204030204"/>
                        </a:rPr>
                        <a:t>50–63</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supplier 2 offline</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cyberattack on mid-tier supplier</a:t>
                      </a:r>
                      <a:endParaRPr sz="1300" b="0" i="0">
                        <a:solidFill>
                          <a:srgbClr val="1F2937"/>
                        </a:solidFill>
                        <a:latin typeface="Calibri" panose="020F0502020204030204"/>
                      </a:endParaRPr>
                    </a:p>
                  </a:txBody>
                  <a:tcPr marL="54864" marR="54864" marT="18288" marB="18288" anchor="ctr">
                    <a:solidFill>
                      <a:srgbClr val="F1F5F9"/>
                    </a:solidFill>
                  </a:tcPr>
                </a:tc>
              </a:tr>
              <a:tr h="457200">
                <a:tc>
                  <a:txBody>
                    <a:bodyPr wrap="square"/>
                    <a:lstStyle/>
                    <a:p>
                      <a:r>
                        <a:rPr sz="1300" b="0" i="0">
                          <a:solidFill>
                            <a:srgbClr val="1F2937"/>
                          </a:solidFill>
                          <a:latin typeface="Calibri" panose="020F0502020204030204"/>
                        </a:rPr>
                        <a:t>55–72</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supplier 0 delayed by 6 days</a:t>
                      </a:r>
                      <a:endParaRPr sz="1300" b="0" i="0">
                        <a:solidFill>
                          <a:srgbClr val="1F2937"/>
                        </a:solidFill>
                        <a:latin typeface="Calibri" panose="020F0502020204030204"/>
                      </a:endParaRPr>
                    </a:p>
                  </a:txBody>
                  <a:tcPr marL="54864" marR="54864" marT="18288" marB="18288" anchor="ctr">
                    <a:solidFill>
                      <a:srgbClr val="FFFFFF"/>
                    </a:solidFill>
                  </a:tcPr>
                </a:tc>
                <a:tc>
                  <a:txBody>
                    <a:bodyPr wrap="square"/>
                    <a:lstStyle/>
                    <a:p>
                      <a:r>
                        <a:rPr sz="1300" b="0" i="0">
                          <a:solidFill>
                            <a:srgbClr val="1F2937"/>
                          </a:solidFill>
                          <a:latin typeface="Calibri" panose="020F0502020204030204"/>
                        </a:rPr>
                        <a:t>port congestion at major hub</a:t>
                      </a:r>
                      <a:endParaRPr sz="13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300" b="0" i="0">
                          <a:solidFill>
                            <a:srgbClr val="1F2937"/>
                          </a:solidFill>
                          <a:latin typeface="Calibri" panose="020F0502020204030204"/>
                        </a:rPr>
                        <a:t>60–84</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costs 1.6×</a:t>
                      </a:r>
                      <a:endParaRPr sz="1300" b="0" i="0">
                        <a:solidFill>
                          <a:srgbClr val="1F2937"/>
                        </a:solidFill>
                        <a:latin typeface="Calibri" panose="020F0502020204030204"/>
                      </a:endParaRPr>
                    </a:p>
                  </a:txBody>
                  <a:tcPr marL="54864" marR="54864" marT="18288" marB="18288" anchor="ctr">
                    <a:solidFill>
                      <a:srgbClr val="F1F5F9"/>
                    </a:solidFill>
                  </a:tcPr>
                </a:tc>
                <a:tc>
                  <a:txBody>
                    <a:bodyPr wrap="square"/>
                    <a:lstStyle/>
                    <a:p>
                      <a:r>
                        <a:rPr sz="1300" b="0" i="0">
                          <a:solidFill>
                            <a:srgbClr val="1F2937"/>
                          </a:solidFill>
                          <a:latin typeface="Calibri" panose="020F0502020204030204"/>
                        </a:rPr>
                        <a:t>raw material shortage</a:t>
                      </a:r>
                      <a:endParaRPr sz="1300" b="0" i="0">
                        <a:solidFill>
                          <a:srgbClr val="1F2937"/>
                        </a:solidFill>
                        <a:latin typeface="Calibri" panose="020F0502020204030204"/>
                      </a:endParaRPr>
                    </a:p>
                  </a:txBody>
                  <a:tcPr marL="54864" marR="54864" marT="18288" marB="18288" anchor="ctr">
                    <a:solidFill>
                      <a:srgbClr val="F1F5F9"/>
                    </a:solidFill>
                  </a:tcPr>
                </a:tc>
              </a:tr>
            </a:tbl>
          </a:graphicData>
        </a:graphic>
      </p:graphicFrame>
      <p:sp>
        <p:nvSpPr>
          <p:cNvPr id="21" name="TextBox 20"/>
          <p:cNvSpPr txBox="1"/>
          <p:nvPr/>
        </p:nvSpPr>
        <p:spPr>
          <a:xfrm>
            <a:off x="411480" y="3749039"/>
            <a:ext cx="6675120" cy="731520"/>
          </a:xfrm>
          <a:prstGeom prst="rect">
            <a:avLst/>
          </a:prstGeom>
          <a:noFill/>
        </p:spPr>
        <p:txBody>
          <a:bodyPr wrap="square" lIns="45720" tIns="27432" rIns="45720" bIns="27432" anchor="t">
            <a:spAutoFit/>
          </a:bodyPr>
          <a:lstStyle/>
          <a:p>
            <a:pPr algn="l">
              <a:spcAft>
                <a:spcPts val="400"/>
              </a:spcAft>
            </a:pPr>
            <a:r>
              <a:rPr sz="1400" b="0" i="0">
                <a:solidFill>
                  <a:srgbClr val="5B6573"/>
                </a:solidFill>
                <a:latin typeface="Calibri" panose="020F0502020204030204"/>
              </a:rPr>
              <a:t>These overlap: the supplier goes down during the demand spike. A single-event test never reaches that combination.</a:t>
            </a:r>
            <a:endParaRPr sz="1400" b="0" i="0">
              <a:solidFill>
                <a:srgbClr val="5B6573"/>
              </a:solidFill>
              <a:latin typeface="Calibri" panose="020F0502020204030204"/>
            </a:endParaRPr>
          </a:p>
        </p:txBody>
      </p:sp>
      <p:sp>
        <p:nvSpPr>
          <p:cNvPr id="22" name="Rounded Rectangle 21"/>
          <p:cNvSpPr/>
          <p:nvPr/>
        </p:nvSpPr>
        <p:spPr>
          <a:xfrm>
            <a:off x="7360919" y="1371600"/>
            <a:ext cx="4416552" cy="292608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70647" y="1444752"/>
            <a:ext cx="4197096" cy="2779776"/>
          </a:xfrm>
          <a:prstGeom prst="rect">
            <a:avLst/>
          </a:prstGeom>
          <a:noFill/>
        </p:spPr>
        <p:txBody>
          <a:bodyPr wrap="square" lIns="45720" tIns="27432" rIns="45720" bIns="27432" anchor="t">
            <a:spAutoFit/>
          </a:bodyPr>
          <a:lstStyle/>
          <a:p>
            <a:pPr algn="l">
              <a:spcAft>
                <a:spcPts val="500"/>
              </a:spcAft>
            </a:pPr>
            <a:r>
              <a:rPr sz="1700" b="1" i="0">
                <a:solidFill>
                  <a:srgbClr val="2F6FB5"/>
                </a:solidFill>
                <a:latin typeface="Calibri" panose="020F0502020204030204"/>
              </a:rPr>
              <a:t>Nothing the LLM writes is trusted</a:t>
            </a:r>
            <a:endParaRPr sz="1700" b="1" i="0">
              <a:solidFill>
                <a:srgbClr val="2F6FB5"/>
              </a:solidFill>
              <a:latin typeface="Calibri" panose="020F0502020204030204"/>
            </a:endParaRPr>
          </a:p>
          <a:p>
            <a:pPr algn="l">
              <a:spcAft>
                <a:spcPts val="300"/>
              </a:spcAft>
            </a:pPr>
            <a:r>
              <a:rPr sz="1400" b="0" i="0">
                <a:solidFill>
                  <a:srgbClr val="1F2937"/>
                </a:solidFill>
                <a:latin typeface="Calibri" panose="020F0502020204030204"/>
              </a:rPr>
              <a:t>•  Scenario type must be known</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Supplier and product numbers must exist; out-of-range products are dropped, not wrapped</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Values clamped to safe ranges</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Windows moved inside the 180-day run</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6 deliberately broken inputs: 3 survived, none as written</a:t>
            </a:r>
            <a:endParaRPr sz="1400" b="0" i="0">
              <a:solidFill>
                <a:srgbClr val="1F2937"/>
              </a:solidFill>
              <a:latin typeface="Calibri" panose="020F0502020204030204"/>
            </a:endParaRPr>
          </a:p>
        </p:txBody>
      </p:sp>
      <p:sp>
        <p:nvSpPr>
          <p:cNvPr id="24" name="Rounded Rectangle 23"/>
          <p:cNvSpPr/>
          <p:nvPr/>
        </p:nvSpPr>
        <p:spPr>
          <a:xfrm>
            <a:off x="411480" y="4526280"/>
            <a:ext cx="11365992" cy="178308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1208" y="4599432"/>
            <a:ext cx="11146536" cy="1636776"/>
          </a:xfrm>
          <a:prstGeom prst="rect">
            <a:avLst/>
          </a:prstGeom>
          <a:noFill/>
        </p:spPr>
        <p:txBody>
          <a:bodyPr wrap="square" lIns="45720" tIns="27432" rIns="45720" bIns="27432" anchor="t">
            <a:spAutoFit/>
          </a:bodyPr>
          <a:lstStyle/>
          <a:p>
            <a:pPr algn="l">
              <a:spcAft>
                <a:spcPts val="500"/>
              </a:spcAft>
            </a:pPr>
            <a:r>
              <a:rPr sz="1700" b="1" i="0">
                <a:solidFill>
                  <a:srgbClr val="2E8B57"/>
                </a:solidFill>
                <a:latin typeface="Calibri" panose="020F0502020204030204"/>
              </a:rPr>
              <a:t>Curriculum training</a:t>
            </a:r>
            <a:endParaRPr sz="1700" b="1" i="0">
              <a:solidFill>
                <a:srgbClr val="2E8B57"/>
              </a:solidFill>
              <a:latin typeface="Calibri" panose="020F0502020204030204"/>
            </a:endParaRPr>
          </a:p>
          <a:p>
            <a:pPr algn="l">
              <a:spcAft>
                <a:spcPts val="300"/>
              </a:spcAft>
            </a:pPr>
            <a:r>
              <a:rPr sz="1400" b="0" i="0">
                <a:solidFill>
                  <a:srgbClr val="1F2937"/>
                </a:solidFill>
                <a:latin typeface="Calibri" panose="020F0502020204030204"/>
              </a:rPr>
              <a:t>•  16 crisis sets from 19 LLM scenarios, saved, then split 10 train / 6 test</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The agent trains on a random set from the 10 and is tested on the 6 it never saw; seed, settings and steps match the untuned agent, so crisis exposure is the only difference</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The split is the whole method: testing on training crises would only measure memorisation</a:t>
            </a:r>
            <a:endParaRPr sz="1400" b="0" i="0">
              <a:solidFill>
                <a:srgbClr val="1F2937"/>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(1/5): Episode View, Engine</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pic>
        <p:nvPicPr>
          <p:cNvPr id="20" name="Picture 19" descr="_crop_episode_engine_17333593.png"/>
          <p:cNvPicPr>
            <a:picLocks noChangeAspect="1"/>
          </p:cNvPicPr>
          <p:nvPr/>
        </p:nvPicPr>
        <p:blipFill>
          <a:blip r:embed="rId1"/>
          <a:stretch>
            <a:fillRect/>
          </a:stretch>
        </p:blipFill>
        <p:spPr>
          <a:xfrm>
            <a:off x="532912" y="1325880"/>
            <a:ext cx="7255215" cy="4690872"/>
          </a:xfrm>
          <a:prstGeom prst="rect">
            <a:avLst/>
          </a:prstGeom>
          <a:ln w="12700">
            <a:solidFill>
              <a:srgbClr val="CBD5E1"/>
            </a:solidFill>
          </a:ln>
        </p:spPr>
      </p:pic>
      <p:sp>
        <p:nvSpPr>
          <p:cNvPr id="21" name="TextBox 20"/>
          <p:cNvSpPr txBox="1"/>
          <p:nvPr/>
        </p:nvSpPr>
        <p:spPr>
          <a:xfrm>
            <a:off x="411480" y="6044184"/>
            <a:ext cx="7498079" cy="292608"/>
          </a:xfrm>
          <a:prstGeom prst="rect">
            <a:avLst/>
          </a:prstGeom>
          <a:noFill/>
        </p:spPr>
        <p:txBody>
          <a:bodyPr wrap="square" lIns="45720" tIns="27432" rIns="45720" bIns="27432" anchor="t">
            <a:spAutoFit/>
          </a:bodyPr>
          <a:lstStyle/>
          <a:p>
            <a:pPr algn="ctr">
              <a:spcAft>
                <a:spcPts val="400"/>
              </a:spcAft>
            </a:pPr>
            <a:r>
              <a:rPr sz="1200" b="0" i="0">
                <a:solidFill>
                  <a:srgbClr val="5B6573"/>
                </a:solidFill>
                <a:latin typeface="Calibri" panose="020F0502020204030204"/>
              </a:rPr>
              <a:t>Streamlit dashboard, forecast + safety stock, held-out seed 500</a:t>
            </a:r>
            <a:endParaRPr sz="1200" b="0" i="0">
              <a:solidFill>
                <a:srgbClr val="5B6573"/>
              </a:solidFill>
              <a:latin typeface="Calibri" panose="020F0502020204030204"/>
            </a:endParaRPr>
          </a:p>
        </p:txBody>
      </p:sp>
      <p:sp>
        <p:nvSpPr>
          <p:cNvPr id="22" name="Oval 21"/>
          <p:cNvSpPr/>
          <p:nvPr/>
        </p:nvSpPr>
        <p:spPr>
          <a:xfrm>
            <a:off x="8183879" y="141732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i="0">
                <a:solidFill>
                  <a:srgbClr val="FFFFFF"/>
                </a:solidFill>
                <a:latin typeface="Calibri" panose="020F0502020204030204"/>
              </a:rPr>
              <a:t>1</a:t>
            </a:r>
            <a:endParaRPr sz="1300" b="1" i="0">
              <a:solidFill>
                <a:srgbClr val="FFFFFF"/>
              </a:solidFill>
              <a:latin typeface="Calibri" panose="020F0502020204030204"/>
            </a:endParaRPr>
          </a:p>
        </p:txBody>
      </p:sp>
      <p:sp>
        <p:nvSpPr>
          <p:cNvPr id="23" name="TextBox 22"/>
          <p:cNvSpPr txBox="1"/>
          <p:nvPr/>
        </p:nvSpPr>
        <p:spPr>
          <a:xfrm>
            <a:off x="8595359" y="1353312"/>
            <a:ext cx="3200400" cy="1188720"/>
          </a:xfrm>
          <a:prstGeom prst="rect">
            <a:avLst/>
          </a:prstGeom>
          <a:noFill/>
        </p:spPr>
        <p:txBody>
          <a:bodyPr wrap="square" lIns="45720" tIns="27432" rIns="45720" bIns="27432" anchor="t">
            <a:spAutoFit/>
          </a:bodyPr>
          <a:lstStyle/>
          <a:p>
            <a:pPr algn="l">
              <a:spcAft>
                <a:spcPts val="100"/>
              </a:spcAft>
            </a:pPr>
            <a:r>
              <a:rPr sz="1600" b="1" i="0">
                <a:solidFill>
                  <a:srgbClr val="1B5E3A"/>
                </a:solidFill>
                <a:latin typeface="Calibri" panose="020F0502020204030204"/>
              </a:rPr>
              <a:t>Pick the policy and seed</a:t>
            </a:r>
            <a:endParaRPr sz="16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Sidebar: any policy, any held-out seed, optional crisis.</a:t>
            </a:r>
            <a:endParaRPr sz="1400" b="0" i="0">
              <a:solidFill>
                <a:srgbClr val="1F2937"/>
              </a:solidFill>
              <a:latin typeface="Calibri" panose="020F0502020204030204"/>
            </a:endParaRPr>
          </a:p>
        </p:txBody>
      </p:sp>
      <p:sp>
        <p:nvSpPr>
          <p:cNvPr id="24" name="Oval 23"/>
          <p:cNvSpPr/>
          <p:nvPr/>
        </p:nvSpPr>
        <p:spPr>
          <a:xfrm>
            <a:off x="8183879" y="265176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i="0">
                <a:solidFill>
                  <a:srgbClr val="FFFFFF"/>
                </a:solidFill>
                <a:latin typeface="Calibri" panose="020F0502020204030204"/>
              </a:rPr>
              <a:t>2</a:t>
            </a:r>
            <a:endParaRPr sz="1300" b="1" i="0">
              <a:solidFill>
                <a:srgbClr val="FFFFFF"/>
              </a:solidFill>
              <a:latin typeface="Calibri" panose="020F0502020204030204"/>
            </a:endParaRPr>
          </a:p>
        </p:txBody>
      </p:sp>
      <p:sp>
        <p:nvSpPr>
          <p:cNvPr id="25" name="TextBox 24"/>
          <p:cNvSpPr txBox="1"/>
          <p:nvPr/>
        </p:nvSpPr>
        <p:spPr>
          <a:xfrm>
            <a:off x="8595359" y="2587752"/>
            <a:ext cx="3200400" cy="1188720"/>
          </a:xfrm>
          <a:prstGeom prst="rect">
            <a:avLst/>
          </a:prstGeom>
          <a:noFill/>
        </p:spPr>
        <p:txBody>
          <a:bodyPr wrap="square" lIns="45720" tIns="27432" rIns="45720" bIns="27432" anchor="t">
            <a:spAutoFit/>
          </a:bodyPr>
          <a:lstStyle/>
          <a:p>
            <a:pPr algn="l">
              <a:spcAft>
                <a:spcPts val="100"/>
              </a:spcAft>
            </a:pPr>
            <a:r>
              <a:rPr sz="1600" b="1" i="0">
                <a:solidFill>
                  <a:srgbClr val="1B5E3A"/>
                </a:solidFill>
                <a:latin typeface="Calibri" panose="020F0502020204030204"/>
              </a:rPr>
              <a:t>Five outcome cards</a:t>
            </a:r>
            <a:endParaRPr sz="16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Profit ₹87.8 lakh, fill rate, ordering fees, stockout cost, overflow.</a:t>
            </a:r>
            <a:endParaRPr sz="1400" b="0" i="0">
              <a:solidFill>
                <a:srgbClr val="1F2937"/>
              </a:solidFill>
              <a:latin typeface="Calibri" panose="020F0502020204030204"/>
            </a:endParaRPr>
          </a:p>
        </p:txBody>
      </p:sp>
      <p:sp>
        <p:nvSpPr>
          <p:cNvPr id="26" name="Oval 25"/>
          <p:cNvSpPr/>
          <p:nvPr/>
        </p:nvSpPr>
        <p:spPr>
          <a:xfrm>
            <a:off x="8183879" y="388620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i="0">
                <a:solidFill>
                  <a:srgbClr val="FFFFFF"/>
                </a:solidFill>
                <a:latin typeface="Calibri" panose="020F0502020204030204"/>
              </a:rPr>
              <a:t>3</a:t>
            </a:r>
            <a:endParaRPr sz="1300" b="1" i="0">
              <a:solidFill>
                <a:srgbClr val="FFFFFF"/>
              </a:solidFill>
              <a:latin typeface="Calibri" panose="020F0502020204030204"/>
            </a:endParaRPr>
          </a:p>
        </p:txBody>
      </p:sp>
      <p:sp>
        <p:nvSpPr>
          <p:cNvPr id="27" name="TextBox 26"/>
          <p:cNvSpPr txBox="1"/>
          <p:nvPr/>
        </p:nvSpPr>
        <p:spPr>
          <a:xfrm>
            <a:off x="8595359" y="3822192"/>
            <a:ext cx="3200400" cy="1188720"/>
          </a:xfrm>
          <a:prstGeom prst="rect">
            <a:avLst/>
          </a:prstGeom>
          <a:noFill/>
        </p:spPr>
        <p:txBody>
          <a:bodyPr wrap="square" lIns="45720" tIns="27432" rIns="45720" bIns="27432" anchor="t">
            <a:spAutoFit/>
          </a:bodyPr>
          <a:lstStyle/>
          <a:p>
            <a:pPr algn="l">
              <a:spcAft>
                <a:spcPts val="100"/>
              </a:spcAft>
            </a:pPr>
            <a:r>
              <a:rPr sz="1600" b="1" i="0">
                <a:solidFill>
                  <a:srgbClr val="1B5E3A"/>
                </a:solidFill>
                <a:latin typeface="Calibri" panose="020F0502020204030204"/>
              </a:rPr>
              <a:t>Stock and profit over 180 days</a:t>
            </a:r>
            <a:endParaRPr sz="16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Two single-axis charts: never a dual axis.</a:t>
            </a:r>
            <a:endParaRPr sz="1400" b="0" i="0">
              <a:solidFill>
                <a:srgbClr val="1F2937"/>
              </a:solidFill>
              <a:latin typeface="Calibri" panose="020F0502020204030204"/>
            </a:endParaRPr>
          </a:p>
        </p:txBody>
      </p:sp>
      <p:sp>
        <p:nvSpPr>
          <p:cNvPr id="28" name="Oval 27"/>
          <p:cNvSpPr/>
          <p:nvPr/>
        </p:nvSpPr>
        <p:spPr>
          <a:xfrm>
            <a:off x="8183879" y="512064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i="0">
                <a:solidFill>
                  <a:srgbClr val="FFFFFF"/>
                </a:solidFill>
                <a:latin typeface="Calibri" panose="020F0502020204030204"/>
              </a:rPr>
              <a:t>4</a:t>
            </a:r>
            <a:endParaRPr sz="1300" b="1" i="0">
              <a:solidFill>
                <a:srgbClr val="FFFFFF"/>
              </a:solidFill>
              <a:latin typeface="Calibri" panose="020F0502020204030204"/>
            </a:endParaRPr>
          </a:p>
        </p:txBody>
      </p:sp>
      <p:sp>
        <p:nvSpPr>
          <p:cNvPr id="29" name="TextBox 28"/>
          <p:cNvSpPr txBox="1"/>
          <p:nvPr/>
        </p:nvSpPr>
        <p:spPr>
          <a:xfrm>
            <a:off x="8595359" y="5056632"/>
            <a:ext cx="3200400" cy="1188720"/>
          </a:xfrm>
          <a:prstGeom prst="rect">
            <a:avLst/>
          </a:prstGeom>
          <a:noFill/>
        </p:spPr>
        <p:txBody>
          <a:bodyPr wrap="square" lIns="45720" tIns="27432" rIns="45720" bIns="27432" anchor="t">
            <a:spAutoFit/>
          </a:bodyPr>
          <a:lstStyle/>
          <a:p>
            <a:pPr algn="l">
              <a:spcAft>
                <a:spcPts val="100"/>
              </a:spcAft>
            </a:pPr>
            <a:r>
              <a:rPr sz="1600" b="1" i="0">
                <a:solidFill>
                  <a:srgbClr val="1B5E3A"/>
                </a:solidFill>
                <a:latin typeface="Calibri" panose="020F0502020204030204"/>
              </a:rPr>
              <a:t>Which supplier was used</a:t>
            </a:r>
            <a:endParaRPr sz="16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The engine sends almost every order to the cheap supplier.</a:t>
            </a:r>
            <a:endParaRPr sz="1400" b="0" i="0">
              <a:solidFill>
                <a:srgbClr val="1F2937"/>
              </a:solidFill>
              <a:latin typeface="Calibri" panose="020F050202020403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(2/5): The Challenger, and a Crisis</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pic>
        <p:nvPicPr>
          <p:cNvPr id="20" name="Picture 19" descr="_crop_episode_challenger_17333593.png"/>
          <p:cNvPicPr>
            <a:picLocks noChangeAspect="1"/>
          </p:cNvPicPr>
          <p:nvPr/>
        </p:nvPicPr>
        <p:blipFill>
          <a:blip r:embed="rId1"/>
          <a:stretch>
            <a:fillRect/>
          </a:stretch>
        </p:blipFill>
        <p:spPr>
          <a:xfrm>
            <a:off x="633496" y="1371600"/>
            <a:ext cx="5133807" cy="3319272"/>
          </a:xfrm>
          <a:prstGeom prst="rect">
            <a:avLst/>
          </a:prstGeom>
          <a:ln w="12700">
            <a:solidFill>
              <a:srgbClr val="CBD5E1"/>
            </a:solidFill>
          </a:ln>
        </p:spPr>
      </p:pic>
      <p:sp>
        <p:nvSpPr>
          <p:cNvPr id="21" name="TextBox 20"/>
          <p:cNvSpPr txBox="1"/>
          <p:nvPr/>
        </p:nvSpPr>
        <p:spPr>
          <a:xfrm>
            <a:off x="411480" y="4718304"/>
            <a:ext cx="5577840" cy="292608"/>
          </a:xfrm>
          <a:prstGeom prst="rect">
            <a:avLst/>
          </a:prstGeom>
          <a:noFill/>
        </p:spPr>
        <p:txBody>
          <a:bodyPr wrap="square" lIns="45720" tIns="27432" rIns="45720" bIns="27432" anchor="t">
            <a:spAutoFit/>
          </a:bodyPr>
          <a:lstStyle/>
          <a:p>
            <a:pPr algn="ctr">
              <a:spcAft>
                <a:spcPts val="400"/>
              </a:spcAft>
            </a:pPr>
            <a:r>
              <a:rPr sz="1200" b="0" i="0">
                <a:solidFill>
                  <a:srgbClr val="5B6573"/>
                </a:solidFill>
                <a:latin typeface="Calibri" panose="020F0502020204030204"/>
              </a:rPr>
              <a:t>RL challenger: orders spread over all three suppliers</a:t>
            </a:r>
            <a:endParaRPr sz="1200" b="0" i="0">
              <a:solidFill>
                <a:srgbClr val="5B6573"/>
              </a:solidFill>
              <a:latin typeface="Calibri" panose="020F0502020204030204"/>
            </a:endParaRPr>
          </a:p>
        </p:txBody>
      </p:sp>
      <p:pic>
        <p:nvPicPr>
          <p:cNvPr id="22" name="Picture 21" descr="_crop_episode_crisis_17333593.png"/>
          <p:cNvPicPr>
            <a:picLocks noChangeAspect="1"/>
          </p:cNvPicPr>
          <p:nvPr/>
        </p:nvPicPr>
        <p:blipFill>
          <a:blip r:embed="rId2"/>
          <a:stretch>
            <a:fillRect/>
          </a:stretch>
        </p:blipFill>
        <p:spPr>
          <a:xfrm>
            <a:off x="6421648" y="1371600"/>
            <a:ext cx="5133807" cy="3319272"/>
          </a:xfrm>
          <a:prstGeom prst="rect">
            <a:avLst/>
          </a:prstGeom>
          <a:ln w="12700">
            <a:solidFill>
              <a:srgbClr val="CBD5E1"/>
            </a:solidFill>
          </a:ln>
        </p:spPr>
      </p:pic>
      <p:sp>
        <p:nvSpPr>
          <p:cNvPr id="23" name="TextBox 22"/>
          <p:cNvSpPr txBox="1"/>
          <p:nvPr/>
        </p:nvSpPr>
        <p:spPr>
          <a:xfrm>
            <a:off x="6199632" y="4718304"/>
            <a:ext cx="5577840" cy="292608"/>
          </a:xfrm>
          <a:prstGeom prst="rect">
            <a:avLst/>
          </a:prstGeom>
          <a:noFill/>
        </p:spPr>
        <p:txBody>
          <a:bodyPr wrap="square" lIns="45720" tIns="27432" rIns="45720" bIns="27432" anchor="t">
            <a:spAutoFit/>
          </a:bodyPr>
          <a:lstStyle/>
          <a:p>
            <a:pPr algn="ctr">
              <a:spcAft>
                <a:spcPts val="400"/>
              </a:spcAft>
            </a:pPr>
            <a:r>
              <a:rPr sz="1200" b="0" i="0">
                <a:solidFill>
                  <a:srgbClr val="5B6573"/>
                </a:solidFill>
                <a:latin typeface="Calibri" panose="020F0502020204030204"/>
              </a:rPr>
              <a:t>Engine with a crisis injected: shaded band = disruption</a:t>
            </a:r>
            <a:endParaRPr sz="1200" b="0" i="0">
              <a:solidFill>
                <a:srgbClr val="5B6573"/>
              </a:solidFill>
              <a:latin typeface="Calibri" panose="020F0502020204030204"/>
            </a:endParaRPr>
          </a:p>
        </p:txBody>
      </p:sp>
      <p:sp>
        <p:nvSpPr>
          <p:cNvPr id="24" name="TextBox 23"/>
          <p:cNvSpPr txBox="1"/>
          <p:nvPr/>
        </p:nvSpPr>
        <p:spPr>
          <a:xfrm>
            <a:off x="411480" y="5120640"/>
            <a:ext cx="11365992" cy="1188720"/>
          </a:xfrm>
          <a:prstGeom prst="rect">
            <a:avLst/>
          </a:prstGeom>
          <a:noFill/>
        </p:spPr>
        <p:txBody>
          <a:bodyPr wrap="square" lIns="45720" tIns="27432" rIns="45720" bIns="27432" anchor="t">
            <a:spAutoFit/>
          </a:bodyPr>
          <a:lstStyle/>
          <a:p>
            <a:pPr algn="l">
              <a:spcAft>
                <a:spcPts val="400"/>
              </a:spcAft>
            </a:pPr>
            <a:r>
              <a:rPr sz="1400" b="1" i="0">
                <a:solidFill>
                  <a:srgbClr val="D6336C"/>
                </a:solidFill>
                <a:latin typeface="Calibri" panose="020F0502020204030204"/>
              </a:rPr>
              <a:t>Challenger (left): </a:t>
            </a:r>
            <a:r>
              <a:rPr sz="1400" b="0" i="0">
                <a:solidFill>
                  <a:srgbClr val="1F2937"/>
                </a:solidFill>
                <a:latin typeface="Calibri" panose="020F0502020204030204"/>
              </a:rPr>
              <a:t>602 orders across all three suppliers against the engine’s 323. That fragmentation is the cause of the agent’s double ordering fees.   </a:t>
            </a:r>
            <a:r>
              <a:rPr sz="1400" b="1" i="0">
                <a:solidFill>
                  <a:srgbClr val="1B5E3A"/>
                </a:solidFill>
                <a:latin typeface="Calibri" panose="020F0502020204030204"/>
              </a:rPr>
              <a:t>Crisis (right): </a:t>
            </a:r>
            <a:r>
              <a:rPr sz="1400" b="0" i="0">
                <a:solidFill>
                  <a:srgbClr val="1F2937"/>
                </a:solidFill>
                <a:latin typeface="Calibri" panose="020F0502020204030204"/>
              </a:rPr>
              <a:t>the red band marks the days the disruption is active, so stock and profit can be read against it.</a:t>
            </a:r>
            <a:endParaRPr sz="1400" b="0" i="0">
              <a:solidFill>
                <a:srgbClr val="1F2937"/>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(3/5): Before vs After the System</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pic>
        <p:nvPicPr>
          <p:cNvPr id="20" name="Picture 19" descr="_crop_before_after_93631529.png"/>
          <p:cNvPicPr>
            <a:picLocks noChangeAspect="1"/>
          </p:cNvPicPr>
          <p:nvPr/>
        </p:nvPicPr>
        <p:blipFill>
          <a:blip r:embed="rId1"/>
          <a:stretch>
            <a:fillRect/>
          </a:stretch>
        </p:blipFill>
        <p:spPr>
          <a:xfrm>
            <a:off x="411480" y="1371600"/>
            <a:ext cx="7223760" cy="4229295"/>
          </a:xfrm>
          <a:prstGeom prst="rect">
            <a:avLst/>
          </a:prstGeom>
          <a:ln w="12700">
            <a:solidFill>
              <a:srgbClr val="CBD5E1"/>
            </a:solidFill>
          </a:ln>
        </p:spPr>
      </p:pic>
      <p:sp>
        <p:nvSpPr>
          <p:cNvPr id="21" name="TextBox 20"/>
          <p:cNvSpPr txBox="1"/>
          <p:nvPr/>
        </p:nvSpPr>
        <p:spPr>
          <a:xfrm>
            <a:off x="411480" y="5628327"/>
            <a:ext cx="7223760" cy="292608"/>
          </a:xfrm>
          <a:prstGeom prst="rect">
            <a:avLst/>
          </a:prstGeom>
          <a:noFill/>
        </p:spPr>
        <p:txBody>
          <a:bodyPr wrap="square" lIns="45720" tIns="27432" rIns="45720" bIns="27432" anchor="t">
            <a:spAutoFit/>
          </a:bodyPr>
          <a:lstStyle/>
          <a:p>
            <a:pPr algn="ctr">
              <a:spcAft>
                <a:spcPts val="400"/>
              </a:spcAft>
            </a:pPr>
            <a:r>
              <a:rPr sz="1200" b="0" i="0">
                <a:solidFill>
                  <a:srgbClr val="5B6573"/>
                </a:solidFill>
                <a:latin typeface="Calibri" panose="020F0502020204030204"/>
              </a:rPr>
              <a:t>“Before”: a fixed daily order.  “After”: the engine, with the RL challenger beside it.</a:t>
            </a:r>
            <a:endParaRPr sz="1200" b="0" i="0">
              <a:solidFill>
                <a:srgbClr val="5B6573"/>
              </a:solidFill>
              <a:latin typeface="Calibri" panose="020F0502020204030204"/>
            </a:endParaRPr>
          </a:p>
        </p:txBody>
      </p:sp>
      <p:sp>
        <p:nvSpPr>
          <p:cNvPr id="22" name="Rounded Rectangle 21"/>
          <p:cNvSpPr/>
          <p:nvPr/>
        </p:nvSpPr>
        <p:spPr>
          <a:xfrm>
            <a:off x="7909559" y="1371600"/>
            <a:ext cx="3867912" cy="118872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82711" y="1417320"/>
            <a:ext cx="3721608" cy="1097280"/>
          </a:xfrm>
          <a:prstGeom prst="rect">
            <a:avLst/>
          </a:prstGeom>
          <a:noFill/>
        </p:spPr>
        <p:txBody>
          <a:bodyPr wrap="square" lIns="45720" tIns="27432" rIns="45720" bIns="27432" anchor="ctr">
            <a:spAutoFit/>
          </a:bodyPr>
          <a:lstStyle/>
          <a:p>
            <a:pPr algn="ctr">
              <a:spcAft>
                <a:spcPts val="100"/>
              </a:spcAft>
            </a:pPr>
            <a:r>
              <a:rPr sz="2200" b="1" i="0">
                <a:solidFill>
                  <a:srgbClr val="FFFFFF"/>
                </a:solidFill>
                <a:latin typeface="Calibri" panose="020F0502020204030204"/>
              </a:rPr>
              <a:t>₹53.3 lakh → ₹87.8 lakh</a:t>
            </a:r>
            <a:endParaRPr sz="22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Profit per run   +65%</a:t>
            </a:r>
            <a:endParaRPr sz="1300" b="0" i="0">
              <a:solidFill>
                <a:srgbClr val="FFFFFF"/>
              </a:solidFill>
              <a:latin typeface="Calibri" panose="020F0502020204030204"/>
            </a:endParaRPr>
          </a:p>
        </p:txBody>
      </p:sp>
      <p:sp>
        <p:nvSpPr>
          <p:cNvPr id="24" name="Rounded Rectangle 23"/>
          <p:cNvSpPr/>
          <p:nvPr/>
        </p:nvSpPr>
        <p:spPr>
          <a:xfrm>
            <a:off x="7909559" y="2697480"/>
            <a:ext cx="3867912" cy="118872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2711" y="2743200"/>
            <a:ext cx="3721608" cy="1097280"/>
          </a:xfrm>
          <a:prstGeom prst="rect">
            <a:avLst/>
          </a:prstGeom>
          <a:noFill/>
        </p:spPr>
        <p:txBody>
          <a:bodyPr wrap="square" lIns="45720" tIns="27432" rIns="45720" bIns="27432" anchor="ctr">
            <a:spAutoFit/>
          </a:bodyPr>
          <a:lstStyle/>
          <a:p>
            <a:pPr algn="ctr">
              <a:spcAft>
                <a:spcPts val="100"/>
              </a:spcAft>
            </a:pPr>
            <a:r>
              <a:rPr sz="2200" b="1" i="0">
                <a:solidFill>
                  <a:srgbClr val="FFFFFF"/>
                </a:solidFill>
                <a:latin typeface="Calibri" panose="020F0502020204030204"/>
              </a:rPr>
              <a:t>92.3% → 97.9%</a:t>
            </a:r>
            <a:endParaRPr sz="22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Fill rate   +5.6 points</a:t>
            </a:r>
            <a:endParaRPr sz="1300" b="0" i="0">
              <a:solidFill>
                <a:srgbClr val="FFFFFF"/>
              </a:solidFill>
              <a:latin typeface="Calibri" panose="020F0502020204030204"/>
            </a:endParaRPr>
          </a:p>
        </p:txBody>
      </p:sp>
      <p:sp>
        <p:nvSpPr>
          <p:cNvPr id="26" name="Rounded Rectangle 25"/>
          <p:cNvSpPr/>
          <p:nvPr/>
        </p:nvSpPr>
        <p:spPr>
          <a:xfrm>
            <a:off x="7909559" y="4023360"/>
            <a:ext cx="3867912" cy="1188720"/>
          </a:xfrm>
          <a:prstGeom prst="roundRect">
            <a:avLst>
              <a:gd name="adj" fmla="val 12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82711" y="4069080"/>
            <a:ext cx="3721608" cy="1097280"/>
          </a:xfrm>
          <a:prstGeom prst="rect">
            <a:avLst/>
          </a:prstGeom>
          <a:noFill/>
        </p:spPr>
        <p:txBody>
          <a:bodyPr wrap="square" lIns="45720" tIns="27432" rIns="45720" bIns="27432" anchor="ctr">
            <a:spAutoFit/>
          </a:bodyPr>
          <a:lstStyle/>
          <a:p>
            <a:pPr algn="ctr">
              <a:spcAft>
                <a:spcPts val="100"/>
              </a:spcAft>
            </a:pPr>
            <a:r>
              <a:rPr sz="2200" b="1" i="0">
                <a:solidFill>
                  <a:srgbClr val="FFFFFF"/>
                </a:solidFill>
                <a:latin typeface="Calibri" panose="020F0502020204030204"/>
              </a:rPr>
              <a:t>₹29.0 lakh → ₹6.1 lakh</a:t>
            </a:r>
            <a:endParaRPr sz="22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Stockout cost   -79%</a:t>
            </a:r>
            <a:endParaRPr sz="1300" b="0" i="0">
              <a:solidFill>
                <a:srgbClr val="FFFFFF"/>
              </a:solidFill>
              <a:latin typeface="Calibri" panose="020F0502020204030204"/>
            </a:endParaRPr>
          </a:p>
        </p:txBody>
      </p:sp>
      <p:sp>
        <p:nvSpPr>
          <p:cNvPr id="28" name="TextBox 27"/>
          <p:cNvSpPr txBox="1"/>
          <p:nvPr/>
        </p:nvSpPr>
        <p:spPr>
          <a:xfrm>
            <a:off x="7909559" y="5349240"/>
            <a:ext cx="3867912" cy="1097280"/>
          </a:xfrm>
          <a:prstGeom prst="rect">
            <a:avLst/>
          </a:prstGeom>
          <a:noFill/>
        </p:spPr>
        <p:txBody>
          <a:bodyPr wrap="square" lIns="45720" tIns="27432" rIns="45720" bIns="27432" anchor="t">
            <a:spAutoFit/>
          </a:bodyPr>
          <a:lstStyle/>
          <a:p>
            <a:pPr algn="l">
              <a:spcAft>
                <a:spcPts val="400"/>
              </a:spcAft>
            </a:pPr>
            <a:r>
              <a:rPr sz="1300" b="0" i="1">
                <a:solidFill>
                  <a:srgbClr val="5B6573"/>
                </a:solidFill>
                <a:latin typeface="Calibri" panose="020F0502020204030204"/>
              </a:rPr>
              <a:t>Most of the gain comes from forecasting with safety stock, which is what the engine does, not from RL.</a:t>
            </a:r>
            <a:endParaRPr sz="1300" b="0" i="1">
              <a:solidFill>
                <a:srgbClr val="5B6573"/>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(4/5): Explain a Decision</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pic>
        <p:nvPicPr>
          <p:cNvPr id="20" name="Picture 19" descr="_crop_explain_13376534.png"/>
          <p:cNvPicPr>
            <a:picLocks noChangeAspect="1"/>
          </p:cNvPicPr>
          <p:nvPr/>
        </p:nvPicPr>
        <p:blipFill>
          <a:blip r:embed="rId1"/>
          <a:stretch>
            <a:fillRect/>
          </a:stretch>
        </p:blipFill>
        <p:spPr>
          <a:xfrm>
            <a:off x="675885" y="1371600"/>
            <a:ext cx="6877828" cy="2816352"/>
          </a:xfrm>
          <a:prstGeom prst="rect">
            <a:avLst/>
          </a:prstGeom>
          <a:ln w="12700">
            <a:solidFill>
              <a:srgbClr val="CBD5E1"/>
            </a:solidFill>
          </a:ln>
        </p:spPr>
      </p:pic>
      <p:sp>
        <p:nvSpPr>
          <p:cNvPr id="21" name="TextBox 20"/>
          <p:cNvSpPr txBox="1"/>
          <p:nvPr/>
        </p:nvSpPr>
        <p:spPr>
          <a:xfrm>
            <a:off x="411480" y="4215384"/>
            <a:ext cx="7406640" cy="292608"/>
          </a:xfrm>
          <a:prstGeom prst="rect">
            <a:avLst/>
          </a:prstGeom>
          <a:noFill/>
        </p:spPr>
        <p:txBody>
          <a:bodyPr wrap="square" lIns="45720" tIns="27432" rIns="45720" bIns="27432" anchor="t">
            <a:spAutoFit/>
          </a:bodyPr>
          <a:lstStyle/>
          <a:p>
            <a:pPr algn="ctr">
              <a:spcAft>
                <a:spcPts val="400"/>
              </a:spcAft>
            </a:pPr>
            <a:r>
              <a:rPr sz="1200" b="0" i="0">
                <a:solidFill>
                  <a:srgbClr val="5B6573"/>
                </a:solidFill>
                <a:latin typeface="Calibri" panose="020F0502020204030204"/>
              </a:rPr>
              <a:t>Day 45, product 0: explanation written by the LLM, source shown as a badge</a:t>
            </a:r>
            <a:endParaRPr sz="1200" b="0" i="0">
              <a:solidFill>
                <a:srgbClr val="5B6573"/>
              </a:solidFill>
              <a:latin typeface="Calibri" panose="020F0502020204030204"/>
            </a:endParaRPr>
          </a:p>
        </p:txBody>
      </p:sp>
      <p:sp>
        <p:nvSpPr>
          <p:cNvPr id="22" name="TextBox 21"/>
          <p:cNvSpPr txBox="1"/>
          <p:nvPr/>
        </p:nvSpPr>
        <p:spPr>
          <a:xfrm>
            <a:off x="8092440" y="1371600"/>
            <a:ext cx="3685032" cy="4937760"/>
          </a:xfrm>
          <a:prstGeom prst="rect">
            <a:avLst/>
          </a:prstGeom>
          <a:noFill/>
        </p:spPr>
        <p:txBody>
          <a:bodyPr wrap="square" lIns="45720" tIns="27432" rIns="45720" bIns="27432" anchor="t">
            <a:spAutoFit/>
          </a:bodyPr>
          <a:lstStyle/>
          <a:p>
            <a:pPr algn="l">
              <a:spcAft>
                <a:spcPts val="400"/>
              </a:spcAft>
            </a:pPr>
            <a:r>
              <a:rPr sz="1700" b="1" i="0">
                <a:solidFill>
                  <a:srgbClr val="1B5E3A"/>
                </a:solidFill>
                <a:latin typeface="Calibri" panose="020F0502020204030204"/>
              </a:rPr>
              <a:t>How to use it</a:t>
            </a:r>
            <a:endParaRPr sz="17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  Pick a day and a product</a:t>
            </a:r>
            <a:endParaRPr sz="1400" b="0" i="0">
              <a:solidFill>
                <a:srgbClr val="1F2937"/>
              </a:solidFill>
              <a:latin typeface="Calibri" panose="020F0502020204030204"/>
            </a:endParaRPr>
          </a:p>
          <a:p>
            <a:pPr algn="l">
              <a:spcAft>
                <a:spcPts val="400"/>
              </a:spcAft>
            </a:pPr>
            <a:r>
              <a:rPr sz="1400" b="0" i="0">
                <a:solidFill>
                  <a:srgbClr val="1F2937"/>
                </a:solidFill>
                <a:latin typeface="Calibri" panose="020F0502020204030204"/>
              </a:rPr>
              <a:t>•  Press Explain this decision</a:t>
            </a:r>
            <a:endParaRPr sz="1400" b="0" i="0">
              <a:solidFill>
                <a:srgbClr val="1F2937"/>
              </a:solidFill>
              <a:latin typeface="Calibri" panose="020F0502020204030204"/>
            </a:endParaRPr>
          </a:p>
          <a:p>
            <a:pPr algn="l">
              <a:spcAft>
                <a:spcPts val="400"/>
              </a:spcAft>
            </a:pPr>
            <a:r>
              <a:rPr sz="1400" b="0" i="0">
                <a:solidFill>
                  <a:srgbClr val="1F2937"/>
                </a:solidFill>
                <a:latin typeface="Calibri" panose="020F0502020204030204"/>
              </a:rPr>
              <a:t>•  Read 2–3 plain sentences</a:t>
            </a:r>
            <a:endParaRPr sz="1400" b="0" i="0">
              <a:solidFill>
                <a:srgbClr val="1F2937"/>
              </a:solidFill>
              <a:latin typeface="Calibri" panose="020F0502020204030204"/>
            </a:endParaRPr>
          </a:p>
          <a:p>
            <a:pPr algn="l">
              <a:spcAft>
                <a:spcPts val="400"/>
              </a:spcAft>
            </a:pPr>
            <a:r>
              <a:rPr sz="1400" b="0" i="0">
                <a:solidFill>
                  <a:srgbClr val="1F2937"/>
                </a:solidFill>
                <a:latin typeface="Calibri" panose="020F0502020204030204"/>
              </a:rPr>
              <a:t>•  The black badge shows who wrote it: a model name, or “deterministic template” if the check rejected the LLM</a:t>
            </a:r>
            <a:endParaRPr sz="1400" b="0" i="0">
              <a:solidFill>
                <a:srgbClr val="1F2937"/>
              </a:solidFill>
              <a:latin typeface="Calibri" panose="020F0502020204030204"/>
            </a:endParaRPr>
          </a:p>
          <a:p>
            <a:pPr algn="l">
              <a:spcAft>
                <a:spcPts val="400"/>
              </a:spcAft>
            </a:pPr>
            <a:r>
              <a:rPr sz="1400" b="0" i="0">
                <a:solidFill>
                  <a:srgbClr val="1F2937"/>
                </a:solidFill>
                <a:latin typeface="Calibri" panose="020F0502020204030204"/>
              </a:rPr>
              <a:t>•  Expand “the facts the model was given” to verify every number</a:t>
            </a:r>
            <a:endParaRPr sz="1400" b="0" i="0">
              <a:solidFill>
                <a:srgbClr val="1F2937"/>
              </a:solidFill>
              <a:latin typeface="Calibri" panose="020F0502020204030204"/>
            </a:endParaRPr>
          </a:p>
        </p:txBody>
      </p:sp>
      <p:sp>
        <p:nvSpPr>
          <p:cNvPr id="23" name="TextBox 22"/>
          <p:cNvSpPr txBox="1"/>
          <p:nvPr/>
        </p:nvSpPr>
        <p:spPr>
          <a:xfrm>
            <a:off x="411480" y="4709160"/>
            <a:ext cx="7406640" cy="1554480"/>
          </a:xfrm>
          <a:prstGeom prst="rect">
            <a:avLst/>
          </a:prstGeom>
          <a:noFill/>
        </p:spPr>
        <p:txBody>
          <a:bodyPr wrap="square" lIns="45720" tIns="27432" rIns="45720" bIns="27432" anchor="t">
            <a:spAutoFit/>
          </a:bodyPr>
          <a:lstStyle/>
          <a:p>
            <a:pPr algn="l">
              <a:spcAft>
                <a:spcPts val="400"/>
              </a:spcAft>
            </a:pPr>
            <a:r>
              <a:rPr sz="1400" b="1" i="0">
                <a:solidFill>
                  <a:srgbClr val="D6336C"/>
                </a:solidFill>
                <a:latin typeface="Calibri" panose="020F0502020204030204"/>
              </a:rPr>
              <a:t>Check it yourself: </a:t>
            </a:r>
            <a:r>
              <a:rPr sz="1400" b="0" i="0">
                <a:solidFill>
                  <a:srgbClr val="1F2937"/>
                </a:solidFill>
                <a:latin typeface="Calibri" panose="020F0502020204030204"/>
              </a:rPr>
              <a:t>2,365 units, 14.0 days of cover, demand of 169 units and a 7-day average of 78 all appear in the facts panel. If the model had invented a figure, the template would have replaced this text.</a:t>
            </a:r>
            <a:endParaRPr sz="1400" b="0" i="0">
              <a:solidFill>
                <a:srgbClr val="1F2937"/>
              </a:solidFill>
              <a:latin typeface="Calibri" panose="020F050202020403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(5/5): Policy Comparison and Robustness</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pic>
        <p:nvPicPr>
          <p:cNvPr id="20" name="Picture 19" descr="_crop_comparison_28541638.png"/>
          <p:cNvPicPr>
            <a:picLocks noChangeAspect="1"/>
          </p:cNvPicPr>
          <p:nvPr/>
        </p:nvPicPr>
        <p:blipFill>
          <a:blip r:embed="rId1"/>
          <a:stretch>
            <a:fillRect/>
          </a:stretch>
        </p:blipFill>
        <p:spPr>
          <a:xfrm>
            <a:off x="526541" y="1371600"/>
            <a:ext cx="5347716" cy="3319272"/>
          </a:xfrm>
          <a:prstGeom prst="rect">
            <a:avLst/>
          </a:prstGeom>
          <a:ln w="12700">
            <a:solidFill>
              <a:srgbClr val="CBD5E1"/>
            </a:solidFill>
          </a:ln>
        </p:spPr>
      </p:pic>
      <p:sp>
        <p:nvSpPr>
          <p:cNvPr id="21" name="TextBox 20"/>
          <p:cNvSpPr txBox="1"/>
          <p:nvPr/>
        </p:nvSpPr>
        <p:spPr>
          <a:xfrm>
            <a:off x="411480" y="4718304"/>
            <a:ext cx="5577840" cy="292608"/>
          </a:xfrm>
          <a:prstGeom prst="rect">
            <a:avLst/>
          </a:prstGeom>
          <a:noFill/>
        </p:spPr>
        <p:txBody>
          <a:bodyPr wrap="square" lIns="45720" tIns="27432" rIns="45720" bIns="27432" anchor="t">
            <a:spAutoFit/>
          </a:bodyPr>
          <a:lstStyle/>
          <a:p>
            <a:pPr algn="ctr">
              <a:spcAft>
                <a:spcPts val="400"/>
              </a:spcAft>
            </a:pPr>
            <a:r>
              <a:rPr sz="1200" b="0" i="0">
                <a:solidFill>
                  <a:srgbClr val="5B6573"/>
                </a:solidFill>
                <a:latin typeface="Calibri" panose="020F0502020204030204"/>
              </a:rPr>
              <a:t>Policy comparison tab: 30 held-out seeds</a:t>
            </a:r>
            <a:endParaRPr sz="1200" b="0" i="0">
              <a:solidFill>
                <a:srgbClr val="5B6573"/>
              </a:solidFill>
              <a:latin typeface="Calibri" panose="020F0502020204030204"/>
            </a:endParaRPr>
          </a:p>
        </p:txBody>
      </p:sp>
      <p:pic>
        <p:nvPicPr>
          <p:cNvPr id="22" name="Picture 21" descr="_crop_robustness_41289307.png"/>
          <p:cNvPicPr>
            <a:picLocks noChangeAspect="1"/>
          </p:cNvPicPr>
          <p:nvPr/>
        </p:nvPicPr>
        <p:blipFill>
          <a:blip r:embed="rId2"/>
          <a:stretch>
            <a:fillRect/>
          </a:stretch>
        </p:blipFill>
        <p:spPr>
          <a:xfrm>
            <a:off x="6218512" y="1371600"/>
            <a:ext cx="5540079" cy="3319272"/>
          </a:xfrm>
          <a:prstGeom prst="rect">
            <a:avLst/>
          </a:prstGeom>
          <a:ln w="12700">
            <a:solidFill>
              <a:srgbClr val="CBD5E1"/>
            </a:solidFill>
          </a:ln>
        </p:spPr>
      </p:pic>
      <p:sp>
        <p:nvSpPr>
          <p:cNvPr id="23" name="TextBox 22"/>
          <p:cNvSpPr txBox="1"/>
          <p:nvPr/>
        </p:nvSpPr>
        <p:spPr>
          <a:xfrm>
            <a:off x="6199632" y="4718304"/>
            <a:ext cx="5577840" cy="292608"/>
          </a:xfrm>
          <a:prstGeom prst="rect">
            <a:avLst/>
          </a:prstGeom>
          <a:noFill/>
        </p:spPr>
        <p:txBody>
          <a:bodyPr wrap="square" lIns="45720" tIns="27432" rIns="45720" bIns="27432" anchor="t">
            <a:spAutoFit/>
          </a:bodyPr>
          <a:lstStyle/>
          <a:p>
            <a:pPr algn="ctr">
              <a:spcAft>
                <a:spcPts val="400"/>
              </a:spcAft>
            </a:pPr>
            <a:r>
              <a:rPr sz="1200" b="0" i="0">
                <a:solidFill>
                  <a:srgbClr val="5B6573"/>
                </a:solidFill>
                <a:latin typeface="Calibri" panose="020F0502020204030204"/>
              </a:rPr>
              <a:t>Robustness tab: calm vs 6 unseen crises</a:t>
            </a:r>
            <a:endParaRPr sz="1200" b="0" i="0">
              <a:solidFill>
                <a:srgbClr val="5B6573"/>
              </a:solidFill>
              <a:latin typeface="Calibri" panose="020F0502020204030204"/>
            </a:endParaRPr>
          </a:p>
        </p:txBody>
      </p:sp>
      <p:sp>
        <p:nvSpPr>
          <p:cNvPr id="24" name="TextBox 23"/>
          <p:cNvSpPr txBox="1"/>
          <p:nvPr/>
        </p:nvSpPr>
        <p:spPr>
          <a:xfrm>
            <a:off x="411480" y="5120640"/>
            <a:ext cx="11365992" cy="1188720"/>
          </a:xfrm>
          <a:prstGeom prst="rect">
            <a:avLst/>
          </a:prstGeom>
          <a:noFill/>
        </p:spPr>
        <p:txBody>
          <a:bodyPr wrap="square" lIns="45720" tIns="27432" rIns="45720" bIns="27432" anchor="t">
            <a:spAutoFit/>
          </a:bodyPr>
          <a:lstStyle/>
          <a:p>
            <a:pPr algn="l">
              <a:spcAft>
                <a:spcPts val="400"/>
              </a:spcAft>
            </a:pPr>
            <a:r>
              <a:rPr sz="1400" b="0" i="0">
                <a:solidFill>
                  <a:srgbClr val="1F2937"/>
                </a:solidFill>
                <a:latin typeface="Calibri" panose="020F0502020204030204"/>
              </a:rPr>
              <a:t>•  Only the rows a claim depends on are shown: the four classical methods, the tuned, untuned and no-masking agents; then the engine, the tuned agent, and the curriculum agent beside its control.</a:t>
            </a:r>
            <a:endParaRPr sz="1400" b="0" i="0">
              <a:solidFill>
                <a:srgbClr val="1F2937"/>
              </a:solidFill>
              <a:latin typeface="Calibri" panose="020F0502020204030204"/>
            </a:endParaRPr>
          </a:p>
          <a:p>
            <a:pPr algn="l">
              <a:spcAft>
                <a:spcPts val="400"/>
              </a:spcAft>
            </a:pPr>
            <a:r>
              <a:rPr sz="1400" b="0" i="0">
                <a:solidFill>
                  <a:srgbClr val="1F2937"/>
                </a:solidFill>
                <a:latin typeface="Calibri" panose="020F0502020204030204"/>
              </a:rPr>
              <a:t>•  The headline cards give the numbers directly; the table below each chart is the same data for anyone who wants to check it.</a:t>
            </a:r>
            <a:endParaRPr sz="1400" b="0" i="0">
              <a:solidFill>
                <a:srgbClr val="1F2937"/>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(1/4): Main Comparison on 30 Unseen Runs</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graphicFrame>
        <p:nvGraphicFramePr>
          <p:cNvPr id="20" name="Table 19"/>
          <p:cNvGraphicFramePr>
            <a:graphicFrameLocks noGrp="1"/>
          </p:cNvGraphicFramePr>
          <p:nvPr/>
        </p:nvGraphicFramePr>
        <p:xfrm>
          <a:off x="411480" y="1371600"/>
          <a:ext cx="6309357" cy="3291840"/>
        </p:xfrm>
        <a:graphic>
          <a:graphicData uri="http://schemas.openxmlformats.org/drawingml/2006/table">
            <a:tbl>
              <a:tblPr firstRow="1" bandRow="1">
                <a:tableStyleId>{5C22544A-7EE6-4342-B048-85BDC9FD1C3A}</a:tableStyleId>
              </a:tblPr>
              <a:tblGrid>
                <a:gridCol w="2343476"/>
                <a:gridCol w="1171738"/>
                <a:gridCol w="721069"/>
                <a:gridCol w="991470"/>
                <a:gridCol w="1081604"/>
              </a:tblGrid>
              <a:tr h="365760">
                <a:tc>
                  <a:txBody>
                    <a:bodyPr wrap="square"/>
                    <a:lstStyle/>
                    <a:p>
                      <a:pPr algn="l"/>
                      <a:r>
                        <a:rPr sz="1200" b="1" i="0">
                          <a:solidFill>
                            <a:srgbClr val="FFFFFF"/>
                          </a:solidFill>
                          <a:latin typeface="Calibri" panose="020F0502020204030204"/>
                        </a:rPr>
                        <a:t>Method</a:t>
                      </a:r>
                      <a:endParaRPr sz="12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200" b="1" i="0">
                          <a:solidFill>
                            <a:srgbClr val="FFFFFF"/>
                          </a:solidFill>
                          <a:latin typeface="Calibri" panose="020F0502020204030204"/>
                        </a:rPr>
                        <a:t>Profit</a:t>
                      </a:r>
                      <a:endParaRPr sz="12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200" b="1" i="0">
                          <a:solidFill>
                            <a:srgbClr val="FFFFFF"/>
                          </a:solidFill>
                          <a:latin typeface="Calibri" panose="020F0502020204030204"/>
                        </a:rPr>
                        <a:t>Fill</a:t>
                      </a:r>
                      <a:endParaRPr sz="12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200" b="1" i="0">
                          <a:solidFill>
                            <a:srgbClr val="FFFFFF"/>
                          </a:solidFill>
                          <a:latin typeface="Calibri" panose="020F0502020204030204"/>
                        </a:rPr>
                        <a:t>Fees</a:t>
                      </a:r>
                      <a:endParaRPr sz="12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200" b="1" i="0">
                          <a:solidFill>
                            <a:srgbClr val="FFFFFF"/>
                          </a:solidFill>
                          <a:latin typeface="Calibri" panose="020F0502020204030204"/>
                        </a:rPr>
                        <a:t>Stockout</a:t>
                      </a:r>
                      <a:endParaRPr sz="1200" b="1" i="0">
                        <a:solidFill>
                          <a:srgbClr val="FFFFFF"/>
                        </a:solidFill>
                        <a:latin typeface="Calibri" panose="020F0502020204030204"/>
                      </a:endParaRPr>
                    </a:p>
                  </a:txBody>
                  <a:tcPr marL="54864" marR="54864" marT="18288" marB="18288" anchor="ctr">
                    <a:solidFill>
                      <a:srgbClr val="2E8B57"/>
                    </a:solidFill>
                  </a:tcPr>
                </a:tc>
              </a:tr>
              <a:tr h="365760">
                <a:tc>
                  <a:txBody>
                    <a:bodyPr wrap="square"/>
                    <a:lstStyle/>
                    <a:p>
                      <a:r>
                        <a:rPr sz="1200" b="1" i="0">
                          <a:solidFill>
                            <a:srgbClr val="1F2937"/>
                          </a:solidFill>
                          <a:latin typeface="Calibri" panose="020F0502020204030204"/>
                        </a:rPr>
                        <a:t>Forecast + safety stock</a:t>
                      </a:r>
                      <a:endParaRPr sz="12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200" b="1" i="0">
                          <a:solidFill>
                            <a:srgbClr val="1F2937"/>
                          </a:solidFill>
                          <a:latin typeface="Calibri" panose="020F0502020204030204"/>
                        </a:rPr>
                        <a:t>₹87.8 lakh</a:t>
                      </a:r>
                      <a:endParaRPr sz="12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200" b="1" i="0">
                          <a:solidFill>
                            <a:srgbClr val="1F2937"/>
                          </a:solidFill>
                          <a:latin typeface="Calibri" panose="020F0502020204030204"/>
                        </a:rPr>
                        <a:t>97.9%</a:t>
                      </a:r>
                      <a:endParaRPr sz="12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200" b="1" i="0">
                          <a:solidFill>
                            <a:srgbClr val="1F2937"/>
                          </a:solidFill>
                          <a:latin typeface="Calibri" panose="020F0502020204030204"/>
                        </a:rPr>
                        <a:t>₹2.9 lakh</a:t>
                      </a:r>
                      <a:endParaRPr sz="12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200" b="1" i="0">
                          <a:solidFill>
                            <a:srgbClr val="1F2937"/>
                          </a:solidFill>
                          <a:latin typeface="Calibri" panose="020F0502020204030204"/>
                        </a:rPr>
                        <a:t>₹6.1 lakh</a:t>
                      </a:r>
                      <a:endParaRPr sz="1200" b="1" i="0">
                        <a:solidFill>
                          <a:srgbClr val="1F2937"/>
                        </a:solidFill>
                        <a:latin typeface="Calibri" panose="020F0502020204030204"/>
                      </a:endParaRPr>
                    </a:p>
                  </a:txBody>
                  <a:tcPr marL="54864" marR="54864" marT="18288" marB="18288" anchor="ctr">
                    <a:solidFill>
                      <a:srgbClr val="E6F4EA"/>
                    </a:solidFill>
                  </a:tcPr>
                </a:tc>
              </a:tr>
              <a:tr h="365760">
                <a:tc>
                  <a:txBody>
                    <a:bodyPr wrap="square"/>
                    <a:lstStyle/>
                    <a:p>
                      <a:r>
                        <a:rPr sz="1200" b="0" i="0">
                          <a:solidFill>
                            <a:srgbClr val="1F2937"/>
                          </a:solidFill>
                          <a:latin typeface="Calibri" panose="020F0502020204030204"/>
                        </a:rPr>
                        <a:t>Newsvendor</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₹86.2 lakh</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98.0%</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₹3.4 lakh</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₹7.4 lakh</a:t>
                      </a:r>
                      <a:endParaRPr sz="1200" b="0" i="0">
                        <a:solidFill>
                          <a:srgbClr val="1F2937"/>
                        </a:solidFill>
                        <a:latin typeface="Calibri" panose="020F0502020204030204"/>
                      </a:endParaRPr>
                    </a:p>
                  </a:txBody>
                  <a:tcPr marL="54864" marR="54864" marT="18288" marB="18288" anchor="ctr">
                    <a:solidFill>
                      <a:srgbClr val="F1F5F9"/>
                    </a:solidFill>
                  </a:tcPr>
                </a:tc>
              </a:tr>
              <a:tr h="365760">
                <a:tc>
                  <a:txBody>
                    <a:bodyPr wrap="square"/>
                    <a:lstStyle/>
                    <a:p>
                      <a:r>
                        <a:rPr sz="1200" b="1" i="0">
                          <a:solidFill>
                            <a:srgbClr val="1F2937"/>
                          </a:solidFill>
                          <a:latin typeface="Calibri" panose="020F0502020204030204"/>
                        </a:rPr>
                        <a:t>RL agent, tuned, 2M</a:t>
                      </a:r>
                      <a:endParaRPr sz="12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200" b="1" i="0">
                          <a:solidFill>
                            <a:srgbClr val="1F2937"/>
                          </a:solidFill>
                          <a:latin typeface="Calibri" panose="020F0502020204030204"/>
                        </a:rPr>
                        <a:t>₹79.7 lakh</a:t>
                      </a:r>
                      <a:endParaRPr sz="12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200" b="1" i="0">
                          <a:solidFill>
                            <a:srgbClr val="1F2937"/>
                          </a:solidFill>
                          <a:latin typeface="Calibri" panose="020F0502020204030204"/>
                        </a:rPr>
                        <a:t>95.1%</a:t>
                      </a:r>
                      <a:endParaRPr sz="12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200" b="1" i="0">
                          <a:solidFill>
                            <a:srgbClr val="1F2937"/>
                          </a:solidFill>
                          <a:latin typeface="Calibri" panose="020F0502020204030204"/>
                        </a:rPr>
                        <a:t>₹5.8 lakh</a:t>
                      </a:r>
                      <a:endParaRPr sz="12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200" b="1" i="0">
                          <a:solidFill>
                            <a:srgbClr val="1F2937"/>
                          </a:solidFill>
                          <a:latin typeface="Calibri" panose="020F0502020204030204"/>
                        </a:rPr>
                        <a:t>₹9.2 lakh</a:t>
                      </a:r>
                      <a:endParaRPr sz="1200" b="1" i="0">
                        <a:solidFill>
                          <a:srgbClr val="1F2937"/>
                        </a:solidFill>
                        <a:latin typeface="Calibri" panose="020F0502020204030204"/>
                      </a:endParaRPr>
                    </a:p>
                  </a:txBody>
                  <a:tcPr marL="54864" marR="54864" marT="18288" marB="18288" anchor="ctr">
                    <a:solidFill>
                      <a:srgbClr val="E6F4EA"/>
                    </a:solidFill>
                  </a:tcPr>
                </a:tc>
              </a:tr>
              <a:tr h="365760">
                <a:tc>
                  <a:txBody>
                    <a:bodyPr wrap="square"/>
                    <a:lstStyle/>
                    <a:p>
                      <a:r>
                        <a:rPr sz="1200" b="0" i="0">
                          <a:solidFill>
                            <a:srgbClr val="1F2937"/>
                          </a:solidFill>
                          <a:latin typeface="Calibri" panose="020F0502020204030204"/>
                        </a:rPr>
                        <a:t>EOQ + reorder point</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₹75.9 lakh</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96.8%</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₹2.8 lakh</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₹10.5 lakh</a:t>
                      </a:r>
                      <a:endParaRPr sz="1200" b="0" i="0">
                        <a:solidFill>
                          <a:srgbClr val="1F2937"/>
                        </a:solidFill>
                        <a:latin typeface="Calibri" panose="020F0502020204030204"/>
                      </a:endParaRPr>
                    </a:p>
                  </a:txBody>
                  <a:tcPr marL="54864" marR="54864" marT="18288" marB="18288" anchor="ctr">
                    <a:solidFill>
                      <a:srgbClr val="F1F5F9"/>
                    </a:solidFill>
                  </a:tcPr>
                </a:tc>
              </a:tr>
              <a:tr h="365760">
                <a:tc>
                  <a:txBody>
                    <a:bodyPr wrap="square"/>
                    <a:lstStyle/>
                    <a:p>
                      <a:r>
                        <a:rPr sz="1200" b="0" i="0">
                          <a:solidFill>
                            <a:srgbClr val="1F2937"/>
                          </a:solidFill>
                          <a:latin typeface="Calibri" panose="020F0502020204030204"/>
                        </a:rPr>
                        <a:t>RL agent, untuned, 1M</a:t>
                      </a:r>
                      <a:endParaRPr sz="12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200" b="0" i="0">
                          <a:solidFill>
                            <a:srgbClr val="1F2937"/>
                          </a:solidFill>
                          <a:latin typeface="Calibri" panose="020F0502020204030204"/>
                        </a:rPr>
                        <a:t>₹74.8 lakh</a:t>
                      </a:r>
                      <a:endParaRPr sz="12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200" b="0" i="0">
                          <a:solidFill>
                            <a:srgbClr val="1F2937"/>
                          </a:solidFill>
                          <a:latin typeface="Calibri" panose="020F0502020204030204"/>
                        </a:rPr>
                        <a:t>94.3%</a:t>
                      </a:r>
                      <a:endParaRPr sz="12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200" b="0" i="0">
                          <a:solidFill>
                            <a:srgbClr val="1F2937"/>
                          </a:solidFill>
                          <a:latin typeface="Calibri" panose="020F0502020204030204"/>
                        </a:rPr>
                        <a:t>₹7.4 lakh</a:t>
                      </a:r>
                      <a:endParaRPr sz="12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200" b="0" i="0">
                          <a:solidFill>
                            <a:srgbClr val="1F2937"/>
                          </a:solidFill>
                          <a:latin typeface="Calibri" panose="020F0502020204030204"/>
                        </a:rPr>
                        <a:t>₹11.0 lakh</a:t>
                      </a:r>
                      <a:endParaRPr sz="1200" b="0" i="0">
                        <a:solidFill>
                          <a:srgbClr val="1F2937"/>
                        </a:solidFill>
                        <a:latin typeface="Calibri" panose="020F0502020204030204"/>
                      </a:endParaRPr>
                    </a:p>
                  </a:txBody>
                  <a:tcPr marL="54864" marR="54864" marT="18288" marB="18288" anchor="ctr">
                    <a:solidFill>
                      <a:srgbClr val="FFFFFF"/>
                    </a:solidFill>
                  </a:tcPr>
                </a:tc>
              </a:tr>
              <a:tr h="365760">
                <a:tc>
                  <a:txBody>
                    <a:bodyPr wrap="square"/>
                    <a:lstStyle/>
                    <a:p>
                      <a:r>
                        <a:rPr sz="1200" b="0" i="0">
                          <a:solidFill>
                            <a:srgbClr val="1F2937"/>
                          </a:solidFill>
                          <a:latin typeface="Calibri" panose="020F0502020204030204"/>
                        </a:rPr>
                        <a:t>(s, S) policy</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₹73.9 lakh</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94.9%</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₹3.0 lakh</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₹16.5 lakh</a:t>
                      </a:r>
                      <a:endParaRPr sz="1200" b="0" i="0">
                        <a:solidFill>
                          <a:srgbClr val="1F2937"/>
                        </a:solidFill>
                        <a:latin typeface="Calibri" panose="020F0502020204030204"/>
                      </a:endParaRPr>
                    </a:p>
                  </a:txBody>
                  <a:tcPr marL="54864" marR="54864" marT="18288" marB="18288" anchor="ctr">
                    <a:solidFill>
                      <a:srgbClr val="F1F5F9"/>
                    </a:solidFill>
                  </a:tcPr>
                </a:tc>
              </a:tr>
              <a:tr h="365760">
                <a:tc>
                  <a:txBody>
                    <a:bodyPr wrap="square"/>
                    <a:lstStyle/>
                    <a:p>
                      <a:r>
                        <a:rPr sz="1200" b="0" i="0">
                          <a:solidFill>
                            <a:srgbClr val="1F2937"/>
                          </a:solidFill>
                          <a:latin typeface="Calibri" panose="020F0502020204030204"/>
                        </a:rPr>
                        <a:t>Constant order (no system)</a:t>
                      </a:r>
                      <a:endParaRPr sz="12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200" b="0" i="0">
                          <a:solidFill>
                            <a:srgbClr val="1F2937"/>
                          </a:solidFill>
                          <a:latin typeface="Calibri" panose="020F0502020204030204"/>
                        </a:rPr>
                        <a:t>₹53.3 lakh</a:t>
                      </a:r>
                      <a:endParaRPr sz="12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200" b="0" i="0">
                          <a:solidFill>
                            <a:srgbClr val="1F2937"/>
                          </a:solidFill>
                          <a:latin typeface="Calibri" panose="020F0502020204030204"/>
                        </a:rPr>
                        <a:t>92.3%</a:t>
                      </a:r>
                      <a:endParaRPr sz="12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200" b="0" i="0">
                          <a:solidFill>
                            <a:srgbClr val="1F2937"/>
                          </a:solidFill>
                          <a:latin typeface="Calibri" panose="020F0502020204030204"/>
                        </a:rPr>
                        <a:t>₹3.5 lakh</a:t>
                      </a:r>
                      <a:endParaRPr sz="12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200" b="0" i="0">
                          <a:solidFill>
                            <a:srgbClr val="1F2937"/>
                          </a:solidFill>
                          <a:latin typeface="Calibri" panose="020F0502020204030204"/>
                        </a:rPr>
                        <a:t>₹29.0 lakh</a:t>
                      </a:r>
                      <a:endParaRPr sz="1200" b="0" i="0">
                        <a:solidFill>
                          <a:srgbClr val="1F2937"/>
                        </a:solidFill>
                        <a:latin typeface="Calibri" panose="020F0502020204030204"/>
                      </a:endParaRPr>
                    </a:p>
                  </a:txBody>
                  <a:tcPr marL="54864" marR="54864" marT="18288" marB="18288" anchor="ctr">
                    <a:solidFill>
                      <a:srgbClr val="FFFFFF"/>
                    </a:solidFill>
                  </a:tcPr>
                </a:tc>
              </a:tr>
              <a:tr h="365760">
                <a:tc>
                  <a:txBody>
                    <a:bodyPr wrap="square"/>
                    <a:lstStyle/>
                    <a:p>
                      <a:r>
                        <a:rPr sz="1200" b="0" i="0">
                          <a:solidFill>
                            <a:srgbClr val="1F2937"/>
                          </a:solidFill>
                          <a:latin typeface="Calibri" panose="020F0502020204030204"/>
                        </a:rPr>
                        <a:t>RL agent, no masking</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₹23.7 lakh</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94.8%</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₹14.7 lakh</a:t>
                      </a:r>
                      <a:endParaRPr sz="12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200" b="0" i="0">
                          <a:solidFill>
                            <a:srgbClr val="1F2937"/>
                          </a:solidFill>
                          <a:latin typeface="Calibri" panose="020F0502020204030204"/>
                        </a:rPr>
                        <a:t>₹11.3 lakh</a:t>
                      </a:r>
                      <a:endParaRPr sz="1200" b="0" i="0">
                        <a:solidFill>
                          <a:srgbClr val="1F2937"/>
                        </a:solidFill>
                        <a:latin typeface="Calibri" panose="020F0502020204030204"/>
                      </a:endParaRPr>
                    </a:p>
                  </a:txBody>
                  <a:tcPr marL="54864" marR="54864" marT="18288" marB="18288" anchor="ctr">
                    <a:solidFill>
                      <a:srgbClr val="F1F5F9"/>
                    </a:solidFill>
                  </a:tcPr>
                </a:tc>
              </a:tr>
            </a:tbl>
          </a:graphicData>
        </a:graphic>
      </p:graphicFrame>
      <p:pic>
        <p:nvPicPr>
          <p:cNvPr id="21" name="Picture 20" descr="05_policy_comparison.png"/>
          <p:cNvPicPr>
            <a:picLocks noChangeAspect="1"/>
          </p:cNvPicPr>
          <p:nvPr/>
        </p:nvPicPr>
        <p:blipFill>
          <a:blip r:embed="rId1"/>
          <a:stretch>
            <a:fillRect/>
          </a:stretch>
        </p:blipFill>
        <p:spPr>
          <a:xfrm>
            <a:off x="6903720" y="1371600"/>
            <a:ext cx="4873752" cy="2473798"/>
          </a:xfrm>
          <a:prstGeom prst="rect">
            <a:avLst/>
          </a:prstGeom>
          <a:ln w="12700">
            <a:solidFill>
              <a:srgbClr val="CBD5E1"/>
            </a:solidFill>
          </a:ln>
        </p:spPr>
      </p:pic>
      <p:sp>
        <p:nvSpPr>
          <p:cNvPr id="22" name="Rounded Rectangle 21"/>
          <p:cNvSpPr/>
          <p:nvPr/>
        </p:nvSpPr>
        <p:spPr>
          <a:xfrm>
            <a:off x="411480" y="4937760"/>
            <a:ext cx="2926080" cy="123444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4983480"/>
            <a:ext cx="2779776" cy="1143000"/>
          </a:xfrm>
          <a:prstGeom prst="rect">
            <a:avLst/>
          </a:prstGeom>
          <a:noFill/>
        </p:spPr>
        <p:txBody>
          <a:bodyPr wrap="square" lIns="45720" tIns="27432" rIns="45720" bIns="27432" anchor="ctr">
            <a:spAutoFit/>
          </a:bodyPr>
          <a:lstStyle/>
          <a:p>
            <a:pPr algn="ctr">
              <a:spcAft>
                <a:spcPts val="100"/>
              </a:spcAft>
            </a:pPr>
            <a:r>
              <a:rPr sz="3200" b="1" i="0">
                <a:solidFill>
                  <a:srgbClr val="FFFFFF"/>
                </a:solidFill>
                <a:latin typeface="Calibri" panose="020F0502020204030204"/>
              </a:rPr>
              <a:t>90.8%</a:t>
            </a:r>
            <a:endParaRPr sz="32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of the best classical profit</a:t>
            </a:r>
            <a:endParaRPr sz="1300" b="0" i="0">
              <a:solidFill>
                <a:srgbClr val="FFFFFF"/>
              </a:solidFill>
              <a:latin typeface="Calibri" panose="020F0502020204030204"/>
            </a:endParaRPr>
          </a:p>
        </p:txBody>
      </p:sp>
      <p:sp>
        <p:nvSpPr>
          <p:cNvPr id="24" name="Rounded Rectangle 23"/>
          <p:cNvSpPr/>
          <p:nvPr/>
        </p:nvSpPr>
        <p:spPr>
          <a:xfrm>
            <a:off x="3611880" y="4937760"/>
            <a:ext cx="2926080" cy="123444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85032" y="4983480"/>
            <a:ext cx="2779776" cy="1143000"/>
          </a:xfrm>
          <a:prstGeom prst="rect">
            <a:avLst/>
          </a:prstGeom>
          <a:noFill/>
        </p:spPr>
        <p:txBody>
          <a:bodyPr wrap="square" lIns="45720" tIns="27432" rIns="45720" bIns="27432" anchor="ctr">
            <a:spAutoFit/>
          </a:bodyPr>
          <a:lstStyle/>
          <a:p>
            <a:pPr algn="ctr">
              <a:spcAft>
                <a:spcPts val="100"/>
              </a:spcAft>
            </a:pPr>
            <a:r>
              <a:rPr sz="2600" b="1" i="0">
                <a:solidFill>
                  <a:srgbClr val="FFFFFF"/>
                </a:solidFill>
                <a:latin typeface="Calibri" panose="020F0502020204030204"/>
              </a:rPr>
              <a:t>−₹8.1 lakh</a:t>
            </a:r>
            <a:endParaRPr sz="26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gap per run, paired t = -6.45</a:t>
            </a:r>
            <a:endParaRPr sz="1300" b="0" i="0">
              <a:solidFill>
                <a:srgbClr val="FFFFFF"/>
              </a:solidFill>
              <a:latin typeface="Calibri" panose="020F0502020204030204"/>
            </a:endParaRPr>
          </a:p>
        </p:txBody>
      </p:sp>
      <p:sp>
        <p:nvSpPr>
          <p:cNvPr id="26" name="TextBox 25"/>
          <p:cNvSpPr txBox="1"/>
          <p:nvPr/>
        </p:nvSpPr>
        <p:spPr>
          <a:xfrm>
            <a:off x="6995160" y="4480560"/>
            <a:ext cx="4782312" cy="1737360"/>
          </a:xfrm>
          <a:prstGeom prst="rect">
            <a:avLst/>
          </a:prstGeom>
          <a:noFill/>
        </p:spPr>
        <p:txBody>
          <a:bodyPr wrap="square" lIns="45720" tIns="27432" rIns="45720" bIns="27432" anchor="t">
            <a:spAutoFit/>
          </a:bodyPr>
          <a:lstStyle/>
          <a:p>
            <a:pPr algn="l">
              <a:spcAft>
                <a:spcPts val="500"/>
              </a:spcAft>
            </a:pPr>
            <a:r>
              <a:rPr sz="1500" b="0" i="0">
                <a:solidFill>
                  <a:srgbClr val="1F2937"/>
                </a:solidFill>
                <a:latin typeface="Calibri" panose="020F0502020204030204"/>
              </a:rPr>
              <a:t>The best classical method beats the tuned agent, and the difference is real (95% CI 5.5–10.6 lakh), not chance. The agent beats two of the four classical methods: EOQ and (s,S).</a:t>
            </a:r>
            <a:endParaRPr sz="1500" b="0" i="0">
              <a:solidFill>
                <a:srgbClr val="1F2937"/>
              </a:solidFill>
              <a:latin typeface="Calibri" panose="020F0502020204030204"/>
            </a:endParaRPr>
          </a:p>
          <a:p>
            <a:pPr algn="l">
              <a:spcAft>
                <a:spcPts val="400"/>
              </a:spcAft>
            </a:pPr>
            <a:r>
              <a:rPr sz="1200" b="0" i="0">
                <a:solidFill>
                  <a:srgbClr val="5B6573"/>
                </a:solidFill>
                <a:latin typeface="Calibri" panose="020F0502020204030204"/>
              </a:rPr>
              <a:t>Mean profit per 180-day run, 30 held-out seeds. Rupees at 1 GBP = 105.</a:t>
            </a:r>
            <a:endParaRPr sz="1200" b="0" i="0">
              <a:solidFill>
                <a:srgbClr val="5B6573"/>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(2/4): What Each Step Was Worth</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graphicFrame>
        <p:nvGraphicFramePr>
          <p:cNvPr id="20" name="Table 19"/>
          <p:cNvGraphicFramePr>
            <a:graphicFrameLocks noGrp="1"/>
          </p:cNvGraphicFramePr>
          <p:nvPr/>
        </p:nvGraphicFramePr>
        <p:xfrm>
          <a:off x="411480" y="1371600"/>
          <a:ext cx="6035040" cy="2011680"/>
        </p:xfrm>
        <a:graphic>
          <a:graphicData uri="http://schemas.openxmlformats.org/drawingml/2006/table">
            <a:tbl>
              <a:tblPr firstRow="1" bandRow="1">
                <a:tableStyleId>{5C22544A-7EE6-4342-B048-85BDC9FD1C3A}</a:tableStyleId>
              </a:tblPr>
              <a:tblGrid>
                <a:gridCol w="2194560"/>
                <a:gridCol w="1188720"/>
                <a:gridCol w="1188720"/>
                <a:gridCol w="1463040"/>
              </a:tblGrid>
              <a:tr h="502920">
                <a:tc>
                  <a:txBody>
                    <a:bodyPr wrap="square"/>
                    <a:lstStyle/>
                    <a:p>
                      <a:pPr algn="l"/>
                      <a:r>
                        <a:rPr sz="1400" b="1" i="0">
                          <a:solidFill>
                            <a:srgbClr val="FFFFFF"/>
                          </a:solidFill>
                          <a:latin typeface="Calibri" panose="020F0502020204030204"/>
                        </a:rPr>
                        <a:t>Step</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400" b="1" i="0">
                          <a:solidFill>
                            <a:srgbClr val="FFFFFF"/>
                          </a:solidFill>
                          <a:latin typeface="Calibri" panose="020F0502020204030204"/>
                        </a:rPr>
                        <a:t>Train score</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400" b="1" i="0">
                          <a:solidFill>
                            <a:srgbClr val="FFFFFF"/>
                          </a:solidFill>
                          <a:latin typeface="Calibri" panose="020F0502020204030204"/>
                        </a:rPr>
                        <a:t>Test score</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400" b="1" i="0">
                          <a:solidFill>
                            <a:srgbClr val="FFFFFF"/>
                          </a:solidFill>
                          <a:latin typeface="Calibri" panose="020F0502020204030204"/>
                        </a:rPr>
                        <a:t>Gap to classical</a:t>
                      </a:r>
                      <a:endParaRPr sz="1400" b="1" i="0">
                        <a:solidFill>
                          <a:srgbClr val="FFFFFF"/>
                        </a:solidFill>
                        <a:latin typeface="Calibri" panose="020F0502020204030204"/>
                      </a:endParaRPr>
                    </a:p>
                  </a:txBody>
                  <a:tcPr marL="54864" marR="54864" marT="18288" marB="18288" anchor="ctr">
                    <a:solidFill>
                      <a:srgbClr val="2E8B57"/>
                    </a:solidFill>
                  </a:tcPr>
                </a:tc>
              </a:tr>
              <a:tr h="502920">
                <a:tc>
                  <a:txBody>
                    <a:bodyPr wrap="square"/>
                    <a:lstStyle/>
                    <a:p>
                      <a:r>
                        <a:rPr sz="1400" b="0" i="0">
                          <a:solidFill>
                            <a:srgbClr val="1F2937"/>
                          </a:solidFill>
                          <a:latin typeface="Calibri" panose="020F0502020204030204"/>
                        </a:rPr>
                        <a:t>PPO, no masking</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24.9 lakh</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23.7 lakh</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−64.1 lakh</a:t>
                      </a:r>
                      <a:endParaRPr sz="1400" b="0" i="0">
                        <a:solidFill>
                          <a:srgbClr val="1F2937"/>
                        </a:solidFill>
                        <a:latin typeface="Calibri" panose="020F0502020204030204"/>
                      </a:endParaRPr>
                    </a:p>
                  </a:txBody>
                  <a:tcPr marL="54864" marR="54864" marT="18288" marB="18288" anchor="ctr">
                    <a:solidFill>
                      <a:srgbClr val="FFFFFF"/>
                    </a:solidFill>
                  </a:tcPr>
                </a:tc>
              </a:tr>
              <a:tr h="502920">
                <a:tc>
                  <a:txBody>
                    <a:bodyPr wrap="square"/>
                    <a:lstStyle/>
                    <a:p>
                      <a:r>
                        <a:rPr sz="1400" b="0" i="0">
                          <a:solidFill>
                            <a:srgbClr val="1F2937"/>
                          </a:solidFill>
                          <a:latin typeface="Calibri" panose="020F0502020204030204"/>
                        </a:rPr>
                        <a:t>+ action masking</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76.4 lakh</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74.8 lakh</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−13.0 lakh</a:t>
                      </a:r>
                      <a:endParaRPr sz="1400" b="0" i="0">
                        <a:solidFill>
                          <a:srgbClr val="1F2937"/>
                        </a:solidFill>
                        <a:latin typeface="Calibri" panose="020F0502020204030204"/>
                      </a:endParaRPr>
                    </a:p>
                  </a:txBody>
                  <a:tcPr marL="54864" marR="54864" marT="18288" marB="18288" anchor="ctr">
                    <a:solidFill>
                      <a:srgbClr val="F1F5F9"/>
                    </a:solidFill>
                  </a:tcPr>
                </a:tc>
              </a:tr>
              <a:tr h="502920">
                <a:tc>
                  <a:txBody>
                    <a:bodyPr wrap="square"/>
                    <a:lstStyle/>
                    <a:p>
                      <a:r>
                        <a:rPr sz="1400" b="1" i="0">
                          <a:solidFill>
                            <a:srgbClr val="1F2937"/>
                          </a:solidFill>
                          <a:latin typeface="Calibri" panose="020F0502020204030204"/>
                        </a:rPr>
                        <a:t>+ tuning, 2M steps</a:t>
                      </a:r>
                      <a:endParaRPr sz="14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400" b="1" i="0">
                          <a:solidFill>
                            <a:srgbClr val="1F2937"/>
                          </a:solidFill>
                          <a:latin typeface="Calibri" panose="020F0502020204030204"/>
                        </a:rPr>
                        <a:t>86.2 lakh</a:t>
                      </a:r>
                      <a:endParaRPr sz="14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400" b="1" i="0">
                          <a:solidFill>
                            <a:srgbClr val="1F2937"/>
                          </a:solidFill>
                          <a:latin typeface="Calibri" panose="020F0502020204030204"/>
                        </a:rPr>
                        <a:t>79.7 lakh</a:t>
                      </a:r>
                      <a:endParaRPr sz="14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400" b="1" i="0">
                          <a:solidFill>
                            <a:srgbClr val="1F2937"/>
                          </a:solidFill>
                          <a:latin typeface="Calibri" panose="020F0502020204030204"/>
                        </a:rPr>
                        <a:t>−8.1 lakh</a:t>
                      </a:r>
                      <a:endParaRPr sz="1400" b="1" i="0">
                        <a:solidFill>
                          <a:srgbClr val="1F2937"/>
                        </a:solidFill>
                        <a:latin typeface="Calibri" panose="020F0502020204030204"/>
                      </a:endParaRPr>
                    </a:p>
                  </a:txBody>
                  <a:tcPr marL="54864" marR="54864" marT="18288" marB="18288" anchor="ctr">
                    <a:solidFill>
                      <a:srgbClr val="E6F4EA"/>
                    </a:solidFill>
                  </a:tcPr>
                </a:tc>
              </a:tr>
            </a:tbl>
          </a:graphicData>
        </a:graphic>
      </p:graphicFrame>
      <p:sp>
        <p:nvSpPr>
          <p:cNvPr id="21" name="TextBox 20"/>
          <p:cNvSpPr txBox="1"/>
          <p:nvPr/>
        </p:nvSpPr>
        <p:spPr>
          <a:xfrm>
            <a:off x="411480" y="3566160"/>
            <a:ext cx="6035040" cy="2743200"/>
          </a:xfrm>
          <a:prstGeom prst="rect">
            <a:avLst/>
          </a:prstGeom>
          <a:noFill/>
        </p:spPr>
        <p:txBody>
          <a:bodyPr wrap="square" lIns="45720" tIns="27432" rIns="45720" bIns="27432" anchor="t">
            <a:spAutoFit/>
          </a:bodyPr>
          <a:lstStyle/>
          <a:p>
            <a:pPr algn="l">
              <a:spcAft>
                <a:spcPts val="800"/>
              </a:spcAft>
            </a:pPr>
            <a:r>
              <a:rPr sz="1600" b="1" i="0">
                <a:solidFill>
                  <a:srgbClr val="D6336C"/>
                </a:solidFill>
                <a:latin typeface="Calibri" panose="020F0502020204030204"/>
              </a:rPr>
              <a:t>•  Action masking: about 3×. </a:t>
            </a:r>
            <a:r>
              <a:rPr sz="1600" b="0" i="0">
                <a:solidFill>
                  <a:srgbClr val="1F2937"/>
                </a:solidFill>
                <a:latin typeface="Calibri" panose="020F0502020204030204"/>
              </a:rPr>
              <a:t>Without it the agent spends most of training discovering that some choices are pointless.</a:t>
            </a:r>
            <a:endParaRPr sz="1600" b="0" i="0">
              <a:solidFill>
                <a:srgbClr val="1F2937"/>
              </a:solidFill>
              <a:latin typeface="Calibri" panose="020F0502020204030204"/>
            </a:endParaRPr>
          </a:p>
          <a:p>
            <a:pPr algn="l">
              <a:spcAft>
                <a:spcPts val="800"/>
              </a:spcAft>
            </a:pPr>
            <a:r>
              <a:rPr sz="1600" b="1" i="0">
                <a:solidFill>
                  <a:srgbClr val="1B5E3A"/>
                </a:solidFill>
                <a:latin typeface="Calibri" panose="020F0502020204030204"/>
              </a:rPr>
              <a:t>•  Tuning: closed 38% of what was left. </a:t>
            </a:r>
            <a:r>
              <a:rPr sz="1600" b="0" i="0">
                <a:solidFill>
                  <a:srgbClr val="1F2937"/>
                </a:solidFill>
                <a:latin typeface="Calibri" panose="020F0502020204030204"/>
              </a:rPr>
              <a:t>From a 13.0 to an 8.1 lakh gap.</a:t>
            </a:r>
            <a:endParaRPr sz="1600" b="0" i="0">
              <a:solidFill>
                <a:srgbClr val="1F2937"/>
              </a:solidFill>
              <a:latin typeface="Calibri" panose="020F0502020204030204"/>
            </a:endParaRPr>
          </a:p>
          <a:p>
            <a:pPr algn="l">
              <a:spcAft>
                <a:spcPts val="400"/>
              </a:spcAft>
            </a:pPr>
            <a:r>
              <a:rPr sz="1200" b="0" i="0">
                <a:solidFill>
                  <a:srgbClr val="5B6573"/>
                </a:solidFill>
                <a:latin typeface="Calibri" panose="020F0502020204030204"/>
              </a:rPr>
              <a:t>Train scores use checkpoint-selection seeds 900–905; test scores use the held-out seeds 500–529.</a:t>
            </a:r>
            <a:endParaRPr sz="1200" b="0" i="0">
              <a:solidFill>
                <a:srgbClr val="5B6573"/>
              </a:solidFill>
              <a:latin typeface="Calibri" panose="020F0502020204030204"/>
            </a:endParaRPr>
          </a:p>
        </p:txBody>
      </p:sp>
      <p:pic>
        <p:nvPicPr>
          <p:cNvPr id="22" name="Picture 21" descr="06_training_curves.png"/>
          <p:cNvPicPr>
            <a:picLocks noChangeAspect="1"/>
          </p:cNvPicPr>
          <p:nvPr/>
        </p:nvPicPr>
        <p:blipFill>
          <a:blip r:embed="rId1"/>
          <a:stretch>
            <a:fillRect/>
          </a:stretch>
        </p:blipFill>
        <p:spPr>
          <a:xfrm>
            <a:off x="6720840" y="1371600"/>
            <a:ext cx="5056632" cy="2442123"/>
          </a:xfrm>
          <a:prstGeom prst="rect">
            <a:avLst/>
          </a:prstGeom>
          <a:ln w="12700">
            <a:solidFill>
              <a:srgbClr val="CBD5E1"/>
            </a:solidFill>
          </a:ln>
        </p:spPr>
      </p:pic>
      <p:sp>
        <p:nvSpPr>
          <p:cNvPr id="23" name="TextBox 22"/>
          <p:cNvSpPr txBox="1"/>
          <p:nvPr/>
        </p:nvSpPr>
        <p:spPr>
          <a:xfrm>
            <a:off x="6720840" y="3841155"/>
            <a:ext cx="5056632" cy="292608"/>
          </a:xfrm>
          <a:prstGeom prst="rect">
            <a:avLst/>
          </a:prstGeom>
          <a:noFill/>
        </p:spPr>
        <p:txBody>
          <a:bodyPr wrap="square" lIns="45720" tIns="27432" rIns="45720" bIns="27432" anchor="t">
            <a:spAutoFit/>
          </a:bodyPr>
          <a:lstStyle/>
          <a:p>
            <a:pPr algn="ctr">
              <a:spcAft>
                <a:spcPts val="400"/>
              </a:spcAft>
            </a:pPr>
            <a:r>
              <a:rPr sz="1200" b="0" i="0">
                <a:solidFill>
                  <a:srgbClr val="5B6573"/>
                </a:solidFill>
                <a:latin typeface="Calibri" panose="020F0502020204030204"/>
              </a:rPr>
              <a:t>Learning curves: no masking, masking, tuned (checkpoint seeds)</a:t>
            </a:r>
            <a:endParaRPr sz="1200" b="0" i="0">
              <a:solidFill>
                <a:srgbClr val="5B6573"/>
              </a:solidFill>
              <a:latin typeface="Calibri" panose="020F05020202040302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(3/4): Robustness to Unseen Crises</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graphicFrame>
        <p:nvGraphicFramePr>
          <p:cNvPr id="20" name="Table 19"/>
          <p:cNvGraphicFramePr>
            <a:graphicFrameLocks noGrp="1"/>
          </p:cNvGraphicFramePr>
          <p:nvPr/>
        </p:nvGraphicFramePr>
        <p:xfrm>
          <a:off x="411480" y="1371600"/>
          <a:ext cx="6766557" cy="2514600"/>
        </p:xfrm>
        <a:graphic>
          <a:graphicData uri="http://schemas.openxmlformats.org/drawingml/2006/table">
            <a:tbl>
              <a:tblPr firstRow="1" bandRow="1">
                <a:tableStyleId>{5C22544A-7EE6-4342-B048-85BDC9FD1C3A}</a:tableStyleId>
              </a:tblPr>
              <a:tblGrid>
                <a:gridCol w="3286614"/>
                <a:gridCol w="1256646"/>
                <a:gridCol w="1256646"/>
                <a:gridCol w="966651"/>
              </a:tblGrid>
              <a:tr h="502920">
                <a:tc>
                  <a:txBody>
                    <a:bodyPr wrap="square"/>
                    <a:lstStyle/>
                    <a:p>
                      <a:pPr algn="l"/>
                      <a:r>
                        <a:rPr sz="1400" b="1" i="0">
                          <a:solidFill>
                            <a:srgbClr val="FFFFFF"/>
                          </a:solidFill>
                          <a:latin typeface="Calibri" panose="020F0502020204030204"/>
                        </a:rPr>
                        <a:t>Method</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400" b="1" i="0">
                          <a:solidFill>
                            <a:srgbClr val="FFFFFF"/>
                          </a:solidFill>
                          <a:latin typeface="Calibri" panose="020F0502020204030204"/>
                        </a:rPr>
                        <a:t>Calm</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400" b="1" i="0">
                          <a:solidFill>
                            <a:srgbClr val="FFFFFF"/>
                          </a:solidFill>
                          <a:latin typeface="Calibri" panose="020F0502020204030204"/>
                        </a:rPr>
                        <a:t>Crisis</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400" b="1" i="0">
                          <a:solidFill>
                            <a:srgbClr val="FFFFFF"/>
                          </a:solidFill>
                          <a:latin typeface="Calibri" panose="020F0502020204030204"/>
                        </a:rPr>
                        <a:t>Drop</a:t>
                      </a:r>
                      <a:endParaRPr sz="1400" b="1" i="0">
                        <a:solidFill>
                          <a:srgbClr val="FFFFFF"/>
                        </a:solidFill>
                        <a:latin typeface="Calibri" panose="020F0502020204030204"/>
                      </a:endParaRPr>
                    </a:p>
                  </a:txBody>
                  <a:tcPr marL="54864" marR="54864" marT="18288" marB="18288" anchor="ctr">
                    <a:solidFill>
                      <a:srgbClr val="2E8B57"/>
                    </a:solidFill>
                  </a:tcPr>
                </a:tc>
              </a:tr>
              <a:tr h="502920">
                <a:tc>
                  <a:txBody>
                    <a:bodyPr wrap="square"/>
                    <a:lstStyle/>
                    <a:p>
                      <a:r>
                        <a:rPr sz="1400" b="0" i="0">
                          <a:solidFill>
                            <a:srgbClr val="1F2937"/>
                          </a:solidFill>
                          <a:latin typeface="Calibri" panose="020F0502020204030204"/>
                        </a:rPr>
                        <a:t>Forecast + safety stock</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₹87.4 lakh</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₹53.7 lakh</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-38.6%</a:t>
                      </a:r>
                      <a:endParaRPr sz="1400" b="0" i="0">
                        <a:solidFill>
                          <a:srgbClr val="1F2937"/>
                        </a:solidFill>
                        <a:latin typeface="Calibri" panose="020F0502020204030204"/>
                      </a:endParaRPr>
                    </a:p>
                  </a:txBody>
                  <a:tcPr marL="54864" marR="54864" marT="18288" marB="18288" anchor="ctr">
                    <a:solidFill>
                      <a:srgbClr val="FFFFFF"/>
                    </a:solidFill>
                  </a:tcPr>
                </a:tc>
              </a:tr>
              <a:tr h="502920">
                <a:tc>
                  <a:txBody>
                    <a:bodyPr wrap="square"/>
                    <a:lstStyle/>
                    <a:p>
                      <a:r>
                        <a:rPr sz="1400" b="1" i="0">
                          <a:solidFill>
                            <a:srgbClr val="1F2937"/>
                          </a:solidFill>
                          <a:latin typeface="Calibri" panose="020F0502020204030204"/>
                        </a:rPr>
                        <a:t>RL agent, tuned (no crisis training)</a:t>
                      </a:r>
                      <a:endParaRPr sz="14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400" b="1" i="0">
                          <a:solidFill>
                            <a:srgbClr val="1F2937"/>
                          </a:solidFill>
                          <a:latin typeface="Calibri" panose="020F0502020204030204"/>
                        </a:rPr>
                        <a:t>₹80.4 lakh</a:t>
                      </a:r>
                      <a:endParaRPr sz="14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400" b="1" i="0">
                          <a:solidFill>
                            <a:srgbClr val="1F2937"/>
                          </a:solidFill>
                          <a:latin typeface="Calibri" panose="020F0502020204030204"/>
                        </a:rPr>
                        <a:t>₹50.7 lakh</a:t>
                      </a:r>
                      <a:endParaRPr sz="1400" b="1" i="0">
                        <a:solidFill>
                          <a:srgbClr val="1F2937"/>
                        </a:solidFill>
                        <a:latin typeface="Calibri" panose="020F0502020204030204"/>
                      </a:endParaRPr>
                    </a:p>
                  </a:txBody>
                  <a:tcPr marL="54864" marR="54864" marT="18288" marB="18288" anchor="ctr">
                    <a:solidFill>
                      <a:srgbClr val="E6F4EA"/>
                    </a:solidFill>
                  </a:tcPr>
                </a:tc>
                <a:tc>
                  <a:txBody>
                    <a:bodyPr wrap="square"/>
                    <a:lstStyle/>
                    <a:p>
                      <a:pPr algn="ctr"/>
                      <a:r>
                        <a:rPr sz="1400" b="1" i="0">
                          <a:solidFill>
                            <a:srgbClr val="1F2937"/>
                          </a:solidFill>
                          <a:latin typeface="Calibri" panose="020F0502020204030204"/>
                        </a:rPr>
                        <a:t>-37.0%</a:t>
                      </a:r>
                      <a:endParaRPr sz="1400" b="1" i="0">
                        <a:solidFill>
                          <a:srgbClr val="1F2937"/>
                        </a:solidFill>
                        <a:latin typeface="Calibri" panose="020F0502020204030204"/>
                      </a:endParaRPr>
                    </a:p>
                  </a:txBody>
                  <a:tcPr marL="54864" marR="54864" marT="18288" marB="18288" anchor="ctr">
                    <a:solidFill>
                      <a:srgbClr val="E6F4EA"/>
                    </a:solidFill>
                  </a:tcPr>
                </a:tc>
              </a:tr>
              <a:tr h="502920">
                <a:tc>
                  <a:txBody>
                    <a:bodyPr wrap="square"/>
                    <a:lstStyle/>
                    <a:p>
                      <a:r>
                        <a:rPr sz="1400" b="0" i="0">
                          <a:solidFill>
                            <a:srgbClr val="1F2937"/>
                          </a:solidFill>
                          <a:latin typeface="Calibri" panose="020F0502020204030204"/>
                        </a:rPr>
                        <a:t>RL agent, untuned (control)</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₹73.8 lakh</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₹38.8 lakh</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-47.5%</a:t>
                      </a:r>
                      <a:endParaRPr sz="1400" b="0" i="0">
                        <a:solidFill>
                          <a:srgbClr val="1F2937"/>
                        </a:solidFill>
                        <a:latin typeface="Calibri" panose="020F0502020204030204"/>
                      </a:endParaRPr>
                    </a:p>
                  </a:txBody>
                  <a:tcPr marL="54864" marR="54864" marT="18288" marB="18288" anchor="ctr">
                    <a:solidFill>
                      <a:srgbClr val="FFFFFF"/>
                    </a:solidFill>
                  </a:tcPr>
                </a:tc>
              </a:tr>
              <a:tr h="502920">
                <a:tc>
                  <a:txBody>
                    <a:bodyPr wrap="square"/>
                    <a:lstStyle/>
                    <a:p>
                      <a:r>
                        <a:rPr sz="1400" b="0" i="0">
                          <a:solidFill>
                            <a:srgbClr val="1F2937"/>
                          </a:solidFill>
                          <a:latin typeface="Calibri" panose="020F0502020204030204"/>
                        </a:rPr>
                        <a:t>RL agent, trained on crises</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₹66.0 lakh</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₹38.9 lakh</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-41.1%</a:t>
                      </a:r>
                      <a:endParaRPr sz="1400" b="0" i="0">
                        <a:solidFill>
                          <a:srgbClr val="1F2937"/>
                        </a:solidFill>
                        <a:latin typeface="Calibri" panose="020F0502020204030204"/>
                      </a:endParaRPr>
                    </a:p>
                  </a:txBody>
                  <a:tcPr marL="54864" marR="54864" marT="18288" marB="18288" anchor="ctr">
                    <a:solidFill>
                      <a:srgbClr val="F1F5F9"/>
                    </a:solidFill>
                  </a:tcPr>
                </a:tc>
              </a:tr>
            </a:tbl>
          </a:graphicData>
        </a:graphic>
      </p:graphicFrame>
      <p:sp>
        <p:nvSpPr>
          <p:cNvPr id="21" name="Rounded Rectangle 20"/>
          <p:cNvSpPr/>
          <p:nvPr/>
        </p:nvSpPr>
        <p:spPr>
          <a:xfrm>
            <a:off x="7452360" y="1371600"/>
            <a:ext cx="4325112" cy="265176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62088" y="1444752"/>
            <a:ext cx="4105656" cy="2505456"/>
          </a:xfrm>
          <a:prstGeom prst="rect">
            <a:avLst/>
          </a:prstGeom>
          <a:noFill/>
        </p:spPr>
        <p:txBody>
          <a:bodyPr wrap="square" lIns="45720" tIns="27432" rIns="45720" bIns="27432" anchor="t">
            <a:spAutoFit/>
          </a:bodyPr>
          <a:lstStyle/>
          <a:p>
            <a:pPr algn="l">
              <a:spcAft>
                <a:spcPts val="500"/>
              </a:spcAft>
            </a:pPr>
            <a:r>
              <a:rPr sz="1700" b="1" i="0">
                <a:solidFill>
                  <a:srgbClr val="D6336C"/>
                </a:solidFill>
                <a:latin typeface="Calibri" panose="020F0502020204030204"/>
              </a:rPr>
              <a:t>Crisis training did not work</a:t>
            </a:r>
            <a:endParaRPr sz="1700" b="1" i="0">
              <a:solidFill>
                <a:srgbClr val="D6336C"/>
              </a:solidFill>
              <a:latin typeface="Calibri" panose="020F0502020204030204"/>
            </a:endParaRPr>
          </a:p>
          <a:p>
            <a:pPr algn="l">
              <a:spcAft>
                <a:spcPts val="300"/>
              </a:spcAft>
            </a:pPr>
            <a:r>
              <a:rPr sz="1400" b="0" i="0">
                <a:solidFill>
                  <a:srgbClr val="1F2937"/>
                </a:solidFill>
                <a:latin typeface="Calibri" panose="020F0502020204030204"/>
              </a:rPr>
              <a:t>•  Under crisis it earns ₹38.9 lakh vs the control’s ₹38.8 lakh</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but gave up ₹7.7 lakh of calm profit</a:t>
            </a:r>
            <a:endParaRPr sz="1400" b="0" i="0">
              <a:solidFill>
                <a:srgbClr val="1F2937"/>
              </a:solidFill>
              <a:latin typeface="Calibri" panose="020F0502020204030204"/>
            </a:endParaRPr>
          </a:p>
          <a:p>
            <a:pPr algn="l">
              <a:spcAft>
                <a:spcPts val="300"/>
              </a:spcAft>
            </a:pPr>
            <a:r>
              <a:rPr sz="1400" b="0" i="0">
                <a:solidFill>
                  <a:srgbClr val="1F2937"/>
                </a:solidFill>
                <a:latin typeface="Calibri" panose="020F0502020204030204"/>
              </a:rPr>
              <a:t>•  Paired t = +1.69: not significant</a:t>
            </a:r>
            <a:endParaRPr sz="1400" b="0" i="0">
              <a:solidFill>
                <a:srgbClr val="1F2937"/>
              </a:solidFill>
              <a:latin typeface="Calibri" panose="020F0502020204030204"/>
            </a:endParaRPr>
          </a:p>
        </p:txBody>
      </p:sp>
      <p:sp>
        <p:nvSpPr>
          <p:cNvPr id="23" name="TextBox 22"/>
          <p:cNvSpPr txBox="1"/>
          <p:nvPr/>
        </p:nvSpPr>
        <p:spPr>
          <a:xfrm>
            <a:off x="411480" y="4297680"/>
            <a:ext cx="11365992" cy="2011680"/>
          </a:xfrm>
          <a:prstGeom prst="rect">
            <a:avLst/>
          </a:prstGeom>
          <a:noFill/>
        </p:spPr>
        <p:txBody>
          <a:bodyPr wrap="square" lIns="45720" tIns="27432" rIns="45720" bIns="27432" anchor="t">
            <a:spAutoFit/>
          </a:bodyPr>
          <a:lstStyle/>
          <a:p>
            <a:pPr algn="l">
              <a:spcAft>
                <a:spcPts val="800"/>
              </a:spcAft>
            </a:pPr>
            <a:r>
              <a:rPr sz="1600" b="1" i="0">
                <a:solidFill>
                  <a:srgbClr val="1F2937"/>
                </a:solidFill>
                <a:latin typeface="Calibri" panose="020F0502020204030204"/>
              </a:rPr>
              <a:t>•  A smaller percentage drop is misleading </a:t>
            </a:r>
            <a:r>
              <a:rPr sz="1600" b="0" i="0">
                <a:solidFill>
                  <a:srgbClr val="1F2937"/>
                </a:solidFill>
                <a:latin typeface="Calibri" panose="020F0502020204030204"/>
              </a:rPr>
              <a:t>when the base is lower: the crisis-trained agent drops less because it has less to lose. We show the drop beside absolute profit so “less to lose” cannot pass for robustness.</a:t>
            </a:r>
            <a:endParaRPr sz="1600" b="0" i="0">
              <a:solidFill>
                <a:srgbClr val="1F2937"/>
              </a:solidFill>
              <a:latin typeface="Calibri" panose="020F0502020204030204"/>
            </a:endParaRPr>
          </a:p>
          <a:p>
            <a:pPr algn="l">
              <a:spcAft>
                <a:spcPts val="800"/>
              </a:spcAft>
            </a:pPr>
            <a:r>
              <a:rPr sz="1600" b="1" i="0">
                <a:solidFill>
                  <a:srgbClr val="1B5E3A"/>
                </a:solidFill>
                <a:latin typeface="Calibri" panose="020F0502020204030204"/>
              </a:rPr>
              <a:t>•  The useful finding: </a:t>
            </a:r>
            <a:r>
              <a:rPr sz="1600" b="0" i="0">
                <a:solidFill>
                  <a:srgbClr val="1F2937"/>
                </a:solidFill>
                <a:latin typeface="Calibri" panose="020F0502020204030204"/>
              </a:rPr>
              <a:t>plain hyperparameter tuning made the agent more robust than crisis training did. The tuned agent never saw a crisis in training, yet has the highest crisis profit and smallest drop of all agent versions.</a:t>
            </a:r>
            <a:endParaRPr sz="1600" b="0" i="0">
              <a:solidFill>
                <a:srgbClr val="1F2937"/>
              </a:solidFill>
              <a:latin typeface="Calibri" panose="020F0502020204030204"/>
            </a:endParaRPr>
          </a:p>
          <a:p>
            <a:pPr algn="l">
              <a:spcAft>
                <a:spcPts val="400"/>
              </a:spcAft>
            </a:pPr>
            <a:r>
              <a:rPr sz="1300" b="0" i="0">
                <a:solidFill>
                  <a:srgbClr val="5B6573"/>
                </a:solidFill>
                <a:latin typeface="Calibri" panose="020F0502020204030204"/>
              </a:rPr>
              <a:t>Limit: the crisis-trained agent faced a harder task with the same step budget, so under-training may explain part of its result.</a:t>
            </a:r>
            <a:endParaRPr sz="1300" b="0" i="0">
              <a:solidFill>
                <a:srgbClr val="5B6573"/>
              </a:solidFill>
              <a:latin typeface="Calibri" panose="020F05020202040302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(4/4): Explainer Accuracy on 30 Real Decisions</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sp>
        <p:nvSpPr>
          <p:cNvPr id="20" name="Rounded Rectangle 19"/>
          <p:cNvSpPr/>
          <p:nvPr/>
        </p:nvSpPr>
        <p:spPr>
          <a:xfrm>
            <a:off x="411480" y="1371600"/>
            <a:ext cx="3566160" cy="155448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 y="1417320"/>
            <a:ext cx="3419856" cy="1463039"/>
          </a:xfrm>
          <a:prstGeom prst="rect">
            <a:avLst/>
          </a:prstGeom>
          <a:noFill/>
        </p:spPr>
        <p:txBody>
          <a:bodyPr wrap="square" lIns="45720" tIns="27432" rIns="45720" bIns="27432" anchor="ctr">
            <a:spAutoFit/>
          </a:bodyPr>
          <a:lstStyle/>
          <a:p>
            <a:pPr algn="ctr">
              <a:spcAft>
                <a:spcPts val="100"/>
              </a:spcAft>
            </a:pPr>
            <a:r>
              <a:rPr sz="4400" b="1" i="0">
                <a:solidFill>
                  <a:srgbClr val="FFFFFF"/>
                </a:solidFill>
                <a:latin typeface="Calibri" panose="020F0502020204030204"/>
              </a:rPr>
              <a:t>83%</a:t>
            </a:r>
            <a:endParaRPr sz="44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raw LLM accuracy: grounded and complete, before the check</a:t>
            </a:r>
            <a:endParaRPr sz="1300" b="0" i="0">
              <a:solidFill>
                <a:srgbClr val="FFFFFF"/>
              </a:solidFill>
              <a:latin typeface="Calibri" panose="020F0502020204030204"/>
            </a:endParaRPr>
          </a:p>
        </p:txBody>
      </p:sp>
      <p:sp>
        <p:nvSpPr>
          <p:cNvPr id="22" name="Rounded Rectangle 21"/>
          <p:cNvSpPr/>
          <p:nvPr/>
        </p:nvSpPr>
        <p:spPr>
          <a:xfrm>
            <a:off x="4206240" y="1371600"/>
            <a:ext cx="3566160" cy="155448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79392" y="1417320"/>
            <a:ext cx="3419856" cy="1463039"/>
          </a:xfrm>
          <a:prstGeom prst="rect">
            <a:avLst/>
          </a:prstGeom>
          <a:noFill/>
        </p:spPr>
        <p:txBody>
          <a:bodyPr wrap="square" lIns="45720" tIns="27432" rIns="45720" bIns="27432" anchor="ctr">
            <a:spAutoFit/>
          </a:bodyPr>
          <a:lstStyle/>
          <a:p>
            <a:pPr algn="ctr">
              <a:spcAft>
                <a:spcPts val="100"/>
              </a:spcAft>
            </a:pPr>
            <a:r>
              <a:rPr sz="4400" b="1" i="0">
                <a:solidFill>
                  <a:srgbClr val="FFFFFF"/>
                </a:solidFill>
                <a:latin typeface="Calibri" panose="020F0502020204030204"/>
              </a:rPr>
              <a:t>100%</a:t>
            </a:r>
            <a:endParaRPr sz="44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delivered accuracy: what the manager saw, after the check</a:t>
            </a:r>
            <a:endParaRPr sz="1300" b="0" i="0">
              <a:solidFill>
                <a:srgbClr val="FFFFFF"/>
              </a:solidFill>
              <a:latin typeface="Calibri" panose="020F0502020204030204"/>
            </a:endParaRPr>
          </a:p>
        </p:txBody>
      </p:sp>
      <p:sp>
        <p:nvSpPr>
          <p:cNvPr id="24" name="Rounded Rectangle 23"/>
          <p:cNvSpPr/>
          <p:nvPr/>
        </p:nvSpPr>
        <p:spPr>
          <a:xfrm>
            <a:off x="8001000" y="1371600"/>
            <a:ext cx="3776472" cy="155448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74152" y="1417320"/>
            <a:ext cx="3630168" cy="1463039"/>
          </a:xfrm>
          <a:prstGeom prst="rect">
            <a:avLst/>
          </a:prstGeom>
          <a:noFill/>
        </p:spPr>
        <p:txBody>
          <a:bodyPr wrap="square" lIns="45720" tIns="27432" rIns="45720" bIns="27432" anchor="ctr">
            <a:spAutoFit/>
          </a:bodyPr>
          <a:lstStyle/>
          <a:p>
            <a:pPr algn="ctr">
              <a:spcAft>
                <a:spcPts val="100"/>
              </a:spcAft>
            </a:pPr>
            <a:r>
              <a:rPr sz="4000" b="1" i="0">
                <a:solidFill>
                  <a:srgbClr val="FFFFFF"/>
                </a:solidFill>
                <a:latin typeface="Calibri" panose="020F0502020204030204"/>
              </a:rPr>
              <a:t>5 of 30</a:t>
            </a:r>
            <a:endParaRPr sz="4000" b="1" i="0">
              <a:solidFill>
                <a:srgbClr val="FFFFFF"/>
              </a:solidFill>
              <a:latin typeface="Calibri" panose="020F0502020204030204"/>
            </a:endParaRPr>
          </a:p>
          <a:p>
            <a:pPr algn="ctr">
              <a:spcAft>
                <a:spcPts val="400"/>
              </a:spcAft>
            </a:pPr>
            <a:r>
              <a:rPr sz="1300" b="0" i="0">
                <a:solidFill>
                  <a:srgbClr val="FFFFFF"/>
                </a:solidFill>
                <a:latin typeface="Calibri" panose="020F0502020204030204"/>
              </a:rPr>
              <a:t>raw outputs contained an invented number; all 5 caught</a:t>
            </a:r>
            <a:endParaRPr sz="1300" b="0" i="0">
              <a:solidFill>
                <a:srgbClr val="FFFFFF"/>
              </a:solidFill>
              <a:latin typeface="Calibri" panose="020F0502020204030204"/>
            </a:endParaRPr>
          </a:p>
        </p:txBody>
      </p:sp>
      <p:graphicFrame>
        <p:nvGraphicFramePr>
          <p:cNvPr id="26" name="Table 25"/>
          <p:cNvGraphicFramePr>
            <a:graphicFrameLocks noGrp="1"/>
          </p:cNvGraphicFramePr>
          <p:nvPr/>
        </p:nvGraphicFramePr>
        <p:xfrm>
          <a:off x="411480" y="3154680"/>
          <a:ext cx="6583680" cy="2286000"/>
        </p:xfrm>
        <a:graphic>
          <a:graphicData uri="http://schemas.openxmlformats.org/drawingml/2006/table">
            <a:tbl>
              <a:tblPr firstRow="1" bandRow="1">
                <a:tableStyleId>{5C22544A-7EE6-4342-B048-85BDC9FD1C3A}</a:tableStyleId>
              </a:tblPr>
              <a:tblGrid>
                <a:gridCol w="4206240"/>
                <a:gridCol w="2377440"/>
              </a:tblGrid>
              <a:tr h="457200">
                <a:tc>
                  <a:txBody>
                    <a:bodyPr wrap="square"/>
                    <a:lstStyle/>
                    <a:p>
                      <a:pPr algn="l"/>
                      <a:r>
                        <a:rPr sz="1400" b="1" i="0">
                          <a:solidFill>
                            <a:srgbClr val="FFFFFF"/>
                          </a:solidFill>
                          <a:latin typeface="Calibri" panose="020F0502020204030204"/>
                        </a:rPr>
                        <a:t>Measure</a:t>
                      </a:r>
                      <a:endParaRPr sz="1400" b="1" i="0">
                        <a:solidFill>
                          <a:srgbClr val="FFFFFF"/>
                        </a:solidFill>
                        <a:latin typeface="Calibri" panose="020F0502020204030204"/>
                      </a:endParaRPr>
                    </a:p>
                  </a:txBody>
                  <a:tcPr marL="54864" marR="54864" marT="18288" marB="18288" anchor="ctr">
                    <a:solidFill>
                      <a:srgbClr val="2E8B57"/>
                    </a:solidFill>
                  </a:tcPr>
                </a:tc>
                <a:tc>
                  <a:txBody>
                    <a:bodyPr wrap="square"/>
                    <a:lstStyle/>
                    <a:p>
                      <a:pPr algn="ctr"/>
                      <a:r>
                        <a:rPr sz="1400" b="1" i="0">
                          <a:solidFill>
                            <a:srgbClr val="FFFFFF"/>
                          </a:solidFill>
                          <a:latin typeface="Calibri" panose="020F0502020204030204"/>
                        </a:rPr>
                        <a:t>Result</a:t>
                      </a:r>
                      <a:endParaRPr sz="1400" b="1" i="0">
                        <a:solidFill>
                          <a:srgbClr val="FFFFFF"/>
                        </a:solidFill>
                        <a:latin typeface="Calibri" panose="020F0502020204030204"/>
                      </a:endParaRPr>
                    </a:p>
                  </a:txBody>
                  <a:tcPr marL="54864" marR="54864" marT="18288" marB="18288" anchor="ctr">
                    <a:solidFill>
                      <a:srgbClr val="2E8B57"/>
                    </a:solidFill>
                  </a:tcPr>
                </a:tc>
              </a:tr>
              <a:tr h="457200">
                <a:tc>
                  <a:txBody>
                    <a:bodyPr wrap="square"/>
                    <a:lstStyle/>
                    <a:p>
                      <a:r>
                        <a:rPr sz="1400" b="0" i="0">
                          <a:solidFill>
                            <a:srgbClr val="1F2937"/>
                          </a:solidFill>
                          <a:latin typeface="Calibri" panose="020F0502020204030204"/>
                        </a:rPr>
                        <a:t>LLM reachable (after retries)</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100%</a:t>
                      </a:r>
                      <a:endParaRPr sz="14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400" b="0" i="0">
                          <a:solidFill>
                            <a:srgbClr val="1F2937"/>
                          </a:solidFill>
                          <a:latin typeface="Calibri" panose="020F0502020204030204"/>
                        </a:rPr>
                        <a:t>Grounded (raw output used only real numbers)</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83%  (25 of 30)</a:t>
                      </a:r>
                      <a:endParaRPr sz="1400" b="0" i="0">
                        <a:solidFill>
                          <a:srgbClr val="1F2937"/>
                        </a:solidFill>
                        <a:latin typeface="Calibri" panose="020F0502020204030204"/>
                      </a:endParaRPr>
                    </a:p>
                  </a:txBody>
                  <a:tcPr marL="54864" marR="54864" marT="18288" marB="18288" anchor="ctr">
                    <a:solidFill>
                      <a:srgbClr val="F1F5F9"/>
                    </a:solidFill>
                  </a:tcPr>
                </a:tc>
              </a:tr>
              <a:tr h="457200">
                <a:tc>
                  <a:txBody>
                    <a:bodyPr wrap="square"/>
                    <a:lstStyle/>
                    <a:p>
                      <a:r>
                        <a:rPr sz="1400" b="0" i="0">
                          <a:solidFill>
                            <a:srgbClr val="1F2937"/>
                          </a:solidFill>
                          <a:latin typeface="Calibri" panose="020F0502020204030204"/>
                        </a:rPr>
                        <a:t>Complete (product, stock, order details)</a:t>
                      </a:r>
                      <a:endParaRPr sz="1400" b="0" i="0">
                        <a:solidFill>
                          <a:srgbClr val="1F2937"/>
                        </a:solidFill>
                        <a:latin typeface="Calibri" panose="020F0502020204030204"/>
                      </a:endParaRPr>
                    </a:p>
                  </a:txBody>
                  <a:tcPr marL="54864" marR="54864" marT="18288" marB="18288" anchor="ctr">
                    <a:solidFill>
                      <a:srgbClr val="FFFFFF"/>
                    </a:solidFill>
                  </a:tcPr>
                </a:tc>
                <a:tc>
                  <a:txBody>
                    <a:bodyPr wrap="square"/>
                    <a:lstStyle/>
                    <a:p>
                      <a:pPr algn="ctr"/>
                      <a:r>
                        <a:rPr sz="1400" b="0" i="0">
                          <a:solidFill>
                            <a:srgbClr val="1F2937"/>
                          </a:solidFill>
                          <a:latin typeface="Calibri" panose="020F0502020204030204"/>
                        </a:rPr>
                        <a:t>100%</a:t>
                      </a:r>
                      <a:endParaRPr sz="1400" b="0" i="0">
                        <a:solidFill>
                          <a:srgbClr val="1F2937"/>
                        </a:solidFill>
                        <a:latin typeface="Calibri" panose="020F0502020204030204"/>
                      </a:endParaRPr>
                    </a:p>
                  </a:txBody>
                  <a:tcPr marL="54864" marR="54864" marT="18288" marB="18288" anchor="ctr">
                    <a:solidFill>
                      <a:srgbClr val="FFFFFF"/>
                    </a:solidFill>
                  </a:tcPr>
                </a:tc>
              </a:tr>
              <a:tr h="457200">
                <a:tc>
                  <a:txBody>
                    <a:bodyPr wrap="square"/>
                    <a:lstStyle/>
                    <a:p>
                      <a:r>
                        <a:rPr sz="1400" b="0" i="0">
                          <a:solidFill>
                            <a:srgbClr val="1F2937"/>
                          </a:solidFill>
                          <a:latin typeface="Calibri" panose="020F0502020204030204"/>
                        </a:rPr>
                        <a:t>Length</a:t>
                      </a:r>
                      <a:endParaRPr sz="1400" b="0" i="0">
                        <a:solidFill>
                          <a:srgbClr val="1F2937"/>
                        </a:solidFill>
                        <a:latin typeface="Calibri" panose="020F0502020204030204"/>
                      </a:endParaRPr>
                    </a:p>
                  </a:txBody>
                  <a:tcPr marL="54864" marR="54864" marT="18288" marB="18288" anchor="ctr">
                    <a:solidFill>
                      <a:srgbClr val="F1F5F9"/>
                    </a:solidFill>
                  </a:tcPr>
                </a:tc>
                <a:tc>
                  <a:txBody>
                    <a:bodyPr wrap="square"/>
                    <a:lstStyle/>
                    <a:p>
                      <a:pPr algn="ctr"/>
                      <a:r>
                        <a:rPr sz="1400" b="0" i="0">
                          <a:solidFill>
                            <a:srgbClr val="1F2937"/>
                          </a:solidFill>
                          <a:latin typeface="Calibri" panose="020F0502020204030204"/>
                        </a:rPr>
                        <a:t>2.9 sentences, 58 words</a:t>
                      </a:r>
                      <a:endParaRPr sz="1400" b="0" i="0">
                        <a:solidFill>
                          <a:srgbClr val="1F2937"/>
                        </a:solidFill>
                        <a:latin typeface="Calibri" panose="020F0502020204030204"/>
                      </a:endParaRPr>
                    </a:p>
                  </a:txBody>
                  <a:tcPr marL="54864" marR="54864" marT="18288" marB="18288" anchor="ctr">
                    <a:solidFill>
                      <a:srgbClr val="F1F5F9"/>
                    </a:solidFill>
                  </a:tcPr>
                </a:tc>
              </a:tr>
            </a:tbl>
          </a:graphicData>
        </a:graphic>
      </p:graphicFrame>
      <p:sp>
        <p:nvSpPr>
          <p:cNvPr id="27" name="TextBox 26"/>
          <p:cNvSpPr txBox="1"/>
          <p:nvPr/>
        </p:nvSpPr>
        <p:spPr>
          <a:xfrm>
            <a:off x="7269480" y="3154680"/>
            <a:ext cx="4507992" cy="3108960"/>
          </a:xfrm>
          <a:prstGeom prst="rect">
            <a:avLst/>
          </a:prstGeom>
          <a:noFill/>
        </p:spPr>
        <p:txBody>
          <a:bodyPr wrap="square" lIns="45720" tIns="27432" rIns="45720" bIns="27432" anchor="t">
            <a:spAutoFit/>
          </a:bodyPr>
          <a:lstStyle/>
          <a:p>
            <a:pPr algn="l">
              <a:spcAft>
                <a:spcPts val="400"/>
              </a:spcAft>
            </a:pPr>
            <a:r>
              <a:rPr sz="1700" b="1" i="0">
                <a:solidFill>
                  <a:srgbClr val="1B5E3A"/>
                </a:solidFill>
                <a:latin typeface="Calibri" panose="020F0502020204030204"/>
              </a:rPr>
              <a:t>Why it matters</a:t>
            </a:r>
            <a:endParaRPr sz="1700" b="1" i="0">
              <a:solidFill>
                <a:srgbClr val="1B5E3A"/>
              </a:solidFill>
              <a:latin typeface="Calibri" panose="020F0502020204030204"/>
            </a:endParaRPr>
          </a:p>
          <a:p>
            <a:pPr algn="l">
              <a:spcAft>
                <a:spcPts val="400"/>
              </a:spcAft>
            </a:pPr>
            <a:r>
              <a:rPr sz="1400" b="0" i="0">
                <a:solidFill>
                  <a:srgbClr val="1F2937"/>
                </a:solidFill>
                <a:latin typeface="Calibri" panose="020F0502020204030204"/>
              </a:rPr>
              <a:t>•  The five bad outputs read fluently and confidently. A buyer would not have noticed.</a:t>
            </a:r>
            <a:endParaRPr sz="1400" b="0" i="0">
              <a:solidFill>
                <a:srgbClr val="1F2937"/>
              </a:solidFill>
              <a:latin typeface="Calibri" panose="020F0502020204030204"/>
            </a:endParaRPr>
          </a:p>
          <a:p>
            <a:pPr algn="l">
              <a:spcAft>
                <a:spcPts val="400"/>
              </a:spcAft>
            </a:pPr>
            <a:r>
              <a:rPr sz="1400" b="0" i="0">
                <a:solidFill>
                  <a:srgbClr val="1F2937"/>
                </a:solidFill>
                <a:latin typeface="Calibri" panose="020F0502020204030204"/>
              </a:rPr>
              <a:t>•  Without the check, one explanation in six would carry a made-up figure.</a:t>
            </a:r>
            <a:endParaRPr sz="1400" b="0" i="0">
              <a:solidFill>
                <a:srgbClr val="1F2937"/>
              </a:solidFill>
              <a:latin typeface="Calibri" panose="020F0502020204030204"/>
            </a:endParaRPr>
          </a:p>
          <a:p>
            <a:pPr algn="l">
              <a:spcAft>
                <a:spcPts val="400"/>
              </a:spcAft>
            </a:pPr>
            <a:r>
              <a:rPr sz="1400" b="0" i="0">
                <a:solidFill>
                  <a:srgbClr val="1F2937"/>
                </a:solidFill>
                <a:latin typeface="Calibri" panose="020F0502020204030204"/>
              </a:rPr>
              <a:t>•  An earlier metric scored only outputs that had already passed the check and reported 100% for a model that invented numbers 17% of the time. We replaced it with both numbers.</a:t>
            </a:r>
            <a:endParaRPr sz="1400" b="0" i="0">
              <a:solidFill>
                <a:srgbClr val="1F2937"/>
              </a:solidFill>
              <a:latin typeface="Calibri" panose="020F05020202040302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Conclusion and Future Work</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sp>
        <p:nvSpPr>
          <p:cNvPr id="20" name="Rounded Rectangle 19"/>
          <p:cNvSpPr/>
          <p:nvPr/>
        </p:nvSpPr>
        <p:spPr>
          <a:xfrm>
            <a:off x="411480" y="1371600"/>
            <a:ext cx="5577840" cy="49377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8" y="1444752"/>
            <a:ext cx="5358383" cy="4791456"/>
          </a:xfrm>
          <a:prstGeom prst="rect">
            <a:avLst/>
          </a:prstGeom>
          <a:noFill/>
        </p:spPr>
        <p:txBody>
          <a:bodyPr wrap="square" lIns="45720" tIns="27432" rIns="45720" bIns="27432" anchor="t">
            <a:spAutoFit/>
          </a:bodyPr>
          <a:lstStyle/>
          <a:p>
            <a:pPr algn="l">
              <a:spcAft>
                <a:spcPts val="500"/>
              </a:spcAft>
            </a:pPr>
            <a:r>
              <a:rPr sz="1700" b="1" i="0">
                <a:solidFill>
                  <a:srgbClr val="2E8B57"/>
                </a:solidFill>
                <a:latin typeface="Calibri" panose="020F0502020204030204"/>
              </a:rPr>
              <a:t>What we showed</a:t>
            </a:r>
            <a:endParaRPr sz="1700" b="1" i="0">
              <a:solidFill>
                <a:srgbClr val="2E8B57"/>
              </a:solidFill>
              <a:latin typeface="Calibri" panose="020F0502020204030204"/>
            </a:endParaRPr>
          </a:p>
          <a:p>
            <a:pPr algn="l">
              <a:spcAft>
                <a:spcPts val="800"/>
              </a:spcAft>
            </a:pPr>
            <a:r>
              <a:rPr sz="1600" b="0" i="0">
                <a:solidFill>
                  <a:srgbClr val="1F2937"/>
                </a:solidFill>
                <a:latin typeface="Calibri" panose="020F0502020204030204"/>
              </a:rPr>
              <a:t>•  A complete system: simulator, RL agent, 4 tuned baselines, LLM explainer, crisis generator, dashboard</a:t>
            </a:r>
            <a:endParaRPr sz="1600" b="0" i="0">
              <a:solidFill>
                <a:srgbClr val="1F2937"/>
              </a:solidFill>
              <a:latin typeface="Calibri" panose="020F0502020204030204"/>
            </a:endParaRPr>
          </a:p>
          <a:p>
            <a:pPr algn="l">
              <a:spcAft>
                <a:spcPts val="800"/>
              </a:spcAft>
            </a:pPr>
            <a:r>
              <a:rPr sz="1600" b="0" i="0">
                <a:solidFill>
                  <a:srgbClr val="1F2937"/>
                </a:solidFill>
                <a:latin typeface="Calibri" panose="020F0502020204030204"/>
              </a:rPr>
              <a:t>•  The tuned agent reaches 90.8% of the best classical profit and beats two of four classical methods; the gap is real (t = -6.45) and traced to supplier fragmentation</a:t>
            </a:r>
            <a:endParaRPr sz="1600" b="0" i="0">
              <a:solidFill>
                <a:srgbClr val="1F2937"/>
              </a:solidFill>
              <a:latin typeface="Calibri" panose="020F0502020204030204"/>
            </a:endParaRPr>
          </a:p>
          <a:p>
            <a:pPr algn="l">
              <a:spcAft>
                <a:spcPts val="800"/>
              </a:spcAft>
            </a:pPr>
            <a:r>
              <a:rPr sz="1600" b="0" i="0">
                <a:solidFill>
                  <a:srgbClr val="1F2937"/>
                </a:solidFill>
                <a:latin typeface="Calibri" panose="020F0502020204030204"/>
              </a:rPr>
              <a:t>•  Masking ≈ 3×; tuning closes 38% of the rest; crisis training did not help</a:t>
            </a:r>
            <a:endParaRPr sz="1600" b="0" i="0">
              <a:solidFill>
                <a:srgbClr val="1F2937"/>
              </a:solidFill>
              <a:latin typeface="Calibri" panose="020F0502020204030204"/>
            </a:endParaRPr>
          </a:p>
          <a:p>
            <a:pPr algn="l">
              <a:spcAft>
                <a:spcPts val="800"/>
              </a:spcAft>
            </a:pPr>
            <a:r>
              <a:rPr sz="1600" b="0" i="0">
                <a:solidFill>
                  <a:srgbClr val="1F2937"/>
                </a:solidFill>
                <a:latin typeface="Calibri" panose="020F0502020204030204"/>
              </a:rPr>
              <a:t>•  The explainer is only accurate because it is checked: 83% raw, 100% delivered</a:t>
            </a:r>
            <a:endParaRPr sz="1600" b="0" i="0">
              <a:solidFill>
                <a:srgbClr val="1F2937"/>
              </a:solidFill>
              <a:latin typeface="Calibri" panose="020F0502020204030204"/>
            </a:endParaRPr>
          </a:p>
          <a:p>
            <a:pPr algn="l">
              <a:spcAft>
                <a:spcPts val="400"/>
              </a:spcAft>
            </a:pPr>
            <a:r>
              <a:rPr sz="1600" b="0" i="0">
                <a:solidFill>
                  <a:srgbClr val="1F2937"/>
                </a:solidFill>
                <a:latin typeface="Calibri" panose="020F0502020204030204"/>
              </a:rPr>
              <a:t>•  The honest deployment: classical engine decides, RL scored beside it, nothing executes</a:t>
            </a:r>
            <a:endParaRPr sz="1600" b="0" i="0">
              <a:solidFill>
                <a:srgbClr val="1F2937"/>
              </a:solidFill>
              <a:latin typeface="Calibri" panose="020F0502020204030204"/>
            </a:endParaRPr>
          </a:p>
        </p:txBody>
      </p:sp>
      <p:sp>
        <p:nvSpPr>
          <p:cNvPr id="22" name="Rounded Rectangle 21"/>
          <p:cNvSpPr/>
          <p:nvPr/>
        </p:nvSpPr>
        <p:spPr>
          <a:xfrm>
            <a:off x="6199632" y="1371600"/>
            <a:ext cx="5577840" cy="493776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09360" y="1444752"/>
            <a:ext cx="5358383" cy="4791456"/>
          </a:xfrm>
          <a:prstGeom prst="rect">
            <a:avLst/>
          </a:prstGeom>
          <a:noFill/>
        </p:spPr>
        <p:txBody>
          <a:bodyPr wrap="square" lIns="45720" tIns="27432" rIns="45720" bIns="27432" anchor="t">
            <a:spAutoFit/>
          </a:bodyPr>
          <a:lstStyle/>
          <a:p>
            <a:pPr algn="l">
              <a:spcAft>
                <a:spcPts val="500"/>
              </a:spcAft>
            </a:pPr>
            <a:r>
              <a:rPr sz="1700" b="1" i="0">
                <a:solidFill>
                  <a:srgbClr val="2F6FB5"/>
                </a:solidFill>
                <a:latin typeface="Calibri" panose="020F0502020204030204"/>
              </a:rPr>
              <a:t>Future work</a:t>
            </a:r>
            <a:endParaRPr sz="1700" b="1" i="0">
              <a:solidFill>
                <a:srgbClr val="2F6FB5"/>
              </a:solidFill>
              <a:latin typeface="Calibri" panose="020F0502020204030204"/>
            </a:endParaRPr>
          </a:p>
          <a:p>
            <a:pPr algn="l">
              <a:spcAft>
                <a:spcPts val="800"/>
              </a:spcAft>
            </a:pPr>
            <a:r>
              <a:rPr sz="1600" b="0" i="0">
                <a:solidFill>
                  <a:srgbClr val="1F2937"/>
                </a:solidFill>
                <a:latin typeface="Calibri" panose="020F0502020204030204"/>
              </a:rPr>
              <a:t>•  Give the agent ordering memory (days since last order, last supplier, fees so far) and re-run on the same 30 seeds: the experiment most likely to close the gap</a:t>
            </a:r>
            <a:endParaRPr sz="1600" b="0" i="0">
              <a:solidFill>
                <a:srgbClr val="1F2937"/>
              </a:solidFill>
              <a:latin typeface="Calibri" panose="020F0502020204030204"/>
            </a:endParaRPr>
          </a:p>
          <a:p>
            <a:pPr algn="l">
              <a:spcAft>
                <a:spcPts val="800"/>
              </a:spcAft>
            </a:pPr>
            <a:r>
              <a:rPr sz="1600" b="0" i="0">
                <a:solidFill>
                  <a:srgbClr val="1F2937"/>
                </a:solidFill>
                <a:latin typeface="Calibri" panose="020F0502020204030204"/>
              </a:rPr>
              <a:t>•  Test all methods under changed market conditions (more demand variation, longer delays) to show how rankings move</a:t>
            </a:r>
            <a:endParaRPr sz="1600" b="0" i="0">
              <a:solidFill>
                <a:srgbClr val="1F2937"/>
              </a:solidFill>
              <a:latin typeface="Calibri" panose="020F0502020204030204"/>
            </a:endParaRPr>
          </a:p>
          <a:p>
            <a:pPr algn="l">
              <a:spcAft>
                <a:spcPts val="800"/>
              </a:spcAft>
            </a:pPr>
            <a:r>
              <a:rPr sz="1600" b="0" i="0">
                <a:solidFill>
                  <a:srgbClr val="1F2937"/>
                </a:solidFill>
                <a:latin typeface="Calibri" panose="020F0502020204030204"/>
              </a:rPr>
              <a:t>•  Longer crisis training, to separate under-training from a failed method</a:t>
            </a:r>
            <a:endParaRPr sz="1600" b="0" i="0">
              <a:solidFill>
                <a:srgbClr val="1F2937"/>
              </a:solidFill>
              <a:latin typeface="Calibri" panose="020F0502020204030204"/>
            </a:endParaRPr>
          </a:p>
          <a:p>
            <a:pPr algn="l">
              <a:spcAft>
                <a:spcPts val="800"/>
              </a:spcAft>
            </a:pPr>
            <a:r>
              <a:rPr sz="1600" b="0" i="0">
                <a:solidFill>
                  <a:srgbClr val="1F2937"/>
                </a:solidFill>
                <a:latin typeface="Calibri" panose="020F0502020204030204"/>
              </a:rPr>
              <a:t>•  Recent real data and real supplier terms if a partner can supply them</a:t>
            </a:r>
            <a:endParaRPr sz="1600" b="0" i="0">
              <a:solidFill>
                <a:srgbClr val="1F2937"/>
              </a:solidFill>
              <a:latin typeface="Calibri" panose="020F0502020204030204"/>
            </a:endParaRPr>
          </a:p>
          <a:p>
            <a:pPr algn="l">
              <a:spcAft>
                <a:spcPts val="400"/>
              </a:spcAft>
            </a:pPr>
            <a:r>
              <a:rPr sz="1600" b="0" i="0">
                <a:solidFill>
                  <a:srgbClr val="1F2937"/>
                </a:solidFill>
                <a:latin typeface="Calibri" panose="020F0502020204030204"/>
              </a:rPr>
              <a:t>•  Before any live use: new-product handling, order-value limits, an audit trail, a signal for when a human should decide</a:t>
            </a:r>
            <a:endParaRPr sz="1600" b="0" i="0">
              <a:solidFill>
                <a:srgbClr val="1F2937"/>
              </a:solidFill>
              <a:latin typeface="Calibri" panose="020F0502020204030204"/>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References</a:t>
            </a:r>
            <a:endParaRPr sz="3200"/>
          </a:p>
        </p:txBody>
      </p: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sp>
        <p:nvSpPr>
          <p:cNvPr id="20" name="TextBox 19"/>
          <p:cNvSpPr txBox="1"/>
          <p:nvPr/>
        </p:nvSpPr>
        <p:spPr>
          <a:xfrm>
            <a:off x="411480" y="1371600"/>
            <a:ext cx="11365992" cy="4937760"/>
          </a:xfrm>
          <a:prstGeom prst="rect">
            <a:avLst/>
          </a:prstGeom>
          <a:noFill/>
        </p:spPr>
        <p:txBody>
          <a:bodyPr wrap="square" lIns="45720" tIns="27432" rIns="45720" bIns="27432" anchor="t">
            <a:spAutoFit/>
          </a:bodyPr>
          <a:lstStyle/>
          <a:p>
            <a:pPr algn="l">
              <a:spcAft>
                <a:spcPts val="900"/>
              </a:spcAft>
            </a:pPr>
            <a:r>
              <a:rPr sz="1600" b="0" i="0">
                <a:solidFill>
                  <a:srgbClr val="1F2937"/>
                </a:solidFill>
                <a:latin typeface="Calibri" panose="020F0502020204030204"/>
              </a:rPr>
              <a:t>[1]  J. Schulman, F. Wolski, P. Dhariwal, A. Radford, O. Klimov. Proximal policy optimization algorithms. arXiv:1707.06347, 2017.</a:t>
            </a:r>
            <a:endParaRPr sz="1600" b="0" i="0">
              <a:solidFill>
                <a:srgbClr val="1F2937"/>
              </a:solidFill>
              <a:latin typeface="Calibri" panose="020F0502020204030204"/>
            </a:endParaRPr>
          </a:p>
          <a:p>
            <a:pPr algn="l">
              <a:spcAft>
                <a:spcPts val="900"/>
              </a:spcAft>
            </a:pPr>
            <a:r>
              <a:rPr sz="1600" b="0" i="0">
                <a:solidFill>
                  <a:srgbClr val="1F2937"/>
                </a:solidFill>
                <a:latin typeface="Calibri" panose="020F0502020204030204"/>
              </a:rPr>
              <a:t>[2]  S. Huang, S. Ontanón. A closer look at invalid action masking in policy gradient algorithms. FLAIRS-35, 2022.</a:t>
            </a:r>
            <a:endParaRPr sz="1600" b="0" i="0">
              <a:solidFill>
                <a:srgbClr val="1F2937"/>
              </a:solidFill>
              <a:latin typeface="Calibri" panose="020F0502020204030204"/>
            </a:endParaRPr>
          </a:p>
          <a:p>
            <a:pPr algn="l">
              <a:spcAft>
                <a:spcPts val="900"/>
              </a:spcAft>
            </a:pPr>
            <a:r>
              <a:rPr sz="1600" b="0" i="0">
                <a:solidFill>
                  <a:srgbClr val="1F2937"/>
                </a:solidFill>
                <a:latin typeface="Calibri" panose="020F0502020204030204"/>
              </a:rPr>
              <a:t>[3]  J. Gijsbrechts, R. N. Boute, J. A. Van Mieghem, D. Zhang. Can deep reinforcement learning improve inventory management? Manufacturing &amp; Service Operations Management, 2022.</a:t>
            </a:r>
            <a:endParaRPr sz="1600" b="0" i="0">
              <a:solidFill>
                <a:srgbClr val="1F2937"/>
              </a:solidFill>
              <a:latin typeface="Calibri" panose="020F0502020204030204"/>
            </a:endParaRPr>
          </a:p>
          <a:p>
            <a:pPr algn="l">
              <a:spcAft>
                <a:spcPts val="900"/>
              </a:spcAft>
            </a:pPr>
            <a:r>
              <a:rPr sz="1600" b="0" i="0">
                <a:solidFill>
                  <a:srgbClr val="1F2937"/>
                </a:solidFill>
                <a:latin typeface="Calibri" panose="020F0502020204030204"/>
              </a:rPr>
              <a:t>[4]  R. N. Boute, J. Gijsbrechts, W. van Jaarsveld, N. Vanvuchelen. Deep reinforcement learning for inventory control: a roadmap. European Journal of Operational Research, 2022.</a:t>
            </a:r>
            <a:endParaRPr sz="1600" b="0" i="0">
              <a:solidFill>
                <a:srgbClr val="1F2937"/>
              </a:solidFill>
              <a:latin typeface="Calibri" panose="020F0502020204030204"/>
            </a:endParaRPr>
          </a:p>
          <a:p>
            <a:pPr algn="l">
              <a:spcAft>
                <a:spcPts val="900"/>
              </a:spcAft>
            </a:pPr>
            <a:r>
              <a:rPr sz="1600" b="0" i="0">
                <a:solidFill>
                  <a:srgbClr val="1F2937"/>
                </a:solidFill>
                <a:latin typeface="Calibri" panose="020F0502020204030204"/>
              </a:rPr>
              <a:t>[5]  A. Oroojlooyjadid, M. Nazari, L. V. Snyder, M. Takáč. A deep Q-network for the beer game. Manufacturing &amp; Service Operations Management, 2022.</a:t>
            </a:r>
            <a:endParaRPr sz="1600" b="0" i="0">
              <a:solidFill>
                <a:srgbClr val="1F2937"/>
              </a:solidFill>
              <a:latin typeface="Calibri" panose="020F0502020204030204"/>
            </a:endParaRPr>
          </a:p>
          <a:p>
            <a:pPr algn="l">
              <a:spcAft>
                <a:spcPts val="900"/>
              </a:spcAft>
            </a:pPr>
            <a:r>
              <a:rPr sz="1600" b="0" i="0">
                <a:solidFill>
                  <a:srgbClr val="1F2937"/>
                </a:solidFill>
                <a:latin typeface="Calibri" panose="020F0502020204030204"/>
              </a:rPr>
              <a:t>[6]  D. Chen, S. L. Sain, K. Guo. Data mining for the online retail industry. Journal of Database Marketing &amp; Customer Strategy Management, 2012.</a:t>
            </a:r>
            <a:endParaRPr sz="1600" b="0" i="0">
              <a:solidFill>
                <a:srgbClr val="1F2937"/>
              </a:solidFill>
              <a:latin typeface="Calibri" panose="020F0502020204030204"/>
            </a:endParaRPr>
          </a:p>
          <a:p>
            <a:pPr algn="l">
              <a:spcAft>
                <a:spcPts val="900"/>
              </a:spcAft>
            </a:pPr>
            <a:r>
              <a:rPr sz="1600" b="0" i="0">
                <a:solidFill>
                  <a:srgbClr val="1F2937"/>
                </a:solidFill>
                <a:latin typeface="Calibri" panose="020F0502020204030204"/>
              </a:rPr>
              <a:t>[7]  A. Raffin et al. Stable-Baselines3: reliable reinforcement learning implementations. JMLR 22(268), 2021.</a:t>
            </a:r>
            <a:endParaRPr sz="1600" b="0" i="0">
              <a:solidFill>
                <a:srgbClr val="1F2937"/>
              </a:solidFill>
              <a:latin typeface="Calibri" panose="020F0502020204030204"/>
            </a:endParaRPr>
          </a:p>
          <a:p>
            <a:pPr algn="l">
              <a:spcAft>
                <a:spcPts val="900"/>
              </a:spcAft>
            </a:pPr>
            <a:r>
              <a:rPr sz="1600" b="0" i="0">
                <a:solidFill>
                  <a:srgbClr val="1F2937"/>
                </a:solidFill>
                <a:latin typeface="Calibri" panose="020F0502020204030204"/>
              </a:rPr>
              <a:t>[8]  UCI Machine Learning Repository. Online Retail II. https://archive.ics.uci.edu/dataset/502</a:t>
            </a:r>
            <a:endParaRPr sz="1600" b="0" i="0">
              <a:solidFill>
                <a:srgbClr val="1F2937"/>
              </a:solidFill>
              <a:latin typeface="Calibri" panose="020F0502020204030204"/>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rPr>
              <a:t>[Final Project Review]</a:t>
            </a:r>
            <a:endParaRPr sz="1600" b="1" i="0" u="none" strike="noStrike" cap="none" dirty="0">
              <a:solidFill>
                <a:srgbClr val="08127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19" name="Slide Number Placeholder 18"/>
          <p:cNvSpPr>
            <a:spLocks noGrp="1"/>
          </p:cNvSpPr>
          <p:nvPr>
            <p:ph type="sldNum" sz="quarter" idx="12"/>
          </p:nvPr>
        </p:nvSpPr>
        <p:spPr/>
        <p:txBody>
          <a:bodyPr/>
          <a:lstStyle/>
          <a:p>
            <a:fld id="{C2216105-7B7A-4C42-B2A1-5E9A2FA4F8FD}" type="slidenum">
              <a:rPr lang="en-IN" smtClean="0"/>
            </a:fld>
            <a:endParaRPr lang="en-IN" dirty="0"/>
          </a:p>
        </p:txBody>
      </p:sp>
      <p:sp>
        <p:nvSpPr>
          <p:cNvPr id="20" name="TextBox 19"/>
          <p:cNvSpPr txBox="1"/>
          <p:nvPr/>
        </p:nvSpPr>
        <p:spPr>
          <a:xfrm>
            <a:off x="413385" y="2811145"/>
            <a:ext cx="11365992" cy="731520"/>
          </a:xfrm>
          <a:prstGeom prst="rect">
            <a:avLst/>
          </a:prstGeom>
          <a:noFill/>
        </p:spPr>
        <p:txBody>
          <a:bodyPr wrap="square" lIns="45720" tIns="27432" rIns="45720" bIns="27432" anchor="t">
            <a:spAutoFit/>
          </a:bodyPr>
          <a:lstStyle/>
          <a:p>
            <a:pPr algn="ctr">
              <a:spcAft>
                <a:spcPts val="400"/>
              </a:spcAft>
            </a:pPr>
            <a:r>
              <a:rPr sz="4400">
                <a:sym typeface="+mn-ea"/>
              </a:rPr>
              <a:t>Thank You</a:t>
            </a:r>
            <a:endParaRPr sz="4400" b="1" i="0">
              <a:solidFill>
                <a:srgbClr val="1B5E3A"/>
              </a:solidFill>
              <a:latin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16302</Words>
  <Application>WPS Presentation</Application>
  <PresentationFormat>Widescreen</PresentationFormat>
  <Paragraphs>845</Paragraphs>
  <Slides>25</Slides>
  <Notes>15</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25</vt:i4>
      </vt:variant>
    </vt:vector>
  </HeadingPairs>
  <TitlesOfParts>
    <vt:vector size="38" baseType="lpstr">
      <vt:lpstr>Arial</vt:lpstr>
      <vt:lpstr>SimSun</vt:lpstr>
      <vt:lpstr>Wingdings</vt:lpstr>
      <vt:lpstr>Times New Roman</vt:lpstr>
      <vt:lpstr>Times New Roman</vt:lpstr>
      <vt:lpstr>Calibri</vt:lpstr>
      <vt:lpstr>Microsoft YaHei</vt:lpstr>
      <vt:lpstr>Arial Unicode MS</vt:lpstr>
      <vt:lpstr>Calibri Light</vt:lpstr>
      <vt:lpstr>Aptos</vt:lpstr>
      <vt:lpstr>Segoe UI</vt:lpstr>
      <vt:lpstr>Calibri</vt:lpstr>
      <vt:lpstr>Office Theme</vt:lpstr>
      <vt:lpstr>PowerPoint 演示文稿</vt:lpstr>
      <vt:lpstr>Outline</vt:lpstr>
      <vt:lpstr>Introduction and Motivation</vt:lpstr>
      <vt:lpstr>Problem Definition</vt:lpstr>
      <vt:lpstr>Literature Review</vt:lpstr>
      <vt:lpstr>Gaps Identified, and What We Did</vt:lpstr>
      <vt:lpstr>Objectives and Status</vt:lpstr>
      <vt:lpstr>System Architecture</vt:lpstr>
      <vt:lpstr>Methodology: How the Agent Learns</vt:lpstr>
      <vt:lpstr>Dataset Description</vt:lpstr>
      <vt:lpstr>Classical Baselines and a Fair Evaluation</vt:lpstr>
      <vt:lpstr>LLM Explainer: Facts In, Checked Sentences Out</vt:lpstr>
      <vt:lpstr>LLM Crisis Generator and Curriculum Training</vt:lpstr>
      <vt:lpstr>Dashboard (1/5): Episode View, Engine</vt:lpstr>
      <vt:lpstr>Dashboard (2/5): The Challenger, and a Crisis</vt:lpstr>
      <vt:lpstr>Dashboard (3/5): Before vs After the System</vt:lpstr>
      <vt:lpstr>Dashboard (4/5): Explain a Decision</vt:lpstr>
      <vt:lpstr>Dashboard (5/5): Policy Comparison and Robustness</vt:lpstr>
      <vt:lpstr>Results (1/4): Main Comparison on 30 Unseen Runs</vt:lpstr>
      <vt:lpstr>Results (2/4): What Each Step Was Worth</vt:lpstr>
      <vt:lpstr>Results (3/4): Robustness to Unseen Crises</vt:lpstr>
      <vt:lpstr>Results (4/4): Explainer Accuracy on 30 Real Decisions</vt:lpstr>
      <vt:lpstr>Conclusion and Future Work</vt:lpstr>
      <vt:lpstr>References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WPS_1695456806</cp:lastModifiedBy>
  <cp:revision>46</cp:revision>
  <dcterms:created xsi:type="dcterms:W3CDTF">2023-07-03T07:55:00Z</dcterms:created>
  <dcterms:modified xsi:type="dcterms:W3CDTF">2026-10-15T06:45:11Z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1033-12.1.0.29162</vt:lpwstr>
  </property>
  <property fmtid="{D5CDD505-2E9C-101B-9397-08002B2CF9AE}" pid="3" name="ICV">
    <vt:lpwstr>3E3864D1E98B471B96B3AAD835FC7A70_12</vt:lpwstr>
  </property>
</Properties>
</file>