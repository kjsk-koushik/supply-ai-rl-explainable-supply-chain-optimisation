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307" r:id="rId23"/>
    <p:sldId id="297" r:id="rId10"/>
    <p:sldId id="298" r:id="rId11"/>
    <p:sldId id="305" r:id="rId12"/>
    <p:sldId id="308" r:id="rId24"/>
    <p:sldId id="306" r:id="rId13"/>
    <p:sldId id="300" r:id="rId14"/>
    <p:sldId id="302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A9B46"/>
    <a:srgbClr val="18AD4A"/>
    <a:srgbClr val="081271"/>
    <a:srgbClr val="FFFB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07E216-FF70-2B66-D446-8AF6B921A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8E699-0BFA-7ED0-E036-13061879A3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33AC-344F-40AF-9E99-79D0BF1BA1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889DF-AB4B-4A37-9579-FEAE0F1476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AFFD3-30EC-F4A9-0025-921B610F2C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13A14-01DD-4442-9BD4-9CC7EED32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75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2E8E5-BD41-4FE3-96D2-635440A7775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347C-ECC5-466E-9761-F9265002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02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76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436E-7161-BF7B-5432-3DA31D0D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FF637-4BED-E82C-E4B9-38D3C4D63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E9FD0-BD20-4D5B-80EA-257722AE8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1FB6E-1520-C5E4-5FED-A088E283F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0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36D3-2FD8-3244-24C0-1E6FF1BB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E3104-3E73-24FC-1070-CEE125B95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EEDE2-4FC9-1B7C-AFC2-7F1215AE2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9B0B1-9606-2596-82B3-9D9E089DB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320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D6A0-AD2F-FAC8-D2E7-D6195DEA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BE069-C7FB-511E-68B5-CCD360B67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199F2-933D-8F7B-93C5-04F73F94F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58E05-5B06-5EE2-88D8-FF8B4E4EA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683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0988-B331-DCF5-D4C6-FACC4265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D228F-15D7-CAC8-EF9E-82A63C14C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B8EE4-EAE1-3B22-0483-4466A6C6D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E87F5-E567-B116-2483-3B7BD10EF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722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81B0-3C7C-E594-8A9F-1E5DCB2D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B180A-42E0-985D-8274-39534FD5D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6E5EF-B972-F162-F033-5B514B69A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BC95B-0F17-313B-DD62-E4CD30217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79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2A405-697C-96BB-D845-46B140D1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F368C-4F7A-B19B-5C1E-6EF638564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1DFF4-DBF5-8DC0-0CD3-7A4F8ACAD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7CE2D-F093-562F-1C4F-E91738078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213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6E95-A2A0-D0F0-177A-6650B889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D32F4-3A31-37D6-0BA6-03785B7D2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7F1B8-853B-A0EC-F47A-5D403AEC0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F5D5C-7045-76CD-2907-958A24B84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415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2FE74-3F49-99F0-6102-0744B8143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1B62B-F768-76D7-5459-A708C6E90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6D5FB-3495-5ADA-098C-41946CE6F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197AF-3D91-785B-AD2C-FACE6D668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677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0771-FB7B-7980-F441-8ADFD1861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35393-10B1-DF78-115D-171B85B69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83DA9-AA12-E1CD-5C53-192D7F4AF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4A967-6B15-B3B0-3B3D-D70A9DB27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26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CB84-BFD4-25AF-457E-A38ECFBD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F95D4-B188-CA45-82A4-80125A723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39D4C-7DE4-15F4-A113-F7E2253D0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79DE1-A56B-028A-8ED2-DCCFF58C3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486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2E8C-9D33-D3D6-0149-3548C17F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DD26F-5A3A-1FDE-EB2E-E950A9640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AF930-D629-6A23-0ABE-C12A66FB2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940FF-4496-78DF-DCBD-73B32E7C2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904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CCC0-7556-5CFB-65BD-794FF43B3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C6E04-0233-F0BA-C454-C5C5BB653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12727-CEE8-AE50-32ED-AB401A5F3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1579D-5D4D-0598-8DDA-1B3A14824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445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0CD1-5242-F8A1-DAF1-8B8C6437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798D2-118B-6F3A-A60A-B5C583D43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6D578-2725-19C6-B31D-086587F07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E9F94-EB0F-3154-1F9D-994A67F53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731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0CF5-43D6-73B7-692C-8A9A5394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6AE69-FA85-0A53-CBB3-F66C5E0E1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D2D4D-D460-2402-A7BA-2420F03A5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0F52D-F66E-D591-3251-AA3C50A3EC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577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F458-B665-432D-ACF1-3C56F813001B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73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15BD-94E4-4067-8A33-3C6EC4BD0B33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50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34687-F519-4EB7-A5A2-8F32F570280C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76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FD66B-7BF9-457E-8F34-7A62FFE4EC1F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1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7592-1B5F-45CD-B707-8D5A5E58EE31}" type="datetime1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63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BBB8-8A7F-45A3-83C4-4C9477351CC6}" type="datetime1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07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5D1B-80AA-466C-8316-5AE450E66A39}" type="datetime1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563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7488-929A-4615-A557-C0AD33B297D1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52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ACE-EBE9-4116-B81B-E040F2D3F20E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2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F764-0E37-4886-B1E5-DFBF599A6490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01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FEB4-F282-4F07-B60D-731E94E7D45B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04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4EDEC-E80A-4952-9B8F-BFE95EE7B0BE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6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Fig" Type="http://schemas.openxmlformats.org/officeDocument/2006/relationships/image" Target="../media/figur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FigA" Type="http://schemas.openxmlformats.org/officeDocument/2006/relationships/image" Target="../media/figure2.png"/><Relationship Id="rIdFigB" Type="http://schemas.openxmlformats.org/officeDocument/2006/relationships/image" Target="../media/figur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Google Shape;91;p1"/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609598" y="2872601"/>
            <a:ext cx="10972800" cy="10441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SupplyAI-RL: Explainable Supply Chain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935319" y="236845"/>
            <a:ext cx="7999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 Mid semester project review– </a:t>
            </a:r>
            <a:r>
              <a:rPr lang="en-US" sz="2400" b="1" dirty="0">
                <a:solidFill>
                  <a:srgbClr val="7030A0"/>
                </a:solidFill>
              </a:rPr>
              <a:t>August 2026</a:t>
            </a:r>
          </a:p>
          <a:p>
            <a:pPr algn="ctr"/>
            <a:r>
              <a:rPr lang="it-IT" sz="2400" b="1" dirty="0"/>
              <a:t>22AIE450 Reinforcement Learning</a:t>
            </a:r>
            <a:endParaRPr lang="en-IN" sz="2400" b="1" dirty="0">
              <a:solidFill>
                <a:srgbClr val="7030A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077095" y="5597101"/>
            <a:ext cx="2636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the Presentation: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10804848" y="6356350"/>
            <a:ext cx="548951" cy="365125"/>
          </a:xfrm>
        </p:spPr>
        <p:txBody>
          <a:bodyPr/>
          <a:lstStyle/>
          <a:p>
            <a:fld id="{C2216105-7B7A-4C42-B2A1-5E9A2FA4F8FD}" type="slidenum">
              <a:rPr lang="en-IN" smtClean="0"/>
              <a:t>1</a:t>
            </a:fld>
            <a:endParaRPr lang="en-IN" dirty="0"/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005F616E-0E20-490C-B7A2-141A2087D28E}"/>
              </a:ext>
            </a:extLst>
          </p:cNvPr>
          <p:cNvSpPr txBox="1">
            <a:spLocks/>
          </p:cNvSpPr>
          <p:nvPr/>
        </p:nvSpPr>
        <p:spPr>
          <a:xfrm>
            <a:off x="597918" y="3817890"/>
            <a:ext cx="10972800" cy="6544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[Team Member Names and Roll Numbers]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0480C-236D-3A2D-ABFD-ACE4E92B6129}"/>
              </a:ext>
            </a:extLst>
          </p:cNvPr>
          <p:cNvSpPr/>
          <p:nvPr/>
        </p:nvSpPr>
        <p:spPr>
          <a:xfrm>
            <a:off x="150810" y="5675807"/>
            <a:ext cx="2854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and Group Number: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55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Outline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1216E-5ED7-1FE1-7D7A-199E3471B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0" dirty="0"/>
              <a:t>Introduction and Motivation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0" dirty="0"/>
              <a:t>Problem Definition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0" dirty="0"/>
              <a:t>Literature Review and Gaps Identified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0" dirty="0"/>
              <a:t>Objectives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0" dirty="0"/>
              <a:t>Methodology: simulator, RL formulation, LLM explanation layer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0" dirty="0"/>
              <a:t>Dataset Description and Calibration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0" dirty="0"/>
              <a:t>Preliminary Results: tuned classical policies vs the RL agent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0" dirty="0"/>
              <a:t>Interim Summary and Completion Plan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3D1B-3B02-2762-5BA1-052E75565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84365C9-E666-36EE-4DB1-04791BFC26FB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4D89FC00-7640-2DC1-0BAF-6A1DC613CF6B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0CA935-25F2-6478-C664-35BFDF7E813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804C7A-5A65-0B7B-02CE-9C44C0E4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Introduction and Motivation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7A161-C87E-7A78-C77B-8E4D712D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1" dirty="0"/>
              <a:t>Retail inventory is a daily decision under uncertainty, and both errors are expensive.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IN" sz="1500" b="0" dirty="0"/>
              <a:t>Order too much: capital is tied up, storage is paid for, and unsold stock is marked down or written off.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IN" sz="1500" b="0" dirty="0"/>
              <a:t>Order too little: the sale is lost permanently, because the customer buys elsewhere.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1" dirty="0"/>
              <a:t>Classical policies treat each product in isolation and assume demand is well behaved.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IN" sz="1500" b="0" dirty="0"/>
              <a:t>Real demand is not. In our data the variance of daily demand is roughly 216 times its mean, so the standard Poisson assumption fails badly.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1" dirty="0"/>
              <a:t>Reinforcement learning can express what a formula cannot: a joint ordering and sourcing policy that adapts to season, volatility and supplier state.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1" dirty="0"/>
              <a:t>But a manager will not act on a number they cannot interpret.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IN" sz="1500" b="0" dirty="0"/>
              <a:t>Hence the motivation: pair an RL decision-maker with an LLM that states the reason for every order in business language.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B6D94B3-8D6F-6862-5C85-C28EA1FE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77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5E2F-193E-A33F-3978-CA319240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545AD15-92E9-732C-9417-BBAC2D68BE74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56B45FA5-C0D8-B29D-EFB7-2D75F15CFEFA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FD2757-A6CE-CA75-DF5E-7D2CFCE7BD90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7E42682-E931-9114-270A-3AFF08BD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Problem Definition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E269-B593-74FF-FAD2-DDFE92170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0" dirty="0"/>
              <a:t>Manage 10 products across 3 suppliers over a 180-day horizon, sharing a single 20,000-unit warehouse.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0" dirty="0"/>
              <a:t>Each simulated day, for every product, decide two things jointly: how much to order, and from which supplier.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0" dirty="0"/>
              <a:t>Suppliers differ in unit cost, lead time (1-8 days), fill reliability (80-98%), minimum order quantity and outage risk.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1" dirty="0"/>
              <a:t>Objective: maximise total profit = revenue - purchase - holding - ordering fees - lost-sale penalty.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0" dirty="0"/>
              <a:t>Scale: 21 choices per product over 10 products is about 1.7 x 10^13 combinations per day, so enumeration is impossible.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0" dirty="0"/>
              <a:t>Decisions are coupled in time (today's order becomes next week's stock) and across products (one shared capacity).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1" dirty="0"/>
              <a:t>Additional requirement: every decision must come with a business-readable justification.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4CCA1BA-4669-3A76-135A-A66F2531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70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23C0-4464-42F8-4503-DBAD8BAD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FE4153C-C4D3-1A1A-C5AD-0EDABAF376BB}"/>
              </a:ext>
            </a:extLst>
          </p:cNvPr>
          <p:cNvSpPr/>
          <p:nvPr/>
        </p:nvSpPr>
        <p:spPr>
          <a:xfrm>
            <a:off x="335901" y="9714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5CFA44B1-8C8E-AC41-316C-676C93A1F38C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A0188E-C3F1-A9BB-3116-3A2D18BFFABF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B8970FD-F4A1-4859-B09E-FB033B7D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Literature Review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460085C-4735-997A-440D-48D4BF46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5</a:t>
            </a:fld>
            <a:endParaRPr lang="en-IN" dirty="0"/>
          </a:p>
        </p:txBody>
      </p:sp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838198" y="1700000"/>
          <a:ext cx="10670000" cy="33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"/>
                <a:gridCol w="2350000"/>
                <a:gridCol w="1500000"/>
                <a:gridCol w="2100000"/>
                <a:gridCol w="2300000"/>
                <a:gridCol w="1900000"/>
              </a:tblGrid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IN" sz="950" b="1" dirty="0">
                          <a:solidFill>
                            <a:srgbClr val="FFFFFF"/>
                          </a:solidFill>
                        </a:rPr>
                        <a:t>Sl No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1" dirty="0">
                          <a:solidFill>
                            <a:srgbClr val="FFFFFF"/>
                          </a:solidFill>
                        </a:rPr>
                        <a:t>Title and year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1" dirty="0">
                          <a:solidFill>
                            <a:srgbClr val="FFFFFF"/>
                          </a:solidFill>
                        </a:rPr>
                        <a:t>Journal / Conference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1" dirty="0">
                          <a:solidFill>
                            <a:srgbClr val="FFFFFF"/>
                          </a:solidFill>
                        </a:rPr>
                        <a:t>Key findings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Proximal Policy Optimization Algorithms (2017)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arXiv preprint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Clipped surrogate policy-gradient objective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Stable, sample-efficient on-policy RL; the default modern baseline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General purpose; no supply-chain structure</a:t>
                      </a:r>
                    </a:p>
                  </a:txBody>
                  <a:tcPr marL="68580" marR="68580" marT="34290" marB="34290" anchor="ctr"/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2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A Deep Q-Network for the Beer Game (2022)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M&amp;SOM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DQN on a serial beer-game supply chain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DRL matches or beats base-stock policies under cooperation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Single product, serial chain, no sourcing choice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Can Deep RL Improve Inventory Management? (2022)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M&amp;SOM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A3C on lost-sales and dual-sourcing problems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Competitive with tuned heuristics but not clearly superior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Heavy tuning cost; no explanation layer</a:t>
                      </a:r>
                    </a:p>
                  </a:txBody>
                  <a:tcPr marL="68580" marR="68580" marT="34290" marB="34290" anchor="ctr"/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Deep RL for Inventory Control: A Roadmap (2022)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EJOR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Survey and research roadmap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Names fair benchmarking and interpretability as open problems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Conceptual; no implementation or results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A Closer Look at Invalid Action Masking in Policy Gradient Algorithms (2022)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FLAIRS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Action masking inside policy-gradient methods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Masking is a valid gradient and scales to large action spaces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950" b="0" dirty="0">
                          <a:solidFill>
                            <a:srgbClr val="202020"/>
                          </a:solidFill>
                        </a:rPr>
                        <a:t>Not demonstrated on inventory or sourcing</a:t>
                      </a:r>
                    </a:p>
                  </a:txBody>
                  <a:tcPr marL="68580" marR="68580" marT="34290" marB="3429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749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A949-825D-63D7-CE6F-2C0C2BE26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D361BF-60CB-A29B-BC0E-C180A96D459C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21145337-310C-B3D7-16AF-7230B4FFAAFE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B1533E-5A65-3CD8-558D-FCBFFB25997D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798CBB9-B283-492D-9948-605C8D31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Gaps Identified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5D657-CE4C-8DEC-6D94-9F0BC6D8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0" dirty="0"/>
              <a:t>Weak benchmarks. Most DRL inventory papers compare against textbook-default heuristics rather than properly tuned ones, which inflates the reported gain.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0" dirty="0"/>
              <a:t>Narrow problem settings. Single-product or serial chains dominate; joint quantity and supplier selection under one shared capacity is rarely modelled.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0" dirty="0"/>
              <a:t>Explainability is deferred. Learned policies output a number, not a reason, so they stay in simulation and never reach a decision-maker.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0" dirty="0"/>
              <a:t>Stress testing is hand-built. Demand spikes and supplier failures are coded case by case, so coverage is narrow and hard to extend.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1" dirty="0"/>
              <a:t>No existing work couples an RL inventory agent with an LLM that both explains its decisions and generates the scenarios used to test it.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EB3C4DF-2454-49D2-6F52-CCEC8DF9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616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DF4E-C8C2-CD64-4FA4-F79AF859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4039C4-713E-5507-F8E3-5B60ED3B2EA7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A749B603-B658-813C-5757-7CF34A95EDD1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EE7B70-FD0B-520D-5B79-69C9FDB23110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F146E9-85F8-DDB8-6C1A-9FFA40E8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Objectives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8402D-8798-A75B-EA2B-3C2952FD8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1" dirty="0"/>
              <a:t>1. Build a supply chain simulator calibrated from real retail transaction data.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1" dirty="0"/>
              <a:t>2. Train a reinforcement learning agent to choose reorder quantity and supplier jointly.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1" dirty="0"/>
              <a:t>3. Use an LLM to explain each decision in business language.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1" dirty="0"/>
              <a:t>4. Use an LLM to generate demand-spike and supplier-delay scenarios for stress testing.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800" b="1" dirty="0"/>
              <a:t>5. Compare the RL agent against properly tuned classical inventory policies.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500" b="0" dirty="0"/>
              <a:t>Objectives 1, 2 and 5 are complete. Objectives 3 and 4 are the next phase.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1FACB82-F53B-1D1D-2F0F-EE312F9F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837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58644-8868-F5B7-976D-4FD467F5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37E3B46-FCBC-F2DE-B6C9-729A018DF372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9549DA16-3E7D-718D-4503-D7B1FE3C93C8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EFEA5E-792F-C5D7-A1FC-1478B8FBC8BD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637594-A5F4-04BB-A078-B632BE6F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Methodology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38800-24D9-4F05-EA04-5C875AFD0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50000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600" b="0" dirty="0"/>
              <a:t>Pipeline: real transactions - statistical calibration - simulator - agent and baselines - held-out comparison - LLM explanation layer.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1" dirty="0"/>
              <a:t>MDP formulation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IN" sz="1350" b="0" dirty="0"/>
              <a:t>State (88 values): per product stock, in-transit, days of cover, 7-day mean and volatility, trend, backlog; plus weekday, season, and each supplier's availability, lead time and recent fill rate.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IN" sz="1350" b="0" dirty="0"/>
              <a:t>Action: for each product one joint choice of (quantity bucket, supplier) - 7 x 3 = 21 options, as MultiDiscrete over 10 products.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IN" sz="1350" b="0" dirty="0"/>
              <a:t>Reward: that day's realised profit. Episode: 180 days.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1" dirty="0"/>
              <a:t>Algorithm: MaskablePPO (PPO with invalid-action masking), MLP of two 128-unit hidden layers, trained on CPU.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IN" sz="1350" b="0" dirty="0"/>
              <a:t>Masking blocks suppliers in outage and orders exceeding free capacity. Worth about 3x on its own: best profit rose from 23,717 to 72,740.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700" b="1" dirty="0"/>
              <a:t>Fair comparison by construction: baselines are grid-search tuned, face the same seeds and the same action granularity, and are scored on 30 held-out seeds disjoint from all tuning and training seeds.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E646F32-071B-DCD0-8A7F-A1EAB4A2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591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A7BA1-2D3F-CBF5-3283-B58419CE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B118F1-5011-A297-C107-1DE5F9D6A1F4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F458056F-7DE4-805F-9FB6-69C95AE90453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E07F8-E24C-FA5A-7EE6-59693EC4FE00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24B9AC-70A1-80E0-22B8-64D37BC70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676D6-3EAC-F431-960A-F84B4D496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5750000" cy="4351338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450" b="0" dirty="0"/>
              <a:t>UCI Online Retail II: about 1 million transaction lines from a UK gift retailer, Dec 2009 - Dec 2011.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450" b="0" dirty="0"/>
              <a:t>Cleaning: cancellations, returns, negative quantities and missing product codes removed. Saturdays dropped entirely, as the retailer never traded then; zero-filling would teach a false weekly collapse.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450" b="0" dirty="0"/>
              <a:t>10 SKUs selected to span three demand regimes, so that no single fixed rule can serve them all.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IN" sz="1300" b="0" dirty="0"/>
              <a:t>steady (CV 1.02-1.20), moderate (1.29-1.65), bursty (2.09-2.34)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450" b="0" dirty="0"/>
              <a:t>Calibrated only on data before 1 June 2011; later data is held back.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450" b="0" dirty="0"/>
              <a:t>Demand model: Gamma-Poisson (negative binomial), because variance is about 216x the mean.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450" b="1" dirty="0"/>
              <a:t>A second dataset (Kaggle retail inventory) was screened and rejected: it showed no weekday effect and no seasonality, i.e. synthetic noise.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AB7C2FA-097C-CF4B-B19E-0C400E88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9</a:t>
            </a:fld>
            <a:endParaRPr lang="en-IN" dirty="0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Fig"/>
          <a:stretch>
            <a:fillRect/>
          </a:stretch>
        </p:blipFill>
        <p:spPr>
          <a:xfrm>
            <a:off x="6750000" y="1900000"/>
            <a:ext cx="4600000" cy="3019000"/>
          </a:xfrm>
          <a:prstGeom prst="rect">
            <a:avLst/>
          </a:prstGeom>
          <a:ln w="9525">
            <a:solidFill>
              <a:srgbClr val="C8D8CC"/>
            </a:solidFill>
          </a:ln>
        </p:spPr>
      </p:pic>
    </p:spTree>
    <p:extLst>
      <p:ext uri="{BB962C8B-B14F-4D97-AF65-F5344CB8AC3E}">
        <p14:creationId xmlns:p14="http://schemas.microsoft.com/office/powerpoint/2010/main" val="3382749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B5D5-E538-6EAD-DBBF-7D6AB3394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ACC2E4E-BF37-B94F-1EE1-DE028BA56A77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0D3E989A-D8A7-8B9E-77DB-1DEA27415E70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327B57-619E-223C-0549-247D163FC982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FFE79A-59E9-BF22-968D-B970BA58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-201435"/>
            <a:ext cx="10515600" cy="1325563"/>
          </a:xfrm>
        </p:spPr>
        <p:txBody>
          <a:bodyPr>
            <a:normAutofit/>
          </a:bodyPr>
          <a:lstStyle/>
          <a:p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Preliminary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38E73-C293-323C-82A1-410D59262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62000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b="0" dirty="0"/>
              <a:t>All five classical policies were tuned by grid search on 12 separate seeds, then scored on 30 held-out seeds. Profit is per 180-day episode, in GBP.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3ECEB24-037D-480E-BEF3-B3BC1464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10</a:t>
            </a:fld>
            <a:endParaRPr lang="en-IN" dirty="0"/>
          </a:p>
        </p:txBody>
      </p:sp>
      <p:graphicFrame>
        <p:nvGraphicFramePr>
          <p:cNvPr id="41" name="Table 41"/>
          <p:cNvGraphicFramePr>
            <a:graphicFrameLocks noGrp="1"/>
          </p:cNvGraphicFramePr>
          <p:nvPr/>
        </p:nvGraphicFramePr>
        <p:xfrm>
          <a:off x="838198" y="2300000"/>
          <a:ext cx="10500000" cy="30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1500000"/>
                <a:gridCol w="1350000"/>
                <a:gridCol w="1400000"/>
                <a:gridCol w="1750000"/>
                <a:gridCol w="160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</a:rPr>
                        <a:t>Fill rate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</a:rPr>
                        <a:t>Stockout cost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</a:rPr>
                        <a:t>Ordering cost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forecast + safety stock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83,624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4,389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97.9%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5,821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2,729</a:t>
                      </a:r>
                    </a:p>
                  </a:txBody>
                  <a:tcPr marL="68580" marR="68580" marT="34290" marB="34290" anchor="ctr"/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newsvendor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82,049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4,222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98.0%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7,057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3,275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EOQ + reorder point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72,302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7,028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96.8%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9,988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2,626</a:t>
                      </a:r>
                    </a:p>
                  </a:txBody>
                  <a:tcPr marL="68580" marR="68580" marT="34290" marB="34290" anchor="ctr"/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(s, S) policy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70,365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6,782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94.9%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15,677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2,905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constant order (control)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50,751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12,723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92.3%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27,644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3,334</a:t>
                      </a:r>
                    </a:p>
                  </a:txBody>
                  <a:tcPr marL="68580" marR="68580" marT="34290" marB="34290" anchor="ctr"/>
                </a:tc>
              </a:tr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random (sanity check)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-34,144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12,971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94.2%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19,900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 dirty="0">
                          <a:solidFill>
                            <a:srgbClr val="202020"/>
                          </a:solidFill>
                        </a:rPr>
                        <a:t>14,869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</a:tr>
            </a:tbl>
          </a:graphicData>
        </a:graphic>
      </p:graphicFrame>
      <p:sp>
        <p:nvSpPr>
          <p:cNvPr id="42" name="Note"/>
          <p:cNvSpPr txBox="1"/>
          <p:nvPr/>
        </p:nvSpPr>
        <p:spPr>
          <a:xfrm>
            <a:off x="838198" y="5450000"/>
            <a:ext cx="10515600" cy="700000"/>
          </a:xfrm>
          <a:prstGeom prst="rect">
            <a:avLst/>
          </a:prstGeom>
        </p:spPr>
        <p:txBody>
          <a:bodyPr wrap="square" lIns="0" rIns="0"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300" b="0" dirty="0">
                <a:solidFill>
                  <a:srgbClr val="0D5A28"/>
                </a:solidFill>
              </a:rPr>
              <a:t>Tuning mattered: widening the search grid lifted the best policy from 66,395 to 84,920 during tuning. Beating an untuned baseline would have proved nothing.</a:t>
            </a:r>
          </a:p>
        </p:txBody>
      </p:sp>
    </p:spTree>
    <p:extLst>
      <p:ext uri="{BB962C8B-B14F-4D97-AF65-F5344CB8AC3E}">
        <p14:creationId xmlns:p14="http://schemas.microsoft.com/office/powerpoint/2010/main" val="1945778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89B3-0AC1-5F52-E096-BD003D76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1F72107-6428-FBDB-6F2C-7FBFD9CA0434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EED6AF64-D2C2-CFB1-A34D-E86A88546498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ADAE92-4334-30CF-A6D8-858502055AB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548835-4273-B718-93B0-8DBB4555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-201435"/>
            <a:ext cx="10515600" cy="1325563"/>
          </a:xfrm>
        </p:spPr>
        <p:txBody>
          <a:bodyPr>
            <a:normAutofit/>
          </a:bodyPr>
          <a:lstStyle/>
          <a:p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Preliminary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3217A-3C1B-A4BA-438B-B419170C6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62000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b="0" dirty="0"/>
              <a:t>Same 30 held-out seeds, same action granularity, identical customers per seed, so the difference is skill and not luck.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15E0039-7212-15DF-9782-04DF472B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11</a:t>
            </a:fld>
            <a:endParaRPr lang="en-IN" dirty="0"/>
          </a:p>
        </p:txBody>
      </p:sp>
      <p:graphicFrame>
        <p:nvGraphicFramePr>
          <p:cNvPr id="43" name="Table 43"/>
          <p:cNvGraphicFramePr>
            <a:graphicFrameLocks noGrp="1"/>
          </p:cNvGraphicFramePr>
          <p:nvPr/>
        </p:nvGraphicFramePr>
        <p:xfrm>
          <a:off x="838198" y="2250000"/>
          <a:ext cx="105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0000"/>
                <a:gridCol w="1900000"/>
                <a:gridCol w="1900000"/>
                <a:gridCol w="2100000"/>
              </a:tblGrid>
              <a:tr h="450000">
                <a:tc>
                  <a:txBody>
                    <a:bodyPr/>
                    <a:lstStyle/>
                    <a:p>
                      <a:pPr algn="l"/>
                      <a:r>
                        <a:rPr lang="en-IN" sz="1250" b="1" dirty="0">
                          <a:solidFill>
                            <a:srgbClr val="FFFFFF"/>
                          </a:solidFill>
                        </a:rPr>
                        <a:t>Policy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1" dirty="0">
                          <a:solidFill>
                            <a:srgbClr val="FFFFFF"/>
                          </a:solidFill>
                        </a:rPr>
                        <a:t>Profit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1" dirty="0">
                          <a:solidFill>
                            <a:srgbClr val="FFFFFF"/>
                          </a:solidFill>
                        </a:rPr>
                        <a:t>Fill rate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1" dirty="0">
                          <a:solidFill>
                            <a:srgbClr val="FFFFFF"/>
                          </a:solidFill>
                        </a:rPr>
                        <a:t>Ordering cost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forecast + safety stock (best classical)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83,624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97.9%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2,729</a:t>
                      </a:r>
                    </a:p>
                  </a:txBody>
                  <a:tcPr marL="68580" marR="68580" marT="34290" marB="34290" anchor="ctr"/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MaskablePPO agent, 1M steps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71,227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94.3%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7,068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PPO without action masking, 1M steps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22,566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94.8%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50" b="0" dirty="0">
                          <a:solidFill>
                            <a:srgbClr val="202020"/>
                          </a:solidFill>
                        </a:rPr>
                        <a:t>13,988</a:t>
                      </a:r>
                    </a:p>
                  </a:txBody>
                  <a:tcPr marL="68580" marR="68580" marT="34290" marB="34290" anchor="ctr"/>
                </a:tc>
              </a:tr>
            </a:tbl>
          </a:graphicData>
        </a:graphic>
      </p:graphicFrame>
      <p:sp>
        <p:nvSpPr>
          <p:cNvPr id="44" name="Findings"/>
          <p:cNvSpPr txBox="1"/>
          <p:nvPr/>
        </p:nvSpPr>
        <p:spPr>
          <a:xfrm>
            <a:off x="838198" y="4200000"/>
            <a:ext cx="10515600" cy="1900000"/>
          </a:xfrm>
          <a:prstGeom prst="rect">
            <a:avLst/>
          </a:prstGeom>
        </p:spPr>
        <p:txBody>
          <a:bodyPr wrap="square" lIns="0" rIns="0"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500" b="1" dirty="0">
                <a:solidFill>
                  <a:srgbClr val="0D5A28"/>
                </a:solidFill>
              </a:rPr>
              <a:t>The classical policy still wins by 12,397 per episode (paired t = -9.22, n = 30, significant).</a:t>
            </a:r>
          </a:p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350" b="0" dirty="0">
                <a:solidFill>
                  <a:srgbClr val="202020"/>
                </a:solidFill>
              </a:rPr>
              <a:t>Where the gap comes from: stockouts about 4,700; fragmented sourcing about 4,300 (the agent pays 2.6x the baseline's ordering fees); lost revenue about 2,900.</a:t>
            </a:r>
          </a:p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350" b="0" dirty="0">
                <a:solidFill>
                  <a:srgbClr val="202020"/>
                </a:solidFill>
              </a:rPr>
              <a:t>Action masking is the single largest lever found so far, tripling agent profit from 23,717 to 72,740.</a:t>
            </a:r>
          </a:p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350" b="0" dirty="0">
                <a:solidFill>
                  <a:srgbClr val="202020"/>
                </a:solidFill>
              </a:rPr>
              <a:t>A hyperparameter sweep of 8 configurations over 6 million steps is running to test whether the remaining gap can be closed.</a:t>
            </a:r>
          </a:p>
        </p:txBody>
      </p:sp>
    </p:spTree>
    <p:extLst>
      <p:ext uri="{BB962C8B-B14F-4D97-AF65-F5344CB8AC3E}">
        <p14:creationId xmlns:p14="http://schemas.microsoft.com/office/powerpoint/2010/main" val="1306294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1526-2B57-345B-9988-73C52DE5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D2005DA-011E-14F6-D275-FB7626337CBD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62F564F3-F59D-00CB-AB44-AAF4791DB0DF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F8A5A9-76DB-16DA-D167-9652E55CB94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B01B822-E4BB-F383-A6FB-FAC13CC01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Interim Summary/Conclusion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961A-643B-4D5D-965F-E46733235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50000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600" b="0" dirty="0"/>
              <a:t>Built and verified: the simulator, four tuned classical policies, the RL training pipeline, and a held-out evaluation harness. 92 automated tests pass.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600" b="0" dirty="0"/>
              <a:t>The dataset decision is evidence-based: one candidate dataset was screened and rejected for having no weekday or seasonal structure.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600" b="0" dirty="0"/>
              <a:t>Action masking is the largest single contributor to agent performance so far (3x improvement).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600" b="1" dirty="0"/>
              <a:t>Honest current finding: the tuned classical policy still beats the RL agent by 12,397 per episode, and the difference is statistically significant.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600" b="0" dirty="0"/>
              <a:t>This is a meaningful result rather than an artefact, because the comparison is fair by construction: same environment, same seeds, same action set.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600" b="0" dirty="0"/>
              <a:t>Remaining work is the LLM explanation and scenario layer, which is the novel contribution of the project.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FDF9863-C6EA-77F7-3286-501B5614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726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6F314-BA7C-F9EA-2887-1AD6B6BD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804D83-BC91-7248-A4E8-DEA59425EFDB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A5BAAEE0-CE27-E262-E47C-09A2764B7692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FB856C-0EFB-9D17-B4BD-1F7CAAAE933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B514DF7-0C81-0D1E-9C3F-24BBC3CF5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Completion plan for the next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C8974-D57C-3FAA-07C0-CAD8C2DED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56000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b="0" dirty="0"/>
              <a:t>Engineering is complete; the remaining phases deliver the explainability contribution and the report.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D6C57ED-5F3F-F988-5159-7DE3C351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13</a:t>
            </a:fld>
            <a:endParaRPr lang="en-IN" dirty="0"/>
          </a:p>
        </p:txBody>
      </p:sp>
      <p:graphicFrame>
        <p:nvGraphicFramePr>
          <p:cNvPr id="45" name="Table 45"/>
          <p:cNvGraphicFramePr>
            <a:graphicFrameLocks noGrp="1"/>
          </p:cNvGraphicFramePr>
          <p:nvPr/>
        </p:nvGraphicFramePr>
        <p:xfrm>
          <a:off x="838198" y="2200000"/>
          <a:ext cx="10200000" cy="36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3600000"/>
                <a:gridCol w="3900000"/>
                <a:gridCol w="1800000"/>
              </a:tblGrid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15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1" dirty="0">
                          <a:solidFill>
                            <a:srgbClr val="FFFFFF"/>
                          </a:solidFill>
                        </a:rPr>
                        <a:t>Work item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1" dirty="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8580" marR="68580" marT="34290" marB="34290" anchor="ctr">
                    <a:solidFill>
                      <a:srgbClr val="1A9B46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Finalise held-out evaluation and hyperparameter sweep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Final RL vs classical comparison table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In progress</a:t>
                      </a:r>
                    </a:p>
                  </a:txBody>
                  <a:tcPr marL="68580" marR="68580" marT="34290" marB="3429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LLM explanation module via OpenRouter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Plain-English reason for every order decision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Next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LLM scenario generator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Demand-spike and supplier-failure stress tests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Planned</a:t>
                      </a:r>
                    </a:p>
                  </a:txBody>
                  <a:tcPr marL="68580" marR="68580" marT="34290" marB="3429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8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Streamlit decision-support dashboard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Interactive interface for a manager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Planned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LLM-guided curriculum training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Agent trained on generated hard scenarios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Planned</a:t>
                      </a:r>
                    </a:p>
                  </a:txBody>
                  <a:tcPr marL="68580" marR="68580" marT="34290" marB="34290" anchor="ctr"/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Final report and documentation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Written report, figures, reproducible code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50" b="0" dirty="0">
                          <a:solidFill>
                            <a:srgbClr val="202020"/>
                          </a:solidFill>
                        </a:rPr>
                        <a:t>Planned</a:t>
                      </a:r>
                    </a:p>
                  </a:txBody>
                  <a:tcPr marL="68580" marR="68580" marT="34290" marB="34290" anchor="ctr">
                    <a:solidFill>
                      <a:srgbClr val="F2F7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96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6FC5-0E3C-A6B8-635B-1F7B49A6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DB453B-3A22-52C1-24DB-5B74E4377552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D6B723E1-B797-DB6E-6D5C-2DDEBD4A1AC5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04B0AC-25BB-0D89-3565-833F799E5A67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DDBAFA9-C5E4-4F84-A13B-188A3AEF1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1D3B1-7942-40A3-F6DB-34AEA5D46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60000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250" b="0" dirty="0"/>
              <a:t>Schulman, J., Wolski, F., Dhariwal, P., Radford, A., Klimov, O. (2017). Proximal Policy Optimization Algorithms. arXiv:1707.06347.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250" b="0" dirty="0"/>
              <a:t>Oroojlooyjadid, A., Nazari, M., Snyder, L. V., Takac, M. (2022). A Deep Q-Network for the Beer Game. Manufacturing &amp; Service Operations Management.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250" b="0" dirty="0"/>
              <a:t>Gijsbrechts, J., Boute, R. N., Van Mieghem, J. A., Zhang, D. (2022). Can Deep Reinforcement Learning Improve Inventory Management? Manufacturing &amp; Service Operations Management.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250" b="0" dirty="0"/>
              <a:t>Boute, R. N., Gijsbrechts, J., van Jaarsveld, W., Vanvuchelen, N. (2022). Deep Reinforcement Learning for Inventory Control: A Roadmap. European Journal of Operational Research.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250" b="0" dirty="0"/>
              <a:t>Huang, S., Ontanon, S. (2022). A Closer Look at Invalid Action Masking in Policy Gradient Algorithms. FLAIRS-35.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250" b="0" dirty="0"/>
              <a:t>Chen, D., Sain, S. L., Guo, K. (2012). Data mining for the online retail industry. Journal of Database Marketing &amp; Customer Strategy Management.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250" b="0" dirty="0"/>
              <a:t>Dua, D., Graff, C. Online Retail II Data Set. UCI Machine Learning Repository. https://archive.ics.uci.edu/dataset/502</a:t>
            </a: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en-IN" sz="1250" b="0" dirty="0"/>
              <a:t>Raffin, A. et al. (2021). Stable-Baselines3: Reliable Reinforcement Learning Implementations. Journal of Machine Learning Research 22(268).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2827C7-83E9-7058-AC38-12B102F2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092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B8A55-5635-8705-2ED7-B5A24A0E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928AD1B-6B1F-5ED7-E4CA-9F0C9B52AE56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76FD4A37-93A4-8FCC-DBB9-62D9FAFC783A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FEDEC-E8DE-DA64-2F5D-41CE15570E0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01B5F-205B-C641-7ED1-D909C7B4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3657600" lvl="8" indent="0">
              <a:buNone/>
            </a:pPr>
            <a:r>
              <a:rPr lang="en-IN" sz="5400" dirty="0"/>
              <a:t>Thank you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103796E-86B2-8297-B180-43B97BCC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455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3D1B-3B02-2762-5BA1-052E75565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84365C9-E666-36EE-4DB1-04791BFC26FB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4D89FC00-7640-2DC1-0BAF-6A1DC613CF6B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0CA935-25F2-6478-C664-35BFDF7E813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804C7A-5A65-0B7B-02CE-9C44C0E4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System Architecture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B6D94B3-8D6F-6862-5C85-C28EA1FE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3</a:t>
            </a:fld>
            <a:endParaRPr lang="en-IN" dirty="0"/>
          </a:p>
        </p:txBody>
      </p:sp>
      <p:sp>
        <p:nvSpPr>
          <p:cNvPr id="100" name="Box 100"/>
          <p:cNvSpPr/>
          <p:nvPr/>
        </p:nvSpPr>
        <p:spPr>
          <a:xfrm>
            <a:off x="838198" y="1540000"/>
            <a:ext cx="3100000" cy="52000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 w="12700">
            <a:solidFill>
              <a:srgbClr val="9BB7A5"/>
            </a:solidFill>
          </a:ln>
        </p:spPr>
        <p:txBody>
          <a:bodyPr anchor="ctr" lIns="91440" rIns="91440" tIns="45720" bIns="45720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IN" sz="1200" b="1" dirty="0">
                <a:solidFill>
                  <a:srgbClr val="0D5A28"/>
                </a:solidFill>
                <a:latin typeface="Calibri"/>
              </a:rPr>
              <a:t>Real transactions</a:t>
            </a:r>
          </a:p>
          <a:p>
            <a:pPr algn="ctr">
              <a:lnSpc>
                <a:spcPct val="95000"/>
              </a:lnSpc>
              <a:buNone/>
            </a:pPr>
            <a:r>
              <a:rPr lang="en-IN" sz="900" b="0" dirty="0">
                <a:solidFill>
                  <a:srgbClr val="44604E"/>
                </a:solidFill>
                <a:latin typeface="Calibri"/>
              </a:rPr>
              <a:t>UCI Online Retail II, ~1M lines</a:t>
            </a:r>
          </a:p>
        </p:txBody>
      </p:sp>
      <p:sp>
        <p:nvSpPr>
          <p:cNvPr id="101" name="Box 101"/>
          <p:cNvSpPr/>
          <p:nvPr/>
        </p:nvSpPr>
        <p:spPr>
          <a:xfrm>
            <a:off x="4545998" y="1540000"/>
            <a:ext cx="3100000" cy="52000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 w="12700">
            <a:solidFill>
              <a:srgbClr val="9BB7A5"/>
            </a:solidFill>
          </a:ln>
        </p:spPr>
        <p:txBody>
          <a:bodyPr anchor="ctr" lIns="91440" rIns="91440" tIns="45720" bIns="45720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IN" sz="1200" b="1" dirty="0">
                <a:solidFill>
                  <a:srgbClr val="0D5A28"/>
                </a:solidFill>
                <a:latin typeface="Calibri"/>
              </a:rPr>
              <a:t>Data pipeline</a:t>
            </a:r>
          </a:p>
          <a:p>
            <a:pPr algn="ctr">
              <a:lnSpc>
                <a:spcPct val="95000"/>
              </a:lnSpc>
              <a:buNone/>
            </a:pPr>
            <a:r>
              <a:rPr lang="en-IN" sz="900" b="0" dirty="0">
                <a:solidFill>
                  <a:srgbClr val="44604E"/>
                </a:solidFill>
                <a:latin typeface="Calibri"/>
              </a:rPr>
              <a:t>clean - calibrate - time split</a:t>
            </a:r>
          </a:p>
        </p:txBody>
      </p:sp>
      <p:sp>
        <p:nvSpPr>
          <p:cNvPr id="102" name="Box 102"/>
          <p:cNvSpPr/>
          <p:nvPr/>
        </p:nvSpPr>
        <p:spPr>
          <a:xfrm>
            <a:off x="8253798" y="1540000"/>
            <a:ext cx="3100000" cy="52000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 w="12700">
            <a:solidFill>
              <a:srgbClr val="9BB7A5"/>
            </a:solidFill>
          </a:ln>
        </p:spPr>
        <p:txBody>
          <a:bodyPr anchor="ctr" lIns="91440" rIns="91440" tIns="45720" bIns="45720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IN" sz="1200" b="1" dirty="0">
                <a:solidFill>
                  <a:srgbClr val="0D5A28"/>
                </a:solidFill>
                <a:latin typeface="Calibri"/>
              </a:rPr>
              <a:t>demand_stats.json</a:t>
            </a:r>
          </a:p>
          <a:p>
            <a:pPr algn="ctr">
              <a:lnSpc>
                <a:spcPct val="95000"/>
              </a:lnSpc>
              <a:buNone/>
            </a:pPr>
            <a:r>
              <a:rPr lang="en-IN" sz="900" b="0" dirty="0">
                <a:solidFill>
                  <a:srgbClr val="44604E"/>
                </a:solidFill>
                <a:latin typeface="Calibri"/>
              </a:rPr>
              <a:t>statistical fingerprint</a:t>
            </a:r>
          </a:p>
        </p:txBody>
      </p:sp>
      <p:sp>
        <p:nvSpPr>
          <p:cNvPr id="110" name="Arrow 110"/>
          <p:cNvSpPr/>
          <p:nvPr/>
        </p:nvSpPr>
        <p:spPr>
          <a:xfrm>
            <a:off x="4038198" y="1710000"/>
            <a:ext cx="400000" cy="180000"/>
          </a:xfrm>
          <a:prstGeom prst="rightArrow">
            <a:avLst/>
          </a:prstGeom>
          <a:solidFill>
            <a:srgbClr val="9BB7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Arrow 111"/>
          <p:cNvSpPr/>
          <p:nvPr/>
        </p:nvSpPr>
        <p:spPr>
          <a:xfrm>
            <a:off x="7745998" y="1710000"/>
            <a:ext cx="400000" cy="180000"/>
          </a:xfrm>
          <a:prstGeom prst="rightArrow">
            <a:avLst/>
          </a:prstGeom>
          <a:solidFill>
            <a:srgbClr val="9BB7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Arrow 120"/>
          <p:cNvSpPr/>
          <p:nvPr/>
        </p:nvSpPr>
        <p:spPr>
          <a:xfrm>
            <a:off x="5995998" y="2085000"/>
            <a:ext cx="200000" cy="190000"/>
          </a:xfrm>
          <a:prstGeom prst="downArrow">
            <a:avLst/>
          </a:prstGeom>
          <a:solidFill>
            <a:srgbClr val="9BB7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Box 130"/>
          <p:cNvSpPr/>
          <p:nvPr/>
        </p:nvSpPr>
        <p:spPr>
          <a:xfrm>
            <a:off x="838198" y="2300000"/>
            <a:ext cx="10515600" cy="920000"/>
          </a:xfrm>
          <a:prstGeom prst="roundRect">
            <a:avLst>
              <a:gd name="adj" fmla="val 10000"/>
            </a:avLst>
          </a:prstGeom>
          <a:solidFill>
            <a:srgbClr val="1A9B46"/>
          </a:solidFill>
          <a:ln w="12700">
            <a:solidFill>
              <a:srgbClr val="0D5A28"/>
            </a:solidFill>
          </a:ln>
        </p:spPr>
        <p:txBody>
          <a:bodyPr anchor="ctr" lIns="91440" rIns="91440" tIns="45720" bIns="45720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IN" sz="1400" b="1" dirty="0">
                <a:solidFill>
                  <a:srgbClr val="FFFFFF"/>
                </a:solidFill>
                <a:latin typeface="Calibri"/>
              </a:rPr>
              <a:t>SUPPLY CHAIN SIMULATOR  (Gymnasium environment)</a:t>
            </a:r>
          </a:p>
          <a:p>
            <a:pPr algn="ctr">
              <a:lnSpc>
                <a:spcPct val="95000"/>
              </a:lnSpc>
              <a:buNone/>
            </a:pPr>
            <a:r>
              <a:rPr lang="en-IN" sz="1000" b="0" dirty="0">
                <a:solidFill>
                  <a:srgbClr val="EAF6EE"/>
                </a:solidFill>
                <a:latin typeface="Calibri"/>
              </a:rPr>
              <a:t>Gamma-Poisson demand  -  3 suppliers with lead time, fill rate, MOQ and outages</a:t>
            </a:r>
          </a:p>
          <a:p>
            <a:pPr algn="ctr">
              <a:lnSpc>
                <a:spcPct val="95000"/>
              </a:lnSpc>
              <a:buNone/>
            </a:pPr>
            <a:r>
              <a:rPr lang="en-IN" sz="1000" b="0" dirty="0">
                <a:solidFill>
                  <a:srgbClr val="EAF6EE"/>
                </a:solidFill>
                <a:latin typeface="Calibri"/>
              </a:rPr>
              <a:t>one shared 20,000-unit warehouse  -  daily profit accounting  -  180-day episodes</a:t>
            </a:r>
          </a:p>
        </p:txBody>
      </p:sp>
      <p:sp>
        <p:nvSpPr>
          <p:cNvPr id="140" name="Arrow 140"/>
          <p:cNvSpPr/>
          <p:nvPr/>
        </p:nvSpPr>
        <p:spPr>
          <a:xfrm>
            <a:off x="5995998" y="3245000"/>
            <a:ext cx="200000" cy="210000"/>
          </a:xfrm>
          <a:prstGeom prst="downArrow">
            <a:avLst/>
          </a:prstGeom>
          <a:solidFill>
            <a:srgbClr val="9BB7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Box 150"/>
          <p:cNvSpPr/>
          <p:nvPr/>
        </p:nvSpPr>
        <p:spPr>
          <a:xfrm>
            <a:off x="838198" y="3480000"/>
            <a:ext cx="5000000" cy="68000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 w="12700">
            <a:solidFill>
              <a:srgbClr val="9BB7A5"/>
            </a:solidFill>
          </a:ln>
        </p:spPr>
        <p:txBody>
          <a:bodyPr anchor="ctr" lIns="91440" rIns="91440" tIns="45720" bIns="45720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IN" sz="1200" b="1" dirty="0">
                <a:solidFill>
                  <a:srgbClr val="0D5A28"/>
                </a:solidFill>
                <a:latin typeface="Calibri"/>
              </a:rPr>
              <a:t>4 classical policies</a:t>
            </a:r>
          </a:p>
          <a:p>
            <a:pPr algn="ctr">
              <a:lnSpc>
                <a:spcPct val="95000"/>
              </a:lnSpc>
              <a:buNone/>
            </a:pPr>
            <a:r>
              <a:rPr lang="en-IN" sz="900" b="0" dirty="0">
                <a:solidFill>
                  <a:srgbClr val="44604E"/>
                </a:solidFill>
                <a:latin typeface="Calibri"/>
              </a:rPr>
              <a:t>(s,S) - EOQ+ROP - newsvendor - forecast+SS, all grid-search tuned</a:t>
            </a:r>
          </a:p>
        </p:txBody>
      </p:sp>
      <p:sp>
        <p:nvSpPr>
          <p:cNvPr id="151" name="Box 151"/>
          <p:cNvSpPr/>
          <p:nvPr/>
        </p:nvSpPr>
        <p:spPr>
          <a:xfrm>
            <a:off x="6353798" y="3480000"/>
            <a:ext cx="5000000" cy="680000"/>
          </a:xfrm>
          <a:prstGeom prst="roundRect">
            <a:avLst>
              <a:gd name="adj" fmla="val 10000"/>
            </a:avLst>
          </a:prstGeom>
          <a:solidFill>
            <a:srgbClr val="0D5A28"/>
          </a:solidFill>
          <a:ln w="12700">
            <a:solidFill>
              <a:srgbClr val="0D5A28"/>
            </a:solidFill>
          </a:ln>
        </p:spPr>
        <p:txBody>
          <a:bodyPr anchor="ctr" lIns="91440" rIns="91440" tIns="45720" bIns="45720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IN" sz="1200" b="1" dirty="0">
                <a:solidFill>
                  <a:srgbClr val="FFFFFF"/>
                </a:solidFill>
                <a:latin typeface="Calibri"/>
              </a:rPr>
              <a:t>PPO agent</a:t>
            </a:r>
          </a:p>
          <a:p>
            <a:pPr algn="ctr">
              <a:lnSpc>
                <a:spcPct val="95000"/>
              </a:lnSpc>
              <a:buNone/>
            </a:pPr>
            <a:r>
              <a:rPr lang="en-IN" sz="900" b="0" dirty="0">
                <a:solidFill>
                  <a:srgbClr val="D6E8DC"/>
                </a:solidFill>
                <a:latin typeface="Calibri"/>
              </a:rPr>
              <a:t>MaskablePPO - MLP 128x128 - 88-value state - 21 actions per product</a:t>
            </a:r>
          </a:p>
        </p:txBody>
      </p:sp>
      <p:sp>
        <p:nvSpPr>
          <p:cNvPr id="160" name="Arrow 160"/>
          <p:cNvSpPr/>
          <p:nvPr/>
        </p:nvSpPr>
        <p:spPr>
          <a:xfrm>
            <a:off x="5995998" y="4185000"/>
            <a:ext cx="200000" cy="210000"/>
          </a:xfrm>
          <a:prstGeom prst="downArrow">
            <a:avLst/>
          </a:prstGeom>
          <a:solidFill>
            <a:srgbClr val="9BB7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Box 170"/>
          <p:cNvSpPr/>
          <p:nvPr/>
        </p:nvSpPr>
        <p:spPr>
          <a:xfrm>
            <a:off x="838198" y="4420000"/>
            <a:ext cx="10515600" cy="52000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 w="12700">
            <a:solidFill>
              <a:srgbClr val="9BB7A5"/>
            </a:solidFill>
          </a:ln>
        </p:spPr>
        <p:txBody>
          <a:bodyPr anchor="ctr" lIns="91440" rIns="91440" tIns="45720" bIns="45720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IN" sz="1200" b="1" dirty="0">
                <a:solidFill>
                  <a:srgbClr val="0D5A28"/>
                </a:solidFill>
                <a:latin typeface="Calibri"/>
              </a:rPr>
              <a:t>Held-out evaluation:  30 unseen seeds, identical per policy, paired significance test</a:t>
            </a:r>
          </a:p>
        </p:txBody>
      </p:sp>
      <p:sp>
        <p:nvSpPr>
          <p:cNvPr id="180" name="Arrow 180"/>
          <p:cNvSpPr/>
          <p:nvPr/>
        </p:nvSpPr>
        <p:spPr>
          <a:xfrm>
            <a:off x="5995998" y="4965000"/>
            <a:ext cx="200000" cy="175000"/>
          </a:xfrm>
          <a:prstGeom prst="downArrow">
            <a:avLst/>
          </a:prstGeom>
          <a:solidFill>
            <a:srgbClr val="9BB7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Box 190"/>
          <p:cNvSpPr/>
          <p:nvPr/>
        </p:nvSpPr>
        <p:spPr>
          <a:xfrm>
            <a:off x="838198" y="5150000"/>
            <a:ext cx="10515600" cy="76000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2700">
            <a:solidFill>
              <a:srgbClr val="D9B36C"/>
            </a:solidFill>
            <a:prstDash val="dash"/>
          </a:ln>
        </p:spPr>
        <p:txBody>
          <a:bodyPr anchor="ctr" lIns="91440" rIns="91440" tIns="45720" bIns="45720">
            <a:normAutofit/>
          </a:bodyPr>
          <a:lstStyle/>
          <a:p>
            <a:pPr algn="ctr">
              <a:lnSpc>
                <a:spcPct val="95000"/>
              </a:lnSpc>
              <a:buNone/>
            </a:pPr>
            <a:r>
              <a:rPr lang="en-IN" sz="1200" b="1" dirty="0">
                <a:solidFill>
                  <a:srgbClr val="7A5210"/>
                </a:solidFill>
                <a:latin typeface="Calibri"/>
              </a:rPr>
              <a:t>LLM LAYER  (next phase)</a:t>
            </a:r>
          </a:p>
          <a:p>
            <a:pPr algn="ctr">
              <a:lnSpc>
                <a:spcPct val="95000"/>
              </a:lnSpc>
              <a:buNone/>
            </a:pPr>
            <a:r>
              <a:rPr lang="en-IN" sz="1000" b="0" dirty="0">
                <a:solidFill>
                  <a:srgbClr val="7A5210"/>
                </a:solidFill>
                <a:latin typeface="Calibri"/>
              </a:rPr>
              <a:t>decision explanations in business language  -  generated demand-spike and supplier-failure scenarios</a:t>
            </a:r>
          </a:p>
          <a:p>
            <a:pPr algn="ctr">
              <a:lnSpc>
                <a:spcPct val="95000"/>
              </a:lnSpc>
              <a:buNone/>
            </a:pPr>
            <a:r>
              <a:rPr lang="en-IN" sz="1000" b="0" dirty="0">
                <a:solidFill>
                  <a:srgbClr val="7A5210"/>
                </a:solidFill>
                <a:latin typeface="Calibri"/>
              </a:rPr>
              <a:t>Streamlit dashboard for the decision-maker</a:t>
            </a:r>
          </a:p>
        </p:txBody>
      </p:sp>
    </p:spTree>
    <p:extLst>
      <p:ext uri="{BB962C8B-B14F-4D97-AF65-F5344CB8AC3E}">
        <p14:creationId xmlns:p14="http://schemas.microsoft.com/office/powerpoint/2010/main" val="3949777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89B3-0AC1-5F52-E096-BD003D76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1F72107-6428-FBDB-6F2C-7FBFD9CA0434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EED6AF64-D2C2-CFB1-A34D-E86A88546498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ADAE92-4334-30CF-A6D8-858502055AB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548835-4273-B718-93B0-8DBB4555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-201435"/>
            <a:ext cx="10515600" cy="1325563"/>
          </a:xfrm>
        </p:spPr>
        <p:txBody>
          <a:bodyPr>
            <a:normAutofit/>
          </a:bodyPr>
          <a:lstStyle/>
          <a:p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Preliminary Results and Discussion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15E0039-7212-15DF-9782-04DF472B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11</a:t>
            </a:fld>
            <a:endParaRPr lang="en-IN" dirty="0"/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FigA"/>
          <a:stretch>
            <a:fillRect/>
          </a:stretch>
        </p:blipFill>
        <p:spPr>
          <a:xfrm>
            <a:off x="838198" y="2050000"/>
            <a:ext cx="5100000" cy="2586187"/>
          </a:xfrm>
          <a:prstGeom prst="rect">
            <a:avLst/>
          </a:prstGeom>
          <a:ln w="9525">
            <a:solidFill>
              <a:srgbClr val="C8D8CC"/>
            </a:solidFill>
          </a:ln>
        </p:spPr>
      </p:pic>
      <p:pic>
        <p:nvPicPr>
          <p:cNvPr id="201" name="Picture 201"/>
          <p:cNvPicPr>
            <a:picLocks noChangeAspect="1"/>
          </p:cNvPicPr>
          <p:nvPr/>
        </p:nvPicPr>
        <p:blipFill>
          <a:blip r:embed="rIdFigB"/>
          <a:stretch>
            <a:fillRect/>
          </a:stretch>
        </p:blipFill>
        <p:spPr>
          <a:xfrm>
            <a:off x="6253798" y="2050000"/>
            <a:ext cx="5100000" cy="2463068"/>
          </a:xfrm>
          <a:prstGeom prst="rect">
            <a:avLst/>
          </a:prstGeom>
          <a:ln w="9525">
            <a:solidFill>
              <a:srgbClr val="C8D8CC"/>
            </a:solidFill>
          </a:ln>
        </p:spPr>
      </p:pic>
      <p:sp>
        <p:nvSpPr>
          <p:cNvPr id="210" name="Text 210"/>
          <p:cNvSpPr txBox="1"/>
          <p:nvPr/>
        </p:nvSpPr>
        <p:spPr>
          <a:xfrm>
            <a:off x="838198" y="4950000"/>
            <a:ext cx="10515600" cy="1200000"/>
          </a:xfrm>
          <a:prstGeom prst="rect">
            <a:avLst/>
          </a:prstGeom>
        </p:spPr>
        <p:txBody>
          <a:bodyPr wrap="square" lIns="0" rIns="0"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150" b="0" dirty="0">
                <a:solidFill>
                  <a:srgbClr val="202020"/>
                </a:solidFill>
              </a:rPr>
              <a:t>Left: every policy on the 30 held-out reporting seeds. The best classical policy leads the agent, and the spread across seeds is wide enough that only a paired test can settle the difference.</a:t>
            </a:r>
          </a:p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150" b="0" dirty="0">
                <a:solidFill>
                  <a:srgbClr val="202020"/>
                </a:solidFill>
              </a:rPr>
              <a:t>Right: learning progress on the training-eval seeds. Action masking lifts the whole curve; both runs flatten below the classical reference line, and the unmasked run was still improving at 1M steps, which is why the sweep trains to 2M.</a:t>
            </a:r>
          </a:p>
        </p:txBody>
      </p:sp>
      <p:sp>
        <p:nvSpPr>
          <p:cNvPr id="211" name="Text 211"/>
          <p:cNvSpPr txBox="1"/>
          <p:nvPr/>
        </p:nvSpPr>
        <p:spPr>
          <a:xfrm>
            <a:off x="838198" y="1594415"/>
            <a:ext cx="10515600" cy="400000"/>
          </a:xfrm>
          <a:prstGeom prst="rect">
            <a:avLst/>
          </a:prstGeom>
        </p:spPr>
        <p:txBody>
          <a:bodyPr wrap="square" lIns="0" rIns="0">
            <a:normAutofit/>
          </a:bodyPr>
          <a:lstStyle/>
          <a:p>
            <a:pPr lv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IN" sz="1400" b="0" dirty="0">
                <a:solidFill>
                  <a:srgbClr val="0D5A28"/>
                </a:solidFill>
              </a:rPr>
              <a:t>Visual evidence for the numbers on the previous slide, generated directly from the stored result files.</a:t>
            </a:r>
          </a:p>
        </p:txBody>
      </p:sp>
    </p:spTree>
    <p:extLst>
      <p:ext uri="{BB962C8B-B14F-4D97-AF65-F5344CB8AC3E}">
        <p14:creationId xmlns:p14="http://schemas.microsoft.com/office/powerpoint/2010/main" val="130629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189</Words>
  <Application>Microsoft Office PowerPoint</Application>
  <PresentationFormat>Widescreen</PresentationFormat>
  <Paragraphs>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Outline </vt:lpstr>
      <vt:lpstr>Introduction and Motivation </vt:lpstr>
      <vt:lpstr>Problem Definition </vt:lpstr>
      <vt:lpstr>Literature Review </vt:lpstr>
      <vt:lpstr>Gaps Identified </vt:lpstr>
      <vt:lpstr>Objectives </vt:lpstr>
      <vt:lpstr>Methodology </vt:lpstr>
      <vt:lpstr>Dataset Description</vt:lpstr>
      <vt:lpstr> Preliminary Results and Discussion</vt:lpstr>
      <vt:lpstr> Preliminary Results and Discussion</vt:lpstr>
      <vt:lpstr>Interim Summary/Conclusion</vt:lpstr>
      <vt:lpstr>Completion plan for the next phase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Jyothish Lal G - [CEN} Amrita Vishwa Vidyapeetham.</cp:lastModifiedBy>
  <cp:revision>45</cp:revision>
  <dcterms:created xsi:type="dcterms:W3CDTF">2023-07-03T07:55:31Z</dcterms:created>
  <dcterms:modified xsi:type="dcterms:W3CDTF">2026-07-28T09:22:06Z</dcterms:modified>
</cp:coreProperties>
</file>